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53" r:id="rId1"/>
  </p:sldMasterIdLst>
  <p:notesMasterIdLst>
    <p:notesMasterId r:id="rId32"/>
  </p:notesMasterIdLst>
  <p:handoutMasterIdLst>
    <p:handoutMasterId r:id="rId33"/>
  </p:handoutMasterIdLst>
  <p:sldIdLst>
    <p:sldId id="396" r:id="rId2"/>
    <p:sldId id="322" r:id="rId3"/>
    <p:sldId id="401" r:id="rId4"/>
    <p:sldId id="324" r:id="rId5"/>
    <p:sldId id="325" r:id="rId6"/>
    <p:sldId id="326" r:id="rId7"/>
    <p:sldId id="327" r:id="rId8"/>
    <p:sldId id="328" r:id="rId9"/>
    <p:sldId id="331" r:id="rId10"/>
    <p:sldId id="400" r:id="rId11"/>
    <p:sldId id="330" r:id="rId12"/>
    <p:sldId id="411" r:id="rId13"/>
    <p:sldId id="410" r:id="rId14"/>
    <p:sldId id="412" r:id="rId15"/>
    <p:sldId id="413" r:id="rId16"/>
    <p:sldId id="414" r:id="rId17"/>
    <p:sldId id="358" r:id="rId18"/>
    <p:sldId id="360" r:id="rId19"/>
    <p:sldId id="369" r:id="rId20"/>
    <p:sldId id="402" r:id="rId21"/>
    <p:sldId id="403" r:id="rId22"/>
    <p:sldId id="404" r:id="rId23"/>
    <p:sldId id="405" r:id="rId24"/>
    <p:sldId id="406" r:id="rId25"/>
    <p:sldId id="407" r:id="rId26"/>
    <p:sldId id="371" r:id="rId27"/>
    <p:sldId id="372" r:id="rId28"/>
    <p:sldId id="373" r:id="rId29"/>
    <p:sldId id="375" r:id="rId30"/>
    <p:sldId id="408" r:id="rId31"/>
  </p:sldIdLst>
  <p:sldSz cx="9144000" cy="6858000" type="screen4x3"/>
  <p:notesSz cx="7315200" cy="9601200"/>
  <p:defaultTex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CCFF"/>
    <a:srgbClr val="FF0000"/>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33544" autoAdjust="0"/>
    <p:restoredTop sz="73464" autoAdjust="0"/>
  </p:normalViewPr>
  <p:slideViewPr>
    <p:cSldViewPr>
      <p:cViewPr varScale="1">
        <p:scale>
          <a:sx n="52" d="100"/>
          <a:sy n="52" d="100"/>
        </p:scale>
        <p:origin x="1757" y="269"/>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83" d="100"/>
          <a:sy n="83" d="100"/>
        </p:scale>
        <p:origin x="-1920" y="-78"/>
      </p:cViewPr>
      <p:guideLst>
        <p:guide orient="horz" pos="3024"/>
        <p:guide pos="2304"/>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3ACDB779-F4E5-E334-E262-5B23B7990FA5}"/>
              </a:ext>
            </a:extLst>
          </p:cNvPr>
          <p:cNvSpPr>
            <a:spLocks noGrp="1" noChangeArrowheads="1"/>
          </p:cNvSpPr>
          <p:nvPr>
            <p:ph type="hdr" sz="quarter"/>
          </p:nvPr>
        </p:nvSpPr>
        <p:spPr bwMode="auto">
          <a:xfrm>
            <a:off x="0" y="0"/>
            <a:ext cx="3170238" cy="479425"/>
          </a:xfrm>
          <a:prstGeom prst="rect">
            <a:avLst/>
          </a:prstGeom>
          <a:noFill/>
          <a:ln>
            <a:noFill/>
          </a:ln>
          <a:effectLst/>
        </p:spPr>
        <p:txBody>
          <a:bodyPr vert="horz" wrap="none" lIns="95139" tIns="49472" rIns="95139" bIns="49472" numCol="1" anchor="ctr" anchorCtr="0" compatLnSpc="1">
            <a:prstTxWarp prst="textNoShape">
              <a:avLst/>
            </a:prstTxWarp>
          </a:bodyPr>
          <a:lstStyle>
            <a:lvl1pPr defTabSz="966788">
              <a:defRPr sz="1300"/>
            </a:lvl1pPr>
          </a:lstStyle>
          <a:p>
            <a:pPr>
              <a:defRPr/>
            </a:pPr>
            <a:endParaRPr lang="en-US"/>
          </a:p>
        </p:txBody>
      </p:sp>
      <p:sp>
        <p:nvSpPr>
          <p:cNvPr id="75779" name="Rectangle 3">
            <a:extLst>
              <a:ext uri="{FF2B5EF4-FFF2-40B4-BE49-F238E27FC236}">
                <a16:creationId xmlns:a16="http://schemas.microsoft.com/office/drawing/2014/main" id="{39E156DE-B518-14C8-648A-54839E20CAE0}"/>
              </a:ext>
            </a:extLst>
          </p:cNvPr>
          <p:cNvSpPr>
            <a:spLocks noGrp="1" noChangeArrowheads="1"/>
          </p:cNvSpPr>
          <p:nvPr>
            <p:ph type="dt" sz="quarter" idx="1"/>
          </p:nvPr>
        </p:nvSpPr>
        <p:spPr bwMode="auto">
          <a:xfrm>
            <a:off x="4144963" y="0"/>
            <a:ext cx="3170237" cy="479425"/>
          </a:xfrm>
          <a:prstGeom prst="rect">
            <a:avLst/>
          </a:prstGeom>
          <a:noFill/>
          <a:ln>
            <a:noFill/>
          </a:ln>
          <a:effectLst/>
        </p:spPr>
        <p:txBody>
          <a:bodyPr vert="horz" wrap="none" lIns="95139" tIns="49472" rIns="95139" bIns="49472" numCol="1" anchor="ctr" anchorCtr="0" compatLnSpc="1">
            <a:prstTxWarp prst="textNoShape">
              <a:avLst/>
            </a:prstTxWarp>
          </a:bodyPr>
          <a:lstStyle>
            <a:lvl1pPr algn="r" defTabSz="966788">
              <a:defRPr sz="1300"/>
            </a:lvl1pPr>
          </a:lstStyle>
          <a:p>
            <a:pPr>
              <a:defRPr/>
            </a:pPr>
            <a:endParaRPr lang="en-US"/>
          </a:p>
        </p:txBody>
      </p:sp>
      <p:sp>
        <p:nvSpPr>
          <p:cNvPr id="75780" name="Rectangle 4">
            <a:extLst>
              <a:ext uri="{FF2B5EF4-FFF2-40B4-BE49-F238E27FC236}">
                <a16:creationId xmlns:a16="http://schemas.microsoft.com/office/drawing/2014/main" id="{78329E25-7E0F-205F-4257-E3D9FD99576F}"/>
              </a:ext>
            </a:extLst>
          </p:cNvPr>
          <p:cNvSpPr>
            <a:spLocks noGrp="1" noChangeArrowheads="1"/>
          </p:cNvSpPr>
          <p:nvPr>
            <p:ph type="ftr" sz="quarter" idx="2"/>
          </p:nvPr>
        </p:nvSpPr>
        <p:spPr bwMode="auto">
          <a:xfrm>
            <a:off x="0" y="9121775"/>
            <a:ext cx="3983038" cy="479425"/>
          </a:xfrm>
          <a:prstGeom prst="rect">
            <a:avLst/>
          </a:prstGeom>
          <a:noFill/>
          <a:ln>
            <a:noFill/>
          </a:ln>
          <a:effectLst/>
        </p:spPr>
        <p:txBody>
          <a:bodyPr vert="horz" wrap="none" lIns="95139" tIns="49472" rIns="95139" bIns="49472" numCol="1" anchor="b" anchorCtr="0" compatLnSpc="1">
            <a:prstTxWarp prst="textNoShape">
              <a:avLst/>
            </a:prstTxWarp>
          </a:bodyPr>
          <a:lstStyle>
            <a:lvl1pPr defTabSz="966788">
              <a:defRPr sz="1300"/>
            </a:lvl1pPr>
          </a:lstStyle>
          <a:p>
            <a:pPr>
              <a:defRPr/>
            </a:pPr>
            <a:endParaRPr lang="en-US"/>
          </a:p>
        </p:txBody>
      </p:sp>
      <p:sp>
        <p:nvSpPr>
          <p:cNvPr id="75781" name="Rectangle 5">
            <a:extLst>
              <a:ext uri="{FF2B5EF4-FFF2-40B4-BE49-F238E27FC236}">
                <a16:creationId xmlns:a16="http://schemas.microsoft.com/office/drawing/2014/main" id="{E0AABB60-4B04-80BC-935A-C1C1FEA0939E}"/>
              </a:ext>
            </a:extLst>
          </p:cNvPr>
          <p:cNvSpPr>
            <a:spLocks noGrp="1" noChangeArrowheads="1"/>
          </p:cNvSpPr>
          <p:nvPr>
            <p:ph type="sldNum" sz="quarter" idx="3"/>
          </p:nvPr>
        </p:nvSpPr>
        <p:spPr bwMode="auto">
          <a:xfrm>
            <a:off x="4144963" y="9121775"/>
            <a:ext cx="3170237" cy="479425"/>
          </a:xfrm>
          <a:prstGeom prst="rect">
            <a:avLst/>
          </a:prstGeom>
          <a:noFill/>
          <a:ln>
            <a:noFill/>
          </a:ln>
          <a:effectLst/>
        </p:spPr>
        <p:txBody>
          <a:bodyPr vert="horz" wrap="none" lIns="95139" tIns="49472" rIns="95139" bIns="49472" numCol="1" anchor="b" anchorCtr="0" compatLnSpc="1">
            <a:prstTxWarp prst="textNoShape">
              <a:avLst/>
            </a:prstTxWarp>
          </a:bodyPr>
          <a:lstStyle>
            <a:lvl1pPr algn="r" defTabSz="966788">
              <a:defRPr sz="1300"/>
            </a:lvl1pPr>
          </a:lstStyle>
          <a:p>
            <a:pPr>
              <a:defRPr/>
            </a:pPr>
            <a:fld id="{F8C03D96-2B3B-459C-A1E7-FC990FFB90F7}"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6978" name="Rectangle 2">
            <a:extLst>
              <a:ext uri="{FF2B5EF4-FFF2-40B4-BE49-F238E27FC236}">
                <a16:creationId xmlns:a16="http://schemas.microsoft.com/office/drawing/2014/main" id="{795CA7E1-270F-D7B2-13E4-03ABF515E6E7}"/>
              </a:ext>
            </a:extLst>
          </p:cNvPr>
          <p:cNvSpPr>
            <a:spLocks noGrp="1" noChangeArrowheads="1"/>
          </p:cNvSpPr>
          <p:nvPr>
            <p:ph type="hdr" sz="quarter"/>
          </p:nvPr>
        </p:nvSpPr>
        <p:spPr bwMode="auto">
          <a:xfrm>
            <a:off x="0" y="0"/>
            <a:ext cx="3170238" cy="479425"/>
          </a:xfrm>
          <a:prstGeom prst="rect">
            <a:avLst/>
          </a:prstGeom>
          <a:noFill/>
          <a:ln>
            <a:noFill/>
          </a:ln>
          <a:effectLst/>
        </p:spPr>
        <p:txBody>
          <a:bodyPr vert="horz" wrap="square" lIns="96661" tIns="48331" rIns="96661" bIns="48331" numCol="1" anchor="t" anchorCtr="0" compatLnSpc="1">
            <a:prstTxWarp prst="textNoShape">
              <a:avLst/>
            </a:prstTxWarp>
          </a:bodyPr>
          <a:lstStyle>
            <a:lvl1pPr defTabSz="966788">
              <a:defRPr sz="1300"/>
            </a:lvl1pPr>
          </a:lstStyle>
          <a:p>
            <a:pPr>
              <a:defRPr/>
            </a:pPr>
            <a:endParaRPr lang="en-US"/>
          </a:p>
        </p:txBody>
      </p:sp>
      <p:sp>
        <p:nvSpPr>
          <p:cNvPr id="126979" name="Rectangle 3">
            <a:extLst>
              <a:ext uri="{FF2B5EF4-FFF2-40B4-BE49-F238E27FC236}">
                <a16:creationId xmlns:a16="http://schemas.microsoft.com/office/drawing/2014/main" id="{B6CD4529-7FB6-A1B0-6747-FE59C8B700FE}"/>
              </a:ext>
            </a:extLst>
          </p:cNvPr>
          <p:cNvSpPr>
            <a:spLocks noGrp="1" noChangeArrowheads="1"/>
          </p:cNvSpPr>
          <p:nvPr>
            <p:ph type="dt" idx="1"/>
          </p:nvPr>
        </p:nvSpPr>
        <p:spPr bwMode="auto">
          <a:xfrm>
            <a:off x="4144963" y="0"/>
            <a:ext cx="3170237" cy="479425"/>
          </a:xfrm>
          <a:prstGeom prst="rect">
            <a:avLst/>
          </a:prstGeom>
          <a:noFill/>
          <a:ln>
            <a:noFill/>
          </a:ln>
          <a:effectLst/>
        </p:spPr>
        <p:txBody>
          <a:bodyPr vert="horz" wrap="square" lIns="96661" tIns="48331" rIns="96661" bIns="48331" numCol="1" anchor="t" anchorCtr="0" compatLnSpc="1">
            <a:prstTxWarp prst="textNoShape">
              <a:avLst/>
            </a:prstTxWarp>
          </a:bodyPr>
          <a:lstStyle>
            <a:lvl1pPr algn="r" defTabSz="966788">
              <a:defRPr sz="1300"/>
            </a:lvl1pPr>
          </a:lstStyle>
          <a:p>
            <a:pPr>
              <a:defRPr/>
            </a:pPr>
            <a:endParaRPr lang="en-US"/>
          </a:p>
        </p:txBody>
      </p:sp>
      <p:sp>
        <p:nvSpPr>
          <p:cNvPr id="3076" name="Rectangle 4">
            <a:extLst>
              <a:ext uri="{FF2B5EF4-FFF2-40B4-BE49-F238E27FC236}">
                <a16:creationId xmlns:a16="http://schemas.microsoft.com/office/drawing/2014/main" id="{65EC65D7-8572-88EC-0F6C-58F7FBA0E6C3}"/>
              </a:ext>
            </a:extLst>
          </p:cNvPr>
          <p:cNvSpPr>
            <a:spLocks noGrp="1" noRot="1" noChangeAspect="1" noChangeArrowheads="1" noTextEdit="1"/>
          </p:cNvSpPr>
          <p:nvPr>
            <p:ph type="sldImg" idx="2"/>
          </p:nvPr>
        </p:nvSpPr>
        <p:spPr bwMode="auto">
          <a:xfrm>
            <a:off x="1257300" y="720725"/>
            <a:ext cx="4800600" cy="360045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26981" name="Rectangle 5">
            <a:extLst>
              <a:ext uri="{FF2B5EF4-FFF2-40B4-BE49-F238E27FC236}">
                <a16:creationId xmlns:a16="http://schemas.microsoft.com/office/drawing/2014/main" id="{4BC94653-14AC-72F0-2A72-1AA8C79CEC9E}"/>
              </a:ext>
            </a:extLst>
          </p:cNvPr>
          <p:cNvSpPr>
            <a:spLocks noGrp="1" noChangeArrowheads="1"/>
          </p:cNvSpPr>
          <p:nvPr>
            <p:ph type="body" sz="quarter" idx="3"/>
          </p:nvPr>
        </p:nvSpPr>
        <p:spPr bwMode="auto">
          <a:xfrm>
            <a:off x="974725" y="4560888"/>
            <a:ext cx="5365750" cy="4319587"/>
          </a:xfrm>
          <a:prstGeom prst="rect">
            <a:avLst/>
          </a:prstGeom>
          <a:noFill/>
          <a:ln>
            <a:noFill/>
          </a:ln>
          <a:effectLst/>
        </p:spPr>
        <p:txBody>
          <a:bodyPr vert="horz" wrap="square" lIns="96661" tIns="48331" rIns="96661" bIns="48331"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6982" name="Rectangle 6">
            <a:extLst>
              <a:ext uri="{FF2B5EF4-FFF2-40B4-BE49-F238E27FC236}">
                <a16:creationId xmlns:a16="http://schemas.microsoft.com/office/drawing/2014/main" id="{FBA6627C-B256-1100-E364-5CAA128DA492}"/>
              </a:ext>
            </a:extLst>
          </p:cNvPr>
          <p:cNvSpPr>
            <a:spLocks noGrp="1" noChangeArrowheads="1"/>
          </p:cNvSpPr>
          <p:nvPr>
            <p:ph type="ftr" sz="quarter" idx="4"/>
          </p:nvPr>
        </p:nvSpPr>
        <p:spPr bwMode="auto">
          <a:xfrm>
            <a:off x="0" y="9121775"/>
            <a:ext cx="3170238" cy="479425"/>
          </a:xfrm>
          <a:prstGeom prst="rect">
            <a:avLst/>
          </a:prstGeom>
          <a:noFill/>
          <a:ln>
            <a:noFill/>
          </a:ln>
          <a:effectLst/>
        </p:spPr>
        <p:txBody>
          <a:bodyPr vert="horz" wrap="square" lIns="96661" tIns="48331" rIns="96661" bIns="48331" numCol="1" anchor="b" anchorCtr="0" compatLnSpc="1">
            <a:prstTxWarp prst="textNoShape">
              <a:avLst/>
            </a:prstTxWarp>
          </a:bodyPr>
          <a:lstStyle>
            <a:lvl1pPr defTabSz="966788">
              <a:defRPr sz="1300"/>
            </a:lvl1pPr>
          </a:lstStyle>
          <a:p>
            <a:pPr>
              <a:defRPr/>
            </a:pPr>
            <a:endParaRPr lang="en-US"/>
          </a:p>
        </p:txBody>
      </p:sp>
      <p:sp>
        <p:nvSpPr>
          <p:cNvPr id="126983" name="Rectangle 7">
            <a:extLst>
              <a:ext uri="{FF2B5EF4-FFF2-40B4-BE49-F238E27FC236}">
                <a16:creationId xmlns:a16="http://schemas.microsoft.com/office/drawing/2014/main" id="{B0D764F4-5C77-2957-689D-E1FD9E241B88}"/>
              </a:ext>
            </a:extLst>
          </p:cNvPr>
          <p:cNvSpPr>
            <a:spLocks noGrp="1" noChangeArrowheads="1"/>
          </p:cNvSpPr>
          <p:nvPr>
            <p:ph type="sldNum" sz="quarter" idx="5"/>
          </p:nvPr>
        </p:nvSpPr>
        <p:spPr bwMode="auto">
          <a:xfrm>
            <a:off x="4144963" y="9121775"/>
            <a:ext cx="3170237" cy="479425"/>
          </a:xfrm>
          <a:prstGeom prst="rect">
            <a:avLst/>
          </a:prstGeom>
          <a:noFill/>
          <a:ln>
            <a:noFill/>
          </a:ln>
          <a:effectLst/>
        </p:spPr>
        <p:txBody>
          <a:bodyPr vert="horz" wrap="square" lIns="96661" tIns="48331" rIns="96661" bIns="48331" numCol="1" anchor="b" anchorCtr="0" compatLnSpc="1">
            <a:prstTxWarp prst="textNoShape">
              <a:avLst/>
            </a:prstTxWarp>
          </a:bodyPr>
          <a:lstStyle>
            <a:lvl1pPr algn="r" defTabSz="966788">
              <a:defRPr sz="1300"/>
            </a:lvl1pPr>
          </a:lstStyle>
          <a:p>
            <a:pPr>
              <a:defRPr/>
            </a:pPr>
            <a:fld id="{4DFA30B7-0D58-40F8-904A-6C90A5CD9AE0}"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4DB1FD79-69B5-9101-D60B-8D6DBF54C6DE}"/>
              </a:ext>
            </a:extLst>
          </p:cNvPr>
          <p:cNvSpPr>
            <a:spLocks noGrp="1" noRot="1" noChangeAspect="1" noChangeArrowheads="1" noTextEdit="1"/>
          </p:cNvSpPr>
          <p:nvPr>
            <p:ph type="sldImg"/>
          </p:nvPr>
        </p:nvSpPr>
        <p:spPr>
          <a:ln/>
        </p:spPr>
      </p:sp>
      <p:sp>
        <p:nvSpPr>
          <p:cNvPr id="6147" name="Rectangle 3">
            <a:extLst>
              <a:ext uri="{FF2B5EF4-FFF2-40B4-BE49-F238E27FC236}">
                <a16:creationId xmlns:a16="http://schemas.microsoft.com/office/drawing/2014/main" id="{7CD7077E-3CD9-D908-CFAF-9FDC0139552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en-US" sz="1200" b="0" i="0" kern="1200" dirty="0">
                <a:solidFill>
                  <a:schemeClr val="tx1"/>
                </a:solidFill>
                <a:effectLst/>
                <a:latin typeface="Times New Roman" pitchFamily="18" charset="0"/>
                <a:ea typeface="+mn-ea"/>
                <a:cs typeface="+mn-cs"/>
              </a:rPr>
              <a:t>A loop invariant is a condition or property that remains true at specific points during the execution of a loop. Specifically, it is true: Before the first iteration of the loop begins, At the beginning of each subsequent iteration, After each iteration completes, and When the loop finally terminates.</a:t>
            </a:r>
          </a:p>
          <a:p>
            <a:r>
              <a:rPr kumimoji="1" lang="en-US" sz="1200" b="0" i="0" kern="1200" dirty="0">
                <a:solidFill>
                  <a:schemeClr val="tx1"/>
                </a:solidFill>
                <a:effectLst/>
                <a:latin typeface="Times New Roman" pitchFamily="18" charset="0"/>
                <a:ea typeface="+mn-ea"/>
                <a:cs typeface="+mn-cs"/>
              </a:rPr>
              <a:t>This "invariant" property means that even though the variables and state within the loop might change with each iteration, this particular condition always holds true at these key points.</a:t>
            </a:r>
          </a:p>
          <a:p>
            <a:endParaRPr kumimoji="1" lang="en-US" sz="1200" b="0" i="0" kern="1200" dirty="0">
              <a:solidFill>
                <a:schemeClr val="tx1"/>
              </a:solidFill>
              <a:effectLst/>
              <a:latin typeface="Times New Roman" pitchFamily="18" charset="0"/>
              <a:ea typeface="+mn-ea"/>
              <a:cs typeface="+mn-cs"/>
            </a:endParaRPr>
          </a:p>
          <a:p>
            <a:r>
              <a:rPr kumimoji="1" lang="en-US" sz="1200" b="0" i="0" kern="1200" dirty="0">
                <a:solidFill>
                  <a:schemeClr val="tx1"/>
                </a:solidFill>
                <a:effectLst/>
                <a:latin typeface="Times New Roman" pitchFamily="18" charset="0"/>
                <a:ea typeface="+mn-ea"/>
                <a:cs typeface="+mn-cs"/>
              </a:rPr>
              <a:t>Think of it like this: Imagine a magic trick where a ball is hidden under one of three cups. The magician moves the cups around, but the rule is that the ball always stays under one of the cups. That rule ("the ball is under one of the cups") is the invariant. It's true before the trick starts, after each move, and when the trick ends.</a:t>
            </a:r>
          </a:p>
          <a:p>
            <a:r>
              <a:rPr kumimoji="1" lang="en-US" sz="1200" b="0" i="0" kern="1200" dirty="0">
                <a:solidFill>
                  <a:schemeClr val="tx1"/>
                </a:solidFill>
                <a:effectLst/>
                <a:latin typeface="Times New Roman" pitchFamily="18" charset="0"/>
                <a:ea typeface="+mn-ea"/>
                <a:cs typeface="+mn-cs"/>
              </a:rPr>
              <a:t>In programming, loop invariants are crucial for proving the correctness of algorithms. If you can define a loop invariant and prove it holds true throughout the loop's execution, then you can be confident that the loop achieves its intended purpose when it finishes.</a:t>
            </a:r>
          </a:p>
          <a:p>
            <a:endParaRPr lang="en-IN" dirty="0"/>
          </a:p>
        </p:txBody>
      </p:sp>
      <p:sp>
        <p:nvSpPr>
          <p:cNvPr id="4" name="Slide Number Placeholder 3"/>
          <p:cNvSpPr>
            <a:spLocks noGrp="1"/>
          </p:cNvSpPr>
          <p:nvPr>
            <p:ph type="sldNum" sz="quarter" idx="5"/>
          </p:nvPr>
        </p:nvSpPr>
        <p:spPr/>
        <p:txBody>
          <a:bodyPr/>
          <a:lstStyle/>
          <a:p>
            <a:pPr>
              <a:defRPr/>
            </a:pPr>
            <a:fld id="{4DFA30B7-0D58-40F8-904A-6C90A5CD9AE0}" type="slidenum">
              <a:rPr lang="en-US" altLang="en-US" smtClean="0"/>
              <a:pPr>
                <a:defRPr/>
              </a:pPr>
              <a:t>12</a:t>
            </a:fld>
            <a:endParaRPr lang="en-US" altLang="en-US"/>
          </a:p>
        </p:txBody>
      </p:sp>
    </p:spTree>
    <p:extLst>
      <p:ext uri="{BB962C8B-B14F-4D97-AF65-F5344CB8AC3E}">
        <p14:creationId xmlns:p14="http://schemas.microsoft.com/office/powerpoint/2010/main" val="942041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Line 8">
            <a:extLst>
              <a:ext uri="{FF2B5EF4-FFF2-40B4-BE49-F238E27FC236}">
                <a16:creationId xmlns:a16="http://schemas.microsoft.com/office/drawing/2014/main" id="{D61F07B0-B478-CE7A-EA91-761EDC8579DA}"/>
              </a:ext>
            </a:extLst>
          </p:cNvPr>
          <p:cNvSpPr>
            <a:spLocks noChangeShapeType="1"/>
          </p:cNvSpPr>
          <p:nvPr userDrawn="1"/>
        </p:nvSpPr>
        <p:spPr bwMode="auto">
          <a:xfrm>
            <a:off x="381000" y="990600"/>
            <a:ext cx="8229600" cy="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n-IN"/>
          </a:p>
        </p:txBody>
      </p:sp>
      <p:sp>
        <p:nvSpPr>
          <p:cNvPr id="3" name="Line 9">
            <a:extLst>
              <a:ext uri="{FF2B5EF4-FFF2-40B4-BE49-F238E27FC236}">
                <a16:creationId xmlns:a16="http://schemas.microsoft.com/office/drawing/2014/main" id="{BFB3FC49-2C4F-2082-96AC-041A2A418495}"/>
              </a:ext>
            </a:extLst>
          </p:cNvPr>
          <p:cNvSpPr>
            <a:spLocks noChangeShapeType="1"/>
          </p:cNvSpPr>
          <p:nvPr userDrawn="1"/>
        </p:nvSpPr>
        <p:spPr bwMode="auto">
          <a:xfrm>
            <a:off x="381000" y="914400"/>
            <a:ext cx="8229600"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n-IN"/>
          </a:p>
        </p:txBody>
      </p:sp>
      <p:sp>
        <p:nvSpPr>
          <p:cNvPr id="4" name="AutoShape 12">
            <a:extLst>
              <a:ext uri="{FF2B5EF4-FFF2-40B4-BE49-F238E27FC236}">
                <a16:creationId xmlns:a16="http://schemas.microsoft.com/office/drawing/2014/main" id="{FBB75D2F-3314-034F-0CB6-759D05384FD9}"/>
              </a:ext>
            </a:extLst>
          </p:cNvPr>
          <p:cNvSpPr>
            <a:spLocks noChangeArrowheads="1"/>
          </p:cNvSpPr>
          <p:nvPr userDrawn="1"/>
        </p:nvSpPr>
        <p:spPr bwMode="auto">
          <a:xfrm>
            <a:off x="5029200" y="4038600"/>
            <a:ext cx="4114800" cy="4132263"/>
          </a:xfrm>
          <a:prstGeom prst="diamond">
            <a:avLst/>
          </a:prstGeom>
          <a:solidFill>
            <a:srgbClr val="00FFFF">
              <a:alpha val="50195"/>
            </a:srgbClr>
          </a:solidFill>
          <a:ln>
            <a:noFill/>
          </a:ln>
          <a:effectLst/>
        </p:spPr>
        <p:txBody>
          <a:bodyPr wrap="none" tIns="0"/>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spcBef>
                <a:spcPct val="20000"/>
              </a:spcBef>
              <a:defRPr/>
            </a:pPr>
            <a:r>
              <a:rPr lang="en-US" altLang="en-US" sz="4400" u="sng">
                <a:solidFill>
                  <a:srgbClr val="A50021"/>
                </a:solidFill>
                <a:latin typeface="Garamond" panose="02020404030301010803" pitchFamily="18" charset="0"/>
              </a:rPr>
              <a:t>TECH</a:t>
            </a:r>
            <a:r>
              <a:rPr lang="en-US" altLang="en-US" sz="4800" u="sng">
                <a:solidFill>
                  <a:srgbClr val="A50021"/>
                </a:solidFill>
                <a:latin typeface="Garamond" panose="02020404030301010803" pitchFamily="18" charset="0"/>
              </a:rPr>
              <a:t> </a:t>
            </a:r>
            <a:endParaRPr lang="en-US" altLang="en-US" sz="1800">
              <a:solidFill>
                <a:schemeClr val="bg1"/>
              </a:solidFill>
              <a:latin typeface="Garamond" panose="02020404030301010803" pitchFamily="18" charset="0"/>
            </a:endParaRPr>
          </a:p>
          <a:p>
            <a:pPr algn="ctr">
              <a:spcBef>
                <a:spcPct val="20000"/>
              </a:spcBef>
              <a:defRPr/>
            </a:pPr>
            <a:r>
              <a:rPr lang="en-US" altLang="en-US" sz="2800">
                <a:solidFill>
                  <a:srgbClr val="006666"/>
                </a:solidFill>
                <a:latin typeface="Garamond" panose="02020404030301010803" pitchFamily="18" charset="0"/>
              </a:rPr>
              <a:t>Computer Science</a:t>
            </a:r>
            <a:endParaRPr lang="en-US" altLang="en-US" sz="1800">
              <a:solidFill>
                <a:srgbClr val="006666"/>
              </a:solidFill>
              <a:latin typeface="Garamond" panose="02020404030301010803" pitchFamily="18" charset="0"/>
            </a:endParaRPr>
          </a:p>
        </p:txBody>
      </p:sp>
      <p:sp>
        <p:nvSpPr>
          <p:cNvPr id="49166" name="Rectangle 14"/>
          <p:cNvSpPr>
            <a:spLocks noGrp="1" noChangeArrowheads="1"/>
          </p:cNvSpPr>
          <p:nvPr>
            <p:ph type="ctrTitle" sz="quarter"/>
          </p:nvPr>
        </p:nvSpPr>
        <p:spPr>
          <a:xfrm>
            <a:off x="381000" y="0"/>
            <a:ext cx="8229600" cy="914400"/>
          </a:xfrm>
        </p:spPr>
        <p:txBody>
          <a:bodyPr anchor="ctr"/>
          <a:lstStyle>
            <a:lvl1pPr>
              <a:defRPr/>
            </a:lvl1pPr>
          </a:lstStyle>
          <a:p>
            <a:pPr lvl="0"/>
            <a:r>
              <a:rPr lang="en-US" noProof="0"/>
              <a:t>Click to edit Master title style</a:t>
            </a:r>
          </a:p>
        </p:txBody>
      </p:sp>
      <p:sp>
        <p:nvSpPr>
          <p:cNvPr id="49167" name="Rectangle 15"/>
          <p:cNvSpPr>
            <a:spLocks noGrp="1" noChangeArrowheads="1"/>
          </p:cNvSpPr>
          <p:nvPr>
            <p:ph type="subTitle" sz="quarter" idx="1"/>
          </p:nvPr>
        </p:nvSpPr>
        <p:spPr>
          <a:xfrm>
            <a:off x="381000" y="1066800"/>
            <a:ext cx="8229600" cy="5638800"/>
          </a:xfrm>
        </p:spPr>
        <p:txBody>
          <a:bodyPr/>
          <a:lstStyle>
            <a:lvl1pPr marL="282575" indent="-282575">
              <a:defRPr/>
            </a:lvl1pPr>
            <a:lvl2pPr marL="800100" lvl="1" indent="-403225">
              <a:defRPr/>
            </a:lvl2pPr>
            <a:lvl3pPr marL="1200150" lvl="2" indent="-285750">
              <a:defRPr/>
            </a:lvl3pPr>
            <a:lvl4pPr marL="1598613" lvl="3" indent="-222250">
              <a:defRPr/>
            </a:lvl4pPr>
            <a:lvl5pPr lvl="4" indent="-280988">
              <a:defRPr/>
            </a:lvl5pPr>
          </a:lstStyle>
          <a:p>
            <a:pPr lvl="0"/>
            <a:r>
              <a:rPr lang="en-US" noProof="0"/>
              <a:t>Click to edit Master text styles</a:t>
            </a:r>
          </a:p>
          <a:p>
            <a:pPr lvl="1"/>
            <a:r>
              <a:rPr lang="en-US" noProof="0">
                <a:sym typeface="MT Extra" pitchFamily="18" charset="2"/>
              </a:rPr>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4341755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12097162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8691412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381000" y="990600"/>
            <a:ext cx="4051300" cy="5638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584700" y="990600"/>
            <a:ext cx="4051300" cy="5638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14170053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4032034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20979418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068667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1704789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N"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9440990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19126883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72250" y="228600"/>
            <a:ext cx="2063750" cy="6400800"/>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381000" y="228600"/>
            <a:ext cx="6038850" cy="6400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1154260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8">
            <a:extLst>
              <a:ext uri="{FF2B5EF4-FFF2-40B4-BE49-F238E27FC236}">
                <a16:creationId xmlns:a16="http://schemas.microsoft.com/office/drawing/2014/main" id="{4A84219B-6312-CC3E-DE59-924ADBAF016A}"/>
              </a:ext>
            </a:extLst>
          </p:cNvPr>
          <p:cNvSpPr>
            <a:spLocks noGrp="1" noChangeArrowheads="1"/>
          </p:cNvSpPr>
          <p:nvPr>
            <p:ph type="title"/>
          </p:nvPr>
        </p:nvSpPr>
        <p:spPr bwMode="auto">
          <a:xfrm>
            <a:off x="381000" y="228600"/>
            <a:ext cx="8229600" cy="685800"/>
          </a:xfrm>
          <a:prstGeom prst="rect">
            <a:avLst/>
          </a:prstGeom>
          <a:noFill/>
          <a:ln>
            <a:noFill/>
          </a:ln>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7" name="Rectangle 9">
            <a:extLst>
              <a:ext uri="{FF2B5EF4-FFF2-40B4-BE49-F238E27FC236}">
                <a16:creationId xmlns:a16="http://schemas.microsoft.com/office/drawing/2014/main" id="{4B58772B-B9FC-AD66-9BE1-EAC1DE94915A}"/>
              </a:ext>
            </a:extLst>
          </p:cNvPr>
          <p:cNvSpPr>
            <a:spLocks noGrp="1" noChangeArrowheads="1"/>
          </p:cNvSpPr>
          <p:nvPr>
            <p:ph type="body" idx="1"/>
          </p:nvPr>
        </p:nvSpPr>
        <p:spPr bwMode="auto">
          <a:xfrm>
            <a:off x="381000" y="990600"/>
            <a:ext cx="8255000" cy="5638800"/>
          </a:xfrm>
          <a:prstGeom prst="rect">
            <a:avLst/>
          </a:prstGeom>
          <a:noFill/>
          <a:ln>
            <a:noFill/>
          </a:ln>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sym typeface="MT Extra" panose="05050102010205020202" pitchFamily="18" charset="2"/>
              </a:rPr>
              <a:t>Second level</a:t>
            </a:r>
          </a:p>
          <a:p>
            <a:pPr lvl="2"/>
            <a:r>
              <a:rPr lang="en-US" altLang="en-US"/>
              <a:t>Third level</a:t>
            </a:r>
          </a:p>
          <a:p>
            <a:pPr lvl="3"/>
            <a:r>
              <a:rPr lang="en-US" altLang="en-US"/>
              <a:t>Fourth level</a:t>
            </a:r>
          </a:p>
          <a:p>
            <a:pPr lvl="4"/>
            <a:r>
              <a:rPr lang="en-US" altLang="en-US"/>
              <a:t>Fifth level</a:t>
            </a:r>
          </a:p>
        </p:txBody>
      </p:sp>
      <p:sp>
        <p:nvSpPr>
          <p:cNvPr id="1028" name="Line 10">
            <a:extLst>
              <a:ext uri="{FF2B5EF4-FFF2-40B4-BE49-F238E27FC236}">
                <a16:creationId xmlns:a16="http://schemas.microsoft.com/office/drawing/2014/main" id="{E8C91F9F-5DC7-910C-0FEA-354CA7009C2B}"/>
              </a:ext>
            </a:extLst>
          </p:cNvPr>
          <p:cNvSpPr>
            <a:spLocks noChangeShapeType="1"/>
          </p:cNvSpPr>
          <p:nvPr userDrawn="1"/>
        </p:nvSpPr>
        <p:spPr bwMode="auto">
          <a:xfrm>
            <a:off x="381000" y="990600"/>
            <a:ext cx="8229600" cy="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n-IN"/>
          </a:p>
        </p:txBody>
      </p:sp>
      <p:sp>
        <p:nvSpPr>
          <p:cNvPr id="1029" name="Line 11">
            <a:extLst>
              <a:ext uri="{FF2B5EF4-FFF2-40B4-BE49-F238E27FC236}">
                <a16:creationId xmlns:a16="http://schemas.microsoft.com/office/drawing/2014/main" id="{F676A482-EBEE-E1FD-6EA0-2253C097F1A2}"/>
              </a:ext>
            </a:extLst>
          </p:cNvPr>
          <p:cNvSpPr>
            <a:spLocks noChangeShapeType="1"/>
          </p:cNvSpPr>
          <p:nvPr userDrawn="1"/>
        </p:nvSpPr>
        <p:spPr bwMode="auto">
          <a:xfrm>
            <a:off x="381000" y="914400"/>
            <a:ext cx="8229600"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n-IN"/>
          </a:p>
        </p:txBody>
      </p:sp>
    </p:spTree>
  </p:cSld>
  <p:clrMap bg1="lt1" tx1="dk1" bg2="lt2" tx2="dk2" accent1="accent1" accent2="accent2" accent3="accent3" accent4="accent4" accent5="accent5" accent6="accent6" hlink="hlink" folHlink="folHlink"/>
  <p:sldLayoutIdLst>
    <p:sldLayoutId id="2147483904" r:id="rId1"/>
    <p:sldLayoutId id="2147483894" r:id="rId2"/>
    <p:sldLayoutId id="2147483895" r:id="rId3"/>
    <p:sldLayoutId id="2147483896" r:id="rId4"/>
    <p:sldLayoutId id="2147483897" r:id="rId5"/>
    <p:sldLayoutId id="2147483898" r:id="rId6"/>
    <p:sldLayoutId id="2147483899" r:id="rId7"/>
    <p:sldLayoutId id="2147483900" r:id="rId8"/>
    <p:sldLayoutId id="2147483901" r:id="rId9"/>
    <p:sldLayoutId id="2147483902" r:id="rId10"/>
    <p:sldLayoutId id="2147483903" r:id="rId11"/>
  </p:sldLayoutIdLst>
  <p:txStyles>
    <p:titleStyle>
      <a:lvl1pPr algn="l" rtl="0" eaLnBrk="0" fontAlgn="base" hangingPunct="0">
        <a:spcBef>
          <a:spcPct val="0"/>
        </a:spcBef>
        <a:spcAft>
          <a:spcPct val="0"/>
        </a:spcAft>
        <a:defRPr kumimoji="1" sz="3200" b="1">
          <a:solidFill>
            <a:schemeClr val="tx1"/>
          </a:solidFill>
          <a:latin typeface="+mj-lt"/>
          <a:ea typeface="+mj-ea"/>
          <a:cs typeface="+mj-cs"/>
        </a:defRPr>
      </a:lvl1pPr>
      <a:lvl2pPr algn="l" rtl="0" eaLnBrk="0" fontAlgn="base" hangingPunct="0">
        <a:spcBef>
          <a:spcPct val="0"/>
        </a:spcBef>
        <a:spcAft>
          <a:spcPct val="0"/>
        </a:spcAft>
        <a:defRPr kumimoji="1" sz="3200" b="1">
          <a:solidFill>
            <a:schemeClr val="tx1"/>
          </a:solidFill>
          <a:latin typeface="Times New Roman" pitchFamily="18" charset="0"/>
        </a:defRPr>
      </a:lvl2pPr>
      <a:lvl3pPr algn="l" rtl="0" eaLnBrk="0" fontAlgn="base" hangingPunct="0">
        <a:spcBef>
          <a:spcPct val="0"/>
        </a:spcBef>
        <a:spcAft>
          <a:spcPct val="0"/>
        </a:spcAft>
        <a:defRPr kumimoji="1" sz="3200" b="1">
          <a:solidFill>
            <a:schemeClr val="tx1"/>
          </a:solidFill>
          <a:latin typeface="Times New Roman" pitchFamily="18" charset="0"/>
        </a:defRPr>
      </a:lvl3pPr>
      <a:lvl4pPr algn="l" rtl="0" eaLnBrk="0" fontAlgn="base" hangingPunct="0">
        <a:spcBef>
          <a:spcPct val="0"/>
        </a:spcBef>
        <a:spcAft>
          <a:spcPct val="0"/>
        </a:spcAft>
        <a:defRPr kumimoji="1" sz="3200" b="1">
          <a:solidFill>
            <a:schemeClr val="tx1"/>
          </a:solidFill>
          <a:latin typeface="Times New Roman" pitchFamily="18" charset="0"/>
        </a:defRPr>
      </a:lvl4pPr>
      <a:lvl5pPr algn="l" rtl="0" eaLnBrk="0" fontAlgn="base" hangingPunct="0">
        <a:spcBef>
          <a:spcPct val="0"/>
        </a:spcBef>
        <a:spcAft>
          <a:spcPct val="0"/>
        </a:spcAft>
        <a:defRPr kumimoji="1" sz="3200" b="1">
          <a:solidFill>
            <a:schemeClr val="tx1"/>
          </a:solidFill>
          <a:latin typeface="Times New Roman" pitchFamily="18" charset="0"/>
        </a:defRPr>
      </a:lvl5pPr>
      <a:lvl6pPr marL="457200" algn="l" rtl="0" eaLnBrk="0" fontAlgn="base" hangingPunct="0">
        <a:spcBef>
          <a:spcPct val="0"/>
        </a:spcBef>
        <a:spcAft>
          <a:spcPct val="0"/>
        </a:spcAft>
        <a:defRPr kumimoji="1" sz="3200" b="1">
          <a:solidFill>
            <a:schemeClr val="tx1"/>
          </a:solidFill>
          <a:latin typeface="Times New Roman" pitchFamily="18" charset="0"/>
        </a:defRPr>
      </a:lvl6pPr>
      <a:lvl7pPr marL="914400" algn="l" rtl="0" eaLnBrk="0" fontAlgn="base" hangingPunct="0">
        <a:spcBef>
          <a:spcPct val="0"/>
        </a:spcBef>
        <a:spcAft>
          <a:spcPct val="0"/>
        </a:spcAft>
        <a:defRPr kumimoji="1" sz="3200" b="1">
          <a:solidFill>
            <a:schemeClr val="tx1"/>
          </a:solidFill>
          <a:latin typeface="Times New Roman" pitchFamily="18" charset="0"/>
        </a:defRPr>
      </a:lvl7pPr>
      <a:lvl8pPr marL="1371600" algn="l" rtl="0" eaLnBrk="0" fontAlgn="base" hangingPunct="0">
        <a:spcBef>
          <a:spcPct val="0"/>
        </a:spcBef>
        <a:spcAft>
          <a:spcPct val="0"/>
        </a:spcAft>
        <a:defRPr kumimoji="1" sz="3200" b="1">
          <a:solidFill>
            <a:schemeClr val="tx1"/>
          </a:solidFill>
          <a:latin typeface="Times New Roman" pitchFamily="18" charset="0"/>
        </a:defRPr>
      </a:lvl8pPr>
      <a:lvl9pPr marL="1828800" algn="l" rtl="0" eaLnBrk="0" fontAlgn="base" hangingPunct="0">
        <a:spcBef>
          <a:spcPct val="0"/>
        </a:spcBef>
        <a:spcAft>
          <a:spcPct val="0"/>
        </a:spcAft>
        <a:defRPr kumimoji="1" sz="3200" b="1">
          <a:solidFill>
            <a:schemeClr val="tx1"/>
          </a:solidFill>
          <a:latin typeface="Times New Roman" pitchFamily="18" charset="0"/>
        </a:defRPr>
      </a:lvl9pPr>
    </p:titleStyle>
    <p:bodyStyle>
      <a:lvl1pPr marL="342900" indent="-342900" algn="l" rtl="0" eaLnBrk="0" fontAlgn="base" hangingPunct="0">
        <a:spcBef>
          <a:spcPct val="20000"/>
        </a:spcBef>
        <a:spcAft>
          <a:spcPct val="0"/>
        </a:spcAft>
        <a:buClr>
          <a:srgbClr val="FF0000"/>
        </a:buClr>
        <a:buChar char="•"/>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lr>
          <a:srgbClr val="FF0000"/>
        </a:buClr>
        <a:buFont typeface="Wingdings" panose="05000000000000000000" pitchFamily="2" charset="2"/>
        <a:buChar char="Q"/>
        <a:defRPr kumimoji="1" sz="2400" b="1">
          <a:solidFill>
            <a:schemeClr val="tx1"/>
          </a:solidFill>
          <a:latin typeface="+mn-lt"/>
          <a:sym typeface="MT Extra" panose="05050102010205020202" pitchFamily="18" charset="2"/>
        </a:defRPr>
      </a:lvl2pPr>
      <a:lvl3pPr marL="1143000" indent="-228600" algn="l" rtl="0" eaLnBrk="0" fontAlgn="base" hangingPunct="0">
        <a:spcBef>
          <a:spcPct val="20000"/>
        </a:spcBef>
        <a:spcAft>
          <a:spcPct val="0"/>
        </a:spcAft>
        <a:buClr>
          <a:srgbClr val="FF0000"/>
        </a:buClr>
        <a:buFont typeface="MT Extra" panose="05050102010205020202" pitchFamily="18" charset="2"/>
        <a:buChar char="f"/>
        <a:defRPr kumimoji="1" sz="2000">
          <a:solidFill>
            <a:schemeClr val="tx1"/>
          </a:solidFill>
          <a:latin typeface="+mn-lt"/>
        </a:defRPr>
      </a:lvl3pPr>
      <a:lvl4pPr marL="1600200" indent="-228600" algn="l" rtl="0" eaLnBrk="0" fontAlgn="base" hangingPunct="0">
        <a:spcBef>
          <a:spcPct val="20000"/>
        </a:spcBef>
        <a:spcAft>
          <a:spcPct val="0"/>
        </a:spcAft>
        <a:buClr>
          <a:srgbClr val="FF0000"/>
        </a:buClr>
        <a:buChar char="•"/>
        <a:defRPr kumimoji="1">
          <a:solidFill>
            <a:schemeClr val="tx1"/>
          </a:solidFill>
          <a:latin typeface="+mn-lt"/>
        </a:defRPr>
      </a:lvl4pPr>
      <a:lvl5pPr marL="2057400" indent="-228600" algn="l" rtl="0" eaLnBrk="0" fontAlgn="base" hangingPunct="0">
        <a:spcBef>
          <a:spcPct val="20000"/>
        </a:spcBef>
        <a:spcAft>
          <a:spcPct val="0"/>
        </a:spcAft>
        <a:buClr>
          <a:srgbClr val="FF0000"/>
        </a:buClr>
        <a:buChar char="–"/>
        <a:defRPr kumimoji="1">
          <a:solidFill>
            <a:schemeClr val="tx1"/>
          </a:solidFill>
          <a:latin typeface="+mn-lt"/>
        </a:defRPr>
      </a:lvl5pPr>
      <a:lvl6pPr marL="2514600" indent="-228600" algn="l" rtl="0" eaLnBrk="0" fontAlgn="base" hangingPunct="0">
        <a:spcBef>
          <a:spcPct val="20000"/>
        </a:spcBef>
        <a:spcAft>
          <a:spcPct val="0"/>
        </a:spcAft>
        <a:buClr>
          <a:srgbClr val="FF0000"/>
        </a:buClr>
        <a:buChar char="–"/>
        <a:defRPr kumimoji="1">
          <a:solidFill>
            <a:schemeClr val="tx1"/>
          </a:solidFill>
          <a:latin typeface="+mn-lt"/>
        </a:defRPr>
      </a:lvl6pPr>
      <a:lvl7pPr marL="2971800" indent="-228600" algn="l" rtl="0" eaLnBrk="0" fontAlgn="base" hangingPunct="0">
        <a:spcBef>
          <a:spcPct val="20000"/>
        </a:spcBef>
        <a:spcAft>
          <a:spcPct val="0"/>
        </a:spcAft>
        <a:buClr>
          <a:srgbClr val="FF0000"/>
        </a:buClr>
        <a:buChar char="–"/>
        <a:defRPr kumimoji="1">
          <a:solidFill>
            <a:schemeClr val="tx1"/>
          </a:solidFill>
          <a:latin typeface="+mn-lt"/>
        </a:defRPr>
      </a:lvl7pPr>
      <a:lvl8pPr marL="3429000" indent="-228600" algn="l" rtl="0" eaLnBrk="0" fontAlgn="base" hangingPunct="0">
        <a:spcBef>
          <a:spcPct val="20000"/>
        </a:spcBef>
        <a:spcAft>
          <a:spcPct val="0"/>
        </a:spcAft>
        <a:buClr>
          <a:srgbClr val="FF0000"/>
        </a:buClr>
        <a:buChar char="–"/>
        <a:defRPr kumimoji="1">
          <a:solidFill>
            <a:schemeClr val="tx1"/>
          </a:solidFill>
          <a:latin typeface="+mn-lt"/>
        </a:defRPr>
      </a:lvl8pPr>
      <a:lvl9pPr marL="3886200" indent="-228600" algn="l" rtl="0" eaLnBrk="0" fontAlgn="base" hangingPunct="0">
        <a:spcBef>
          <a:spcPct val="20000"/>
        </a:spcBef>
        <a:spcAft>
          <a:spcPct val="0"/>
        </a:spcAft>
        <a:buClr>
          <a:srgbClr val="FF0000"/>
        </a:buClr>
        <a:buChar char="–"/>
        <a:defRPr kumimoji="1">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1.png"/><Relationship Id="rId7" Type="http://schemas.openxmlformats.org/officeDocument/2006/relationships/image" Target="../media/image8.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oleObject" Target="../embeddings/oleObject3.bin"/><Relationship Id="rId1" Type="http://schemas.openxmlformats.org/officeDocument/2006/relationships/slideLayout" Target="../slideLayouts/slideLayout2.xml"/><Relationship Id="rId5" Type="http://schemas.openxmlformats.org/officeDocument/2006/relationships/image" Target="../media/image18.wmf"/><Relationship Id="rId4" Type="http://schemas.openxmlformats.org/officeDocument/2006/relationships/oleObject" Target="../embeddings/oleObject4.bin"/></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8.bin"/><Relationship Id="rId3" Type="http://schemas.openxmlformats.org/officeDocument/2006/relationships/image" Target="../media/image19.wmf"/><Relationship Id="rId7" Type="http://schemas.openxmlformats.org/officeDocument/2006/relationships/image" Target="../media/image21.wmf"/><Relationship Id="rId2" Type="http://schemas.openxmlformats.org/officeDocument/2006/relationships/oleObject" Target="../embeddings/oleObject5.bin"/><Relationship Id="rId1" Type="http://schemas.openxmlformats.org/officeDocument/2006/relationships/slideLayout" Target="../slideLayouts/slideLayout2.xml"/><Relationship Id="rId6" Type="http://schemas.openxmlformats.org/officeDocument/2006/relationships/oleObject" Target="../embeddings/oleObject7.bin"/><Relationship Id="rId11" Type="http://schemas.openxmlformats.org/officeDocument/2006/relationships/image" Target="../media/image23.wmf"/><Relationship Id="rId5" Type="http://schemas.openxmlformats.org/officeDocument/2006/relationships/image" Target="../media/image20.wmf"/><Relationship Id="rId10" Type="http://schemas.openxmlformats.org/officeDocument/2006/relationships/oleObject" Target="../embeddings/oleObject9.bin"/><Relationship Id="rId4" Type="http://schemas.openxmlformats.org/officeDocument/2006/relationships/oleObject" Target="../embeddings/oleObject6.bin"/><Relationship Id="rId9" Type="http://schemas.openxmlformats.org/officeDocument/2006/relationships/image" Target="../media/image22.wm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hyperlink" Target="https://youtu.be/GI1NwGPGxNo"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3">
            <a:extLst>
              <a:ext uri="{FF2B5EF4-FFF2-40B4-BE49-F238E27FC236}">
                <a16:creationId xmlns:a16="http://schemas.microsoft.com/office/drawing/2014/main" id="{21358EDF-A53F-059B-F01B-61A44DA7B22B}"/>
              </a:ext>
            </a:extLst>
          </p:cNvPr>
          <p:cNvSpPr>
            <a:spLocks noGrp="1" noChangeArrowheads="1"/>
          </p:cNvSpPr>
          <p:nvPr>
            <p:ph type="subTitle" idx="1"/>
          </p:nvPr>
        </p:nvSpPr>
        <p:spPr>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a:p>
            <a:endParaRPr lang="en-US" altLang="en-US" u="sng">
              <a:solidFill>
                <a:srgbClr val="0000FF"/>
              </a:solidFill>
            </a:endParaRPr>
          </a:p>
        </p:txBody>
      </p:sp>
      <p:sp>
        <p:nvSpPr>
          <p:cNvPr id="4" name="Rectangle 3">
            <a:extLst>
              <a:ext uri="{FF2B5EF4-FFF2-40B4-BE49-F238E27FC236}">
                <a16:creationId xmlns:a16="http://schemas.microsoft.com/office/drawing/2014/main" id="{C4E92B80-DEC5-E5E4-D937-5315F2E3E5DB}"/>
              </a:ext>
            </a:extLst>
          </p:cNvPr>
          <p:cNvSpPr/>
          <p:nvPr/>
        </p:nvSpPr>
        <p:spPr>
          <a:xfrm>
            <a:off x="1524000" y="3573463"/>
            <a:ext cx="7620000" cy="2743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N" sz="4400" b="1" dirty="0">
                <a:solidFill>
                  <a:schemeClr val="tx1">
                    <a:lumMod val="95000"/>
                    <a:lumOff val="5000"/>
                  </a:schemeClr>
                </a:solidFill>
              </a:rPr>
              <a:t>Computer Algorithms </a:t>
            </a:r>
          </a:p>
          <a:p>
            <a:pPr algn="ctr">
              <a:defRPr/>
            </a:pPr>
            <a:endParaRPr lang="en-IN" sz="3600" dirty="0"/>
          </a:p>
          <a:p>
            <a:pPr algn="ctr">
              <a:defRPr/>
            </a:pPr>
            <a:endParaRPr lang="en-IN" b="1" dirty="0"/>
          </a:p>
          <a:p>
            <a:pPr algn="ctr">
              <a:defRPr/>
            </a:pPr>
            <a:r>
              <a:rPr lang="en-IN" b="1" dirty="0" err="1"/>
              <a:t>Dr.</a:t>
            </a:r>
            <a:r>
              <a:rPr lang="en-IN" b="1" dirty="0"/>
              <a:t> </a:t>
            </a:r>
            <a:r>
              <a:rPr lang="en-IN" b="1" dirty="0" err="1"/>
              <a:t>Ashish</a:t>
            </a:r>
            <a:r>
              <a:rPr lang="en-IN" b="1" dirty="0"/>
              <a:t> Seth</a:t>
            </a:r>
          </a:p>
        </p:txBody>
      </p:sp>
      <p:sp>
        <p:nvSpPr>
          <p:cNvPr id="5124" name="Title 1">
            <a:extLst>
              <a:ext uri="{FF2B5EF4-FFF2-40B4-BE49-F238E27FC236}">
                <a16:creationId xmlns:a16="http://schemas.microsoft.com/office/drawing/2014/main" id="{D2011296-526D-A944-A3D7-D572B1ECCB4E}"/>
              </a:ext>
            </a:extLst>
          </p:cNvPr>
          <p:cNvSpPr>
            <a:spLocks noGrp="1" noChangeArrowheads="1"/>
          </p:cNvSpPr>
          <p:nvPr>
            <p:ph type="ctrTitle" sz="quarter"/>
          </p:nvPr>
        </p:nvSpPr>
        <p:spPr>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4229713F-4BB7-CAAF-5AB0-6D01267ECDAC}"/>
              </a:ext>
            </a:extLst>
          </p:cNvPr>
          <p:cNvSpPr>
            <a:spLocks noGrp="1" noChangeArrowheads="1"/>
          </p:cNvSpPr>
          <p:nvPr>
            <p:ph type="title"/>
          </p:nvPr>
        </p:nvSpPr>
        <p:spPr/>
        <p:txBody>
          <a:bodyPr/>
          <a:lstStyle/>
          <a:p>
            <a:r>
              <a:rPr lang="en-US" altLang="en-US"/>
              <a:t>What is a Computer Algorithm?</a:t>
            </a:r>
          </a:p>
        </p:txBody>
      </p:sp>
      <p:sp>
        <p:nvSpPr>
          <p:cNvPr id="4099" name="Rectangle 3">
            <a:extLst>
              <a:ext uri="{FF2B5EF4-FFF2-40B4-BE49-F238E27FC236}">
                <a16:creationId xmlns:a16="http://schemas.microsoft.com/office/drawing/2014/main" id="{90D768C1-EC53-BA6F-09F2-8C80788CCE94}"/>
              </a:ext>
            </a:extLst>
          </p:cNvPr>
          <p:cNvSpPr>
            <a:spLocks noGrp="1" noChangeArrowheads="1"/>
          </p:cNvSpPr>
          <p:nvPr>
            <p:ph type="body" idx="1"/>
          </p:nvPr>
        </p:nvSpPr>
        <p:spPr/>
        <p:txBody>
          <a:bodyPr/>
          <a:lstStyle/>
          <a:p>
            <a:pPr>
              <a:defRPr/>
            </a:pPr>
            <a:r>
              <a:rPr lang="en-US" dirty="0"/>
              <a:t>A computer algorithm is</a:t>
            </a:r>
          </a:p>
          <a:p>
            <a:pPr lvl="1">
              <a:defRPr/>
            </a:pPr>
            <a:r>
              <a:rPr lang="en-US" dirty="0"/>
              <a:t>a detailed step-by-step method for</a:t>
            </a:r>
          </a:p>
          <a:p>
            <a:pPr lvl="1">
              <a:defRPr/>
            </a:pPr>
            <a:r>
              <a:rPr lang="en-US" dirty="0"/>
              <a:t>solving a problem</a:t>
            </a:r>
          </a:p>
          <a:p>
            <a:pPr lvl="1">
              <a:defRPr/>
            </a:pPr>
            <a:r>
              <a:rPr lang="en-US" dirty="0"/>
              <a:t>by using a computer.</a:t>
            </a:r>
          </a:p>
          <a:p>
            <a:pPr lvl="1">
              <a:defRPr/>
            </a:pPr>
            <a:endParaRPr lang="en-US" dirty="0"/>
          </a:p>
          <a:p>
            <a:pPr marL="457200" lvl="1" indent="0">
              <a:buFont typeface="Wingdings" panose="05000000000000000000" pitchFamily="2" charset="2"/>
              <a:buNone/>
              <a:defRPr/>
            </a:pPr>
            <a:r>
              <a:rPr lang="en-US" dirty="0"/>
              <a:t>Properties</a:t>
            </a:r>
          </a:p>
          <a:p>
            <a:pPr lvl="1">
              <a:buFont typeface="Wingdings" panose="05000000000000000000" pitchFamily="2" charset="2"/>
              <a:buChar char="Ø"/>
              <a:defRPr/>
            </a:pPr>
            <a:r>
              <a:rPr lang="en-US" b="0" dirty="0"/>
              <a:t>Finiteness</a:t>
            </a:r>
          </a:p>
          <a:p>
            <a:pPr lvl="1">
              <a:buFont typeface="Wingdings" panose="05000000000000000000" pitchFamily="2" charset="2"/>
              <a:buChar char="Ø"/>
              <a:defRPr/>
            </a:pPr>
            <a:r>
              <a:rPr lang="en-US" b="0" dirty="0"/>
              <a:t>Unambiguous</a:t>
            </a:r>
          </a:p>
          <a:p>
            <a:pPr lvl="1">
              <a:buFont typeface="Wingdings" panose="05000000000000000000" pitchFamily="2" charset="2"/>
              <a:buChar char="Ø"/>
              <a:defRPr/>
            </a:pPr>
            <a:r>
              <a:rPr lang="en-US" b="0" dirty="0"/>
              <a:t>Definiteness of sequence </a:t>
            </a:r>
          </a:p>
          <a:p>
            <a:pPr lvl="1">
              <a:buFont typeface="Wingdings" panose="05000000000000000000" pitchFamily="2" charset="2"/>
              <a:buChar char="Ø"/>
              <a:defRPr/>
            </a:pPr>
            <a:r>
              <a:rPr lang="en-US" b="0" dirty="0"/>
              <a:t>Input /Output defined</a:t>
            </a:r>
          </a:p>
          <a:p>
            <a:pPr lvl="1">
              <a:buFont typeface="Wingdings" panose="05000000000000000000" pitchFamily="2" charset="2"/>
              <a:buChar char="Ø"/>
              <a:defRPr/>
            </a:pPr>
            <a:r>
              <a:rPr lang="en-US" b="0" dirty="0"/>
              <a:t>Feasibility </a:t>
            </a:r>
          </a:p>
          <a:p>
            <a:pPr lvl="1">
              <a:defRPr/>
            </a:pP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id="{8118311F-5982-6BA1-1F68-066C95B33B04}"/>
              </a:ext>
            </a:extLst>
          </p:cNvPr>
          <p:cNvSpPr>
            <a:spLocks noGrp="1" noChangeArrowheads="1"/>
          </p:cNvSpPr>
          <p:nvPr>
            <p:ph type="title"/>
          </p:nvPr>
        </p:nvSpPr>
        <p:spPr/>
        <p:txBody>
          <a:bodyPr/>
          <a:lstStyle/>
          <a:p>
            <a:r>
              <a:rPr lang="en-IN" altLang="en-US" sz="2800">
                <a:solidFill>
                  <a:srgbClr val="00B0F0"/>
                </a:solidFill>
              </a:rPr>
              <a:t>Design Techniques </a:t>
            </a:r>
            <a:r>
              <a:rPr lang="en-IN" altLang="en-US" sz="2800"/>
              <a:t>-Problem Solving Strategies</a:t>
            </a:r>
          </a:p>
        </p:txBody>
      </p:sp>
      <p:sp>
        <p:nvSpPr>
          <p:cNvPr id="8195" name="Content Placeholder 2">
            <a:extLst>
              <a:ext uri="{FF2B5EF4-FFF2-40B4-BE49-F238E27FC236}">
                <a16:creationId xmlns:a16="http://schemas.microsoft.com/office/drawing/2014/main" id="{6AF6F5D2-C1E7-9752-F6EF-B32AB3B4F579}"/>
              </a:ext>
            </a:extLst>
          </p:cNvPr>
          <p:cNvSpPr>
            <a:spLocks noGrp="1" noChangeArrowheads="1"/>
          </p:cNvSpPr>
          <p:nvPr>
            <p:ph idx="1"/>
          </p:nvPr>
        </p:nvSpPr>
        <p:spPr/>
        <p:txBody>
          <a:bodyPr/>
          <a:lstStyle/>
          <a:p>
            <a:r>
              <a:rPr lang="en-IN" altLang="en-US"/>
              <a:t>Divide &amp; Conquer</a:t>
            </a:r>
          </a:p>
          <a:p>
            <a:r>
              <a:rPr lang="en-IN" altLang="en-US"/>
              <a:t>Greedy Method</a:t>
            </a:r>
          </a:p>
          <a:p>
            <a:r>
              <a:rPr lang="en-IN" altLang="en-US"/>
              <a:t>Branch &amp; Bound </a:t>
            </a:r>
          </a:p>
          <a:p>
            <a:r>
              <a:rPr lang="en-IN" altLang="en-US"/>
              <a:t>Backtracking</a:t>
            </a:r>
          </a:p>
          <a:p>
            <a:r>
              <a:rPr lang="en-IN" altLang="en-US"/>
              <a:t>Dynamic Programming</a:t>
            </a:r>
          </a:p>
          <a:p>
            <a:r>
              <a:rPr lang="en-IN" altLang="en-US"/>
              <a:t>Brute Force</a:t>
            </a:r>
          </a:p>
          <a:p>
            <a:r>
              <a:rPr lang="en-IN" altLang="en-US"/>
              <a:t>Randomized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21B6146F-4162-0D2F-E4B7-9FC5609E365C}"/>
              </a:ext>
            </a:extLst>
          </p:cNvPr>
          <p:cNvSpPr>
            <a:spLocks noGrp="1" noChangeArrowheads="1"/>
          </p:cNvSpPr>
          <p:nvPr>
            <p:ph type="title"/>
          </p:nvPr>
        </p:nvSpPr>
        <p:spPr/>
        <p:txBody>
          <a:bodyPr/>
          <a:lstStyle/>
          <a:p>
            <a:r>
              <a:rPr lang="en-US" altLang="en-US"/>
              <a:t>Problem Solving Using Computers</a:t>
            </a:r>
          </a:p>
        </p:txBody>
      </p:sp>
      <p:sp>
        <p:nvSpPr>
          <p:cNvPr id="9219" name="Rectangle 3">
            <a:extLst>
              <a:ext uri="{FF2B5EF4-FFF2-40B4-BE49-F238E27FC236}">
                <a16:creationId xmlns:a16="http://schemas.microsoft.com/office/drawing/2014/main" id="{09219AB1-FFCA-18FD-E282-09272F389F63}"/>
              </a:ext>
            </a:extLst>
          </p:cNvPr>
          <p:cNvSpPr>
            <a:spLocks noGrp="1" noChangeArrowheads="1"/>
          </p:cNvSpPr>
          <p:nvPr>
            <p:ph type="body" idx="1"/>
          </p:nvPr>
        </p:nvSpPr>
        <p:spPr>
          <a:xfrm>
            <a:off x="381000" y="990600"/>
            <a:ext cx="8439150" cy="5638800"/>
          </a:xfrm>
        </p:spPr>
        <p:txBody>
          <a:bodyPr/>
          <a:lstStyle/>
          <a:p>
            <a:pPr>
              <a:lnSpc>
                <a:spcPct val="90000"/>
              </a:lnSpc>
            </a:pPr>
            <a:r>
              <a:rPr lang="en-US" altLang="en-US"/>
              <a:t>Problem:</a:t>
            </a:r>
          </a:p>
          <a:p>
            <a:pPr>
              <a:lnSpc>
                <a:spcPct val="90000"/>
              </a:lnSpc>
            </a:pPr>
            <a:r>
              <a:rPr lang="en-US" altLang="en-US"/>
              <a:t>Strategy: </a:t>
            </a:r>
          </a:p>
          <a:p>
            <a:pPr>
              <a:lnSpc>
                <a:spcPct val="90000"/>
              </a:lnSpc>
            </a:pPr>
            <a:r>
              <a:rPr lang="en-US" altLang="en-US"/>
              <a:t>Algorithm:</a:t>
            </a:r>
          </a:p>
          <a:p>
            <a:pPr lvl="1">
              <a:lnSpc>
                <a:spcPct val="90000"/>
              </a:lnSpc>
            </a:pPr>
            <a:r>
              <a:rPr lang="en-US" altLang="en-US"/>
              <a:t>Input:</a:t>
            </a:r>
          </a:p>
          <a:p>
            <a:pPr lvl="1">
              <a:lnSpc>
                <a:spcPct val="90000"/>
              </a:lnSpc>
            </a:pPr>
            <a:r>
              <a:rPr lang="en-US" altLang="en-US"/>
              <a:t>Output:</a:t>
            </a:r>
          </a:p>
          <a:p>
            <a:pPr lvl="1">
              <a:lnSpc>
                <a:spcPct val="90000"/>
              </a:lnSpc>
            </a:pPr>
            <a:r>
              <a:rPr lang="en-US" altLang="en-US"/>
              <a:t>Step:</a:t>
            </a:r>
          </a:p>
          <a:p>
            <a:pPr>
              <a:lnSpc>
                <a:spcPct val="90000"/>
              </a:lnSpc>
            </a:pPr>
            <a:r>
              <a:rPr lang="en-US" altLang="en-US"/>
              <a:t>Analysis:</a:t>
            </a:r>
          </a:p>
          <a:p>
            <a:pPr lvl="1">
              <a:lnSpc>
                <a:spcPct val="90000"/>
              </a:lnSpc>
            </a:pPr>
            <a:r>
              <a:rPr lang="en-US" altLang="en-US"/>
              <a:t>Time &amp; Space: </a:t>
            </a:r>
          </a:p>
          <a:p>
            <a:pPr lvl="1">
              <a:lnSpc>
                <a:spcPct val="90000"/>
              </a:lnSpc>
            </a:pPr>
            <a:r>
              <a:rPr lang="en-US" altLang="en-US"/>
              <a:t>Optimality:</a:t>
            </a:r>
          </a:p>
          <a:p>
            <a:pPr lvl="1">
              <a:lnSpc>
                <a:spcPct val="90000"/>
              </a:lnSpc>
            </a:pPr>
            <a:r>
              <a:rPr lang="en-US" altLang="en-US"/>
              <a:t>Correctness:</a:t>
            </a:r>
          </a:p>
          <a:p>
            <a:pPr>
              <a:lnSpc>
                <a:spcPct val="90000"/>
              </a:lnSpc>
            </a:pPr>
            <a:r>
              <a:rPr lang="en-US" altLang="en-US"/>
              <a:t>Implementation:</a:t>
            </a:r>
          </a:p>
          <a:p>
            <a:pPr>
              <a:lnSpc>
                <a:spcPct val="90000"/>
              </a:lnSpc>
            </a:pPr>
            <a:r>
              <a:rPr lang="en-US" altLang="en-US"/>
              <a:t>Verification: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10C8AB44-3FCC-B9D7-C46D-0314093FF7A5}"/>
              </a:ext>
            </a:extLst>
          </p:cNvPr>
          <p:cNvSpPr>
            <a:spLocks noGrp="1" noChangeArrowheads="1"/>
          </p:cNvSpPr>
          <p:nvPr>
            <p:ph type="title"/>
          </p:nvPr>
        </p:nvSpPr>
        <p:spPr>
          <a:xfrm>
            <a:off x="381000" y="188913"/>
            <a:ext cx="8229600" cy="685800"/>
          </a:xfrm>
        </p:spPr>
        <p:txBody>
          <a:bodyPr/>
          <a:lstStyle/>
          <a:p>
            <a:r>
              <a:rPr lang="en-US" altLang="en-US"/>
              <a:t>Example: Search in an unordered array</a:t>
            </a:r>
          </a:p>
        </p:txBody>
      </p:sp>
      <p:sp>
        <p:nvSpPr>
          <p:cNvPr id="10243" name="Rectangle 3">
            <a:extLst>
              <a:ext uri="{FF2B5EF4-FFF2-40B4-BE49-F238E27FC236}">
                <a16:creationId xmlns:a16="http://schemas.microsoft.com/office/drawing/2014/main" id="{D041527D-D8B4-B4F6-F547-F4596F69D090}"/>
              </a:ext>
            </a:extLst>
          </p:cNvPr>
          <p:cNvSpPr>
            <a:spLocks noGrp="1" noChangeArrowheads="1"/>
          </p:cNvSpPr>
          <p:nvPr>
            <p:ph type="body" idx="1"/>
          </p:nvPr>
        </p:nvSpPr>
        <p:spPr>
          <a:xfrm>
            <a:off x="381000" y="1030288"/>
            <a:ext cx="8255000" cy="5638800"/>
          </a:xfrm>
        </p:spPr>
        <p:txBody>
          <a:bodyPr/>
          <a:lstStyle/>
          <a:p>
            <a:r>
              <a:rPr lang="en-US" altLang="en-US" b="1" i="1" u="sng"/>
              <a:t>Problem</a:t>
            </a:r>
            <a:r>
              <a:rPr lang="en-US" altLang="en-US"/>
              <a:t>:</a:t>
            </a:r>
          </a:p>
          <a:p>
            <a:pPr lvl="1"/>
            <a:r>
              <a:rPr lang="en-US" altLang="en-US"/>
              <a:t>Let E be an array containing n entries, E[0], …, E[n-1], in no particular order. </a:t>
            </a:r>
          </a:p>
          <a:p>
            <a:pPr lvl="1"/>
            <a:r>
              <a:rPr lang="en-US" altLang="en-US"/>
              <a:t>Find an index of a specified key K, if K is in the array;</a:t>
            </a:r>
          </a:p>
          <a:p>
            <a:pPr lvl="1"/>
            <a:r>
              <a:rPr lang="en-US" altLang="en-US"/>
              <a:t>return –1 as the answer if K is not in the array.</a:t>
            </a:r>
          </a:p>
          <a:p>
            <a:endParaRPr lang="en-US" altLang="en-US"/>
          </a:p>
          <a:p>
            <a:r>
              <a:rPr lang="en-US" altLang="en-US" b="1" i="1" u="sng"/>
              <a:t>Strategy</a:t>
            </a:r>
            <a:r>
              <a:rPr lang="en-US" altLang="en-US"/>
              <a:t>:</a:t>
            </a:r>
          </a:p>
          <a:p>
            <a:pPr lvl="1"/>
            <a:r>
              <a:rPr lang="en-US" altLang="en-US"/>
              <a:t>Compare K to each entry in turn until a match is found or the array is exhausted.</a:t>
            </a:r>
          </a:p>
          <a:p>
            <a:pPr lvl="1"/>
            <a:r>
              <a:rPr lang="en-US" altLang="en-US"/>
              <a:t>If K is not in the array, the algorithm returns –1 as its answer.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71CB7DAA-CCD9-9794-E90C-A88AF529C1D9}"/>
              </a:ext>
            </a:extLst>
          </p:cNvPr>
          <p:cNvSpPr>
            <a:spLocks noGrp="1" noChangeArrowheads="1"/>
          </p:cNvSpPr>
          <p:nvPr>
            <p:ph type="title"/>
          </p:nvPr>
        </p:nvSpPr>
        <p:spPr/>
        <p:txBody>
          <a:bodyPr/>
          <a:lstStyle/>
          <a:p>
            <a:r>
              <a:rPr lang="en-US" altLang="en-US"/>
              <a:t>Example: Sequential Search, Unordered</a:t>
            </a:r>
          </a:p>
        </p:txBody>
      </p:sp>
      <p:sp>
        <p:nvSpPr>
          <p:cNvPr id="12291" name="Rectangle 3">
            <a:extLst>
              <a:ext uri="{FF2B5EF4-FFF2-40B4-BE49-F238E27FC236}">
                <a16:creationId xmlns:a16="http://schemas.microsoft.com/office/drawing/2014/main" id="{EFF42101-7E52-6575-531E-C20A8E7249C4}"/>
              </a:ext>
            </a:extLst>
          </p:cNvPr>
          <p:cNvSpPr>
            <a:spLocks noGrp="1" noChangeArrowheads="1"/>
          </p:cNvSpPr>
          <p:nvPr>
            <p:ph type="body" idx="1"/>
          </p:nvPr>
        </p:nvSpPr>
        <p:spPr/>
        <p:txBody>
          <a:bodyPr/>
          <a:lstStyle/>
          <a:p>
            <a:pPr>
              <a:defRPr/>
            </a:pPr>
            <a:r>
              <a:rPr lang="en-US" altLang="en-US" b="1" i="1" u="sng" dirty="0"/>
              <a:t>Algorithm</a:t>
            </a:r>
            <a:r>
              <a:rPr lang="en-US" altLang="en-US" dirty="0"/>
              <a:t> (and data structure)</a:t>
            </a:r>
          </a:p>
          <a:p>
            <a:pPr>
              <a:defRPr/>
            </a:pPr>
            <a:endParaRPr lang="en-US" altLang="en-US" dirty="0"/>
          </a:p>
          <a:p>
            <a:pPr lvl="1">
              <a:defRPr/>
            </a:pPr>
            <a:r>
              <a:rPr lang="en-US" altLang="en-US" dirty="0"/>
              <a:t>Input: </a:t>
            </a:r>
          </a:p>
          <a:p>
            <a:pPr marL="457200" lvl="1" indent="0">
              <a:buFont typeface="Wingdings" panose="05000000000000000000" pitchFamily="2" charset="2"/>
              <a:buNone/>
              <a:defRPr/>
            </a:pPr>
            <a:r>
              <a:rPr lang="en-US" altLang="en-US" b="0" dirty="0"/>
              <a:t>E, n, K, where E is an array with n entries (indexed 0, …, n-  1), and K is the item sought</a:t>
            </a:r>
            <a:r>
              <a:rPr lang="en-US" altLang="en-US" dirty="0"/>
              <a:t>. </a:t>
            </a:r>
          </a:p>
          <a:p>
            <a:pPr lvl="1">
              <a:defRPr/>
            </a:pPr>
            <a:endParaRPr lang="en-US" altLang="en-US" dirty="0"/>
          </a:p>
          <a:p>
            <a:pPr lvl="1">
              <a:defRPr/>
            </a:pPr>
            <a:r>
              <a:rPr lang="en-US" altLang="en-US" dirty="0"/>
              <a:t>Output: </a:t>
            </a:r>
          </a:p>
          <a:p>
            <a:pPr marL="457200" lvl="1" indent="0">
              <a:buFont typeface="Wingdings" panose="05000000000000000000" pitchFamily="2" charset="2"/>
              <a:buNone/>
              <a:defRPr/>
            </a:pPr>
            <a:r>
              <a:rPr lang="en-US" altLang="en-US" b="0" dirty="0"/>
              <a:t>Returns </a:t>
            </a:r>
            <a:r>
              <a:rPr lang="en-US" altLang="en-US" b="0" dirty="0" err="1"/>
              <a:t>ans</a:t>
            </a:r>
            <a:r>
              <a:rPr lang="en-US" altLang="en-US" b="0" dirty="0"/>
              <a:t>, the location of K in E (-1 if K is not found)</a:t>
            </a:r>
          </a:p>
          <a:p>
            <a:pPr lvl="1">
              <a:defRPr/>
            </a:pPr>
            <a:endParaRPr lang="en-US"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F3128150-F558-1B43-6754-D01B230C821B}"/>
              </a:ext>
            </a:extLst>
          </p:cNvPr>
          <p:cNvSpPr>
            <a:spLocks noGrp="1" noChangeArrowheads="1"/>
          </p:cNvSpPr>
          <p:nvPr>
            <p:ph type="title"/>
          </p:nvPr>
        </p:nvSpPr>
        <p:spPr/>
        <p:txBody>
          <a:bodyPr/>
          <a:lstStyle/>
          <a:p>
            <a:r>
              <a:rPr lang="en-US" altLang="en-US"/>
              <a:t>Algorithm: Step (Specification)</a:t>
            </a:r>
          </a:p>
        </p:txBody>
      </p:sp>
      <p:sp>
        <p:nvSpPr>
          <p:cNvPr id="12291" name="Rectangle 3">
            <a:extLst>
              <a:ext uri="{FF2B5EF4-FFF2-40B4-BE49-F238E27FC236}">
                <a16:creationId xmlns:a16="http://schemas.microsoft.com/office/drawing/2014/main" id="{5DEBF14A-00D4-3CD9-FC08-5C401759055A}"/>
              </a:ext>
            </a:extLst>
          </p:cNvPr>
          <p:cNvSpPr>
            <a:spLocks noGrp="1" noChangeArrowheads="1"/>
          </p:cNvSpPr>
          <p:nvPr>
            <p:ph type="body" idx="1"/>
          </p:nvPr>
        </p:nvSpPr>
        <p:spPr/>
        <p:txBody>
          <a:bodyPr/>
          <a:lstStyle/>
          <a:p>
            <a:r>
              <a:rPr lang="en-US" altLang="en-US"/>
              <a:t>int seqSearch(int[] E, int n, int K)</a:t>
            </a:r>
          </a:p>
          <a:p>
            <a:r>
              <a:rPr lang="en-US" altLang="en-US"/>
              <a:t>int ans, index;</a:t>
            </a:r>
          </a:p>
          <a:p>
            <a:r>
              <a:rPr lang="en-US" altLang="en-US"/>
              <a:t>ans = -1; 			// Assume failure.</a:t>
            </a:r>
          </a:p>
          <a:p>
            <a:r>
              <a:rPr lang="en-US" altLang="en-US"/>
              <a:t>for (index = 0; index &lt; n; index++)</a:t>
            </a:r>
          </a:p>
          <a:p>
            <a:r>
              <a:rPr lang="en-US" altLang="en-US"/>
              <a:t>   if (K == E[index])</a:t>
            </a:r>
          </a:p>
          <a:p>
            <a:r>
              <a:rPr lang="en-US" altLang="en-US"/>
              <a:t>       ans = index; 	// Success!</a:t>
            </a:r>
          </a:p>
          <a:p>
            <a:r>
              <a:rPr lang="en-US" altLang="en-US"/>
              <a:t>        break;		// Done!</a:t>
            </a:r>
          </a:p>
          <a:p>
            <a:r>
              <a:rPr lang="en-US" altLang="en-US"/>
              <a:t>return ans;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C58358BE-D73F-5BC8-EC98-3A230E65FCF1}"/>
              </a:ext>
            </a:extLst>
          </p:cNvPr>
          <p:cNvSpPr>
            <a:spLocks noGrp="1" noChangeArrowheads="1"/>
          </p:cNvSpPr>
          <p:nvPr>
            <p:ph type="title"/>
          </p:nvPr>
        </p:nvSpPr>
        <p:spPr>
          <a:xfrm>
            <a:off x="381000" y="115888"/>
            <a:ext cx="8229600" cy="685800"/>
          </a:xfrm>
        </p:spPr>
        <p:txBody>
          <a:bodyPr/>
          <a:lstStyle/>
          <a:p>
            <a:r>
              <a:rPr lang="en-US" altLang="en-US"/>
              <a:t>Analysis of the Algorithm</a:t>
            </a:r>
          </a:p>
        </p:txBody>
      </p:sp>
      <p:sp>
        <p:nvSpPr>
          <p:cNvPr id="10243" name="Rectangle 3">
            <a:extLst>
              <a:ext uri="{FF2B5EF4-FFF2-40B4-BE49-F238E27FC236}">
                <a16:creationId xmlns:a16="http://schemas.microsoft.com/office/drawing/2014/main" id="{49E3D0BF-2D89-68DC-2FB8-ABC6CA6292A0}"/>
              </a:ext>
            </a:extLst>
          </p:cNvPr>
          <p:cNvSpPr>
            <a:spLocks noGrp="1" noChangeArrowheads="1"/>
          </p:cNvSpPr>
          <p:nvPr>
            <p:ph type="body" idx="1"/>
          </p:nvPr>
        </p:nvSpPr>
        <p:spPr>
          <a:xfrm>
            <a:off x="395288" y="836613"/>
            <a:ext cx="8439150" cy="5867400"/>
          </a:xfrm>
        </p:spPr>
        <p:txBody>
          <a:bodyPr/>
          <a:lstStyle/>
          <a:p>
            <a:pPr marL="0" indent="0">
              <a:buFontTx/>
              <a:buNone/>
              <a:defRPr/>
            </a:pPr>
            <a:r>
              <a:rPr lang="en-US" dirty="0"/>
              <a:t>we measure the amount of work done by an algorithm.</a:t>
            </a:r>
          </a:p>
          <a:p>
            <a:pPr>
              <a:defRPr/>
            </a:pPr>
            <a:r>
              <a:rPr lang="en-US" b="1" dirty="0"/>
              <a:t>Basic Operation:</a:t>
            </a:r>
          </a:p>
          <a:p>
            <a:pPr lvl="1">
              <a:defRPr/>
            </a:pPr>
            <a:r>
              <a:rPr lang="en-US" b="0" dirty="0"/>
              <a:t>Comparison of x with an array entry</a:t>
            </a:r>
          </a:p>
          <a:p>
            <a:pPr lvl="1">
              <a:defRPr/>
            </a:pPr>
            <a:endParaRPr lang="en-US" dirty="0"/>
          </a:p>
          <a:p>
            <a:pPr>
              <a:defRPr/>
            </a:pPr>
            <a:r>
              <a:rPr lang="en-US" b="1" dirty="0"/>
              <a:t>Worst-Case Analysis</a:t>
            </a:r>
            <a:r>
              <a:rPr lang="en-US" dirty="0"/>
              <a:t>:</a:t>
            </a:r>
          </a:p>
          <a:p>
            <a:pPr lvl="1">
              <a:defRPr/>
            </a:pPr>
            <a:r>
              <a:rPr lang="en-US" b="0" dirty="0"/>
              <a:t>Let W(n) be a function. </a:t>
            </a:r>
          </a:p>
          <a:p>
            <a:pPr marL="457200" lvl="1" indent="0">
              <a:buFont typeface="Wingdings" panose="05000000000000000000" pitchFamily="2" charset="2"/>
              <a:buNone/>
              <a:defRPr/>
            </a:pPr>
            <a:r>
              <a:rPr lang="en-US" b="0" dirty="0"/>
              <a:t>W(n) is the maximum number of basic operations performed by the algorithm on any input size n. </a:t>
            </a:r>
          </a:p>
          <a:p>
            <a:pPr lvl="1">
              <a:defRPr/>
            </a:pPr>
            <a:r>
              <a:rPr lang="en-US" b="0" dirty="0"/>
              <a:t>For our example, clearly W(n) = n. </a:t>
            </a:r>
          </a:p>
          <a:p>
            <a:pPr lvl="1">
              <a:defRPr/>
            </a:pPr>
            <a:endParaRPr lang="en-US" b="0" dirty="0"/>
          </a:p>
          <a:p>
            <a:pPr lvl="1">
              <a:defRPr/>
            </a:pPr>
            <a:r>
              <a:rPr lang="en-US" b="0" dirty="0"/>
              <a:t>The worst cases occur when K appears only in the last position in the array OR when K is not in the array at all.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5" name="Rectangle 3">
            <a:extLst>
              <a:ext uri="{FF2B5EF4-FFF2-40B4-BE49-F238E27FC236}">
                <a16:creationId xmlns:a16="http://schemas.microsoft.com/office/drawing/2014/main" id="{86F88F6D-BD3C-4599-D8C4-B2368453922B}"/>
              </a:ext>
            </a:extLst>
          </p:cNvPr>
          <p:cNvSpPr>
            <a:spLocks noGrp="1" noChangeArrowheads="1"/>
          </p:cNvSpPr>
          <p:nvPr>
            <p:ph type="body" idx="1"/>
          </p:nvPr>
        </p:nvSpPr>
        <p:spPr/>
        <p:txBody>
          <a:bodyPr/>
          <a:lstStyle/>
          <a:p>
            <a:pPr>
              <a:defRPr/>
            </a:pPr>
            <a:r>
              <a:rPr lang="en-US" b="1" i="1" u="sng" dirty="0"/>
              <a:t>Optimality</a:t>
            </a:r>
            <a:r>
              <a:rPr lang="en-US" dirty="0"/>
              <a:t>:</a:t>
            </a:r>
          </a:p>
          <a:p>
            <a:pPr lvl="1">
              <a:defRPr/>
            </a:pPr>
            <a:r>
              <a:rPr lang="en-US" b="0" dirty="0"/>
              <a:t>The Best possible solution?</a:t>
            </a:r>
          </a:p>
          <a:p>
            <a:pPr lvl="1">
              <a:defRPr/>
            </a:pPr>
            <a:r>
              <a:rPr lang="en-US" b="0" dirty="0"/>
              <a:t>Searching an Ordered Array</a:t>
            </a:r>
          </a:p>
          <a:p>
            <a:pPr marL="457200" lvl="1" indent="0">
              <a:buFont typeface="Wingdings" panose="05000000000000000000" pitchFamily="2" charset="2"/>
              <a:buNone/>
              <a:defRPr/>
            </a:pPr>
            <a:r>
              <a:rPr lang="en-US" b="0" dirty="0"/>
              <a:t>		Using Binary Search</a:t>
            </a:r>
          </a:p>
          <a:p>
            <a:pPr lvl="1">
              <a:defRPr/>
            </a:pPr>
            <a:r>
              <a:rPr lang="en-US" b="0" dirty="0"/>
              <a:t>W(n) = Ceiling[</a:t>
            </a:r>
            <a:r>
              <a:rPr lang="en-US" b="0" dirty="0" err="1"/>
              <a:t>lg</a:t>
            </a:r>
            <a:r>
              <a:rPr lang="en-US" b="0" dirty="0"/>
              <a:t>(n+1)]</a:t>
            </a:r>
          </a:p>
          <a:p>
            <a:pPr lvl="1">
              <a:defRPr/>
            </a:pPr>
            <a:r>
              <a:rPr lang="en-US" dirty="0"/>
              <a:t>The Binary Search algorithm is optimal. </a:t>
            </a:r>
          </a:p>
          <a:p>
            <a:pPr marL="457200" lvl="1" indent="0">
              <a:buFont typeface="Wingdings" panose="05000000000000000000" pitchFamily="2" charset="2"/>
              <a:buNone/>
              <a:defRPr/>
            </a:pPr>
            <a:endParaRPr lang="en-US" dirty="0"/>
          </a:p>
          <a:p>
            <a:pPr marL="457200" lvl="1" indent="0">
              <a:buFont typeface="Wingdings" panose="05000000000000000000" pitchFamily="2" charset="2"/>
              <a:buNone/>
              <a:defRPr/>
            </a:pPr>
            <a:endParaRPr lang="en-US" dirty="0"/>
          </a:p>
          <a:p>
            <a:pPr>
              <a:defRPr/>
            </a:pPr>
            <a:endParaRPr lang="en-US" dirty="0"/>
          </a:p>
        </p:txBody>
      </p:sp>
      <p:sp>
        <p:nvSpPr>
          <p:cNvPr id="14339" name="Rectangle 2">
            <a:extLst>
              <a:ext uri="{FF2B5EF4-FFF2-40B4-BE49-F238E27FC236}">
                <a16:creationId xmlns:a16="http://schemas.microsoft.com/office/drawing/2014/main" id="{285396A5-3AD0-5829-5ECA-291404A1A115}"/>
              </a:ext>
            </a:extLst>
          </p:cNvPr>
          <p:cNvSpPr>
            <a:spLocks noGrp="1" noChangeArrowheads="1"/>
          </p:cNvSpPr>
          <p:nvPr>
            <p:ph type="title"/>
          </p:nvPr>
        </p:nvSpPr>
        <p:spPr/>
        <p:txBody>
          <a:bodyPr/>
          <a:lstStyle/>
          <a:p>
            <a:r>
              <a:rPr lang="en-US" altLang="en-US"/>
              <a:t>More Analysis of the Algorithm</a:t>
            </a:r>
          </a:p>
        </p:txBody>
      </p:sp>
      <p:graphicFrame>
        <p:nvGraphicFramePr>
          <p:cNvPr id="14340" name="Object 4">
            <a:extLst>
              <a:ext uri="{FF2B5EF4-FFF2-40B4-BE49-F238E27FC236}">
                <a16:creationId xmlns:a16="http://schemas.microsoft.com/office/drawing/2014/main" id="{9FBFE0A3-3468-5D96-206B-A0BBF433C6A7}"/>
              </a:ext>
            </a:extLst>
          </p:cNvPr>
          <p:cNvGraphicFramePr>
            <a:graphicFrameLocks noChangeAspect="1"/>
          </p:cNvGraphicFramePr>
          <p:nvPr/>
        </p:nvGraphicFramePr>
        <p:xfrm>
          <a:off x="4495800" y="4114800"/>
          <a:ext cx="3057525" cy="533400"/>
        </p:xfrm>
        <a:graphic>
          <a:graphicData uri="http://schemas.openxmlformats.org/presentationml/2006/ole">
            <mc:AlternateContent xmlns:mc="http://schemas.openxmlformats.org/markup-compatibility/2006">
              <mc:Choice xmlns:v="urn:schemas-microsoft-com:vml" Requires="v">
                <p:oleObj name="Equation" r:id="rId2" imgW="749300" imgH="228600" progId="Equation.3">
                  <p:embed/>
                </p:oleObj>
              </mc:Choice>
              <mc:Fallback>
                <p:oleObj name="Equation" r:id="rId2" imgW="749300" imgH="228600"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95800" y="4114800"/>
                        <a:ext cx="3057525"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6CE402AA-DE5E-A1D2-4720-AFE74BE77901}"/>
              </a:ext>
            </a:extLst>
          </p:cNvPr>
          <p:cNvSpPr>
            <a:spLocks noGrp="1" noChangeArrowheads="1"/>
          </p:cNvSpPr>
          <p:nvPr>
            <p:ph type="title"/>
          </p:nvPr>
        </p:nvSpPr>
        <p:spPr>
          <a:xfrm>
            <a:off x="381000" y="260350"/>
            <a:ext cx="8229600" cy="685800"/>
          </a:xfrm>
        </p:spPr>
        <p:txBody>
          <a:bodyPr/>
          <a:lstStyle/>
          <a:p>
            <a:r>
              <a:rPr lang="en-US" altLang="en-US" i="1">
                <a:sym typeface="Symbol" panose="05050102010706020507" pitchFamily="18" charset="2"/>
              </a:rPr>
              <a:t>Correctness</a:t>
            </a:r>
            <a:r>
              <a:rPr lang="en-US" altLang="en-US">
                <a:sym typeface="Symbol" panose="05050102010706020507" pitchFamily="18" charset="2"/>
              </a:rPr>
              <a:t> can be proved!</a:t>
            </a:r>
          </a:p>
        </p:txBody>
      </p:sp>
      <p:sp>
        <p:nvSpPr>
          <p:cNvPr id="43011" name="Rectangle 3">
            <a:extLst>
              <a:ext uri="{FF2B5EF4-FFF2-40B4-BE49-F238E27FC236}">
                <a16:creationId xmlns:a16="http://schemas.microsoft.com/office/drawing/2014/main" id="{01597094-7F5B-E8A4-CD88-BE5BC394D199}"/>
              </a:ext>
            </a:extLst>
          </p:cNvPr>
          <p:cNvSpPr>
            <a:spLocks noGrp="1" noChangeArrowheads="1"/>
          </p:cNvSpPr>
          <p:nvPr>
            <p:ph type="body" idx="1"/>
          </p:nvPr>
        </p:nvSpPr>
        <p:spPr/>
        <p:txBody>
          <a:bodyPr/>
          <a:lstStyle/>
          <a:p>
            <a:pPr marL="0" indent="0" algn="just">
              <a:buFontTx/>
              <a:buNone/>
              <a:defRPr/>
            </a:pPr>
            <a:r>
              <a:rPr lang="en-US" b="1" i="1" u="sng" dirty="0"/>
              <a:t>Correctness</a:t>
            </a:r>
            <a:r>
              <a:rPr lang="en-US" dirty="0"/>
              <a:t>: (proving correctness of procedures)</a:t>
            </a:r>
          </a:p>
          <a:p>
            <a:pPr marL="0" indent="0" algn="just">
              <a:buFontTx/>
              <a:buNone/>
              <a:defRPr/>
            </a:pPr>
            <a:endParaRPr lang="en-US" dirty="0">
              <a:sym typeface="Symbol" pitchFamily="18" charset="2"/>
            </a:endParaRPr>
          </a:p>
          <a:p>
            <a:pPr marL="0" indent="0" algn="just">
              <a:buFontTx/>
              <a:buNone/>
              <a:defRPr/>
            </a:pPr>
            <a:r>
              <a:rPr lang="en-US" dirty="0">
                <a:sym typeface="Symbol" pitchFamily="18" charset="2"/>
              </a:rPr>
              <a:t>An algorithm consists of sequences of steps </a:t>
            </a:r>
          </a:p>
          <a:p>
            <a:pPr marL="0" indent="0" algn="just">
              <a:buFontTx/>
              <a:buNone/>
              <a:defRPr/>
            </a:pPr>
            <a:r>
              <a:rPr lang="en-US" dirty="0">
                <a:sym typeface="Symbol" pitchFamily="18" charset="2"/>
              </a:rPr>
              <a:t>(operations, instructions, statements) for </a:t>
            </a:r>
            <a:r>
              <a:rPr lang="en-US" i="1" dirty="0">
                <a:sym typeface="Symbol" pitchFamily="18" charset="2"/>
              </a:rPr>
              <a:t>transforming</a:t>
            </a:r>
            <a:r>
              <a:rPr lang="en-US" dirty="0">
                <a:sym typeface="Symbol" pitchFamily="18" charset="2"/>
              </a:rPr>
              <a:t> </a:t>
            </a:r>
            <a:br>
              <a:rPr lang="en-US" dirty="0">
                <a:sym typeface="Symbol" pitchFamily="18" charset="2"/>
              </a:rPr>
            </a:br>
            <a:r>
              <a:rPr lang="en-US" dirty="0">
                <a:sym typeface="Symbol" pitchFamily="18" charset="2"/>
              </a:rPr>
              <a:t>inputs (</a:t>
            </a:r>
            <a:r>
              <a:rPr lang="en-US" b="1" i="1" dirty="0">
                <a:sym typeface="Symbol" pitchFamily="18" charset="2"/>
              </a:rPr>
              <a:t>preconditions</a:t>
            </a:r>
            <a:r>
              <a:rPr lang="en-US" dirty="0">
                <a:sym typeface="Symbol" pitchFamily="18" charset="2"/>
              </a:rPr>
              <a:t>) to outputs (</a:t>
            </a:r>
            <a:r>
              <a:rPr lang="en-US" b="1" i="1" dirty="0" err="1">
                <a:sym typeface="Symbol" pitchFamily="18" charset="2"/>
              </a:rPr>
              <a:t>postconditions</a:t>
            </a:r>
            <a:r>
              <a:rPr lang="en-US" dirty="0">
                <a:sym typeface="Symbol" pitchFamily="18" charset="2"/>
              </a:rPr>
              <a:t>)</a:t>
            </a:r>
          </a:p>
          <a:p>
            <a:pPr algn="just">
              <a:defRPr/>
            </a:pPr>
            <a:endParaRPr lang="en-US" dirty="0">
              <a:sym typeface="Symbol" pitchFamily="18" charset="2"/>
            </a:endParaRPr>
          </a:p>
          <a:p>
            <a:pPr>
              <a:defRPr/>
            </a:pPr>
            <a:r>
              <a:rPr lang="en-US" dirty="0">
                <a:sym typeface="Symbol" pitchFamily="18" charset="2"/>
              </a:rPr>
              <a:t>Proving</a:t>
            </a:r>
          </a:p>
          <a:p>
            <a:pPr lvl="1">
              <a:defRPr/>
            </a:pPr>
            <a:r>
              <a:rPr lang="en-US" dirty="0">
                <a:sym typeface="Symbol" pitchFamily="18" charset="2"/>
              </a:rPr>
              <a:t>if the preconditions are satisfied, </a:t>
            </a:r>
          </a:p>
          <a:p>
            <a:pPr lvl="1">
              <a:defRPr/>
            </a:pPr>
            <a:r>
              <a:rPr lang="en-US" dirty="0">
                <a:sym typeface="Symbol" pitchFamily="18" charset="2"/>
              </a:rPr>
              <a:t>then the </a:t>
            </a:r>
            <a:r>
              <a:rPr lang="en-US" dirty="0" err="1">
                <a:sym typeface="Symbol" pitchFamily="18" charset="2"/>
              </a:rPr>
              <a:t>postconditions</a:t>
            </a:r>
            <a:r>
              <a:rPr lang="en-US" dirty="0">
                <a:sym typeface="Symbol" pitchFamily="18" charset="2"/>
              </a:rPr>
              <a:t> will be true,</a:t>
            </a:r>
          </a:p>
          <a:p>
            <a:pPr lvl="1">
              <a:defRPr/>
            </a:pPr>
            <a:r>
              <a:rPr lang="en-US" dirty="0">
                <a:sym typeface="Symbol" pitchFamily="18" charset="2"/>
              </a:rPr>
              <a:t>when the algorithm terminates.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1026">
            <a:extLst>
              <a:ext uri="{FF2B5EF4-FFF2-40B4-BE49-F238E27FC236}">
                <a16:creationId xmlns:a16="http://schemas.microsoft.com/office/drawing/2014/main" id="{85E7A255-F668-5B6D-EF85-D455BF6B56A2}"/>
              </a:ext>
            </a:extLst>
          </p:cNvPr>
          <p:cNvSpPr>
            <a:spLocks noGrp="1" noChangeArrowheads="1"/>
          </p:cNvSpPr>
          <p:nvPr>
            <p:ph type="title"/>
          </p:nvPr>
        </p:nvSpPr>
        <p:spPr/>
        <p:txBody>
          <a:bodyPr/>
          <a:lstStyle/>
          <a:p>
            <a:r>
              <a:rPr lang="en-US" altLang="en-US"/>
              <a:t>Algorithm Language (Specifying the Steps)</a:t>
            </a:r>
          </a:p>
        </p:txBody>
      </p:sp>
      <p:sp>
        <p:nvSpPr>
          <p:cNvPr id="16387" name="Rectangle 1027">
            <a:extLst>
              <a:ext uri="{FF2B5EF4-FFF2-40B4-BE49-F238E27FC236}">
                <a16:creationId xmlns:a16="http://schemas.microsoft.com/office/drawing/2014/main" id="{177B8AE0-A0FF-48DE-A07C-515763B96519}"/>
              </a:ext>
            </a:extLst>
          </p:cNvPr>
          <p:cNvSpPr>
            <a:spLocks noGrp="1" noChangeArrowheads="1"/>
          </p:cNvSpPr>
          <p:nvPr>
            <p:ph type="body" idx="1"/>
          </p:nvPr>
        </p:nvSpPr>
        <p:spPr/>
        <p:txBody>
          <a:bodyPr/>
          <a:lstStyle/>
          <a:p>
            <a:r>
              <a:rPr lang="en-US" altLang="en-US"/>
              <a:t>Java/C++  as an algorithm language can be used</a:t>
            </a:r>
          </a:p>
          <a:p>
            <a:endParaRPr lang="en-US" altLang="en-US"/>
          </a:p>
          <a:p>
            <a:r>
              <a:rPr lang="en-US" altLang="en-US"/>
              <a:t>steps within an algorithm may be specified in pseduocode (English phrases)</a:t>
            </a:r>
          </a:p>
          <a:p>
            <a:endParaRPr lang="en-US" altLang="en-US"/>
          </a:p>
          <a:p>
            <a:r>
              <a:rPr lang="en-US" altLang="en-US"/>
              <a:t>Focus on the strategy and techniques of an algorithm, not on detail implementation</a:t>
            </a:r>
          </a:p>
        </p:txBody>
      </p:sp>
      <p:sp>
        <p:nvSpPr>
          <p:cNvPr id="4" name="5-Point Star 3">
            <a:extLst>
              <a:ext uri="{FF2B5EF4-FFF2-40B4-BE49-F238E27FC236}">
                <a16:creationId xmlns:a16="http://schemas.microsoft.com/office/drawing/2014/main" id="{AEBB8D08-727A-8BD5-0618-865EC3EBAEFB}"/>
              </a:ext>
            </a:extLst>
          </p:cNvPr>
          <p:cNvSpPr/>
          <p:nvPr/>
        </p:nvSpPr>
        <p:spPr>
          <a:xfrm>
            <a:off x="7924800" y="5867400"/>
            <a:ext cx="685800" cy="609600"/>
          </a:xfrm>
          <a:prstGeom prst="star5">
            <a:avLst>
              <a:gd name="adj" fmla="val 50000"/>
              <a:gd name="hf" fmla="val 105146"/>
              <a:gd name="vf" fmla="val 110557"/>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25F61283-9112-39AB-8F9D-5D37C7170C0A}"/>
              </a:ext>
            </a:extLst>
          </p:cNvPr>
          <p:cNvSpPr>
            <a:spLocks noGrp="1" noChangeArrowheads="1"/>
          </p:cNvSpPr>
          <p:nvPr>
            <p:ph type="title"/>
          </p:nvPr>
        </p:nvSpPr>
        <p:spPr>
          <a:xfrm>
            <a:off x="107950" y="80963"/>
            <a:ext cx="8229600" cy="395287"/>
          </a:xfrm>
        </p:spPr>
        <p:txBody>
          <a:bodyPr/>
          <a:lstStyle/>
          <a:p>
            <a:r>
              <a:rPr lang="en-IN" altLang="en-US"/>
              <a:t>Loop Invariant – </a:t>
            </a:r>
            <a:r>
              <a:rPr lang="en-IN" altLang="en-US" sz="1800">
                <a:solidFill>
                  <a:srgbClr val="66CCFF"/>
                </a:solidFill>
              </a:rPr>
              <a:t>Analysing Correctness of Algorithm</a:t>
            </a:r>
            <a:endParaRPr lang="en-IN" altLang="en-US">
              <a:solidFill>
                <a:srgbClr val="66CCFF"/>
              </a:solidFill>
            </a:endParaRPr>
          </a:p>
        </p:txBody>
      </p:sp>
      <p:pic>
        <p:nvPicPr>
          <p:cNvPr id="17411" name="Content Placeholder 4">
            <a:extLst>
              <a:ext uri="{FF2B5EF4-FFF2-40B4-BE49-F238E27FC236}">
                <a16:creationId xmlns:a16="http://schemas.microsoft.com/office/drawing/2014/main" id="{2456CD95-D32C-8C08-46E2-89643C4DBD29}"/>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88913" y="466725"/>
            <a:ext cx="8704262" cy="2025650"/>
          </a:xfrm>
        </p:spPr>
      </p:pic>
      <p:pic>
        <p:nvPicPr>
          <p:cNvPr id="17412" name="Picture 6">
            <a:extLst>
              <a:ext uri="{FF2B5EF4-FFF2-40B4-BE49-F238E27FC236}">
                <a16:creationId xmlns:a16="http://schemas.microsoft.com/office/drawing/2014/main" id="{53DF781F-3616-589B-F7F8-B16376ED7E9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9388" y="2708275"/>
            <a:ext cx="8763000" cy="3960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3249917A-6CE3-4FB6-C72D-C7CA5D6540A3}"/>
              </a:ext>
            </a:extLst>
          </p:cNvPr>
          <p:cNvSpPr>
            <a:spLocks noGrp="1" noChangeArrowheads="1"/>
          </p:cNvSpPr>
          <p:nvPr>
            <p:ph type="title"/>
          </p:nvPr>
        </p:nvSpPr>
        <p:spPr/>
        <p:txBody>
          <a:bodyPr/>
          <a:lstStyle/>
          <a:p>
            <a:r>
              <a:rPr lang="en-IN" altLang="en-US"/>
              <a:t>Finding Max value in an array</a:t>
            </a:r>
          </a:p>
        </p:txBody>
      </p:sp>
      <p:pic>
        <p:nvPicPr>
          <p:cNvPr id="18435" name="Content Placeholder 4">
            <a:extLst>
              <a:ext uri="{FF2B5EF4-FFF2-40B4-BE49-F238E27FC236}">
                <a16:creationId xmlns:a16="http://schemas.microsoft.com/office/drawing/2014/main" id="{2AFA3B1C-2F3D-3DE0-AAFB-37EDFE90B1B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381000" y="1125538"/>
            <a:ext cx="3975100" cy="2751137"/>
          </a:xfrm>
        </p:spPr>
      </p:pic>
      <p:pic>
        <p:nvPicPr>
          <p:cNvPr id="18436" name="Picture 6">
            <a:extLst>
              <a:ext uri="{FF2B5EF4-FFF2-40B4-BE49-F238E27FC236}">
                <a16:creationId xmlns:a16="http://schemas.microsoft.com/office/drawing/2014/main" id="{A33FD51B-D07B-AA56-E9F7-89BDDE90B9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59113" y="3141663"/>
            <a:ext cx="5438775" cy="3090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4E53C3BF-966B-568C-A609-5CE4E4601716}"/>
              </a:ext>
            </a:extLst>
          </p:cNvPr>
          <p:cNvSpPr>
            <a:spLocks noGrp="1" noChangeArrowheads="1"/>
          </p:cNvSpPr>
          <p:nvPr>
            <p:ph type="title"/>
          </p:nvPr>
        </p:nvSpPr>
        <p:spPr>
          <a:xfrm>
            <a:off x="73025" y="0"/>
            <a:ext cx="8229600" cy="685800"/>
          </a:xfrm>
        </p:spPr>
        <p:txBody>
          <a:bodyPr/>
          <a:lstStyle/>
          <a:p>
            <a:r>
              <a:rPr lang="en-IN" altLang="en-US"/>
              <a:t>… finding max value in an array</a:t>
            </a:r>
          </a:p>
        </p:txBody>
      </p:sp>
      <p:pic>
        <p:nvPicPr>
          <p:cNvPr id="19459" name="Content Placeholder 4">
            <a:extLst>
              <a:ext uri="{FF2B5EF4-FFF2-40B4-BE49-F238E27FC236}">
                <a16:creationId xmlns:a16="http://schemas.microsoft.com/office/drawing/2014/main" id="{344C533D-3062-2DB6-A142-FD014C2A0D9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7950" y="765175"/>
            <a:ext cx="3119438" cy="2159000"/>
          </a:xfrm>
          <a:prstGeom prst="rect">
            <a:avLst/>
          </a:prstGeom>
          <a:noFill/>
          <a:ln>
            <a:noFill/>
          </a:ln>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460" name="Content Placeholder 4">
            <a:extLst>
              <a:ext uri="{FF2B5EF4-FFF2-40B4-BE49-F238E27FC236}">
                <a16:creationId xmlns:a16="http://schemas.microsoft.com/office/drawing/2014/main" id="{DE7E6E98-9E76-214E-6935-39095FE9B75A}"/>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555875" y="1960563"/>
            <a:ext cx="6480175" cy="4781550"/>
          </a:xfr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a:extLst>
              <a:ext uri="{FF2B5EF4-FFF2-40B4-BE49-F238E27FC236}">
                <a16:creationId xmlns:a16="http://schemas.microsoft.com/office/drawing/2014/main" id="{24A584A8-0FDE-4660-5DB7-6BB03859EFD5}"/>
              </a:ext>
            </a:extLst>
          </p:cNvPr>
          <p:cNvSpPr>
            <a:spLocks noGrp="1" noChangeArrowheads="1"/>
          </p:cNvSpPr>
          <p:nvPr>
            <p:ph type="title"/>
          </p:nvPr>
        </p:nvSpPr>
        <p:spPr>
          <a:xfrm>
            <a:off x="203200" y="188913"/>
            <a:ext cx="8229600" cy="392112"/>
          </a:xfrm>
        </p:spPr>
        <p:txBody>
          <a:bodyPr/>
          <a:lstStyle/>
          <a:p>
            <a:r>
              <a:rPr lang="en-IN" altLang="en-US"/>
              <a:t>Linear Search</a:t>
            </a:r>
          </a:p>
        </p:txBody>
      </p:sp>
      <p:pic>
        <p:nvPicPr>
          <p:cNvPr id="20483" name="Content Placeholder 4">
            <a:extLst>
              <a:ext uri="{FF2B5EF4-FFF2-40B4-BE49-F238E27FC236}">
                <a16:creationId xmlns:a16="http://schemas.microsoft.com/office/drawing/2014/main" id="{0B6F087B-4F22-5730-1C36-7B8CFF34AE8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07950" y="588963"/>
            <a:ext cx="5400675" cy="3486150"/>
          </a:xfrm>
        </p:spPr>
      </p:pic>
      <p:pic>
        <p:nvPicPr>
          <p:cNvPr id="20484" name="Picture 6">
            <a:extLst>
              <a:ext uri="{FF2B5EF4-FFF2-40B4-BE49-F238E27FC236}">
                <a16:creationId xmlns:a16="http://schemas.microsoft.com/office/drawing/2014/main" id="{FEA43815-704B-0E4C-AEFB-55F272C807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76513" y="5300663"/>
            <a:ext cx="6107112" cy="1214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85" name="Picture 8">
            <a:extLst>
              <a:ext uri="{FF2B5EF4-FFF2-40B4-BE49-F238E27FC236}">
                <a16:creationId xmlns:a16="http://schemas.microsoft.com/office/drawing/2014/main" id="{44CDC8EF-D3A8-9AFA-7418-A9348641558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27538" y="4581525"/>
            <a:ext cx="2405062"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6">
            <a:extLst>
              <a:ext uri="{FF2B5EF4-FFF2-40B4-BE49-F238E27FC236}">
                <a16:creationId xmlns:a16="http://schemas.microsoft.com/office/drawing/2014/main" id="{C2BC0710-759F-D085-908F-0C6E941C78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388" y="2000250"/>
            <a:ext cx="8839200" cy="996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07" name="Picture 11">
            <a:extLst>
              <a:ext uri="{FF2B5EF4-FFF2-40B4-BE49-F238E27FC236}">
                <a16:creationId xmlns:a16="http://schemas.microsoft.com/office/drawing/2014/main" id="{75250B56-B53D-F782-9943-B4AEE30E84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775" y="3190812"/>
            <a:ext cx="8743950" cy="183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08" name="TextBox 13">
            <a:extLst>
              <a:ext uri="{FF2B5EF4-FFF2-40B4-BE49-F238E27FC236}">
                <a16:creationId xmlns:a16="http://schemas.microsoft.com/office/drawing/2014/main" id="{2B07E952-81EC-6D4D-FB80-50CD7104067F}"/>
              </a:ext>
            </a:extLst>
          </p:cNvPr>
          <p:cNvSpPr txBox="1">
            <a:spLocks noChangeArrowheads="1"/>
          </p:cNvSpPr>
          <p:nvPr/>
        </p:nvSpPr>
        <p:spPr bwMode="auto">
          <a:xfrm>
            <a:off x="2770188" y="3832225"/>
            <a:ext cx="62865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IN" altLang="en-US" sz="1800">
                <a:solidFill>
                  <a:schemeClr val="accent1"/>
                </a:solidFill>
              </a:rPr>
              <a:t>(means now you are at ith index and at this index you have find x)</a:t>
            </a:r>
          </a:p>
        </p:txBody>
      </p:sp>
      <p:pic>
        <p:nvPicPr>
          <p:cNvPr id="21509" name="Picture 15">
            <a:extLst>
              <a:ext uri="{FF2B5EF4-FFF2-40B4-BE49-F238E27FC236}">
                <a16:creationId xmlns:a16="http://schemas.microsoft.com/office/drawing/2014/main" id="{8FF2C0FC-AD12-54E5-2C8E-3AFBB881D27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4150" y="5516563"/>
            <a:ext cx="7905750"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10" name="Picture 17">
            <a:extLst>
              <a:ext uri="{FF2B5EF4-FFF2-40B4-BE49-F238E27FC236}">
                <a16:creationId xmlns:a16="http://schemas.microsoft.com/office/drawing/2014/main" id="{59242BB9-969F-8D78-AE02-3B0342DE8B7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37225" y="5373688"/>
            <a:ext cx="3300413" cy="35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1511" name="Straight Arrow Connector 19">
            <a:extLst>
              <a:ext uri="{FF2B5EF4-FFF2-40B4-BE49-F238E27FC236}">
                <a16:creationId xmlns:a16="http://schemas.microsoft.com/office/drawing/2014/main" id="{C2272BE7-86F3-6BEE-C66B-88E37CB01C34}"/>
              </a:ext>
            </a:extLst>
          </p:cNvPr>
          <p:cNvCxnSpPr>
            <a:cxnSpLocks noChangeShapeType="1"/>
          </p:cNvCxnSpPr>
          <p:nvPr/>
        </p:nvCxnSpPr>
        <p:spPr bwMode="auto">
          <a:xfrm flipV="1">
            <a:off x="5451475" y="5688013"/>
            <a:ext cx="228600" cy="228600"/>
          </a:xfrm>
          <a:prstGeom prst="straightConnector1">
            <a:avLst/>
          </a:prstGeom>
          <a:noFill/>
          <a:ln w="9525"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21512" name="Picture 24">
            <a:extLst>
              <a:ext uri="{FF2B5EF4-FFF2-40B4-BE49-F238E27FC236}">
                <a16:creationId xmlns:a16="http://schemas.microsoft.com/office/drawing/2014/main" id="{445EBC05-9D22-3AF4-C150-72A81586AE0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8938" y="6381750"/>
            <a:ext cx="8459787"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13" name="Picture 25">
            <a:extLst>
              <a:ext uri="{FF2B5EF4-FFF2-40B4-BE49-F238E27FC236}">
                <a16:creationId xmlns:a16="http://schemas.microsoft.com/office/drawing/2014/main" id="{2E96246D-6B85-D018-47E2-172CAF13B56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6675" y="23813"/>
            <a:ext cx="3681413" cy="1035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14" name="Picture 8">
            <a:extLst>
              <a:ext uri="{FF2B5EF4-FFF2-40B4-BE49-F238E27FC236}">
                <a16:creationId xmlns:a16="http://schemas.microsoft.com/office/drawing/2014/main" id="{3143E001-6BF7-4D3E-4369-5DF97AEA25E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17800" y="773113"/>
            <a:ext cx="6389688" cy="1036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F03C8A7D-3C7A-54D2-CD2F-EB25B27B6137}"/>
              </a:ext>
            </a:extLst>
          </p:cNvPr>
          <p:cNvSpPr>
            <a:spLocks noGrp="1" noChangeArrowheads="1"/>
          </p:cNvSpPr>
          <p:nvPr>
            <p:ph type="title"/>
          </p:nvPr>
        </p:nvSpPr>
        <p:spPr/>
        <p:txBody>
          <a:bodyPr/>
          <a:lstStyle/>
          <a:p>
            <a:r>
              <a:rPr lang="en-US" altLang="en-US">
                <a:sym typeface="Symbol" panose="05050102010706020507" pitchFamily="18" charset="2"/>
              </a:rPr>
              <a:t>Amount of work done</a:t>
            </a:r>
          </a:p>
        </p:txBody>
      </p:sp>
      <p:sp>
        <p:nvSpPr>
          <p:cNvPr id="17411" name="Rectangle 3">
            <a:extLst>
              <a:ext uri="{FF2B5EF4-FFF2-40B4-BE49-F238E27FC236}">
                <a16:creationId xmlns:a16="http://schemas.microsoft.com/office/drawing/2014/main" id="{ADC278F3-A322-3E7C-8025-BB930DA47B49}"/>
              </a:ext>
            </a:extLst>
          </p:cNvPr>
          <p:cNvSpPr>
            <a:spLocks noGrp="1" noChangeArrowheads="1"/>
          </p:cNvSpPr>
          <p:nvPr>
            <p:ph type="body" idx="1"/>
          </p:nvPr>
        </p:nvSpPr>
        <p:spPr>
          <a:xfrm>
            <a:off x="250825" y="990600"/>
            <a:ext cx="8713788" cy="5638800"/>
          </a:xfrm>
        </p:spPr>
        <p:txBody>
          <a:bodyPr/>
          <a:lstStyle/>
          <a:p>
            <a:pPr lvl="1">
              <a:defRPr/>
            </a:pPr>
            <a:r>
              <a:rPr lang="en-US" altLang="en-US" sz="1800" dirty="0">
                <a:sym typeface="Symbol" panose="05050102010706020507" pitchFamily="18" charset="2"/>
              </a:rPr>
              <a:t>We want a measure of work that tells us something about the </a:t>
            </a:r>
            <a:r>
              <a:rPr lang="en-US" altLang="en-US" sz="1800" i="1" dirty="0">
                <a:sym typeface="Symbol" panose="05050102010706020507" pitchFamily="18" charset="2"/>
              </a:rPr>
              <a:t>efficiency</a:t>
            </a:r>
            <a:r>
              <a:rPr lang="en-US" altLang="en-US" sz="1800" dirty="0">
                <a:sym typeface="Symbol" panose="05050102010706020507" pitchFamily="18" charset="2"/>
              </a:rPr>
              <a:t> of the method used by the algorithm </a:t>
            </a:r>
          </a:p>
          <a:p>
            <a:pPr lvl="1">
              <a:defRPr/>
            </a:pPr>
            <a:endParaRPr lang="en-US" altLang="en-US" sz="1800" dirty="0">
              <a:sym typeface="Symbol" panose="05050102010706020507" pitchFamily="18" charset="2"/>
            </a:endParaRPr>
          </a:p>
          <a:p>
            <a:pPr lvl="1">
              <a:defRPr/>
            </a:pPr>
            <a:r>
              <a:rPr lang="en-US" altLang="en-US" sz="1800" dirty="0">
                <a:sym typeface="Symbol" panose="05050102010706020507" pitchFamily="18" charset="2"/>
              </a:rPr>
              <a:t>independent of computer, programming language, programmer, and other implementation details.</a:t>
            </a:r>
          </a:p>
          <a:p>
            <a:pPr lvl="1">
              <a:defRPr/>
            </a:pPr>
            <a:endParaRPr lang="en-US" altLang="en-US" sz="1800" dirty="0">
              <a:sym typeface="Symbol" panose="05050102010706020507" pitchFamily="18" charset="2"/>
            </a:endParaRPr>
          </a:p>
          <a:p>
            <a:pPr lvl="1">
              <a:defRPr/>
            </a:pPr>
            <a:r>
              <a:rPr lang="en-US" altLang="en-US" sz="1800" dirty="0">
                <a:sym typeface="Symbol" panose="05050102010706020507" pitchFamily="18" charset="2"/>
              </a:rPr>
              <a:t>Usually depending on the </a:t>
            </a:r>
            <a:r>
              <a:rPr lang="en-US" altLang="en-US" sz="1800" i="1" dirty="0">
                <a:sym typeface="Symbol" panose="05050102010706020507" pitchFamily="18" charset="2"/>
              </a:rPr>
              <a:t>size of the input</a:t>
            </a:r>
          </a:p>
          <a:p>
            <a:pPr lvl="1">
              <a:defRPr/>
            </a:pPr>
            <a:endParaRPr lang="en-US" altLang="en-US" sz="1800" i="1" dirty="0">
              <a:sym typeface="Symbol" panose="05050102010706020507" pitchFamily="18" charset="2"/>
            </a:endParaRPr>
          </a:p>
          <a:p>
            <a:pPr>
              <a:defRPr/>
            </a:pPr>
            <a:r>
              <a:rPr lang="en-US" altLang="en-US" sz="2000" dirty="0">
                <a:sym typeface="Symbol" panose="05050102010706020507" pitchFamily="18" charset="2"/>
              </a:rPr>
              <a:t>Counting passes through loops</a:t>
            </a:r>
          </a:p>
          <a:p>
            <a:pPr marL="0" indent="0">
              <a:buFontTx/>
              <a:buNone/>
              <a:defRPr/>
            </a:pPr>
            <a:endParaRPr lang="en-US" altLang="en-US" sz="2000" dirty="0">
              <a:sym typeface="Symbol" panose="05050102010706020507" pitchFamily="18" charset="2"/>
            </a:endParaRPr>
          </a:p>
          <a:p>
            <a:pPr>
              <a:defRPr/>
            </a:pPr>
            <a:r>
              <a:rPr lang="en-US" altLang="en-US" sz="2000" dirty="0">
                <a:sym typeface="Symbol" panose="05050102010706020507" pitchFamily="18" charset="2"/>
              </a:rPr>
              <a:t>Basic Operation</a:t>
            </a:r>
          </a:p>
          <a:p>
            <a:pPr lvl="1">
              <a:defRPr/>
            </a:pPr>
            <a:r>
              <a:rPr lang="en-US" altLang="en-US" sz="1800" dirty="0">
                <a:sym typeface="Symbol" panose="05050102010706020507" pitchFamily="18" charset="2"/>
              </a:rPr>
              <a:t>Identify a particular operation fundamental to the problem</a:t>
            </a:r>
          </a:p>
          <a:p>
            <a:pPr lvl="1">
              <a:defRPr/>
            </a:pPr>
            <a:r>
              <a:rPr lang="en-US" altLang="en-US" sz="1800" dirty="0">
                <a:sym typeface="Symbol" panose="05050102010706020507" pitchFamily="18" charset="2"/>
              </a:rPr>
              <a:t>the total number of operations performed is roughly proportional to the number of basic operations</a:t>
            </a:r>
          </a:p>
          <a:p>
            <a:pPr marL="457200" lvl="1" indent="0">
              <a:buFont typeface="Wingdings" panose="05000000000000000000" pitchFamily="2" charset="2"/>
              <a:buNone/>
              <a:defRPr/>
            </a:pPr>
            <a:endParaRPr lang="en-US" altLang="en-US" sz="1800" dirty="0">
              <a:sym typeface="Symbol" panose="05050102010706020507" pitchFamily="18" charset="2"/>
            </a:endParaRPr>
          </a:p>
          <a:p>
            <a:pPr>
              <a:defRPr/>
            </a:pPr>
            <a:r>
              <a:rPr lang="en-US" altLang="en-US" sz="2000" dirty="0">
                <a:sym typeface="Symbol" panose="05050102010706020507" pitchFamily="18" charset="2"/>
              </a:rPr>
              <a:t>Identifying the properties of the inputs that affect the behavior of the algorithm</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468A3C7E-264A-AB12-9555-5D2219223955}"/>
              </a:ext>
            </a:extLst>
          </p:cNvPr>
          <p:cNvSpPr>
            <a:spLocks noGrp="1" noChangeArrowheads="1"/>
          </p:cNvSpPr>
          <p:nvPr>
            <p:ph type="title"/>
          </p:nvPr>
        </p:nvSpPr>
        <p:spPr/>
        <p:txBody>
          <a:bodyPr/>
          <a:lstStyle/>
          <a:p>
            <a:r>
              <a:rPr lang="en-US" altLang="en-US">
                <a:sym typeface="Symbol" panose="05050102010706020507" pitchFamily="18" charset="2"/>
              </a:rPr>
              <a:t>Worst-case complexity</a:t>
            </a:r>
          </a:p>
        </p:txBody>
      </p:sp>
      <p:sp>
        <p:nvSpPr>
          <p:cNvPr id="23555" name="Rectangle 3">
            <a:extLst>
              <a:ext uri="{FF2B5EF4-FFF2-40B4-BE49-F238E27FC236}">
                <a16:creationId xmlns:a16="http://schemas.microsoft.com/office/drawing/2014/main" id="{17B3E852-A43F-D9C7-29AB-C7472E5B5EAB}"/>
              </a:ext>
            </a:extLst>
          </p:cNvPr>
          <p:cNvSpPr>
            <a:spLocks noGrp="1" noChangeArrowheads="1"/>
          </p:cNvSpPr>
          <p:nvPr>
            <p:ph type="body" idx="1"/>
          </p:nvPr>
        </p:nvSpPr>
        <p:spPr/>
        <p:txBody>
          <a:bodyPr/>
          <a:lstStyle/>
          <a:p>
            <a:pPr lvl="1"/>
            <a:r>
              <a:rPr lang="en-US" altLang="en-US" sz="2000">
                <a:sym typeface="Symbol" panose="05050102010706020507" pitchFamily="18" charset="2"/>
              </a:rPr>
              <a:t>Let D</a:t>
            </a:r>
            <a:r>
              <a:rPr lang="en-US" altLang="en-US" sz="2000" baseline="-25000">
                <a:sym typeface="Symbol" panose="05050102010706020507" pitchFamily="18" charset="2"/>
              </a:rPr>
              <a:t>n</a:t>
            </a:r>
            <a:r>
              <a:rPr lang="en-US" altLang="en-US" sz="2000">
                <a:sym typeface="Symbol" panose="05050102010706020507" pitchFamily="18" charset="2"/>
              </a:rPr>
              <a:t> be </a:t>
            </a:r>
            <a:r>
              <a:rPr lang="en-US" altLang="en-US" sz="2000" i="1">
                <a:sym typeface="Symbol" panose="05050102010706020507" pitchFamily="18" charset="2"/>
              </a:rPr>
              <a:t>the set of inputs of size n</a:t>
            </a:r>
            <a:r>
              <a:rPr lang="en-US" altLang="en-US" sz="2000">
                <a:sym typeface="Symbol" panose="05050102010706020507" pitchFamily="18" charset="2"/>
              </a:rPr>
              <a:t> for the problem under consideration, and let I be an element of D</a:t>
            </a:r>
            <a:r>
              <a:rPr lang="en-US" altLang="en-US" sz="2000" baseline="-25000">
                <a:sym typeface="Symbol" panose="05050102010706020507" pitchFamily="18" charset="2"/>
              </a:rPr>
              <a:t>n</a:t>
            </a:r>
            <a:r>
              <a:rPr lang="en-US" altLang="en-US" sz="2000">
                <a:sym typeface="Symbol" panose="05050102010706020507" pitchFamily="18" charset="2"/>
              </a:rPr>
              <a:t>. </a:t>
            </a:r>
          </a:p>
          <a:p>
            <a:pPr lvl="1"/>
            <a:endParaRPr lang="en-US" altLang="en-US" sz="2000">
              <a:sym typeface="Symbol" panose="05050102010706020507" pitchFamily="18" charset="2"/>
            </a:endParaRPr>
          </a:p>
          <a:p>
            <a:pPr lvl="1"/>
            <a:r>
              <a:rPr lang="en-US" altLang="en-US" sz="2000">
                <a:sym typeface="Symbol" panose="05050102010706020507" pitchFamily="18" charset="2"/>
              </a:rPr>
              <a:t>Let t(I) be </a:t>
            </a:r>
            <a:r>
              <a:rPr lang="en-US" altLang="en-US" sz="2000" i="1">
                <a:sym typeface="Symbol" panose="05050102010706020507" pitchFamily="18" charset="2"/>
              </a:rPr>
              <a:t>the number of basic operations</a:t>
            </a:r>
            <a:r>
              <a:rPr lang="en-US" altLang="en-US" sz="2000">
                <a:sym typeface="Symbol" panose="05050102010706020507" pitchFamily="18" charset="2"/>
              </a:rPr>
              <a:t> performed by the algorithm on input I. </a:t>
            </a:r>
          </a:p>
          <a:p>
            <a:pPr lvl="1"/>
            <a:endParaRPr lang="en-US" altLang="en-US" sz="2000">
              <a:sym typeface="Symbol" panose="05050102010706020507" pitchFamily="18" charset="2"/>
            </a:endParaRPr>
          </a:p>
          <a:p>
            <a:pPr lvl="1"/>
            <a:r>
              <a:rPr lang="en-US" altLang="en-US" sz="2000">
                <a:sym typeface="Symbol" panose="05050102010706020507" pitchFamily="18" charset="2"/>
              </a:rPr>
              <a:t>We define the function W by</a:t>
            </a:r>
          </a:p>
          <a:p>
            <a:r>
              <a:rPr lang="en-US" altLang="en-US" sz="2400">
                <a:sym typeface="Symbol" panose="05050102010706020507" pitchFamily="18" charset="2"/>
              </a:rPr>
              <a:t>W(n) = max{t(I) | I  D</a:t>
            </a:r>
            <a:r>
              <a:rPr lang="en-US" altLang="en-US" sz="2400" baseline="-25000">
                <a:sym typeface="Symbol" panose="05050102010706020507" pitchFamily="18" charset="2"/>
              </a:rPr>
              <a:t>n</a:t>
            </a:r>
            <a:r>
              <a:rPr lang="en-US" altLang="en-US" sz="2400">
                <a:sym typeface="Symbol" panose="05050102010706020507" pitchFamily="18" charset="2"/>
              </a:rPr>
              <a:t>}</a:t>
            </a:r>
          </a:p>
          <a:p>
            <a:pPr lvl="1"/>
            <a:r>
              <a:rPr lang="en-US" altLang="en-US" sz="2000">
                <a:sym typeface="Symbol" panose="05050102010706020507" pitchFamily="18" charset="2"/>
              </a:rPr>
              <a:t>called the worst-case complexity of the algorithm.</a:t>
            </a:r>
          </a:p>
          <a:p>
            <a:pPr lvl="1"/>
            <a:r>
              <a:rPr lang="en-US" altLang="en-US" sz="2000">
                <a:sym typeface="Symbol" panose="05050102010706020507" pitchFamily="18" charset="2"/>
              </a:rPr>
              <a:t>W(n) is the maximum number of basic operations performed by the algorithm on any input of size n. </a:t>
            </a:r>
          </a:p>
          <a:p>
            <a:pPr lvl="1"/>
            <a:endParaRPr lang="en-US" altLang="en-US" sz="2000">
              <a:sym typeface="Symbol" panose="05050102010706020507" pitchFamily="18" charset="2"/>
            </a:endParaRPr>
          </a:p>
          <a:p>
            <a:pPr algn="just"/>
            <a:r>
              <a:rPr lang="en-US" altLang="en-US" sz="2400" b="1" i="1" u="sng">
                <a:sym typeface="Symbol" panose="05050102010706020507" pitchFamily="18" charset="2"/>
              </a:rPr>
              <a:t>The input, I, for which an algorithm behaves worst</a:t>
            </a:r>
            <a:br>
              <a:rPr lang="en-US" altLang="en-US" sz="2400" b="1" i="1" u="sng">
                <a:sym typeface="Symbol" panose="05050102010706020507" pitchFamily="18" charset="2"/>
              </a:rPr>
            </a:br>
            <a:r>
              <a:rPr lang="en-US" altLang="en-US" sz="2400" b="1" i="1" u="sng">
                <a:sym typeface="Symbol" panose="05050102010706020507" pitchFamily="18" charset="2"/>
              </a:rPr>
              <a:t>depends on the particular algorithm</a:t>
            </a:r>
            <a:r>
              <a:rPr lang="en-US" altLang="en-US" sz="2400">
                <a:sym typeface="Symbol" panose="05050102010706020507" pitchFamily="18" charset="2"/>
              </a:rPr>
              <a:t>.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E66984D0-7240-491A-E7BB-9ADCD1942BB7}"/>
              </a:ext>
            </a:extLst>
          </p:cNvPr>
          <p:cNvSpPr>
            <a:spLocks noGrp="1" noChangeArrowheads="1"/>
          </p:cNvSpPr>
          <p:nvPr>
            <p:ph type="title"/>
          </p:nvPr>
        </p:nvSpPr>
        <p:spPr>
          <a:xfrm>
            <a:off x="179388" y="0"/>
            <a:ext cx="8229600" cy="620713"/>
          </a:xfrm>
        </p:spPr>
        <p:txBody>
          <a:bodyPr/>
          <a:lstStyle/>
          <a:p>
            <a:r>
              <a:rPr lang="en-US" altLang="en-US">
                <a:sym typeface="Symbol" panose="05050102010706020507" pitchFamily="18" charset="2"/>
              </a:rPr>
              <a:t>Space Usage</a:t>
            </a:r>
          </a:p>
        </p:txBody>
      </p:sp>
      <p:sp>
        <p:nvSpPr>
          <p:cNvPr id="49155" name="Rectangle 3">
            <a:extLst>
              <a:ext uri="{FF2B5EF4-FFF2-40B4-BE49-F238E27FC236}">
                <a16:creationId xmlns:a16="http://schemas.microsoft.com/office/drawing/2014/main" id="{AF690F10-1BFE-8FF5-2F4B-5DA70D5DE60B}"/>
              </a:ext>
            </a:extLst>
          </p:cNvPr>
          <p:cNvSpPr>
            <a:spLocks noGrp="1" noChangeArrowheads="1"/>
          </p:cNvSpPr>
          <p:nvPr>
            <p:ph type="body" idx="1"/>
          </p:nvPr>
        </p:nvSpPr>
        <p:spPr>
          <a:xfrm>
            <a:off x="0" y="476250"/>
            <a:ext cx="8820150" cy="2952750"/>
          </a:xfrm>
        </p:spPr>
        <p:txBody>
          <a:bodyPr/>
          <a:lstStyle/>
          <a:p>
            <a:pPr>
              <a:defRPr/>
            </a:pPr>
            <a:r>
              <a:rPr lang="en-US" dirty="0">
                <a:sym typeface="Symbol" pitchFamily="18" charset="2"/>
              </a:rPr>
              <a:t>worst-case analysis can be done.</a:t>
            </a:r>
          </a:p>
          <a:p>
            <a:pPr marL="0" indent="0">
              <a:buFontTx/>
              <a:buNone/>
              <a:defRPr/>
            </a:pPr>
            <a:r>
              <a:rPr lang="en-US" dirty="0">
                <a:sym typeface="Symbol" pitchFamily="18" charset="2"/>
              </a:rPr>
              <a:t>     ==&gt; </a:t>
            </a:r>
            <a:r>
              <a:rPr lang="en-US" sz="1800" b="1" dirty="0">
                <a:sym typeface="Symbol" pitchFamily="18" charset="2"/>
              </a:rPr>
              <a:t>If memory cells used by the algorithms depends on the particular input </a:t>
            </a:r>
          </a:p>
          <a:p>
            <a:pPr marL="0" indent="0">
              <a:buFontTx/>
              <a:buNone/>
              <a:defRPr/>
            </a:pPr>
            <a:endParaRPr lang="en-US" sz="1800" b="1" dirty="0">
              <a:sym typeface="Symbol" pitchFamily="18" charset="2"/>
            </a:endParaRPr>
          </a:p>
          <a:p>
            <a:pPr algn="just">
              <a:buFont typeface="Wingdings" panose="05000000000000000000" pitchFamily="2" charset="2"/>
              <a:buChar char="Ø"/>
              <a:defRPr/>
            </a:pPr>
            <a:r>
              <a:rPr lang="en-US" sz="1800" dirty="0">
                <a:sym typeface="Symbol" pitchFamily="18" charset="2"/>
              </a:rPr>
              <a:t>Normally a program require space for instructions, constants, variables used by program and input data, </a:t>
            </a:r>
          </a:p>
          <a:p>
            <a:pPr algn="just">
              <a:buFont typeface="Wingdings" panose="05000000000000000000" pitchFamily="2" charset="2"/>
              <a:buChar char="Ø"/>
              <a:defRPr/>
            </a:pPr>
            <a:endParaRPr lang="en-US" sz="1800" dirty="0">
              <a:sym typeface="Symbol" pitchFamily="18" charset="2"/>
            </a:endParaRPr>
          </a:p>
          <a:p>
            <a:pPr algn="just">
              <a:buFont typeface="Wingdings" panose="05000000000000000000" pitchFamily="2" charset="2"/>
              <a:buChar char="Ø"/>
              <a:defRPr/>
            </a:pPr>
            <a:r>
              <a:rPr lang="en-US" sz="1800" dirty="0">
                <a:sym typeface="Symbol" pitchFamily="18" charset="2"/>
              </a:rPr>
              <a:t>It may also use space for manipulating data and storing information to carry out computations</a:t>
            </a:r>
          </a:p>
          <a:p>
            <a:pPr algn="just">
              <a:buFont typeface="Wingdings" panose="05000000000000000000" pitchFamily="2" charset="2"/>
              <a:buChar char="Ø"/>
              <a:defRPr/>
            </a:pPr>
            <a:endParaRPr lang="en-US" sz="1800" dirty="0">
              <a:sym typeface="Symbol" pitchFamily="18" charset="2"/>
            </a:endParaRPr>
          </a:p>
          <a:p>
            <a:pPr algn="just">
              <a:buFont typeface="Wingdings" panose="05000000000000000000" pitchFamily="2" charset="2"/>
              <a:buChar char="Ø"/>
              <a:defRPr/>
            </a:pPr>
            <a:endParaRPr lang="en-US" sz="2000" dirty="0">
              <a:sym typeface="Symbol" pitchFamily="18" charset="2"/>
            </a:endParaRPr>
          </a:p>
        </p:txBody>
      </p:sp>
      <p:sp>
        <p:nvSpPr>
          <p:cNvPr id="2" name="Rectangle 3">
            <a:extLst>
              <a:ext uri="{FF2B5EF4-FFF2-40B4-BE49-F238E27FC236}">
                <a16:creationId xmlns:a16="http://schemas.microsoft.com/office/drawing/2014/main" id="{CA65DEED-58BF-B6AC-12F8-AF47FB4792EE}"/>
              </a:ext>
            </a:extLst>
          </p:cNvPr>
          <p:cNvSpPr txBox="1">
            <a:spLocks noChangeArrowheads="1"/>
          </p:cNvSpPr>
          <p:nvPr/>
        </p:nvSpPr>
        <p:spPr bwMode="auto">
          <a:xfrm>
            <a:off x="323850" y="3603625"/>
            <a:ext cx="8408988" cy="2952750"/>
          </a:xfrm>
          <a:prstGeom prst="rect">
            <a:avLst/>
          </a:prstGeom>
          <a:noFill/>
          <a:ln>
            <a:noFill/>
          </a:ln>
        </p:spPr>
        <p:txBody>
          <a:bodyPr/>
          <a:lstStyle>
            <a:lvl1pPr marL="342900" indent="-342900" algn="l" rtl="0" eaLnBrk="0" fontAlgn="base" hangingPunct="0">
              <a:spcBef>
                <a:spcPct val="20000"/>
              </a:spcBef>
              <a:spcAft>
                <a:spcPct val="0"/>
              </a:spcAft>
              <a:buClr>
                <a:srgbClr val="FF0000"/>
              </a:buClr>
              <a:buChar char="•"/>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lr>
                <a:srgbClr val="FF0000"/>
              </a:buClr>
              <a:buFont typeface="Wingdings" panose="05000000000000000000" pitchFamily="2" charset="2"/>
              <a:buChar char="Q"/>
              <a:defRPr kumimoji="1" sz="2400" b="1">
                <a:solidFill>
                  <a:schemeClr val="tx1"/>
                </a:solidFill>
                <a:latin typeface="+mn-lt"/>
                <a:sym typeface="MT Extra" panose="05050102010205020202" pitchFamily="18" charset="2"/>
              </a:defRPr>
            </a:lvl2pPr>
            <a:lvl3pPr marL="1143000" indent="-228600" algn="l" rtl="0" eaLnBrk="0" fontAlgn="base" hangingPunct="0">
              <a:spcBef>
                <a:spcPct val="20000"/>
              </a:spcBef>
              <a:spcAft>
                <a:spcPct val="0"/>
              </a:spcAft>
              <a:buClr>
                <a:srgbClr val="FF0000"/>
              </a:buClr>
              <a:buFont typeface="MT Extra" panose="05050102010205020202" pitchFamily="18" charset="2"/>
              <a:buChar char="f"/>
              <a:defRPr kumimoji="1" sz="2000">
                <a:solidFill>
                  <a:schemeClr val="tx1"/>
                </a:solidFill>
                <a:latin typeface="+mn-lt"/>
              </a:defRPr>
            </a:lvl3pPr>
            <a:lvl4pPr marL="1600200" indent="-228600" algn="l" rtl="0" eaLnBrk="0" fontAlgn="base" hangingPunct="0">
              <a:spcBef>
                <a:spcPct val="20000"/>
              </a:spcBef>
              <a:spcAft>
                <a:spcPct val="0"/>
              </a:spcAft>
              <a:buClr>
                <a:srgbClr val="FF0000"/>
              </a:buClr>
              <a:buChar char="•"/>
              <a:defRPr kumimoji="1">
                <a:solidFill>
                  <a:schemeClr val="tx1"/>
                </a:solidFill>
                <a:latin typeface="+mn-lt"/>
              </a:defRPr>
            </a:lvl4pPr>
            <a:lvl5pPr marL="2057400" indent="-228600" algn="l" rtl="0" eaLnBrk="0" fontAlgn="base" hangingPunct="0">
              <a:spcBef>
                <a:spcPct val="20000"/>
              </a:spcBef>
              <a:spcAft>
                <a:spcPct val="0"/>
              </a:spcAft>
              <a:buClr>
                <a:srgbClr val="FF0000"/>
              </a:buClr>
              <a:buChar char="–"/>
              <a:defRPr kumimoji="1">
                <a:solidFill>
                  <a:schemeClr val="tx1"/>
                </a:solidFill>
                <a:latin typeface="+mn-lt"/>
              </a:defRPr>
            </a:lvl5pPr>
            <a:lvl6pPr marL="2514600" indent="-228600" algn="l" rtl="0" eaLnBrk="0" fontAlgn="base" hangingPunct="0">
              <a:spcBef>
                <a:spcPct val="20000"/>
              </a:spcBef>
              <a:spcAft>
                <a:spcPct val="0"/>
              </a:spcAft>
              <a:buClr>
                <a:srgbClr val="FF0000"/>
              </a:buClr>
              <a:buChar char="–"/>
              <a:defRPr kumimoji="1">
                <a:solidFill>
                  <a:schemeClr val="tx1"/>
                </a:solidFill>
                <a:latin typeface="+mn-lt"/>
              </a:defRPr>
            </a:lvl6pPr>
            <a:lvl7pPr marL="2971800" indent="-228600" algn="l" rtl="0" eaLnBrk="0" fontAlgn="base" hangingPunct="0">
              <a:spcBef>
                <a:spcPct val="20000"/>
              </a:spcBef>
              <a:spcAft>
                <a:spcPct val="0"/>
              </a:spcAft>
              <a:buClr>
                <a:srgbClr val="FF0000"/>
              </a:buClr>
              <a:buChar char="–"/>
              <a:defRPr kumimoji="1">
                <a:solidFill>
                  <a:schemeClr val="tx1"/>
                </a:solidFill>
                <a:latin typeface="+mn-lt"/>
              </a:defRPr>
            </a:lvl7pPr>
            <a:lvl8pPr marL="3429000" indent="-228600" algn="l" rtl="0" eaLnBrk="0" fontAlgn="base" hangingPunct="0">
              <a:spcBef>
                <a:spcPct val="20000"/>
              </a:spcBef>
              <a:spcAft>
                <a:spcPct val="0"/>
              </a:spcAft>
              <a:buClr>
                <a:srgbClr val="FF0000"/>
              </a:buClr>
              <a:buChar char="–"/>
              <a:defRPr kumimoji="1">
                <a:solidFill>
                  <a:schemeClr val="tx1"/>
                </a:solidFill>
                <a:latin typeface="+mn-lt"/>
              </a:defRPr>
            </a:lvl8pPr>
            <a:lvl9pPr marL="3886200" indent="-228600" algn="l" rtl="0" eaLnBrk="0" fontAlgn="base" hangingPunct="0">
              <a:spcBef>
                <a:spcPct val="20000"/>
              </a:spcBef>
              <a:spcAft>
                <a:spcPct val="0"/>
              </a:spcAft>
              <a:buClr>
                <a:srgbClr val="FF0000"/>
              </a:buClr>
              <a:buChar char="–"/>
              <a:defRPr kumimoji="1">
                <a:solidFill>
                  <a:schemeClr val="tx1"/>
                </a:solidFill>
                <a:latin typeface="+mn-lt"/>
              </a:defRPr>
            </a:lvl9pPr>
          </a:lstStyle>
          <a:p>
            <a:pPr marL="457200" indent="-457200" algn="just" eaLnBrk="1" hangingPunct="1">
              <a:buFont typeface="Wingdings" panose="05000000000000000000" pitchFamily="2" charset="2"/>
              <a:buAutoNum type="arabicPeriod"/>
              <a:defRPr/>
            </a:pPr>
            <a:r>
              <a:rPr lang="en-US" altLang="en-US" sz="1800" kern="0" dirty="0"/>
              <a:t>Fixed part: The size required to store certain data/variables, that is independent of the size of the problem:</a:t>
            </a:r>
          </a:p>
          <a:p>
            <a:pPr marL="838200" lvl="1" indent="-381000" eaLnBrk="1" hangingPunct="1">
              <a:buFont typeface="Wingdings" panose="05000000000000000000" pitchFamily="2" charset="2"/>
              <a:buNone/>
              <a:defRPr/>
            </a:pPr>
            <a:r>
              <a:rPr lang="en-US" altLang="en-US" sz="1800" kern="0" dirty="0"/>
              <a:t>- e.g. name of the data collection</a:t>
            </a:r>
          </a:p>
          <a:p>
            <a:pPr marL="838200" lvl="1" indent="-381000" eaLnBrk="1" hangingPunct="1">
              <a:buFont typeface="Wingdings" panose="05000000000000000000" pitchFamily="2" charset="2"/>
              <a:buNone/>
              <a:defRPr/>
            </a:pPr>
            <a:r>
              <a:rPr lang="en-US" altLang="en-US" sz="1800" kern="0" dirty="0"/>
              <a:t>- same size for classifying 2GB or 1MB of texts</a:t>
            </a:r>
          </a:p>
          <a:p>
            <a:pPr marL="457200" indent="-457200" eaLnBrk="1" hangingPunct="1">
              <a:buFont typeface="Wingdings" panose="05000000000000000000" pitchFamily="2" charset="2"/>
              <a:buAutoNum type="arabicPeriod"/>
              <a:defRPr/>
            </a:pPr>
            <a:endParaRPr lang="en-US" altLang="en-US" sz="1800" kern="0" dirty="0"/>
          </a:p>
          <a:p>
            <a:pPr marL="457200" indent="-457200" algn="just" eaLnBrk="1" hangingPunct="1">
              <a:buFont typeface="Wingdings" panose="05000000000000000000" pitchFamily="2" charset="2"/>
              <a:buAutoNum type="arabicPeriod"/>
              <a:defRPr/>
            </a:pPr>
            <a:r>
              <a:rPr lang="en-US" altLang="en-US" sz="1800" kern="0" dirty="0"/>
              <a:t>Variable part: Space needed by variables, whose size is dependent on the size of the problem:</a:t>
            </a:r>
          </a:p>
          <a:p>
            <a:pPr marL="838200" lvl="1" indent="-381000" eaLnBrk="1" hangingPunct="1">
              <a:buFont typeface="Wingdings" panose="05000000000000000000" pitchFamily="2" charset="2"/>
              <a:buNone/>
              <a:defRPr/>
            </a:pPr>
            <a:r>
              <a:rPr lang="en-US" altLang="en-US" sz="1800" kern="0" dirty="0"/>
              <a:t>- e.g. actual text </a:t>
            </a:r>
          </a:p>
          <a:p>
            <a:pPr marL="838200" lvl="1" indent="-381000" eaLnBrk="1" hangingPunct="1">
              <a:buFont typeface="Wingdings" panose="05000000000000000000" pitchFamily="2" charset="2"/>
              <a:buNone/>
              <a:defRPr/>
            </a:pPr>
            <a:r>
              <a:rPr lang="en-US" altLang="en-US" sz="1800" kern="0" dirty="0"/>
              <a:t>- load 2GB of text VS. load 1MB of text </a:t>
            </a:r>
          </a:p>
        </p:txBody>
      </p:sp>
      <p:sp>
        <p:nvSpPr>
          <p:cNvPr id="24581" name="TextBox 3">
            <a:extLst>
              <a:ext uri="{FF2B5EF4-FFF2-40B4-BE49-F238E27FC236}">
                <a16:creationId xmlns:a16="http://schemas.microsoft.com/office/drawing/2014/main" id="{8C5BCBC8-358B-04CC-7A46-9E7FB01DE0E1}"/>
              </a:ext>
            </a:extLst>
          </p:cNvPr>
          <p:cNvSpPr txBox="1">
            <a:spLocks noChangeArrowheads="1"/>
          </p:cNvSpPr>
          <p:nvPr/>
        </p:nvSpPr>
        <p:spPr bwMode="auto">
          <a:xfrm>
            <a:off x="5292725" y="5724525"/>
            <a:ext cx="3636963"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Times New Roman" panose="02020603050405020304" pitchFamily="18" charset="0"/>
              </a:defRPr>
            </a:lvl1pPr>
            <a:lvl2pPr marL="742950" indent="-285750">
              <a:spcBef>
                <a:spcPct val="20000"/>
              </a:spcBef>
              <a:buClr>
                <a:srgbClr val="FF0000"/>
              </a:buClr>
              <a:buFont typeface="Wingdings" panose="05000000000000000000" pitchFamily="2" charset="2"/>
              <a:buChar char="Q"/>
              <a:defRPr kumimoji="1" sz="2400" b="1">
                <a:solidFill>
                  <a:schemeClr val="tx1"/>
                </a:solidFill>
                <a:latin typeface="Times New Roman" panose="02020603050405020304" pitchFamily="18" charset="0"/>
                <a:sym typeface="MT Extra" panose="05050102010205020202" pitchFamily="18" charset="2"/>
              </a:defRPr>
            </a:lvl2pPr>
            <a:lvl3pPr marL="1143000" indent="-228600">
              <a:spcBef>
                <a:spcPct val="20000"/>
              </a:spcBef>
              <a:buClr>
                <a:srgbClr val="FF0000"/>
              </a:buClr>
              <a:buFont typeface="MT Extra" panose="05050102010205020202" pitchFamily="18" charset="2"/>
              <a:buChar char="f"/>
              <a:defRPr kumimoji="1" sz="2000">
                <a:solidFill>
                  <a:schemeClr val="tx1"/>
                </a:solidFill>
                <a:latin typeface="Times New Roman" panose="02020603050405020304" pitchFamily="18" charset="0"/>
              </a:defRPr>
            </a:lvl3pPr>
            <a:lvl4pPr marL="1600200" indent="-228600">
              <a:spcBef>
                <a:spcPct val="20000"/>
              </a:spcBef>
              <a:buClr>
                <a:srgbClr val="FF0000"/>
              </a:buClr>
              <a:buChar char="•"/>
              <a:defRPr kumimoji="1">
                <a:solidFill>
                  <a:schemeClr val="tx1"/>
                </a:solidFill>
                <a:latin typeface="Times New Roman" panose="02020603050405020304" pitchFamily="18" charset="0"/>
              </a:defRPr>
            </a:lvl4pPr>
            <a:lvl5pPr marL="2057400" indent="-228600">
              <a:spcBef>
                <a:spcPct val="20000"/>
              </a:spcBef>
              <a:buClr>
                <a:srgbClr val="FF0000"/>
              </a:buClr>
              <a:buChar char="–"/>
              <a:defRPr kumimoji="1">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rgbClr val="FF0000"/>
              </a:buClr>
              <a:buChar char="–"/>
              <a:defRPr kumimoji="1">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rgbClr val="FF0000"/>
              </a:buClr>
              <a:buChar char="–"/>
              <a:defRPr kumimoji="1">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rgbClr val="FF0000"/>
              </a:buClr>
              <a:buChar char="–"/>
              <a:defRPr kumimoji="1">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rgbClr val="FF0000"/>
              </a:buClr>
              <a:buChar char="–"/>
              <a:defRPr kumimoji="1">
                <a:solidFill>
                  <a:schemeClr val="tx1"/>
                </a:solidFill>
                <a:latin typeface="Times New Roman" panose="02020603050405020304" pitchFamily="18" charset="0"/>
              </a:defRPr>
            </a:lvl9pPr>
          </a:lstStyle>
          <a:p>
            <a:pPr algn="ctr">
              <a:spcBef>
                <a:spcPct val="0"/>
              </a:spcBef>
              <a:buClrTx/>
              <a:buFontTx/>
              <a:buNone/>
            </a:pPr>
            <a:r>
              <a:rPr kumimoji="0" lang="en-US" altLang="en-US" sz="2400" b="1">
                <a:solidFill>
                  <a:srgbClr val="FF0000"/>
                </a:solidFill>
                <a:sym typeface="Symbol" panose="05050102010706020507" pitchFamily="18" charset="2"/>
              </a:rPr>
              <a:t>Generally we do </a:t>
            </a:r>
          </a:p>
          <a:p>
            <a:pPr algn="ctr">
              <a:spcBef>
                <a:spcPct val="0"/>
              </a:spcBef>
              <a:buClrTx/>
              <a:buFontTx/>
              <a:buNone/>
            </a:pPr>
            <a:r>
              <a:rPr kumimoji="0" lang="en-US" altLang="en-US" sz="2400" b="1">
                <a:solidFill>
                  <a:srgbClr val="FF0000"/>
                </a:solidFill>
                <a:sym typeface="Symbol" panose="05050102010706020507" pitchFamily="18" charset="2"/>
              </a:rPr>
              <a:t>Time and Space Tradeoff.</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FC05E22D-897A-D8E9-5370-D9F4790C8F49}"/>
              </a:ext>
            </a:extLst>
          </p:cNvPr>
          <p:cNvSpPr>
            <a:spLocks noGrp="1" noChangeArrowheads="1"/>
          </p:cNvSpPr>
          <p:nvPr>
            <p:ph type="title"/>
          </p:nvPr>
        </p:nvSpPr>
        <p:spPr/>
        <p:txBody>
          <a:bodyPr/>
          <a:lstStyle/>
          <a:p>
            <a:r>
              <a:rPr lang="en-US" altLang="en-US"/>
              <a:t>Analysis Tool: Mathematics: Set</a:t>
            </a:r>
          </a:p>
        </p:txBody>
      </p:sp>
      <p:sp>
        <p:nvSpPr>
          <p:cNvPr id="25603" name="Rectangle 3">
            <a:extLst>
              <a:ext uri="{FF2B5EF4-FFF2-40B4-BE49-F238E27FC236}">
                <a16:creationId xmlns:a16="http://schemas.microsoft.com/office/drawing/2014/main" id="{662A92CF-93FF-0584-346B-2A38536B31DD}"/>
              </a:ext>
            </a:extLst>
          </p:cNvPr>
          <p:cNvSpPr>
            <a:spLocks noGrp="1" noChangeArrowheads="1"/>
          </p:cNvSpPr>
          <p:nvPr>
            <p:ph type="body" idx="1"/>
          </p:nvPr>
        </p:nvSpPr>
        <p:spPr>
          <a:xfrm>
            <a:off x="381000" y="990600"/>
            <a:ext cx="8601075" cy="5638800"/>
          </a:xfrm>
        </p:spPr>
        <p:txBody>
          <a:bodyPr/>
          <a:lstStyle/>
          <a:p>
            <a:pPr>
              <a:lnSpc>
                <a:spcPct val="90000"/>
              </a:lnSpc>
            </a:pPr>
            <a:r>
              <a:rPr lang="en-US" altLang="en-US"/>
              <a:t>A set is a collection of distinct elements.The elements are of the same “type”, </a:t>
            </a:r>
          </a:p>
          <a:p>
            <a:pPr>
              <a:lnSpc>
                <a:spcPct val="90000"/>
              </a:lnSpc>
            </a:pPr>
            <a:endParaRPr lang="en-US" altLang="en-US"/>
          </a:p>
          <a:p>
            <a:pPr>
              <a:lnSpc>
                <a:spcPct val="90000"/>
              </a:lnSpc>
            </a:pPr>
            <a:r>
              <a:rPr lang="en-US" altLang="en-US"/>
              <a:t>“element e is a member of set S” is denoted as  e </a:t>
            </a:r>
            <a:r>
              <a:rPr lang="en-US" altLang="en-US">
                <a:sym typeface="Symbol" panose="05050102010706020507" pitchFamily="18" charset="2"/>
              </a:rPr>
              <a:t></a:t>
            </a:r>
            <a:r>
              <a:rPr lang="en-US" altLang="en-US"/>
              <a:t> S</a:t>
            </a:r>
          </a:p>
          <a:p>
            <a:pPr>
              <a:lnSpc>
                <a:spcPct val="90000"/>
              </a:lnSpc>
            </a:pPr>
            <a:endParaRPr lang="en-US" altLang="en-US"/>
          </a:p>
          <a:p>
            <a:pPr>
              <a:lnSpc>
                <a:spcPct val="90000"/>
              </a:lnSpc>
            </a:pPr>
            <a:r>
              <a:rPr lang="en-US" altLang="en-US"/>
              <a:t>A particular set is defined by listing or describing its elements between a pair of curly braces:</a:t>
            </a:r>
            <a:br>
              <a:rPr lang="en-US" altLang="en-US"/>
            </a:br>
            <a:r>
              <a:rPr lang="en-US" altLang="en-US"/>
              <a:t>S</a:t>
            </a:r>
            <a:r>
              <a:rPr lang="en-US" altLang="en-US" baseline="-25000"/>
              <a:t>1</a:t>
            </a:r>
            <a:r>
              <a:rPr lang="en-US" altLang="en-US"/>
              <a:t> = {a, b, c}, S</a:t>
            </a:r>
            <a:r>
              <a:rPr lang="en-US" altLang="en-US" baseline="-25000"/>
              <a:t>2</a:t>
            </a:r>
            <a:r>
              <a:rPr lang="en-US" altLang="en-US"/>
              <a:t> = {x | x is an integer power of 2}</a:t>
            </a:r>
            <a:br>
              <a:rPr lang="en-US" altLang="en-US"/>
            </a:br>
            <a:r>
              <a:rPr lang="en-US" altLang="en-US"/>
              <a:t>read “</a:t>
            </a:r>
            <a:r>
              <a:rPr lang="en-US" altLang="en-US" i="1"/>
              <a:t>the set of</a:t>
            </a:r>
            <a:r>
              <a:rPr lang="en-US" altLang="en-US"/>
              <a:t> all elements x </a:t>
            </a:r>
            <a:r>
              <a:rPr lang="en-US" altLang="en-US" i="1"/>
              <a:t>such that</a:t>
            </a:r>
            <a:r>
              <a:rPr lang="en-US" altLang="en-US"/>
              <a:t> x is …”</a:t>
            </a:r>
          </a:p>
          <a:p>
            <a:pPr>
              <a:lnSpc>
                <a:spcPct val="90000"/>
              </a:lnSpc>
            </a:pPr>
            <a:endParaRPr lang="en-US" altLang="en-US"/>
          </a:p>
          <a:p>
            <a:pPr>
              <a:lnSpc>
                <a:spcPct val="90000"/>
              </a:lnSpc>
            </a:pPr>
            <a:r>
              <a:rPr lang="en-US" altLang="en-US"/>
              <a:t>S</a:t>
            </a:r>
            <a:r>
              <a:rPr lang="en-US" altLang="en-US" baseline="-25000"/>
              <a:t>3</a:t>
            </a:r>
            <a:r>
              <a:rPr lang="en-US" altLang="en-US"/>
              <a:t> = {} = </a:t>
            </a:r>
            <a:r>
              <a:rPr lang="en-US" altLang="en-US">
                <a:sym typeface="Symbol" panose="05050102010706020507" pitchFamily="18" charset="2"/>
              </a:rPr>
              <a:t></a:t>
            </a:r>
            <a:r>
              <a:rPr lang="en-US" altLang="en-US"/>
              <a:t>, has not elements, called empty set</a:t>
            </a:r>
          </a:p>
          <a:p>
            <a:pPr>
              <a:lnSpc>
                <a:spcPct val="90000"/>
              </a:lnSpc>
            </a:pPr>
            <a:endParaRPr lang="en-US" altLang="en-US"/>
          </a:p>
          <a:p>
            <a:pPr>
              <a:lnSpc>
                <a:spcPct val="90000"/>
              </a:lnSpc>
            </a:pPr>
            <a:r>
              <a:rPr lang="en-US" altLang="en-US"/>
              <a:t>A set has no inherent order.</a:t>
            </a:r>
          </a:p>
        </p:txBody>
      </p:sp>
      <p:sp>
        <p:nvSpPr>
          <p:cNvPr id="2" name="5-Point Star 1">
            <a:extLst>
              <a:ext uri="{FF2B5EF4-FFF2-40B4-BE49-F238E27FC236}">
                <a16:creationId xmlns:a16="http://schemas.microsoft.com/office/drawing/2014/main" id="{0B675E29-0DAB-0BC9-5EB6-6B173F812D85}"/>
              </a:ext>
            </a:extLst>
          </p:cNvPr>
          <p:cNvSpPr/>
          <p:nvPr/>
        </p:nvSpPr>
        <p:spPr bwMode="auto">
          <a:xfrm>
            <a:off x="8658225" y="360363"/>
            <a:ext cx="323850" cy="287337"/>
          </a:xfrm>
          <a:prstGeom prst="star5">
            <a:avLst>
              <a:gd name="adj" fmla="val 35574"/>
              <a:gd name="hf" fmla="val 105146"/>
              <a:gd name="vf" fmla="val 110557"/>
            </a:avLst>
          </a:prstGeom>
          <a:noFill/>
          <a:ln w="9525" cap="flat" cmpd="sng" algn="ctr">
            <a:solidFill>
              <a:schemeClr val="tx1"/>
            </a:solidFill>
            <a:prstDash val="solid"/>
            <a:round/>
            <a:headEnd type="none" w="med" len="med"/>
            <a:tailEnd type="none" w="med" len="med"/>
          </a:ln>
          <a:effectLst/>
        </p:spPr>
        <p:txBody>
          <a:bodyPr wrap="none" lIns="90000" tIns="46800" rIns="90000" bIns="46800" anchor="ctr"/>
          <a:lstStyle/>
          <a:p>
            <a:pPr>
              <a:defRPr/>
            </a:pPr>
            <a:endParaRPr lang="en-IN"/>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10EF2653-6B90-257A-AE5D-353F6580E56A}"/>
              </a:ext>
            </a:extLst>
          </p:cNvPr>
          <p:cNvSpPr>
            <a:spLocks noGrp="1" noChangeArrowheads="1"/>
          </p:cNvSpPr>
          <p:nvPr>
            <p:ph type="title"/>
          </p:nvPr>
        </p:nvSpPr>
        <p:spPr/>
        <p:txBody>
          <a:bodyPr/>
          <a:lstStyle/>
          <a:p>
            <a:r>
              <a:rPr lang="en-US" altLang="en-US"/>
              <a:t>Subset, Superset; Intersection, Union</a:t>
            </a:r>
          </a:p>
        </p:txBody>
      </p:sp>
      <p:sp>
        <p:nvSpPr>
          <p:cNvPr id="26627" name="Rectangle 3">
            <a:extLst>
              <a:ext uri="{FF2B5EF4-FFF2-40B4-BE49-F238E27FC236}">
                <a16:creationId xmlns:a16="http://schemas.microsoft.com/office/drawing/2014/main" id="{D8201347-2CC0-FDCB-5C71-CCDA25634D74}"/>
              </a:ext>
            </a:extLst>
          </p:cNvPr>
          <p:cNvSpPr>
            <a:spLocks noGrp="1" noChangeArrowheads="1"/>
          </p:cNvSpPr>
          <p:nvPr>
            <p:ph type="body" idx="1"/>
          </p:nvPr>
        </p:nvSpPr>
        <p:spPr/>
        <p:txBody>
          <a:bodyPr/>
          <a:lstStyle/>
          <a:p>
            <a:r>
              <a:rPr lang="en-US" altLang="en-US"/>
              <a:t>If all elements of one set, S</a:t>
            </a:r>
            <a:r>
              <a:rPr lang="en-US" altLang="en-US" baseline="-25000"/>
              <a:t>1</a:t>
            </a:r>
          </a:p>
          <a:p>
            <a:pPr lvl="1"/>
            <a:r>
              <a:rPr lang="en-US" altLang="en-US"/>
              <a:t>are also in another set, S</a:t>
            </a:r>
            <a:r>
              <a:rPr lang="en-US" altLang="en-US" baseline="-25000"/>
              <a:t>2</a:t>
            </a:r>
            <a:r>
              <a:rPr lang="en-US" altLang="en-US"/>
              <a:t>, </a:t>
            </a:r>
          </a:p>
          <a:p>
            <a:r>
              <a:rPr lang="en-US" altLang="en-US"/>
              <a:t>Then S</a:t>
            </a:r>
            <a:r>
              <a:rPr lang="en-US" altLang="en-US" baseline="-25000"/>
              <a:t>1</a:t>
            </a:r>
            <a:r>
              <a:rPr lang="en-US" altLang="en-US"/>
              <a:t> is said to be a </a:t>
            </a:r>
            <a:r>
              <a:rPr lang="en-US" altLang="en-US" i="1"/>
              <a:t>subset</a:t>
            </a:r>
            <a:r>
              <a:rPr lang="en-US" altLang="en-US"/>
              <a:t> of S</a:t>
            </a:r>
            <a:r>
              <a:rPr lang="en-US" altLang="en-US" baseline="-25000"/>
              <a:t>2</a:t>
            </a:r>
            <a:r>
              <a:rPr lang="en-US" altLang="en-US"/>
              <a:t>, S</a:t>
            </a:r>
            <a:r>
              <a:rPr lang="en-US" altLang="en-US" baseline="-25000"/>
              <a:t>1</a:t>
            </a:r>
            <a:r>
              <a:rPr lang="en-US" altLang="en-US"/>
              <a:t> </a:t>
            </a:r>
            <a:r>
              <a:rPr lang="en-US" altLang="en-US">
                <a:sym typeface="Symbol" panose="05050102010706020507" pitchFamily="18" charset="2"/>
              </a:rPr>
              <a:t></a:t>
            </a:r>
            <a:r>
              <a:rPr lang="en-US" altLang="en-US"/>
              <a:t> S</a:t>
            </a:r>
            <a:r>
              <a:rPr lang="en-US" altLang="en-US" baseline="-25000"/>
              <a:t>2</a:t>
            </a:r>
          </a:p>
          <a:p>
            <a:pPr lvl="1"/>
            <a:r>
              <a:rPr lang="en-US" altLang="en-US"/>
              <a:t>and S</a:t>
            </a:r>
            <a:r>
              <a:rPr lang="en-US" altLang="en-US" baseline="-25000"/>
              <a:t>2</a:t>
            </a:r>
            <a:r>
              <a:rPr lang="en-US" altLang="en-US"/>
              <a:t> is said to be a </a:t>
            </a:r>
            <a:r>
              <a:rPr lang="en-US" altLang="en-US" i="1"/>
              <a:t>superset</a:t>
            </a:r>
            <a:r>
              <a:rPr lang="en-US" altLang="en-US"/>
              <a:t> of S</a:t>
            </a:r>
            <a:r>
              <a:rPr lang="en-US" altLang="en-US" baseline="-25000"/>
              <a:t>1</a:t>
            </a:r>
            <a:r>
              <a:rPr lang="en-US" altLang="en-US"/>
              <a:t>, S</a:t>
            </a:r>
            <a:r>
              <a:rPr lang="en-US" altLang="en-US" baseline="-25000"/>
              <a:t>2</a:t>
            </a:r>
            <a:r>
              <a:rPr lang="en-US" altLang="en-US"/>
              <a:t> </a:t>
            </a:r>
            <a:r>
              <a:rPr lang="en-US" altLang="en-US">
                <a:sym typeface="Symbol" panose="05050102010706020507" pitchFamily="18" charset="2"/>
              </a:rPr>
              <a:t></a:t>
            </a:r>
            <a:r>
              <a:rPr lang="en-US" altLang="en-US"/>
              <a:t> S</a:t>
            </a:r>
            <a:r>
              <a:rPr lang="en-US" altLang="en-US" baseline="-25000"/>
              <a:t>1</a:t>
            </a:r>
            <a:r>
              <a:rPr lang="en-US" altLang="en-US"/>
              <a:t>.</a:t>
            </a:r>
          </a:p>
          <a:p>
            <a:r>
              <a:rPr lang="en-US" altLang="en-US"/>
              <a:t>Empty set is a subset of every set, </a:t>
            </a:r>
            <a:r>
              <a:rPr lang="en-US" altLang="en-US">
                <a:sym typeface="Symbol" panose="05050102010706020507" pitchFamily="18" charset="2"/>
              </a:rPr>
              <a:t></a:t>
            </a:r>
            <a:r>
              <a:rPr lang="en-US" altLang="en-US"/>
              <a:t> </a:t>
            </a:r>
            <a:r>
              <a:rPr lang="en-US" altLang="en-US">
                <a:sym typeface="Symbol" panose="05050102010706020507" pitchFamily="18" charset="2"/>
              </a:rPr>
              <a:t></a:t>
            </a:r>
            <a:r>
              <a:rPr lang="en-US" altLang="en-US"/>
              <a:t> S</a:t>
            </a:r>
          </a:p>
          <a:p>
            <a:r>
              <a:rPr lang="en-US" altLang="en-US" i="1"/>
              <a:t>Intersection</a:t>
            </a:r>
          </a:p>
          <a:p>
            <a:r>
              <a:rPr lang="en-US" altLang="en-US"/>
              <a:t> 	S </a:t>
            </a:r>
            <a:r>
              <a:rPr lang="en-US" altLang="en-US">
                <a:sym typeface="Symbol" panose="05050102010706020507" pitchFamily="18" charset="2"/>
              </a:rPr>
              <a:t></a:t>
            </a:r>
            <a:r>
              <a:rPr lang="en-US" altLang="en-US"/>
              <a:t> T = {x | x </a:t>
            </a:r>
            <a:r>
              <a:rPr lang="en-US" altLang="en-US">
                <a:sym typeface="Symbol" panose="05050102010706020507" pitchFamily="18" charset="2"/>
              </a:rPr>
              <a:t></a:t>
            </a:r>
            <a:r>
              <a:rPr lang="en-US" altLang="en-US"/>
              <a:t> S and x </a:t>
            </a:r>
            <a:r>
              <a:rPr lang="en-US" altLang="en-US">
                <a:sym typeface="Symbol" panose="05050102010706020507" pitchFamily="18" charset="2"/>
              </a:rPr>
              <a:t></a:t>
            </a:r>
            <a:r>
              <a:rPr lang="en-US" altLang="en-US"/>
              <a:t> T}</a:t>
            </a:r>
          </a:p>
          <a:p>
            <a:r>
              <a:rPr lang="en-US" altLang="en-US" i="1"/>
              <a:t>Union</a:t>
            </a:r>
          </a:p>
          <a:p>
            <a:r>
              <a:rPr lang="en-US" altLang="en-US"/>
              <a:t> 	S </a:t>
            </a:r>
            <a:r>
              <a:rPr lang="en-US" altLang="en-US">
                <a:sym typeface="Symbol" panose="05050102010706020507" pitchFamily="18" charset="2"/>
              </a:rPr>
              <a:t> </a:t>
            </a:r>
            <a:r>
              <a:rPr lang="en-US" altLang="en-US"/>
              <a:t>T = {x | x </a:t>
            </a:r>
            <a:r>
              <a:rPr lang="en-US" altLang="en-US">
                <a:sym typeface="Symbol" panose="05050102010706020507" pitchFamily="18" charset="2"/>
              </a:rPr>
              <a:t></a:t>
            </a:r>
            <a:r>
              <a:rPr lang="en-US" altLang="en-US"/>
              <a:t> S or x </a:t>
            </a:r>
            <a:r>
              <a:rPr lang="en-US" altLang="en-US">
                <a:sym typeface="Symbol" panose="05050102010706020507" pitchFamily="18" charset="2"/>
              </a:rPr>
              <a:t></a:t>
            </a:r>
            <a:r>
              <a:rPr lang="en-US" altLang="en-US"/>
              <a:t> 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EC605C0A-2ECD-BEBE-8C09-4068AEB0E624}"/>
              </a:ext>
            </a:extLst>
          </p:cNvPr>
          <p:cNvSpPr>
            <a:spLocks noGrp="1" noChangeArrowheads="1"/>
          </p:cNvSpPr>
          <p:nvPr>
            <p:ph type="title"/>
          </p:nvPr>
        </p:nvSpPr>
        <p:spPr/>
        <p:txBody>
          <a:bodyPr/>
          <a:lstStyle/>
          <a:p>
            <a:r>
              <a:rPr lang="en-US" altLang="en-US"/>
              <a:t>Cardinality</a:t>
            </a:r>
          </a:p>
        </p:txBody>
      </p:sp>
      <p:sp>
        <p:nvSpPr>
          <p:cNvPr id="20483" name="Rectangle 3">
            <a:extLst>
              <a:ext uri="{FF2B5EF4-FFF2-40B4-BE49-F238E27FC236}">
                <a16:creationId xmlns:a16="http://schemas.microsoft.com/office/drawing/2014/main" id="{592F9CF8-F663-EC9A-AFE5-FEB0F4F0CD26}"/>
              </a:ext>
            </a:extLst>
          </p:cNvPr>
          <p:cNvSpPr>
            <a:spLocks noGrp="1" noChangeArrowheads="1"/>
          </p:cNvSpPr>
          <p:nvPr>
            <p:ph type="body" idx="1"/>
          </p:nvPr>
        </p:nvSpPr>
        <p:spPr>
          <a:xfrm>
            <a:off x="381000" y="990600"/>
            <a:ext cx="8583613" cy="5638800"/>
          </a:xfrm>
        </p:spPr>
        <p:txBody>
          <a:bodyPr/>
          <a:lstStyle/>
          <a:p>
            <a:pPr>
              <a:defRPr/>
            </a:pPr>
            <a:r>
              <a:rPr lang="en-US" dirty="0"/>
              <a:t>Cardinality</a:t>
            </a:r>
          </a:p>
          <a:p>
            <a:pPr lvl="1">
              <a:defRPr/>
            </a:pPr>
            <a:r>
              <a:rPr lang="en-US" dirty="0"/>
              <a:t>A set, S, is </a:t>
            </a:r>
            <a:r>
              <a:rPr lang="en-US" i="1" dirty="0"/>
              <a:t>finite</a:t>
            </a:r>
            <a:r>
              <a:rPr lang="en-US" dirty="0"/>
              <a:t> if there is an integer n such that the elements of S can be placed in a one-to-one correspondence with {1, 2, 3, …, n}</a:t>
            </a:r>
          </a:p>
          <a:p>
            <a:pPr lvl="1">
              <a:defRPr/>
            </a:pPr>
            <a:r>
              <a:rPr lang="en-US" dirty="0"/>
              <a:t>in this case we write |S| = n</a:t>
            </a:r>
          </a:p>
          <a:p>
            <a:pPr marL="457200" lvl="1" indent="0">
              <a:buFont typeface="Wingdings" panose="05000000000000000000" pitchFamily="2" charset="2"/>
              <a:buNone/>
              <a:defRPr/>
            </a:pPr>
            <a:endParaRPr lang="en-US" dirty="0"/>
          </a:p>
          <a:p>
            <a:pPr>
              <a:defRPr/>
            </a:pPr>
            <a:r>
              <a:rPr lang="en-US" dirty="0"/>
              <a:t>How many </a:t>
            </a:r>
            <a:r>
              <a:rPr lang="en-US" b="1" dirty="0"/>
              <a:t>distinct subsets does a finite set </a:t>
            </a:r>
            <a:r>
              <a:rPr lang="en-US" dirty="0"/>
              <a:t>on n elements have? 		There are </a:t>
            </a:r>
            <a:r>
              <a:rPr lang="en-US" b="1" dirty="0"/>
              <a:t>2</a:t>
            </a:r>
            <a:r>
              <a:rPr lang="en-US" b="1" baseline="30000" dirty="0"/>
              <a:t>n</a:t>
            </a:r>
            <a:r>
              <a:rPr lang="en-US" b="1" dirty="0"/>
              <a:t> subsets</a:t>
            </a:r>
            <a:r>
              <a:rPr lang="en-US" dirty="0"/>
              <a:t>.</a:t>
            </a:r>
          </a:p>
          <a:p>
            <a:pPr>
              <a:defRPr/>
            </a:pPr>
            <a:endParaRPr lang="en-US" dirty="0"/>
          </a:p>
          <a:p>
            <a:pPr>
              <a:defRPr/>
            </a:pPr>
            <a:r>
              <a:rPr lang="en-US" dirty="0"/>
              <a:t>How many </a:t>
            </a:r>
            <a:r>
              <a:rPr lang="en-US" b="1" dirty="0"/>
              <a:t>distinct subsets of cardinality </a:t>
            </a:r>
            <a:r>
              <a:rPr lang="en-US" dirty="0"/>
              <a:t>k does a finite set of n elements have? </a:t>
            </a:r>
            <a:br>
              <a:rPr lang="en-US" dirty="0"/>
            </a:br>
            <a:r>
              <a:rPr lang="en-US" dirty="0"/>
              <a:t>There are C(n, k) = n!/((n-k)!k!), “n choose k”</a:t>
            </a:r>
          </a:p>
        </p:txBody>
      </p:sp>
      <p:graphicFrame>
        <p:nvGraphicFramePr>
          <p:cNvPr id="27652" name="Object 4">
            <a:extLst>
              <a:ext uri="{FF2B5EF4-FFF2-40B4-BE49-F238E27FC236}">
                <a16:creationId xmlns:a16="http://schemas.microsoft.com/office/drawing/2014/main" id="{FD446B82-CC5A-276E-8A5B-E9FF0ADF05D9}"/>
              </a:ext>
            </a:extLst>
          </p:cNvPr>
          <p:cNvGraphicFramePr>
            <a:graphicFrameLocks noChangeAspect="1"/>
          </p:cNvGraphicFramePr>
          <p:nvPr/>
        </p:nvGraphicFramePr>
        <p:xfrm>
          <a:off x="8259763" y="4724400"/>
          <a:ext cx="488950" cy="838200"/>
        </p:xfrm>
        <a:graphic>
          <a:graphicData uri="http://schemas.openxmlformats.org/presentationml/2006/ole">
            <mc:AlternateContent xmlns:mc="http://schemas.openxmlformats.org/markup-compatibility/2006">
              <mc:Choice xmlns:v="urn:schemas-microsoft-com:vml" Requires="v">
                <p:oleObj name="Equation" r:id="rId2" imgW="266584" imgH="457002" progId="Equation.3">
                  <p:embed/>
                </p:oleObj>
              </mc:Choice>
              <mc:Fallback>
                <p:oleObj name="Equation" r:id="rId2" imgW="266584" imgH="457002"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59763" y="4724400"/>
                        <a:ext cx="488950" cy="838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5D585FAC-C482-6CE8-7285-71848B02C63B}"/>
              </a:ext>
            </a:extLst>
          </p:cNvPr>
          <p:cNvSpPr>
            <a:spLocks noGrp="1" noChangeArrowheads="1"/>
          </p:cNvSpPr>
          <p:nvPr>
            <p:ph type="title"/>
          </p:nvPr>
        </p:nvSpPr>
        <p:spPr/>
        <p:txBody>
          <a:bodyPr/>
          <a:lstStyle/>
          <a:p>
            <a:r>
              <a:rPr lang="en-US" altLang="en-US"/>
              <a:t>Analysis Tool: Algebra</a:t>
            </a:r>
          </a:p>
        </p:txBody>
      </p:sp>
      <p:sp>
        <p:nvSpPr>
          <p:cNvPr id="32771" name="Rectangle 3">
            <a:extLst>
              <a:ext uri="{FF2B5EF4-FFF2-40B4-BE49-F238E27FC236}">
                <a16:creationId xmlns:a16="http://schemas.microsoft.com/office/drawing/2014/main" id="{BA3C5EB8-6D1D-80CD-1932-62576FB6CA1E}"/>
              </a:ext>
            </a:extLst>
          </p:cNvPr>
          <p:cNvSpPr>
            <a:spLocks noGrp="1" noChangeArrowheads="1"/>
          </p:cNvSpPr>
          <p:nvPr>
            <p:ph type="body" idx="1"/>
          </p:nvPr>
        </p:nvSpPr>
        <p:spPr/>
        <p:txBody>
          <a:bodyPr/>
          <a:lstStyle/>
          <a:p>
            <a:pPr marL="0" indent="0">
              <a:buFontTx/>
              <a:buNone/>
              <a:defRPr/>
            </a:pPr>
            <a:r>
              <a:rPr lang="en-US" i="1" dirty="0"/>
              <a:t>Manipulating Inequalities</a:t>
            </a:r>
          </a:p>
          <a:p>
            <a:pPr>
              <a:defRPr/>
            </a:pPr>
            <a:r>
              <a:rPr lang="en-US" dirty="0"/>
              <a:t>Transitivity: If ((A </a:t>
            </a:r>
            <a:r>
              <a:rPr lang="en-US" dirty="0">
                <a:sym typeface="Symbol" pitchFamily="18" charset="2"/>
              </a:rPr>
              <a:t></a:t>
            </a:r>
            <a:r>
              <a:rPr lang="en-US" dirty="0"/>
              <a:t> B) and (B </a:t>
            </a:r>
            <a:r>
              <a:rPr lang="en-US" dirty="0">
                <a:sym typeface="Symbol" pitchFamily="18" charset="2"/>
              </a:rPr>
              <a:t></a:t>
            </a:r>
            <a:r>
              <a:rPr lang="en-US" dirty="0"/>
              <a:t> C) Then (A </a:t>
            </a:r>
            <a:r>
              <a:rPr lang="en-US" dirty="0">
                <a:sym typeface="Symbol" pitchFamily="18" charset="2"/>
              </a:rPr>
              <a:t></a:t>
            </a:r>
            <a:r>
              <a:rPr lang="en-US" dirty="0"/>
              <a:t> C)</a:t>
            </a:r>
          </a:p>
          <a:p>
            <a:pPr>
              <a:defRPr/>
            </a:pPr>
            <a:r>
              <a:rPr lang="en-US" dirty="0"/>
              <a:t>Addition: If ((A </a:t>
            </a:r>
            <a:r>
              <a:rPr lang="en-US" dirty="0">
                <a:sym typeface="Symbol" pitchFamily="18" charset="2"/>
              </a:rPr>
              <a:t></a:t>
            </a:r>
            <a:r>
              <a:rPr lang="en-US" dirty="0"/>
              <a:t> B) and (C </a:t>
            </a:r>
            <a:r>
              <a:rPr lang="en-US" dirty="0">
                <a:sym typeface="Symbol" pitchFamily="18" charset="2"/>
              </a:rPr>
              <a:t></a:t>
            </a:r>
            <a:r>
              <a:rPr lang="en-US" dirty="0"/>
              <a:t> D) Then (A+C </a:t>
            </a:r>
            <a:r>
              <a:rPr lang="en-US" dirty="0">
                <a:sym typeface="Symbol" pitchFamily="18" charset="2"/>
              </a:rPr>
              <a:t></a:t>
            </a:r>
            <a:r>
              <a:rPr lang="en-US" dirty="0"/>
              <a:t> B+D)</a:t>
            </a:r>
          </a:p>
          <a:p>
            <a:pPr>
              <a:defRPr/>
            </a:pPr>
            <a:r>
              <a:rPr lang="en-US" dirty="0"/>
              <a:t>Positive Scaling: </a:t>
            </a:r>
            <a:br>
              <a:rPr lang="en-US" dirty="0"/>
            </a:br>
            <a:r>
              <a:rPr lang="en-US" dirty="0"/>
              <a:t>If ((A </a:t>
            </a:r>
            <a:r>
              <a:rPr lang="en-US" dirty="0">
                <a:sym typeface="Symbol" pitchFamily="18" charset="2"/>
              </a:rPr>
              <a:t></a:t>
            </a:r>
            <a:r>
              <a:rPr lang="en-US" dirty="0"/>
              <a:t> B) and (</a:t>
            </a:r>
            <a:r>
              <a:rPr lang="en-US" dirty="0">
                <a:sym typeface="Symbol" pitchFamily="18" charset="2"/>
              </a:rPr>
              <a:t></a:t>
            </a:r>
            <a:r>
              <a:rPr lang="en-US" dirty="0"/>
              <a:t> </a:t>
            </a:r>
            <a:r>
              <a:rPr lang="en-US" dirty="0">
                <a:sym typeface="Symbol" pitchFamily="18" charset="2"/>
              </a:rPr>
              <a:t>&gt;</a:t>
            </a:r>
            <a:r>
              <a:rPr lang="en-US" dirty="0"/>
              <a:t> 0) Then (</a:t>
            </a:r>
            <a:r>
              <a:rPr lang="en-US" dirty="0">
                <a:sym typeface="Symbol" pitchFamily="18" charset="2"/>
              </a:rPr>
              <a:t></a:t>
            </a:r>
            <a:r>
              <a:rPr lang="en-US" dirty="0"/>
              <a:t> A </a:t>
            </a:r>
            <a:r>
              <a:rPr lang="en-US" dirty="0">
                <a:sym typeface="Symbol" pitchFamily="18" charset="2"/>
              </a:rPr>
              <a:t></a:t>
            </a:r>
            <a:r>
              <a:rPr lang="en-US" dirty="0"/>
              <a:t> </a:t>
            </a:r>
            <a:r>
              <a:rPr lang="en-US" dirty="0">
                <a:sym typeface="Symbol" pitchFamily="18" charset="2"/>
              </a:rPr>
              <a:t></a:t>
            </a:r>
            <a:r>
              <a:rPr lang="en-US" dirty="0"/>
              <a:t> B)</a:t>
            </a:r>
          </a:p>
          <a:p>
            <a:pPr>
              <a:defRPr/>
            </a:pPr>
            <a:r>
              <a:rPr lang="en-US" i="1" dirty="0"/>
              <a:t>Floor and Ceiling Functions</a:t>
            </a:r>
          </a:p>
          <a:p>
            <a:pPr>
              <a:defRPr/>
            </a:pPr>
            <a:r>
              <a:rPr lang="en-US" dirty="0"/>
              <a:t>Floor[x] is the largest integer less than or equal to x.</a:t>
            </a:r>
          </a:p>
          <a:p>
            <a:pPr>
              <a:defRPr/>
            </a:pPr>
            <a:endParaRPr lang="en-US" dirty="0"/>
          </a:p>
          <a:p>
            <a:pPr>
              <a:defRPr/>
            </a:pPr>
            <a:r>
              <a:rPr lang="en-US" dirty="0"/>
              <a:t>Ceiling[x] is the smallest integer greater than or equal to x. </a:t>
            </a:r>
          </a:p>
        </p:txBody>
      </p:sp>
      <p:graphicFrame>
        <p:nvGraphicFramePr>
          <p:cNvPr id="28676" name="Object 4">
            <a:extLst>
              <a:ext uri="{FF2B5EF4-FFF2-40B4-BE49-F238E27FC236}">
                <a16:creationId xmlns:a16="http://schemas.microsoft.com/office/drawing/2014/main" id="{FA21CE0B-530F-0AC7-CC52-14BCFB021D80}"/>
              </a:ext>
            </a:extLst>
          </p:cNvPr>
          <p:cNvGraphicFramePr>
            <a:graphicFrameLocks noChangeAspect="1"/>
          </p:cNvGraphicFramePr>
          <p:nvPr/>
        </p:nvGraphicFramePr>
        <p:xfrm>
          <a:off x="1143000" y="4419600"/>
          <a:ext cx="730250" cy="690563"/>
        </p:xfrm>
        <a:graphic>
          <a:graphicData uri="http://schemas.openxmlformats.org/presentationml/2006/ole">
            <mc:AlternateContent xmlns:mc="http://schemas.openxmlformats.org/markup-compatibility/2006">
              <mc:Choice xmlns:v="urn:schemas-microsoft-com:vml" Requires="v">
                <p:oleObj name="Equation" r:id="rId2" imgW="241300" imgH="228600" progId="Equation.3">
                  <p:embed/>
                </p:oleObj>
              </mc:Choice>
              <mc:Fallback>
                <p:oleObj name="Equation" r:id="rId2" imgW="241300" imgH="228600"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4419600"/>
                        <a:ext cx="730250" cy="690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677" name="Object 5">
            <a:extLst>
              <a:ext uri="{FF2B5EF4-FFF2-40B4-BE49-F238E27FC236}">
                <a16:creationId xmlns:a16="http://schemas.microsoft.com/office/drawing/2014/main" id="{B6BC67ED-4AC2-A51A-258C-19F4148C8FC8}"/>
              </a:ext>
            </a:extLst>
          </p:cNvPr>
          <p:cNvGraphicFramePr>
            <a:graphicFrameLocks noChangeAspect="1"/>
          </p:cNvGraphicFramePr>
          <p:nvPr/>
        </p:nvGraphicFramePr>
        <p:xfrm>
          <a:off x="1676400" y="5562600"/>
          <a:ext cx="730250" cy="690563"/>
        </p:xfrm>
        <a:graphic>
          <a:graphicData uri="http://schemas.openxmlformats.org/presentationml/2006/ole">
            <mc:AlternateContent xmlns:mc="http://schemas.openxmlformats.org/markup-compatibility/2006">
              <mc:Choice xmlns:v="urn:schemas-microsoft-com:vml" Requires="v">
                <p:oleObj name="Equation" r:id="rId4" imgW="241300" imgH="228600" progId="Equation.3">
                  <p:embed/>
                </p:oleObj>
              </mc:Choice>
              <mc:Fallback>
                <p:oleObj name="Equation" r:id="rId4" imgW="241300" imgH="228600"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76400" y="5562600"/>
                        <a:ext cx="730250" cy="690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 name="5-Point Star 5">
            <a:extLst>
              <a:ext uri="{FF2B5EF4-FFF2-40B4-BE49-F238E27FC236}">
                <a16:creationId xmlns:a16="http://schemas.microsoft.com/office/drawing/2014/main" id="{3A55E885-4822-3A0D-B99B-F2C33E5A71E9}"/>
              </a:ext>
            </a:extLst>
          </p:cNvPr>
          <p:cNvSpPr/>
          <p:nvPr/>
        </p:nvSpPr>
        <p:spPr bwMode="auto">
          <a:xfrm>
            <a:off x="8316913" y="360363"/>
            <a:ext cx="665162" cy="547687"/>
          </a:xfrm>
          <a:prstGeom prst="star5">
            <a:avLst>
              <a:gd name="adj" fmla="val 35574"/>
              <a:gd name="hf" fmla="val 105146"/>
              <a:gd name="vf" fmla="val 110557"/>
            </a:avLst>
          </a:prstGeom>
          <a:solidFill>
            <a:schemeClr val="accent1"/>
          </a:solidFill>
          <a:ln w="9525" cap="flat" cmpd="sng" algn="ctr">
            <a:solidFill>
              <a:schemeClr val="tx1"/>
            </a:solidFill>
            <a:prstDash val="solid"/>
            <a:round/>
            <a:headEnd type="none" w="med" len="med"/>
            <a:tailEnd type="none" w="med" len="med"/>
          </a:ln>
          <a:effectLst/>
        </p:spPr>
        <p:txBody>
          <a:bodyPr wrap="none" lIns="90000" tIns="46800" rIns="90000" bIns="46800" anchor="ctr"/>
          <a:lstStyle/>
          <a:p>
            <a:pPr>
              <a:defRPr/>
            </a:pPr>
            <a:endParaRPr lang="en-IN">
              <a:solidFill>
                <a:srgbClr val="FF0000"/>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71260076-1A37-A148-B361-AAC78F8BA3A3}"/>
              </a:ext>
            </a:extLst>
          </p:cNvPr>
          <p:cNvSpPr>
            <a:spLocks noGrp="1" noChangeArrowheads="1"/>
          </p:cNvSpPr>
          <p:nvPr>
            <p:ph type="title"/>
          </p:nvPr>
        </p:nvSpPr>
        <p:spPr>
          <a:xfrm>
            <a:off x="122238" y="-26988"/>
            <a:ext cx="8229600" cy="685801"/>
          </a:xfrm>
        </p:spPr>
        <p:txBody>
          <a:bodyPr/>
          <a:lstStyle/>
          <a:p>
            <a:r>
              <a:rPr lang="en-US" altLang="en-US"/>
              <a:t>Logarithms</a:t>
            </a:r>
          </a:p>
        </p:txBody>
      </p:sp>
      <p:sp>
        <p:nvSpPr>
          <p:cNvPr id="29699" name="Rectangle 3">
            <a:extLst>
              <a:ext uri="{FF2B5EF4-FFF2-40B4-BE49-F238E27FC236}">
                <a16:creationId xmlns:a16="http://schemas.microsoft.com/office/drawing/2014/main" id="{07FB991E-B215-1F15-DAA3-48FF552E1820}"/>
              </a:ext>
            </a:extLst>
          </p:cNvPr>
          <p:cNvSpPr>
            <a:spLocks noGrp="1" noChangeArrowheads="1"/>
          </p:cNvSpPr>
          <p:nvPr>
            <p:ph type="body" idx="1"/>
          </p:nvPr>
        </p:nvSpPr>
        <p:spPr>
          <a:xfrm>
            <a:off x="79375" y="1052513"/>
            <a:ext cx="8570913" cy="5689600"/>
          </a:xfrm>
        </p:spPr>
        <p:txBody>
          <a:bodyPr/>
          <a:lstStyle/>
          <a:p>
            <a:pPr lvl="1">
              <a:lnSpc>
                <a:spcPct val="90000"/>
              </a:lnSpc>
            </a:pPr>
            <a:r>
              <a:rPr lang="en-US" altLang="en-US"/>
              <a:t>For b&gt;1 and x&gt;0,  log</a:t>
            </a:r>
            <a:r>
              <a:rPr lang="en-US" altLang="en-US" baseline="-25000"/>
              <a:t>b</a:t>
            </a:r>
            <a:r>
              <a:rPr lang="en-US" altLang="en-US"/>
              <a:t>x = L	such that b</a:t>
            </a:r>
            <a:r>
              <a:rPr lang="en-US" altLang="en-US" baseline="30000"/>
              <a:t>L</a:t>
            </a:r>
            <a:r>
              <a:rPr lang="en-US" altLang="en-US"/>
              <a:t> = x</a:t>
            </a:r>
          </a:p>
          <a:p>
            <a:pPr lvl="1">
              <a:lnSpc>
                <a:spcPct val="90000"/>
              </a:lnSpc>
            </a:pPr>
            <a:endParaRPr lang="en-US" altLang="en-US"/>
          </a:p>
          <a:p>
            <a:pPr lvl="1">
              <a:lnSpc>
                <a:spcPct val="90000"/>
              </a:lnSpc>
            </a:pPr>
            <a:r>
              <a:rPr lang="en-US" altLang="en-US"/>
              <a:t>log</a:t>
            </a:r>
            <a:r>
              <a:rPr lang="en-US" altLang="en-US" baseline="-25000"/>
              <a:t>b</a:t>
            </a:r>
            <a:r>
              <a:rPr lang="en-US" altLang="en-US"/>
              <a:t> is a strictly increasing function, </a:t>
            </a:r>
            <a:br>
              <a:rPr lang="en-US" altLang="en-US"/>
            </a:br>
            <a:r>
              <a:rPr lang="en-US" altLang="en-US"/>
              <a:t>if x &gt; y then log</a:t>
            </a:r>
            <a:r>
              <a:rPr lang="en-US" altLang="en-US" baseline="-25000"/>
              <a:t>b</a:t>
            </a:r>
            <a:r>
              <a:rPr lang="en-US" altLang="en-US"/>
              <a:t> x &gt; log</a:t>
            </a:r>
            <a:r>
              <a:rPr lang="en-US" altLang="en-US" baseline="-25000"/>
              <a:t>b</a:t>
            </a:r>
            <a:r>
              <a:rPr lang="en-US" altLang="en-US"/>
              <a:t> y</a:t>
            </a:r>
          </a:p>
          <a:p>
            <a:pPr lvl="1">
              <a:lnSpc>
                <a:spcPct val="90000"/>
              </a:lnSpc>
            </a:pPr>
            <a:endParaRPr lang="en-US" altLang="en-US"/>
          </a:p>
          <a:p>
            <a:pPr lvl="1">
              <a:lnSpc>
                <a:spcPct val="90000"/>
              </a:lnSpc>
            </a:pPr>
            <a:r>
              <a:rPr lang="en-US" altLang="en-US"/>
              <a:t>log</a:t>
            </a:r>
            <a:r>
              <a:rPr lang="en-US" altLang="en-US" baseline="-25000"/>
              <a:t>b</a:t>
            </a:r>
            <a:r>
              <a:rPr lang="en-US" altLang="en-US"/>
              <a:t> is a one-to-one function, </a:t>
            </a:r>
            <a:br>
              <a:rPr lang="en-US" altLang="en-US"/>
            </a:br>
            <a:r>
              <a:rPr lang="en-US" altLang="en-US"/>
              <a:t>if log</a:t>
            </a:r>
            <a:r>
              <a:rPr lang="en-US" altLang="en-US" baseline="-25000"/>
              <a:t>b</a:t>
            </a:r>
            <a:r>
              <a:rPr lang="en-US" altLang="en-US"/>
              <a:t> x = log</a:t>
            </a:r>
            <a:r>
              <a:rPr lang="en-US" altLang="en-US" baseline="-25000"/>
              <a:t>b</a:t>
            </a:r>
            <a:r>
              <a:rPr lang="en-US" altLang="en-US"/>
              <a:t> y then x = y</a:t>
            </a:r>
          </a:p>
          <a:p>
            <a:pPr lvl="1">
              <a:lnSpc>
                <a:spcPct val="90000"/>
              </a:lnSpc>
            </a:pPr>
            <a:endParaRPr lang="en-US" altLang="en-US"/>
          </a:p>
          <a:p>
            <a:pPr lvl="1">
              <a:lnSpc>
                <a:spcPct val="90000"/>
              </a:lnSpc>
            </a:pPr>
            <a:r>
              <a:rPr lang="en-US" altLang="en-US"/>
              <a:t>log</a:t>
            </a:r>
            <a:r>
              <a:rPr lang="en-US" altLang="en-US" baseline="-25000"/>
              <a:t>b</a:t>
            </a:r>
            <a:r>
              <a:rPr lang="en-US" altLang="en-US"/>
              <a:t> 1 = 0; 	log</a:t>
            </a:r>
            <a:r>
              <a:rPr lang="en-US" altLang="en-US" baseline="-25000"/>
              <a:t>b</a:t>
            </a:r>
            <a:r>
              <a:rPr lang="en-US" altLang="en-US"/>
              <a:t> b = 1; 	log</a:t>
            </a:r>
            <a:r>
              <a:rPr lang="en-US" altLang="en-US" baseline="-25000"/>
              <a:t>b</a:t>
            </a:r>
            <a:r>
              <a:rPr lang="en-US" altLang="en-US"/>
              <a:t> x</a:t>
            </a:r>
            <a:r>
              <a:rPr lang="en-US" altLang="en-US" baseline="30000"/>
              <a:t>a</a:t>
            </a:r>
            <a:r>
              <a:rPr lang="en-US" altLang="en-US"/>
              <a:t> = a log</a:t>
            </a:r>
            <a:r>
              <a:rPr lang="en-US" altLang="en-US" baseline="-25000"/>
              <a:t>b</a:t>
            </a:r>
            <a:r>
              <a:rPr lang="en-US" altLang="en-US"/>
              <a:t> x</a:t>
            </a:r>
          </a:p>
          <a:p>
            <a:pPr lvl="1">
              <a:lnSpc>
                <a:spcPct val="90000"/>
              </a:lnSpc>
            </a:pPr>
            <a:endParaRPr lang="en-US" altLang="en-US"/>
          </a:p>
          <a:p>
            <a:pPr lvl="1">
              <a:lnSpc>
                <a:spcPct val="90000"/>
              </a:lnSpc>
            </a:pPr>
            <a:r>
              <a:rPr lang="en-US" altLang="en-US"/>
              <a:t>log</a:t>
            </a:r>
            <a:r>
              <a:rPr lang="en-US" altLang="en-US" baseline="-25000"/>
              <a:t>b</a:t>
            </a:r>
            <a:r>
              <a:rPr lang="en-US" altLang="en-US"/>
              <a:t>(xy) = log</a:t>
            </a:r>
            <a:r>
              <a:rPr lang="en-US" altLang="en-US" baseline="-25000"/>
              <a:t>b</a:t>
            </a:r>
            <a:r>
              <a:rPr lang="en-US" altLang="en-US"/>
              <a:t> x + log</a:t>
            </a:r>
            <a:r>
              <a:rPr lang="en-US" altLang="en-US" baseline="-25000"/>
              <a:t>b</a:t>
            </a:r>
            <a:r>
              <a:rPr lang="en-US" altLang="en-US"/>
              <a:t> y</a:t>
            </a:r>
          </a:p>
          <a:p>
            <a:pPr lvl="1">
              <a:lnSpc>
                <a:spcPct val="90000"/>
              </a:lnSpc>
            </a:pPr>
            <a:endParaRPr lang="en-US" altLang="en-US"/>
          </a:p>
          <a:p>
            <a:pPr lvl="1">
              <a:lnSpc>
                <a:spcPct val="90000"/>
              </a:lnSpc>
            </a:pPr>
            <a:r>
              <a:rPr lang="en-US" altLang="en-US"/>
              <a:t>x</a:t>
            </a:r>
            <a:r>
              <a:rPr lang="en-US" altLang="en-US" baseline="30000"/>
              <a:t>log y</a:t>
            </a:r>
            <a:r>
              <a:rPr lang="en-US" altLang="en-US"/>
              <a:t> = y</a:t>
            </a:r>
            <a:r>
              <a:rPr lang="en-US" altLang="en-US" baseline="30000"/>
              <a:t>log x</a:t>
            </a:r>
          </a:p>
          <a:p>
            <a:pPr lvl="1">
              <a:lnSpc>
                <a:spcPct val="90000"/>
              </a:lnSpc>
            </a:pPr>
            <a:endParaRPr lang="en-US" altLang="en-US" baseline="30000"/>
          </a:p>
          <a:p>
            <a:pPr lvl="1">
              <a:lnSpc>
                <a:spcPct val="90000"/>
              </a:lnSpc>
            </a:pPr>
            <a:r>
              <a:rPr lang="en-US" altLang="en-US" baseline="30000"/>
              <a:t>change base:</a:t>
            </a:r>
            <a:r>
              <a:rPr lang="en-US" altLang="en-US"/>
              <a:t> log</a:t>
            </a:r>
            <a:r>
              <a:rPr lang="en-US" altLang="en-US" baseline="-25000"/>
              <a:t>c</a:t>
            </a:r>
            <a:r>
              <a:rPr lang="en-US" altLang="en-US"/>
              <a:t>x = (log</a:t>
            </a:r>
            <a:r>
              <a:rPr lang="en-US" altLang="en-US" baseline="-25000"/>
              <a:t>b</a:t>
            </a:r>
            <a:r>
              <a:rPr lang="en-US" altLang="en-US"/>
              <a:t> x)/(log</a:t>
            </a:r>
            <a:r>
              <a:rPr lang="en-US" altLang="en-US" baseline="-25000"/>
              <a:t>b</a:t>
            </a:r>
            <a:r>
              <a:rPr lang="en-US" altLang="en-US"/>
              <a:t> c)</a:t>
            </a:r>
          </a:p>
        </p:txBody>
      </p:sp>
      <p:sp>
        <p:nvSpPr>
          <p:cNvPr id="5" name="5-Point Star 4">
            <a:extLst>
              <a:ext uri="{FF2B5EF4-FFF2-40B4-BE49-F238E27FC236}">
                <a16:creationId xmlns:a16="http://schemas.microsoft.com/office/drawing/2014/main" id="{653BF638-967C-4E3E-2024-2920A68D3F93}"/>
              </a:ext>
            </a:extLst>
          </p:cNvPr>
          <p:cNvSpPr/>
          <p:nvPr/>
        </p:nvSpPr>
        <p:spPr bwMode="auto">
          <a:xfrm>
            <a:off x="8316913" y="360363"/>
            <a:ext cx="665162" cy="547687"/>
          </a:xfrm>
          <a:prstGeom prst="star5">
            <a:avLst>
              <a:gd name="adj" fmla="val 35574"/>
              <a:gd name="hf" fmla="val 105146"/>
              <a:gd name="vf" fmla="val 110557"/>
            </a:avLst>
          </a:prstGeom>
          <a:solidFill>
            <a:schemeClr val="accent1"/>
          </a:solidFill>
          <a:ln w="9525" cap="flat" cmpd="sng" algn="ctr">
            <a:solidFill>
              <a:schemeClr val="tx1"/>
            </a:solidFill>
            <a:prstDash val="solid"/>
            <a:round/>
            <a:headEnd type="none" w="med" len="med"/>
            <a:tailEnd type="none" w="med" len="med"/>
          </a:ln>
          <a:effectLst/>
        </p:spPr>
        <p:txBody>
          <a:bodyPr wrap="none" lIns="90000" tIns="46800" rIns="90000" bIns="46800" anchor="ctr"/>
          <a:lstStyle/>
          <a:p>
            <a:pPr>
              <a:defRPr/>
            </a:pPr>
            <a:endParaRPr lang="en-IN">
              <a:solidFill>
                <a:srgbClr val="FF0000"/>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DE8A672D-859A-3A55-6B81-DD68D93C35FA}"/>
              </a:ext>
            </a:extLst>
          </p:cNvPr>
          <p:cNvSpPr>
            <a:spLocks noGrp="1" noChangeArrowheads="1"/>
          </p:cNvSpPr>
          <p:nvPr>
            <p:ph type="title"/>
          </p:nvPr>
        </p:nvSpPr>
        <p:spPr/>
        <p:txBody>
          <a:bodyPr/>
          <a:lstStyle/>
          <a:p>
            <a:r>
              <a:rPr lang="en-US" altLang="en-US"/>
              <a:t>Series</a:t>
            </a:r>
          </a:p>
        </p:txBody>
      </p:sp>
      <p:sp>
        <p:nvSpPr>
          <p:cNvPr id="34819" name="Rectangle 3">
            <a:extLst>
              <a:ext uri="{FF2B5EF4-FFF2-40B4-BE49-F238E27FC236}">
                <a16:creationId xmlns:a16="http://schemas.microsoft.com/office/drawing/2014/main" id="{7EBC3E22-41C2-FA2E-C5F0-250B127F1365}"/>
              </a:ext>
            </a:extLst>
          </p:cNvPr>
          <p:cNvSpPr>
            <a:spLocks noGrp="1" noChangeArrowheads="1"/>
          </p:cNvSpPr>
          <p:nvPr>
            <p:ph type="body" idx="1"/>
          </p:nvPr>
        </p:nvSpPr>
        <p:spPr>
          <a:xfrm>
            <a:off x="381000" y="908050"/>
            <a:ext cx="8255000" cy="5638800"/>
          </a:xfrm>
        </p:spPr>
        <p:txBody>
          <a:bodyPr/>
          <a:lstStyle/>
          <a:p>
            <a:pPr marL="0" indent="0">
              <a:buFontTx/>
              <a:buNone/>
              <a:defRPr/>
            </a:pPr>
            <a:r>
              <a:rPr lang="en-US" sz="2400" dirty="0"/>
              <a:t>A </a:t>
            </a:r>
            <a:r>
              <a:rPr lang="en-US" sz="2400" i="1" dirty="0"/>
              <a:t>series</a:t>
            </a:r>
            <a:r>
              <a:rPr lang="en-US" sz="2400" dirty="0"/>
              <a:t> is the sum of a sequence.</a:t>
            </a:r>
          </a:p>
          <a:p>
            <a:pPr>
              <a:defRPr/>
            </a:pPr>
            <a:r>
              <a:rPr lang="en-US" sz="2400" dirty="0"/>
              <a:t>Arithmetic series </a:t>
            </a:r>
          </a:p>
          <a:p>
            <a:pPr lvl="1">
              <a:defRPr/>
            </a:pPr>
            <a:r>
              <a:rPr lang="en-US" sz="2000" dirty="0"/>
              <a:t>The sum of consecutive integers</a:t>
            </a:r>
          </a:p>
          <a:p>
            <a:pPr>
              <a:defRPr/>
            </a:pPr>
            <a:endParaRPr lang="en-US" sz="2400" dirty="0"/>
          </a:p>
          <a:p>
            <a:pPr>
              <a:defRPr/>
            </a:pPr>
            <a:r>
              <a:rPr lang="en-US" sz="2400" dirty="0"/>
              <a:t>Polynomial Series</a:t>
            </a:r>
          </a:p>
          <a:p>
            <a:pPr lvl="1">
              <a:defRPr/>
            </a:pPr>
            <a:r>
              <a:rPr lang="en-US" sz="2000" dirty="0"/>
              <a:t>The sum of squares</a:t>
            </a:r>
          </a:p>
          <a:p>
            <a:pPr lvl="1">
              <a:defRPr/>
            </a:pPr>
            <a:r>
              <a:rPr lang="en-US" sz="2000" dirty="0"/>
              <a:t>The general case is</a:t>
            </a:r>
          </a:p>
          <a:p>
            <a:pPr lvl="1">
              <a:defRPr/>
            </a:pPr>
            <a:endParaRPr lang="en-US" sz="2000" dirty="0"/>
          </a:p>
          <a:p>
            <a:pPr>
              <a:defRPr/>
            </a:pPr>
            <a:r>
              <a:rPr lang="en-US" sz="2400" dirty="0"/>
              <a:t>Power of 2</a:t>
            </a:r>
          </a:p>
          <a:p>
            <a:pPr>
              <a:defRPr/>
            </a:pPr>
            <a:endParaRPr lang="en-US" sz="2400" dirty="0"/>
          </a:p>
          <a:p>
            <a:pPr>
              <a:defRPr/>
            </a:pPr>
            <a:endParaRPr lang="en-US" sz="2400" dirty="0"/>
          </a:p>
          <a:p>
            <a:pPr>
              <a:defRPr/>
            </a:pPr>
            <a:r>
              <a:rPr lang="en-US" sz="2400" dirty="0"/>
              <a:t>Arithmetic- Geometric Series</a:t>
            </a:r>
          </a:p>
        </p:txBody>
      </p:sp>
      <p:graphicFrame>
        <p:nvGraphicFramePr>
          <p:cNvPr id="30724" name="Object 4">
            <a:extLst>
              <a:ext uri="{FF2B5EF4-FFF2-40B4-BE49-F238E27FC236}">
                <a16:creationId xmlns:a16="http://schemas.microsoft.com/office/drawing/2014/main" id="{B8594BB0-94D6-DA02-C93D-B9067FCA742A}"/>
              </a:ext>
            </a:extLst>
          </p:cNvPr>
          <p:cNvGraphicFramePr>
            <a:graphicFrameLocks noChangeAspect="1"/>
          </p:cNvGraphicFramePr>
          <p:nvPr/>
        </p:nvGraphicFramePr>
        <p:xfrm>
          <a:off x="5943600" y="1219200"/>
          <a:ext cx="2209800" cy="1058863"/>
        </p:xfrm>
        <a:graphic>
          <a:graphicData uri="http://schemas.openxmlformats.org/presentationml/2006/ole">
            <mc:AlternateContent xmlns:mc="http://schemas.openxmlformats.org/markup-compatibility/2006">
              <mc:Choice xmlns:v="urn:schemas-microsoft-com:vml" Requires="v">
                <p:oleObj name="Equation" r:id="rId2" imgW="901309" imgH="431613" progId="Equation.3">
                  <p:embed/>
                </p:oleObj>
              </mc:Choice>
              <mc:Fallback>
                <p:oleObj name="Equation" r:id="rId2" imgW="901309" imgH="431613"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43600" y="1219200"/>
                        <a:ext cx="2209800" cy="10588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725" name="Object 6">
            <a:extLst>
              <a:ext uri="{FF2B5EF4-FFF2-40B4-BE49-F238E27FC236}">
                <a16:creationId xmlns:a16="http://schemas.microsoft.com/office/drawing/2014/main" id="{905C96D3-0D4A-53C0-1AD6-AA01A3CEDCDE}"/>
              </a:ext>
            </a:extLst>
          </p:cNvPr>
          <p:cNvGraphicFramePr>
            <a:graphicFrameLocks noChangeAspect="1"/>
          </p:cNvGraphicFramePr>
          <p:nvPr/>
        </p:nvGraphicFramePr>
        <p:xfrm>
          <a:off x="4038600" y="2362200"/>
          <a:ext cx="3810000" cy="1042988"/>
        </p:xfrm>
        <a:graphic>
          <a:graphicData uri="http://schemas.openxmlformats.org/presentationml/2006/ole">
            <mc:AlternateContent xmlns:mc="http://schemas.openxmlformats.org/markup-compatibility/2006">
              <mc:Choice xmlns:v="urn:schemas-microsoft-com:vml" Requires="v">
                <p:oleObj name="Equation" r:id="rId4" imgW="1624895" imgH="444307" progId="Equation.3">
                  <p:embed/>
                </p:oleObj>
              </mc:Choice>
              <mc:Fallback>
                <p:oleObj name="Equation" r:id="rId4" imgW="1624895" imgH="444307" progId="Equation.3">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38600" y="2362200"/>
                        <a:ext cx="3810000" cy="1042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726" name="Object 7">
            <a:extLst>
              <a:ext uri="{FF2B5EF4-FFF2-40B4-BE49-F238E27FC236}">
                <a16:creationId xmlns:a16="http://schemas.microsoft.com/office/drawing/2014/main" id="{DAA2AEB3-96C6-E49A-01DE-E6863AB2BD3B}"/>
              </a:ext>
            </a:extLst>
          </p:cNvPr>
          <p:cNvGraphicFramePr>
            <a:graphicFrameLocks noChangeAspect="1"/>
          </p:cNvGraphicFramePr>
          <p:nvPr/>
        </p:nvGraphicFramePr>
        <p:xfrm>
          <a:off x="4572000" y="3429000"/>
          <a:ext cx="1616075" cy="914400"/>
        </p:xfrm>
        <a:graphic>
          <a:graphicData uri="http://schemas.openxmlformats.org/presentationml/2006/ole">
            <mc:AlternateContent xmlns:mc="http://schemas.openxmlformats.org/markup-compatibility/2006">
              <mc:Choice xmlns:v="urn:schemas-microsoft-com:vml" Requires="v">
                <p:oleObj name="Equation" r:id="rId6" imgW="787058" imgH="444307" progId="Equation.3">
                  <p:embed/>
                </p:oleObj>
              </mc:Choice>
              <mc:Fallback>
                <p:oleObj name="Equation" r:id="rId6" imgW="787058" imgH="444307" progId="Equation.3">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72000" y="3429000"/>
                        <a:ext cx="161607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0727" name="Object 8">
            <a:extLst>
              <a:ext uri="{FF2B5EF4-FFF2-40B4-BE49-F238E27FC236}">
                <a16:creationId xmlns:a16="http://schemas.microsoft.com/office/drawing/2014/main" id="{2088E7DB-B231-751D-A4D1-A5EE12F1A1A1}"/>
              </a:ext>
            </a:extLst>
          </p:cNvPr>
          <p:cNvGraphicFramePr>
            <a:graphicFrameLocks noChangeAspect="1"/>
          </p:cNvGraphicFramePr>
          <p:nvPr/>
        </p:nvGraphicFramePr>
        <p:xfrm>
          <a:off x="2700338" y="4419600"/>
          <a:ext cx="1985962" cy="927100"/>
        </p:xfrm>
        <a:graphic>
          <a:graphicData uri="http://schemas.openxmlformats.org/presentationml/2006/ole">
            <mc:AlternateContent xmlns:mc="http://schemas.openxmlformats.org/markup-compatibility/2006">
              <mc:Choice xmlns:v="urn:schemas-microsoft-com:vml" Requires="v">
                <p:oleObj name="Equation" r:id="rId8" imgW="927100" imgH="431800" progId="Equation.3">
                  <p:embed/>
                </p:oleObj>
              </mc:Choice>
              <mc:Fallback>
                <p:oleObj name="Equation" r:id="rId8" imgW="927100" imgH="431800" progId="Equation.3">
                  <p:embed/>
                  <p:pic>
                    <p:nvPicPr>
                      <p:cNvPr id="0"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700338" y="4419600"/>
                        <a:ext cx="1985962" cy="927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0728" name="Object 9">
            <a:extLst>
              <a:ext uri="{FF2B5EF4-FFF2-40B4-BE49-F238E27FC236}">
                <a16:creationId xmlns:a16="http://schemas.microsoft.com/office/drawing/2014/main" id="{956185C2-706F-0253-0507-2F7873509E49}"/>
              </a:ext>
            </a:extLst>
          </p:cNvPr>
          <p:cNvGraphicFramePr>
            <a:graphicFrameLocks noChangeAspect="1"/>
          </p:cNvGraphicFramePr>
          <p:nvPr/>
        </p:nvGraphicFramePr>
        <p:xfrm>
          <a:off x="4460875" y="5638800"/>
          <a:ext cx="3152775" cy="1012825"/>
        </p:xfrm>
        <a:graphic>
          <a:graphicData uri="http://schemas.openxmlformats.org/presentationml/2006/ole">
            <mc:AlternateContent xmlns:mc="http://schemas.openxmlformats.org/markup-compatibility/2006">
              <mc:Choice xmlns:v="urn:schemas-microsoft-com:vml" Requires="v">
                <p:oleObj name="Equation" r:id="rId10" imgW="1346200" imgH="431800" progId="Equation.3">
                  <p:embed/>
                </p:oleObj>
              </mc:Choice>
              <mc:Fallback>
                <p:oleObj name="Equation" r:id="rId10" imgW="1346200" imgH="431800" progId="Equation.3">
                  <p:embed/>
                  <p:pic>
                    <p:nvPicPr>
                      <p:cNvPr id="0" name="Object 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460875" y="5638800"/>
                        <a:ext cx="3152775" cy="1012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 name="5-Point Star 8">
            <a:extLst>
              <a:ext uri="{FF2B5EF4-FFF2-40B4-BE49-F238E27FC236}">
                <a16:creationId xmlns:a16="http://schemas.microsoft.com/office/drawing/2014/main" id="{947C7C76-35E7-BC42-22EF-CA562779DE5D}"/>
              </a:ext>
            </a:extLst>
          </p:cNvPr>
          <p:cNvSpPr/>
          <p:nvPr/>
        </p:nvSpPr>
        <p:spPr bwMode="auto">
          <a:xfrm>
            <a:off x="8316913" y="360363"/>
            <a:ext cx="665162" cy="547687"/>
          </a:xfrm>
          <a:prstGeom prst="star5">
            <a:avLst>
              <a:gd name="adj" fmla="val 35574"/>
              <a:gd name="hf" fmla="val 105146"/>
              <a:gd name="vf" fmla="val 110557"/>
            </a:avLst>
          </a:prstGeom>
          <a:solidFill>
            <a:schemeClr val="accent1"/>
          </a:solidFill>
          <a:ln w="9525" cap="flat" cmpd="sng" algn="ctr">
            <a:solidFill>
              <a:schemeClr val="tx1"/>
            </a:solidFill>
            <a:prstDash val="solid"/>
            <a:round/>
            <a:headEnd type="none" w="med" len="med"/>
            <a:tailEnd type="none" w="med" len="med"/>
          </a:ln>
          <a:effectLst/>
        </p:spPr>
        <p:txBody>
          <a:bodyPr wrap="none" lIns="90000" tIns="46800" rIns="90000" bIns="46800" anchor="ctr"/>
          <a:lstStyle/>
          <a:p>
            <a:pPr>
              <a:defRPr/>
            </a:pPr>
            <a:endParaRPr lang="en-IN">
              <a:solidFill>
                <a:srgbClr val="FF0000"/>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81D9B50D-5D59-920F-5D8B-0EE390370C0D}"/>
              </a:ext>
            </a:extLst>
          </p:cNvPr>
          <p:cNvSpPr>
            <a:spLocks noGrp="1" noChangeArrowheads="1"/>
          </p:cNvSpPr>
          <p:nvPr>
            <p:ph type="title"/>
          </p:nvPr>
        </p:nvSpPr>
        <p:spPr/>
        <p:txBody>
          <a:bodyPr/>
          <a:lstStyle/>
          <a:p>
            <a:r>
              <a:rPr lang="en-US" altLang="en-US">
                <a:sym typeface="Symbol" panose="05050102010706020507" pitchFamily="18" charset="2"/>
              </a:rPr>
              <a:t>Optimality “the best possible”</a:t>
            </a:r>
          </a:p>
        </p:txBody>
      </p:sp>
      <p:sp>
        <p:nvSpPr>
          <p:cNvPr id="50179" name="Rectangle 3">
            <a:extLst>
              <a:ext uri="{FF2B5EF4-FFF2-40B4-BE49-F238E27FC236}">
                <a16:creationId xmlns:a16="http://schemas.microsoft.com/office/drawing/2014/main" id="{B108E561-F1FC-08A9-2EE2-7EE16934D6E9}"/>
              </a:ext>
            </a:extLst>
          </p:cNvPr>
          <p:cNvSpPr>
            <a:spLocks noGrp="1" noChangeArrowheads="1"/>
          </p:cNvSpPr>
          <p:nvPr>
            <p:ph type="body" idx="1"/>
          </p:nvPr>
        </p:nvSpPr>
        <p:spPr/>
        <p:txBody>
          <a:bodyPr/>
          <a:lstStyle/>
          <a:p>
            <a:pPr>
              <a:defRPr/>
            </a:pPr>
            <a:r>
              <a:rPr lang="en-US" dirty="0">
                <a:sym typeface="Symbol" pitchFamily="18" charset="2"/>
              </a:rPr>
              <a:t>Each problem has inherent complexity</a:t>
            </a:r>
          </a:p>
          <a:p>
            <a:pPr lvl="1">
              <a:defRPr/>
            </a:pPr>
            <a:r>
              <a:rPr lang="en-US" dirty="0">
                <a:sym typeface="Symbol" pitchFamily="18" charset="2"/>
              </a:rPr>
              <a:t>There is some </a:t>
            </a:r>
            <a:r>
              <a:rPr lang="en-US" i="1" dirty="0">
                <a:sym typeface="Symbol" pitchFamily="18" charset="2"/>
              </a:rPr>
              <a:t>minimum</a:t>
            </a:r>
            <a:r>
              <a:rPr lang="en-US" dirty="0">
                <a:sym typeface="Symbol" pitchFamily="18" charset="2"/>
              </a:rPr>
              <a:t> amount of work required to solve it.</a:t>
            </a:r>
          </a:p>
          <a:p>
            <a:pPr>
              <a:defRPr/>
            </a:pPr>
            <a:r>
              <a:rPr lang="en-US" dirty="0">
                <a:sym typeface="Symbol" pitchFamily="18" charset="2"/>
              </a:rPr>
              <a:t>To analyze the complexity of a problem, </a:t>
            </a:r>
          </a:p>
          <a:p>
            <a:pPr lvl="1">
              <a:defRPr/>
            </a:pPr>
            <a:r>
              <a:rPr lang="en-US" dirty="0">
                <a:sym typeface="Symbol" pitchFamily="18" charset="2"/>
              </a:rPr>
              <a:t>we choose a class of algorithms (</a:t>
            </a:r>
            <a:r>
              <a:rPr lang="en-US" sz="2000" b="0" dirty="0">
                <a:sym typeface="Symbol" pitchFamily="18" charset="2"/>
              </a:rPr>
              <a:t>by specifying the types of operations the algorithm is permitted to perform</a:t>
            </a:r>
            <a:r>
              <a:rPr lang="en-US" dirty="0">
                <a:sym typeface="Symbol" pitchFamily="18" charset="2"/>
              </a:rPr>
              <a:t>), and </a:t>
            </a:r>
          </a:p>
          <a:p>
            <a:pPr lvl="1">
              <a:defRPr/>
            </a:pPr>
            <a:r>
              <a:rPr lang="en-US" dirty="0">
                <a:sym typeface="Symbol" pitchFamily="18" charset="2"/>
              </a:rPr>
              <a:t>Measure of complexity (</a:t>
            </a:r>
            <a:r>
              <a:rPr lang="en-US" sz="2000" b="0" dirty="0">
                <a:sym typeface="Symbol" pitchFamily="18" charset="2"/>
              </a:rPr>
              <a:t>ex, the basic operations to be counted</a:t>
            </a:r>
            <a:r>
              <a:rPr lang="en-US" dirty="0">
                <a:sym typeface="Symbol" pitchFamily="18" charset="2"/>
              </a:rPr>
              <a:t>)</a:t>
            </a:r>
          </a:p>
          <a:p>
            <a:pPr lvl="1">
              <a:defRPr/>
            </a:pPr>
            <a:endParaRPr lang="en-US" dirty="0">
              <a:sym typeface="Symbol" pitchFamily="18" charset="2"/>
            </a:endParaRPr>
          </a:p>
          <a:p>
            <a:pPr marL="457200" lvl="1" indent="0" algn="just">
              <a:buFont typeface="Wingdings" panose="05000000000000000000" pitchFamily="2" charset="2"/>
              <a:buNone/>
              <a:defRPr/>
            </a:pPr>
            <a:r>
              <a:rPr lang="en-US" sz="2000" dirty="0">
                <a:sym typeface="Symbol" pitchFamily="18" charset="2"/>
              </a:rPr>
              <a:t>An algorithm is optimal if there is no algorithm in the class under study that performs fewer operations (in worst case)</a:t>
            </a:r>
          </a:p>
          <a:p>
            <a:pPr marL="457200" lvl="1" indent="0" algn="just">
              <a:buFont typeface="Wingdings" panose="05000000000000000000" pitchFamily="2" charset="2"/>
              <a:buNone/>
              <a:defRPr/>
            </a:pPr>
            <a:endParaRPr lang="en-US" sz="2000" dirty="0">
              <a:sym typeface="Symbol" pitchFamily="18" charset="2"/>
            </a:endParaRPr>
          </a:p>
          <a:p>
            <a:pPr marL="457200" lvl="1" indent="0" algn="just">
              <a:buFont typeface="Wingdings" panose="05000000000000000000" pitchFamily="2" charset="2"/>
              <a:buNone/>
              <a:defRPr/>
            </a:pPr>
            <a:r>
              <a:rPr lang="en-US" sz="2000" dirty="0">
                <a:sym typeface="Symbol" pitchFamily="18" charset="2"/>
              </a:rPr>
              <a:t>Optimal  doesn't mean “best known ” but it means “best possible”</a:t>
            </a:r>
          </a:p>
        </p:txBody>
      </p:sp>
    </p:spTree>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D3440962-1078-5D8B-F77E-D48A669E1FB6}"/>
              </a:ext>
            </a:extLst>
          </p:cNvPr>
          <p:cNvSpPr>
            <a:spLocks noGrp="1" noChangeArrowheads="1"/>
          </p:cNvSpPr>
          <p:nvPr>
            <p:ph type="title"/>
          </p:nvPr>
        </p:nvSpPr>
        <p:spPr/>
        <p:txBody>
          <a:bodyPr/>
          <a:lstStyle/>
          <a:p>
            <a:r>
              <a:rPr lang="en-US" altLang="en-US">
                <a:sym typeface="Symbol" panose="05050102010706020507" pitchFamily="18" charset="2"/>
              </a:rPr>
              <a:t>Show whether an algorithm is optimal?</a:t>
            </a:r>
          </a:p>
        </p:txBody>
      </p:sp>
      <p:sp>
        <p:nvSpPr>
          <p:cNvPr id="32771" name="Rectangle 3">
            <a:extLst>
              <a:ext uri="{FF2B5EF4-FFF2-40B4-BE49-F238E27FC236}">
                <a16:creationId xmlns:a16="http://schemas.microsoft.com/office/drawing/2014/main" id="{2A1D2571-A3A0-9C76-5FB8-B8D700C712B1}"/>
              </a:ext>
            </a:extLst>
          </p:cNvPr>
          <p:cNvSpPr>
            <a:spLocks noGrp="1" noChangeArrowheads="1"/>
          </p:cNvSpPr>
          <p:nvPr>
            <p:ph type="body" idx="1"/>
          </p:nvPr>
        </p:nvSpPr>
        <p:spPr/>
        <p:txBody>
          <a:bodyPr/>
          <a:lstStyle/>
          <a:p>
            <a:r>
              <a:rPr lang="en-US" altLang="en-US">
                <a:sym typeface="Symbol" panose="05050102010706020507" pitchFamily="18" charset="2"/>
              </a:rPr>
              <a:t>Analyze the algorithm, call it A, and found the Worst-case complexity W</a:t>
            </a:r>
            <a:r>
              <a:rPr lang="en-US" altLang="en-US" baseline="-25000">
                <a:sym typeface="Symbol" panose="05050102010706020507" pitchFamily="18" charset="2"/>
              </a:rPr>
              <a:t>A</a:t>
            </a:r>
            <a:r>
              <a:rPr lang="en-US" altLang="en-US">
                <a:sym typeface="Symbol" panose="05050102010706020507" pitchFamily="18" charset="2"/>
              </a:rPr>
              <a:t>(n), for input of size n. </a:t>
            </a:r>
          </a:p>
          <a:p>
            <a:r>
              <a:rPr lang="en-US" altLang="en-US">
                <a:sym typeface="Symbol" panose="05050102010706020507" pitchFamily="18" charset="2"/>
              </a:rPr>
              <a:t>Prove a theorem starting that,</a:t>
            </a:r>
          </a:p>
          <a:p>
            <a:pPr lvl="1"/>
            <a:r>
              <a:rPr lang="en-US" altLang="en-US">
                <a:sym typeface="Symbol" panose="05050102010706020507" pitchFamily="18" charset="2"/>
              </a:rPr>
              <a:t>for any algorithm in the same class of A</a:t>
            </a:r>
          </a:p>
          <a:p>
            <a:pPr lvl="1"/>
            <a:r>
              <a:rPr lang="en-US" altLang="en-US">
                <a:sym typeface="Symbol" panose="05050102010706020507" pitchFamily="18" charset="2"/>
              </a:rPr>
              <a:t>for any input of size n, there is some input for which the algorithm must perform at least W</a:t>
            </a:r>
            <a:r>
              <a:rPr lang="en-US" altLang="en-US" baseline="-25000">
                <a:sym typeface="Symbol" panose="05050102010706020507" pitchFamily="18" charset="2"/>
              </a:rPr>
              <a:t>[A]</a:t>
            </a:r>
            <a:r>
              <a:rPr lang="en-US" altLang="en-US">
                <a:sym typeface="Symbol" panose="05050102010706020507" pitchFamily="18" charset="2"/>
              </a:rPr>
              <a:t>(n) </a:t>
            </a:r>
            <a:br>
              <a:rPr lang="en-US" altLang="en-US">
                <a:sym typeface="Symbol" panose="05050102010706020507" pitchFamily="18" charset="2"/>
              </a:rPr>
            </a:br>
            <a:r>
              <a:rPr lang="en-US" altLang="en-US">
                <a:sym typeface="Symbol" panose="05050102010706020507" pitchFamily="18" charset="2"/>
              </a:rPr>
              <a:t>(lower bound in the worst-case)</a:t>
            </a:r>
          </a:p>
          <a:p>
            <a:r>
              <a:rPr lang="en-US" altLang="en-US">
                <a:sym typeface="Symbol" panose="05050102010706020507" pitchFamily="18" charset="2"/>
              </a:rPr>
              <a:t>If W</a:t>
            </a:r>
            <a:r>
              <a:rPr lang="en-US" altLang="en-US" baseline="-25000">
                <a:sym typeface="Symbol" panose="05050102010706020507" pitchFamily="18" charset="2"/>
              </a:rPr>
              <a:t>A</a:t>
            </a:r>
            <a:r>
              <a:rPr lang="en-US" altLang="en-US">
                <a:sym typeface="Symbol" panose="05050102010706020507" pitchFamily="18" charset="2"/>
              </a:rPr>
              <a:t>(n) == W</a:t>
            </a:r>
            <a:r>
              <a:rPr lang="en-US" altLang="en-US" baseline="-25000">
                <a:sym typeface="Symbol" panose="05050102010706020507" pitchFamily="18" charset="2"/>
              </a:rPr>
              <a:t>[A]</a:t>
            </a:r>
            <a:r>
              <a:rPr lang="en-US" altLang="en-US">
                <a:sym typeface="Symbol" panose="05050102010706020507" pitchFamily="18" charset="2"/>
              </a:rPr>
              <a:t>(n) </a:t>
            </a:r>
          </a:p>
          <a:p>
            <a:pPr lvl="1"/>
            <a:r>
              <a:rPr lang="en-US" altLang="en-US">
                <a:sym typeface="Symbol" panose="05050102010706020507" pitchFamily="18" charset="2"/>
              </a:rPr>
              <a:t>then the algorithm A is optimal</a:t>
            </a:r>
          </a:p>
          <a:p>
            <a:pPr lvl="1"/>
            <a:r>
              <a:rPr lang="en-US" altLang="en-US">
                <a:sym typeface="Symbol" panose="05050102010706020507" pitchFamily="18" charset="2"/>
              </a:rPr>
              <a:t>else there may be a better algorithm </a:t>
            </a:r>
          </a:p>
          <a:p>
            <a:pPr lvl="1"/>
            <a:r>
              <a:rPr lang="en-US" altLang="en-US">
                <a:sym typeface="Symbol" panose="05050102010706020507" pitchFamily="18" charset="2"/>
              </a:rPr>
              <a:t>   OR there may be a better lower bound.</a:t>
            </a:r>
          </a:p>
        </p:txBody>
      </p:sp>
    </p:spTree>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838F5C08-FB49-4FA2-62E7-7D2B41486DA3}"/>
              </a:ext>
            </a:extLst>
          </p:cNvPr>
          <p:cNvSpPr>
            <a:spLocks noGrp="1" noChangeArrowheads="1"/>
          </p:cNvSpPr>
          <p:nvPr>
            <p:ph type="title"/>
          </p:nvPr>
        </p:nvSpPr>
        <p:spPr/>
        <p:txBody>
          <a:bodyPr/>
          <a:lstStyle/>
          <a:p>
            <a:r>
              <a:rPr lang="en-US" altLang="en-US">
                <a:sym typeface="Symbol" panose="05050102010706020507" pitchFamily="18" charset="2"/>
              </a:rPr>
              <a:t>Optimality e.g. </a:t>
            </a:r>
          </a:p>
        </p:txBody>
      </p:sp>
      <p:sp>
        <p:nvSpPr>
          <p:cNvPr id="33795" name="Rectangle 3">
            <a:extLst>
              <a:ext uri="{FF2B5EF4-FFF2-40B4-BE49-F238E27FC236}">
                <a16:creationId xmlns:a16="http://schemas.microsoft.com/office/drawing/2014/main" id="{931B1070-5A2D-35D2-5BE2-5190617B7CB4}"/>
              </a:ext>
            </a:extLst>
          </p:cNvPr>
          <p:cNvSpPr>
            <a:spLocks noGrp="1" noChangeArrowheads="1"/>
          </p:cNvSpPr>
          <p:nvPr>
            <p:ph type="body" idx="1"/>
          </p:nvPr>
        </p:nvSpPr>
        <p:spPr/>
        <p:txBody>
          <a:bodyPr/>
          <a:lstStyle/>
          <a:p>
            <a:r>
              <a:rPr lang="en-US" altLang="en-US">
                <a:sym typeface="Symbol" panose="05050102010706020507" pitchFamily="18" charset="2"/>
              </a:rPr>
              <a:t>Problem </a:t>
            </a:r>
          </a:p>
          <a:p>
            <a:pPr lvl="1"/>
            <a:r>
              <a:rPr lang="en-US" altLang="en-US">
                <a:sym typeface="Symbol" panose="05050102010706020507" pitchFamily="18" charset="2"/>
              </a:rPr>
              <a:t>Fining the largest entry in an (unsorted) array of </a:t>
            </a:r>
            <a:br>
              <a:rPr lang="en-US" altLang="en-US">
                <a:sym typeface="Symbol" panose="05050102010706020507" pitchFamily="18" charset="2"/>
              </a:rPr>
            </a:br>
            <a:r>
              <a:rPr lang="en-US" altLang="en-US">
                <a:sym typeface="Symbol" panose="05050102010706020507" pitchFamily="18" charset="2"/>
              </a:rPr>
              <a:t>n numbers</a:t>
            </a:r>
          </a:p>
          <a:p>
            <a:r>
              <a:rPr lang="en-US" altLang="en-US"/>
              <a:t>Algorithm A</a:t>
            </a:r>
          </a:p>
          <a:p>
            <a:pPr lvl="1"/>
            <a:r>
              <a:rPr lang="en-US" altLang="en-US"/>
              <a:t>int findMax(int[] E, int n)</a:t>
            </a:r>
          </a:p>
          <a:p>
            <a:pPr lvl="1"/>
            <a:r>
              <a:rPr lang="en-US" altLang="en-US"/>
              <a:t>1. int max;</a:t>
            </a:r>
          </a:p>
          <a:p>
            <a:pPr lvl="1"/>
            <a:r>
              <a:rPr lang="en-US" altLang="en-US"/>
              <a:t>2. max = E[0]; // Assume the first is max.</a:t>
            </a:r>
          </a:p>
          <a:p>
            <a:pPr lvl="1"/>
            <a:r>
              <a:rPr lang="en-US" altLang="en-US"/>
              <a:t>3. for (index = 1; index &lt; n; index++)</a:t>
            </a:r>
          </a:p>
          <a:p>
            <a:pPr lvl="1"/>
            <a:r>
              <a:rPr lang="en-US" altLang="en-US"/>
              <a:t>4.     if (max &lt; E[index])</a:t>
            </a:r>
          </a:p>
          <a:p>
            <a:pPr lvl="1"/>
            <a:r>
              <a:rPr lang="en-US" altLang="en-US"/>
              <a:t>5.         max = E[index];</a:t>
            </a:r>
          </a:p>
          <a:p>
            <a:pPr lvl="1"/>
            <a:r>
              <a:rPr lang="en-US" altLang="en-US"/>
              <a:t>6. return max;</a:t>
            </a:r>
            <a:endParaRPr lang="en-US" altLang="en-US">
              <a:sym typeface="Symbol" panose="05050102010706020507" pitchFamily="18" charset="2"/>
            </a:endParaRPr>
          </a:p>
        </p:txBody>
      </p:sp>
    </p:spTree>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19FF9B3B-F12D-59CA-064C-73F8F6594638}"/>
              </a:ext>
            </a:extLst>
          </p:cNvPr>
          <p:cNvSpPr>
            <a:spLocks noGrp="1" noChangeArrowheads="1"/>
          </p:cNvSpPr>
          <p:nvPr>
            <p:ph type="title"/>
          </p:nvPr>
        </p:nvSpPr>
        <p:spPr/>
        <p:txBody>
          <a:bodyPr/>
          <a:lstStyle/>
          <a:p>
            <a:r>
              <a:rPr lang="en-US" altLang="en-US">
                <a:sym typeface="Symbol" panose="05050102010706020507" pitchFamily="18" charset="2"/>
              </a:rPr>
              <a:t>Analyze the algorithm, find W</a:t>
            </a:r>
            <a:r>
              <a:rPr lang="en-US" altLang="en-US" baseline="-25000">
                <a:sym typeface="Symbol" panose="05050102010706020507" pitchFamily="18" charset="2"/>
              </a:rPr>
              <a:t>A</a:t>
            </a:r>
            <a:r>
              <a:rPr lang="en-US" altLang="en-US">
                <a:sym typeface="Symbol" panose="05050102010706020507" pitchFamily="18" charset="2"/>
              </a:rPr>
              <a:t>(n)</a:t>
            </a:r>
          </a:p>
        </p:txBody>
      </p:sp>
      <p:sp>
        <p:nvSpPr>
          <p:cNvPr id="34819" name="Rectangle 3">
            <a:extLst>
              <a:ext uri="{FF2B5EF4-FFF2-40B4-BE49-F238E27FC236}">
                <a16:creationId xmlns:a16="http://schemas.microsoft.com/office/drawing/2014/main" id="{B04697F7-42ED-5C0F-F335-9F2ABA59794E}"/>
              </a:ext>
            </a:extLst>
          </p:cNvPr>
          <p:cNvSpPr>
            <a:spLocks noGrp="1" noChangeArrowheads="1"/>
          </p:cNvSpPr>
          <p:nvPr>
            <p:ph type="body" idx="1"/>
          </p:nvPr>
        </p:nvSpPr>
        <p:spPr/>
        <p:txBody>
          <a:bodyPr/>
          <a:lstStyle/>
          <a:p>
            <a:r>
              <a:rPr lang="en-US" altLang="en-US">
                <a:sym typeface="Symbol" panose="05050102010706020507" pitchFamily="18" charset="2"/>
              </a:rPr>
              <a:t>Basic Operation</a:t>
            </a:r>
          </a:p>
          <a:p>
            <a:pPr lvl="1"/>
            <a:r>
              <a:rPr lang="en-US" altLang="en-US">
                <a:sym typeface="Symbol" panose="05050102010706020507" pitchFamily="18" charset="2"/>
              </a:rPr>
              <a:t>Comparison of an array entry with another array entry or a stored variable. </a:t>
            </a:r>
          </a:p>
          <a:p>
            <a:r>
              <a:rPr lang="en-US" altLang="en-US">
                <a:sym typeface="Symbol" panose="05050102010706020507" pitchFamily="18" charset="2"/>
              </a:rPr>
              <a:t>Worst-Case Analysis</a:t>
            </a:r>
          </a:p>
          <a:p>
            <a:pPr lvl="1"/>
            <a:r>
              <a:rPr lang="en-US" altLang="en-US">
                <a:sym typeface="Symbol" panose="05050102010706020507" pitchFamily="18" charset="2"/>
              </a:rPr>
              <a:t>For any input of size n, there are exactly n-1 basic operations</a:t>
            </a:r>
          </a:p>
          <a:p>
            <a:pPr lvl="1"/>
            <a:r>
              <a:rPr lang="en-US" altLang="en-US">
                <a:sym typeface="Symbol" panose="05050102010706020507" pitchFamily="18" charset="2"/>
              </a:rPr>
              <a:t>W</a:t>
            </a:r>
            <a:r>
              <a:rPr lang="en-US" altLang="en-US" baseline="-25000">
                <a:sym typeface="Symbol" panose="05050102010706020507" pitchFamily="18" charset="2"/>
              </a:rPr>
              <a:t>A</a:t>
            </a:r>
            <a:r>
              <a:rPr lang="en-US" altLang="en-US">
                <a:sym typeface="Symbol" panose="05050102010706020507" pitchFamily="18" charset="2"/>
              </a:rPr>
              <a:t>(n) = n-1</a:t>
            </a:r>
          </a:p>
        </p:txBody>
      </p:sp>
    </p:spTree>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Content Placeholder 2">
            <a:extLst>
              <a:ext uri="{FF2B5EF4-FFF2-40B4-BE49-F238E27FC236}">
                <a16:creationId xmlns:a16="http://schemas.microsoft.com/office/drawing/2014/main" id="{E8C46679-3056-3FE7-ABD4-49C2D4EC8021}"/>
              </a:ext>
            </a:extLst>
          </p:cNvPr>
          <p:cNvSpPr>
            <a:spLocks noGrp="1" noChangeArrowheads="1"/>
          </p:cNvSpPr>
          <p:nvPr>
            <p:ph idx="1"/>
          </p:nvPr>
        </p:nvSpPr>
        <p:spPr/>
        <p:txBody>
          <a:bodyPr/>
          <a:lstStyle/>
          <a:p>
            <a:pPr marL="0" indent="0">
              <a:buFontTx/>
              <a:buNone/>
            </a:pPr>
            <a:r>
              <a:rPr lang="en-US" altLang="en-US"/>
              <a:t>Video Lecture of the topic can be found at</a:t>
            </a:r>
          </a:p>
          <a:p>
            <a:pPr marL="0" indent="0">
              <a:buFontTx/>
              <a:buNone/>
            </a:pPr>
            <a:endParaRPr lang="en-US" altLang="en-US"/>
          </a:p>
          <a:p>
            <a:pPr marL="0" indent="0">
              <a:spcBef>
                <a:spcPct val="0"/>
              </a:spcBef>
              <a:buFontTx/>
              <a:buNone/>
            </a:pPr>
            <a:r>
              <a:rPr lang="en-IN" altLang="en-US" sz="1800" b="1">
                <a:solidFill>
                  <a:srgbClr val="000000"/>
                </a:solidFill>
                <a:latin typeface="Rockwell" panose="02060603020205020403" pitchFamily="18" charset="0"/>
                <a:ea typeface="Times New Roman" panose="02020603050405020304" pitchFamily="18" charset="0"/>
                <a:cs typeface="Arial" panose="020B0604020202020204" pitchFamily="34" charset="0"/>
              </a:rPr>
              <a:t>Introduction to Computer Algorithms </a:t>
            </a:r>
          </a:p>
          <a:p>
            <a:pPr marL="0" indent="0">
              <a:spcBef>
                <a:spcPct val="0"/>
              </a:spcBef>
              <a:buFontTx/>
              <a:buNone/>
            </a:pPr>
            <a:r>
              <a:rPr lang="en-IN" altLang="en-US" sz="1800" u="sng">
                <a:solidFill>
                  <a:srgbClr val="000000"/>
                </a:solidFill>
                <a:latin typeface="Rockwell" panose="02060603020205020403" pitchFamily="18" charset="0"/>
                <a:ea typeface="Calibri" panose="020F0502020204030204" pitchFamily="34" charset="0"/>
                <a:cs typeface="Mangal" panose="02040503050203030202" pitchFamily="18" charset="0"/>
                <a:hlinkClick r:id="rId2"/>
              </a:rPr>
              <a:t>https://youtu.be/GI1NwGPGxNo</a:t>
            </a:r>
            <a:endParaRPr lang="en-IN" altLang="en-US" sz="1800">
              <a:latin typeface="Calibri" panose="020F0502020204030204" pitchFamily="34" charset="0"/>
              <a:ea typeface="Calibri" panose="020F0502020204030204" pitchFamily="34" charset="0"/>
              <a:cs typeface="Mangal" panose="02040503050203030202" pitchFamily="18" charset="0"/>
            </a:endParaRPr>
          </a:p>
          <a:p>
            <a:pPr marL="0" indent="0">
              <a:lnSpc>
                <a:spcPct val="115000"/>
              </a:lnSpc>
              <a:spcAft>
                <a:spcPts val="1000"/>
              </a:spcAft>
              <a:buFontTx/>
              <a:buNone/>
            </a:pPr>
            <a:endParaRPr lang="en-IN" altLang="en-US" sz="1800">
              <a:latin typeface="Calibri" panose="020F0502020204030204" pitchFamily="34" charset="0"/>
              <a:ea typeface="Calibri" panose="020F0502020204030204" pitchFamily="34" charset="0"/>
              <a:cs typeface="Mangal" panose="02040503050203030202" pitchFamily="18" charset="0"/>
            </a:endParaRPr>
          </a:p>
          <a:p>
            <a:pPr marL="0" indent="0">
              <a:lnSpc>
                <a:spcPct val="115000"/>
              </a:lnSpc>
              <a:spcBef>
                <a:spcPts val="2400"/>
              </a:spcBef>
              <a:buFontTx/>
              <a:buNone/>
            </a:pPr>
            <a:r>
              <a:rPr lang="en-IN" altLang="en-US" sz="1800" b="1">
                <a:solidFill>
                  <a:srgbClr val="000000"/>
                </a:solidFill>
                <a:latin typeface="Rockwell" panose="02060603020205020403" pitchFamily="18" charset="0"/>
                <a:ea typeface="Times New Roman" panose="02020603050405020304" pitchFamily="18" charset="0"/>
                <a:cs typeface="Arial" panose="020B0604020202020204" pitchFamily="34" charset="0"/>
              </a:rPr>
              <a:t>Computer Algorithms - Abstract Data Types (ADT)</a:t>
            </a:r>
            <a:endParaRPr lang="en-IN" altLang="en-US" sz="1800" b="1">
              <a:solidFill>
                <a:srgbClr val="365F91"/>
              </a:solidFill>
              <a:latin typeface="Cambria" panose="02040503050406030204" pitchFamily="18" charset="0"/>
              <a:ea typeface="Times New Roman" panose="02020603050405020304" pitchFamily="18" charset="0"/>
              <a:cs typeface="Mangal" panose="02040503050203030202" pitchFamily="18" charset="0"/>
            </a:endParaRPr>
          </a:p>
          <a:p>
            <a:pPr marL="0" indent="0">
              <a:lnSpc>
                <a:spcPct val="115000"/>
              </a:lnSpc>
              <a:spcAft>
                <a:spcPts val="1000"/>
              </a:spcAft>
              <a:buFontTx/>
              <a:buNone/>
            </a:pPr>
            <a:r>
              <a:rPr lang="en-IN" altLang="en-US" sz="1800">
                <a:solidFill>
                  <a:srgbClr val="000000"/>
                </a:solidFill>
                <a:latin typeface="Rockwell" panose="02060603020205020403" pitchFamily="18" charset="0"/>
                <a:ea typeface="Calibri" panose="020F0502020204030204" pitchFamily="34" charset="0"/>
                <a:cs typeface="Mangal" panose="02040503050203030202" pitchFamily="18" charset="0"/>
              </a:rPr>
              <a:t>https://youtu.be/aHWNxF0c08U</a:t>
            </a:r>
            <a:endParaRPr lang="en-IN" altLang="en-US" sz="1800">
              <a:latin typeface="Calibri" panose="020F0502020204030204" pitchFamily="34" charset="0"/>
              <a:ea typeface="Calibri" panose="020F0502020204030204" pitchFamily="34" charset="0"/>
              <a:cs typeface="Mangal" panose="02040503050203030202" pitchFamily="18" charset="0"/>
            </a:endParaRPr>
          </a:p>
          <a:p>
            <a:pPr marL="0" indent="0">
              <a:lnSpc>
                <a:spcPct val="115000"/>
              </a:lnSpc>
              <a:spcAft>
                <a:spcPts val="1000"/>
              </a:spcAft>
              <a:buFontTx/>
              <a:buNone/>
            </a:pPr>
            <a:r>
              <a:rPr lang="en-IN" altLang="en-US" sz="1800">
                <a:solidFill>
                  <a:srgbClr val="000000"/>
                </a:solidFill>
                <a:latin typeface="Rockwell" panose="02060603020205020403" pitchFamily="18" charset="0"/>
                <a:ea typeface="Calibri" panose="020F0502020204030204" pitchFamily="34" charset="0"/>
                <a:cs typeface="Mangal" panose="02040503050203030202" pitchFamily="18" charset="0"/>
              </a:rPr>
              <a:t> </a:t>
            </a:r>
            <a:endParaRPr lang="en-IN" altLang="en-US" sz="1800">
              <a:latin typeface="Calibri" panose="020F0502020204030204" pitchFamily="34" charset="0"/>
              <a:ea typeface="Calibri" panose="020F0502020204030204" pitchFamily="34" charset="0"/>
              <a:cs typeface="Mangal" panose="02040503050203030202" pitchFamily="18" charset="0"/>
            </a:endParaRPr>
          </a:p>
          <a:p>
            <a:pPr marL="0" indent="0">
              <a:lnSpc>
                <a:spcPct val="115000"/>
              </a:lnSpc>
              <a:spcBef>
                <a:spcPts val="2400"/>
              </a:spcBef>
              <a:buFontTx/>
              <a:buNone/>
            </a:pPr>
            <a:r>
              <a:rPr lang="en-IN" altLang="en-US" sz="1800" b="1">
                <a:solidFill>
                  <a:srgbClr val="000000"/>
                </a:solidFill>
                <a:latin typeface="Rockwell" panose="02060603020205020403" pitchFamily="18" charset="0"/>
                <a:ea typeface="Times New Roman" panose="02020603050405020304" pitchFamily="18" charset="0"/>
                <a:cs typeface="Arial" panose="020B0604020202020204" pitchFamily="34" charset="0"/>
              </a:rPr>
              <a:t>Basics for Analysing Computer Algorithms</a:t>
            </a:r>
            <a:endParaRPr lang="en-IN" altLang="en-US" sz="1800" b="1">
              <a:solidFill>
                <a:srgbClr val="365F91"/>
              </a:solidFill>
              <a:latin typeface="Cambria" panose="02040503050406030204" pitchFamily="18" charset="0"/>
              <a:ea typeface="Times New Roman" panose="02020603050405020304" pitchFamily="18" charset="0"/>
              <a:cs typeface="Mangal" panose="02040503050203030202" pitchFamily="18" charset="0"/>
            </a:endParaRPr>
          </a:p>
          <a:p>
            <a:pPr marL="0" indent="0">
              <a:lnSpc>
                <a:spcPct val="115000"/>
              </a:lnSpc>
              <a:spcAft>
                <a:spcPts val="1000"/>
              </a:spcAft>
              <a:buFontTx/>
              <a:buNone/>
            </a:pPr>
            <a:r>
              <a:rPr lang="en-IN" altLang="en-US" sz="1800">
                <a:solidFill>
                  <a:srgbClr val="000000"/>
                </a:solidFill>
                <a:latin typeface="Rockwell" panose="02060603020205020403" pitchFamily="18" charset="0"/>
                <a:ea typeface="Calibri" panose="020F0502020204030204" pitchFamily="34" charset="0"/>
                <a:cs typeface="Mangal" panose="02040503050203030202" pitchFamily="18" charset="0"/>
              </a:rPr>
              <a:t>https://youtu.be/n1ArVTvMJtE</a:t>
            </a:r>
            <a:endParaRPr lang="en-IN" altLang="en-US" sz="1800">
              <a:latin typeface="Calibri" panose="020F0502020204030204" pitchFamily="34" charset="0"/>
              <a:ea typeface="Calibri" panose="020F0502020204030204" pitchFamily="34" charset="0"/>
              <a:cs typeface="Mangal" panose="02040503050203030202" pitchFamily="18" charset="0"/>
            </a:endParaRPr>
          </a:p>
          <a:p>
            <a:pPr marL="0" indent="0">
              <a:buFontTx/>
              <a:buNone/>
            </a:pPr>
            <a:endParaRPr lang="en-IN" altLang="en-US"/>
          </a:p>
        </p:txBody>
      </p:sp>
    </p:spTree>
  </p:cSld>
  <p:clrMapOvr>
    <a:masterClrMapping/>
  </p:clrMapOvr>
</p:sld>
</file>

<file path=ppt/theme/theme1.xml><?xml version="1.0" encoding="utf-8"?>
<a:theme xmlns:a="http://schemas.openxmlformats.org/drawingml/2006/main" name="CS364 CH04 Bz1">
  <a:themeElements>
    <a:clrScheme name="CS364 CH04 Bz1 2">
      <a:dk1>
        <a:srgbClr val="000000"/>
      </a:dk1>
      <a:lt1>
        <a:srgbClr val="FFFFFF"/>
      </a:lt1>
      <a:dk2>
        <a:srgbClr val="0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996633"/>
      </a:hlink>
      <a:folHlink>
        <a:srgbClr val="808000"/>
      </a:folHlink>
    </a:clrScheme>
    <a:fontScheme name="CS364 CH04 Bz1">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0000" tIns="46800" rIns="90000" bIns="46800" numCol="1" anchor="ctr"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0000" tIns="46800" rIns="90000" bIns="46800" numCol="1" anchor="ctr"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CS364 CH04 Bz1 1">
        <a:dk1>
          <a:srgbClr val="5E574E"/>
        </a:dk1>
        <a:lt1>
          <a:srgbClr val="FFFFCC"/>
        </a:lt1>
        <a:dk2>
          <a:srgbClr val="000000"/>
        </a:dk2>
        <a:lt2>
          <a:srgbClr val="FFCC00"/>
        </a:lt2>
        <a:accent1>
          <a:srgbClr val="CC9900"/>
        </a:accent1>
        <a:accent2>
          <a:srgbClr val="FF6600"/>
        </a:accent2>
        <a:accent3>
          <a:srgbClr val="AAAAAA"/>
        </a:accent3>
        <a:accent4>
          <a:srgbClr val="DADAAE"/>
        </a:accent4>
        <a:accent5>
          <a:srgbClr val="E2CAAA"/>
        </a:accent5>
        <a:accent6>
          <a:srgbClr val="E75C00"/>
        </a:accent6>
        <a:hlink>
          <a:srgbClr val="FF0000"/>
        </a:hlink>
        <a:folHlink>
          <a:srgbClr val="FFFFCC"/>
        </a:folHlink>
      </a:clrScheme>
      <a:clrMap bg1="dk2" tx1="lt1" bg2="dk1" tx2="lt2" accent1="accent1" accent2="accent2" accent3="accent3" accent4="accent4" accent5="accent5" accent6="accent6" hlink="hlink" folHlink="folHlink"/>
    </a:extraClrScheme>
    <a:extraClrScheme>
      <a:clrScheme name="CS364 CH04 Bz1 2">
        <a:dk1>
          <a:srgbClr val="000000"/>
        </a:dk1>
        <a:lt1>
          <a:srgbClr val="FFFFFF"/>
        </a:lt1>
        <a:dk2>
          <a:srgbClr val="0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996633"/>
        </a:hlink>
        <a:folHlink>
          <a:srgbClr val="808000"/>
        </a:folHlink>
      </a:clrScheme>
      <a:clrMap bg1="lt1" tx1="dk1" bg2="lt2" tx2="dk2" accent1="accent1" accent2="accent2" accent3="accent3" accent4="accent4" accent5="accent5" accent6="accent6" hlink="hlink" folHlink="folHlink"/>
    </a:extraClrScheme>
    <a:extraClrScheme>
      <a:clrScheme name="CS364 CH04 Bz1 3">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S364 CH04 Bz1 4">
        <a:dk1>
          <a:srgbClr val="000000"/>
        </a:dk1>
        <a:lt1>
          <a:srgbClr val="FFFFFF"/>
        </a:lt1>
        <a:dk2>
          <a:srgbClr val="8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FF0000"/>
        </a:hlink>
        <a:folHlink>
          <a:srgbClr val="FFFFCC"/>
        </a:folHlink>
      </a:clrScheme>
      <a:clrMap bg1="lt1" tx1="dk1" bg2="lt2" tx2="dk2" accent1="accent1" accent2="accent2" accent3="accent3" accent4="accent4" accent5="accent5" accent6="accent6" hlink="hlink" folHlink="folHlink"/>
    </a:extraClrScheme>
    <a:extraClrScheme>
      <a:clrScheme name="CS364 CH04 Bz1 5">
        <a:dk1>
          <a:srgbClr val="000066"/>
        </a:dk1>
        <a:lt1>
          <a:srgbClr val="FFFFFF"/>
        </a:lt1>
        <a:dk2>
          <a:srgbClr val="0000FF"/>
        </a:dk2>
        <a:lt2>
          <a:srgbClr val="000000"/>
        </a:lt2>
        <a:accent1>
          <a:srgbClr val="0066FF"/>
        </a:accent1>
        <a:accent2>
          <a:srgbClr val="33CCCC"/>
        </a:accent2>
        <a:accent3>
          <a:srgbClr val="FFFFFF"/>
        </a:accent3>
        <a:accent4>
          <a:srgbClr val="000056"/>
        </a:accent4>
        <a:accent5>
          <a:srgbClr val="AAB8FF"/>
        </a:accent5>
        <a:accent6>
          <a:srgbClr val="2DB9B9"/>
        </a:accent6>
        <a:hlink>
          <a:srgbClr val="FF00FF"/>
        </a:hlink>
        <a:folHlink>
          <a:srgbClr val="9933FF"/>
        </a:folHlink>
      </a:clrScheme>
      <a:clrMap bg1="lt1" tx1="dk1" bg2="lt2" tx2="dk2" accent1="accent1" accent2="accent2" accent3="accent3" accent4="accent4" accent5="accent5" accent6="accent6" hlink="hlink" folHlink="folHlink"/>
    </a:extraClrScheme>
    <a:extraClrScheme>
      <a:clrScheme name="CS364 CH04 Bz1 6">
        <a:dk1>
          <a:srgbClr val="000000"/>
        </a:dk1>
        <a:lt1>
          <a:srgbClr val="FFFFFF"/>
        </a:lt1>
        <a:dk2>
          <a:srgbClr val="000066"/>
        </a:dk2>
        <a:lt2>
          <a:srgbClr val="FFCC00"/>
        </a:lt2>
        <a:accent1>
          <a:srgbClr val="0066FF"/>
        </a:accent1>
        <a:accent2>
          <a:srgbClr val="33CCCC"/>
        </a:accent2>
        <a:accent3>
          <a:srgbClr val="AAAAB8"/>
        </a:accent3>
        <a:accent4>
          <a:srgbClr val="DADADA"/>
        </a:accent4>
        <a:accent5>
          <a:srgbClr val="AAB8FF"/>
        </a:accent5>
        <a:accent6>
          <a:srgbClr val="2DB9B9"/>
        </a:accent6>
        <a:hlink>
          <a:srgbClr val="FF00FF"/>
        </a:hlink>
        <a:folHlink>
          <a:srgbClr val="9933FF"/>
        </a:folHlink>
      </a:clrScheme>
      <a:clrMap bg1="dk2" tx1="lt1" bg2="dk1" tx2="lt2" accent1="accent1" accent2="accent2" accent3="accent3" accent4="accent4" accent5="accent5" accent6="accent6" hlink="hlink" folHlink="folHlink"/>
    </a:extraClrScheme>
    <a:extraClrScheme>
      <a:clrScheme name="CS364 CH04 Bz1 7">
        <a:dk1>
          <a:srgbClr val="5E574E"/>
        </a:dk1>
        <a:lt1>
          <a:srgbClr val="FFFFCC"/>
        </a:lt1>
        <a:dk2>
          <a:srgbClr val="800000"/>
        </a:dk2>
        <a:lt2>
          <a:srgbClr val="FFCC00"/>
        </a:lt2>
        <a:accent1>
          <a:srgbClr val="CC9900"/>
        </a:accent1>
        <a:accent2>
          <a:srgbClr val="FF6600"/>
        </a:accent2>
        <a:accent3>
          <a:srgbClr val="C0AAAA"/>
        </a:accent3>
        <a:accent4>
          <a:srgbClr val="DADAAE"/>
        </a:accent4>
        <a:accent5>
          <a:srgbClr val="E2CAAA"/>
        </a:accent5>
        <a:accent6>
          <a:srgbClr val="E75C00"/>
        </a:accent6>
        <a:hlink>
          <a:srgbClr val="FF0000"/>
        </a:hlink>
        <a:folHlink>
          <a:srgbClr val="FFFFCC"/>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D:\Bz\IOs\AJob\Tech\CS364 Computer Architecture\CS364 CH04 Bz1.ppt</Template>
  <TotalTime>19929</TotalTime>
  <Words>2127</Words>
  <Application>Microsoft Office PowerPoint</Application>
  <PresentationFormat>On-screen Show (4:3)</PresentationFormat>
  <Paragraphs>260</Paragraphs>
  <Slides>30</Slides>
  <Notes>2</Notes>
  <HiddenSlides>4</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30</vt:i4>
      </vt:variant>
    </vt:vector>
  </HeadingPairs>
  <TitlesOfParts>
    <vt:vector size="40" baseType="lpstr">
      <vt:lpstr>Calibri</vt:lpstr>
      <vt:lpstr>Cambria</vt:lpstr>
      <vt:lpstr>Garamond</vt:lpstr>
      <vt:lpstr>MT Extra</vt:lpstr>
      <vt:lpstr>Rockwell</vt:lpstr>
      <vt:lpstr>Symbol</vt:lpstr>
      <vt:lpstr>Times New Roman</vt:lpstr>
      <vt:lpstr>Wingdings</vt:lpstr>
      <vt:lpstr>CS364 CH04 Bz1</vt:lpstr>
      <vt:lpstr>Equation</vt:lpstr>
      <vt:lpstr>PowerPoint Presentation</vt:lpstr>
      <vt:lpstr>What is a Computer Algorithm?</vt:lpstr>
      <vt:lpstr>Design Techniques -Problem Solving Strategies</vt:lpstr>
      <vt:lpstr>Problem Solving Using Computers</vt:lpstr>
      <vt:lpstr>Example: Search in an unordered array</vt:lpstr>
      <vt:lpstr>Example: Sequential Search, Unordered</vt:lpstr>
      <vt:lpstr>Algorithm: Step (Specification)</vt:lpstr>
      <vt:lpstr>Analysis of the Algorithm</vt:lpstr>
      <vt:lpstr>More Analysis of the Algorithm</vt:lpstr>
      <vt:lpstr>Correctness can be proved!</vt:lpstr>
      <vt:lpstr>Algorithm Language (Specifying the Steps)</vt:lpstr>
      <vt:lpstr>Loop Invariant – Analysing Correctness of Algorithm</vt:lpstr>
      <vt:lpstr>Finding Max value in an array</vt:lpstr>
      <vt:lpstr>… finding max value in an array</vt:lpstr>
      <vt:lpstr>Linear Search</vt:lpstr>
      <vt:lpstr>PowerPoint Presentation</vt:lpstr>
      <vt:lpstr>Amount of work done</vt:lpstr>
      <vt:lpstr>Worst-case complexity</vt:lpstr>
      <vt:lpstr>Space Usage</vt:lpstr>
      <vt:lpstr>Analysis Tool: Mathematics: Set</vt:lpstr>
      <vt:lpstr>Subset, Superset; Intersection, Union</vt:lpstr>
      <vt:lpstr>Cardinality</vt:lpstr>
      <vt:lpstr>Analysis Tool: Algebra</vt:lpstr>
      <vt:lpstr>Logarithms</vt:lpstr>
      <vt:lpstr>Series</vt:lpstr>
      <vt:lpstr>Optimality “the best possible”</vt:lpstr>
      <vt:lpstr>Show whether an algorithm is optimal?</vt:lpstr>
      <vt:lpstr>Optimality e.g. </vt:lpstr>
      <vt:lpstr>Analyze the algorithm, find WA(n)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CS520 Advanced Analysis of Algorithms and Complexity</dc:title>
  <dc:creator>ASHISH SETH</dc:creator>
  <cp:lastModifiedBy>ASHISH SETH</cp:lastModifiedBy>
  <cp:revision>369</cp:revision>
  <cp:lastPrinted>1999-12-17T13:56:08Z</cp:lastPrinted>
  <dcterms:created xsi:type="dcterms:W3CDTF">1998-09-21T10:37:54Z</dcterms:created>
  <dcterms:modified xsi:type="dcterms:W3CDTF">2025-09-09T18:26:43Z</dcterms:modified>
</cp:coreProperties>
</file>