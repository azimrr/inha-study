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49" r:id="rId1"/>
  </p:sldMasterIdLst>
  <p:notesMasterIdLst>
    <p:notesMasterId r:id="rId12"/>
  </p:notesMasterIdLst>
  <p:handoutMasterIdLst>
    <p:handoutMasterId r:id="rId13"/>
  </p:handoutMasterIdLst>
  <p:sldIdLst>
    <p:sldId id="485" r:id="rId2"/>
    <p:sldId id="439" r:id="rId3"/>
    <p:sldId id="491" r:id="rId4"/>
    <p:sldId id="487" r:id="rId5"/>
    <p:sldId id="438" r:id="rId6"/>
    <p:sldId id="489" r:id="rId7"/>
    <p:sldId id="484" r:id="rId8"/>
    <p:sldId id="443" r:id="rId9"/>
    <p:sldId id="486" r:id="rId10"/>
    <p:sldId id="490" r:id="rId11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CFF"/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030" autoAdjust="0"/>
    <p:restoredTop sz="83922" autoAdjust="0"/>
  </p:normalViewPr>
  <p:slideViewPr>
    <p:cSldViewPr>
      <p:cViewPr varScale="1">
        <p:scale>
          <a:sx n="69" d="100"/>
          <a:sy n="69" d="100"/>
        </p:scale>
        <p:origin x="127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1944" y="-78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>
            <a:extLst>
              <a:ext uri="{FF2B5EF4-FFF2-40B4-BE49-F238E27FC236}">
                <a16:creationId xmlns:a16="http://schemas.microsoft.com/office/drawing/2014/main" id="{4F031553-7C88-81DD-3137-61773141CF6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5139" tIns="49472" rIns="95139" bIns="49472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781" name="Rectangle 5">
            <a:extLst>
              <a:ext uri="{FF2B5EF4-FFF2-40B4-BE49-F238E27FC236}">
                <a16:creationId xmlns:a16="http://schemas.microsoft.com/office/drawing/2014/main" id="{E2242E21-E8B2-E327-9FE4-63F6E073B6F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5139" tIns="49472" rIns="95139" bIns="49472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8EDD5F7A-CD95-4ECF-9B6C-9DE036C60A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4D920A94-3C92-BEC5-2702-EBCDE5A99CE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7D624B3A-646F-BC5A-0C39-58878BD0B5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AEA6E4F-BC2A-8827-5DB4-D057B901BEC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6981" name="Rectangle 5">
            <a:extLst>
              <a:ext uri="{FF2B5EF4-FFF2-40B4-BE49-F238E27FC236}">
                <a16:creationId xmlns:a16="http://schemas.microsoft.com/office/drawing/2014/main" id="{11804781-D9F5-875D-B0DE-B3EFE52DD2A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6982" name="Rectangle 6">
            <a:extLst>
              <a:ext uri="{FF2B5EF4-FFF2-40B4-BE49-F238E27FC236}">
                <a16:creationId xmlns:a16="http://schemas.microsoft.com/office/drawing/2014/main" id="{B9387261-D20E-FEEC-9A7F-BC7D821F47B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6983" name="Rectangle 7">
            <a:extLst>
              <a:ext uri="{FF2B5EF4-FFF2-40B4-BE49-F238E27FC236}">
                <a16:creationId xmlns:a16="http://schemas.microsoft.com/office/drawing/2014/main" id="{FCED6084-278C-0D62-0B86-ED6C7FD0B1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11E21B10-9538-4635-8604-8D7320788D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incremental+%28or+stepwise%29+approach&amp;oq=what+is+the+name+of+strategy+for+solving+Insertion+sort+&amp;gs_lcrp=EgZjaHJvbWUqBwgBECEYoAEyBggAEEUYOTIHCAEQIRigATIHCAIQIRigATIHCAMQIRiPAjIHCAQQIRiPAtIBCTI5OTczajBqN6gCALACAA&amp;sourceid=chrome&amp;ie=UTF-8&amp;mstk=AUtExfCBnmxJes_qCsXpXvBj-4INy95OfqNdT8VMpWc7PeoaiubvP2lR7P96Y5hYv1Yw5zsx014u9tSPO9zz3l2EGzpY2u-TCe5ftGly4yXd93KvkvkHRTMG_v6PyQFMJMEhiepCwE0SSr_U53TjBy8dNTSTTcGx56lSVB9ofAl7-laFP_E&amp;csui=3&amp;ved=2ahUKEwjuque7qOqPAxWnJhAIHWa-JpYQgK4QegQIARAC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google.com/search?q=decrease-and-conquer+strategy&amp;oq=what+is+the+name+of+strategy+for+solving+Insertion+sort+&amp;gs_lcrp=EgZjaHJvbWUqBwgBECEYoAEyBggAEEUYOTIHCAEQIRigATIHCAIQIRigATIHCAMQIRiPAjIHCAQQIRiPAtIBCTI5OTczajBqN6gCALACAA&amp;sourceid=chrome&amp;ie=UTF-8&amp;mstk=AUtExfCBnmxJes_qCsXpXvBj-4INy95OfqNdT8VMpWc7PeoaiubvP2lR7P96Y5hYv1Yw5zsx014u9tSPO9zz3l2EGzpY2u-TCe5ftGly4yXd93KvkvkHRTMG_v6PyQFMJMEhiepCwE0SSr_U53TjBy8dNTSTTcGx56lSVB9ofAl7-laFP_E&amp;csui=3&amp;ved=2ahUKEwjuque7qOqPAxWnJhAIHWa-JpYQgK4QegQIARAD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The primary strategy used in insertion sort is </a:t>
            </a:r>
            <a:r>
              <a:rPr lang="en-US" b="1" dirty="0">
                <a:solidFill>
                  <a:schemeClr val="tx1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incremental (or stepwise) approach</a:t>
            </a:r>
            <a:r>
              <a:rPr kumimoji="1"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, where one element is taken from the unsorted part and inserted into its correct position in the sorted portion of the list. </a:t>
            </a:r>
          </a:p>
          <a:p>
            <a:r>
              <a:rPr kumimoji="1"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It also follows a </a:t>
            </a:r>
            <a:r>
              <a:rPr kumimoji="1"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decrease-and-conquer strategy</a:t>
            </a:r>
            <a:r>
              <a:rPr kumimoji="1"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, where the problem is reduced to a smaller instance of itself, with the sorted portion acting as the smaller subproblem.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1E21B10-9538-4635-8604-8D7320788DE9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7259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891F5F29-5A7E-C2AB-C247-6586F1250C6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81000" y="990600"/>
            <a:ext cx="8229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IN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1DAC4F86-5D49-8905-B40B-3A244FFC32B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81000" y="914400"/>
            <a:ext cx="822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IN"/>
          </a:p>
        </p:txBody>
      </p:sp>
      <p:sp>
        <p:nvSpPr>
          <p:cNvPr id="10" name="AutoShape 12">
            <a:extLst>
              <a:ext uri="{FF2B5EF4-FFF2-40B4-BE49-F238E27FC236}">
                <a16:creationId xmlns:a16="http://schemas.microsoft.com/office/drawing/2014/main" id="{885D61A8-1D59-0232-9F1E-AA35534D31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029200" y="4038600"/>
            <a:ext cx="4114800" cy="4132263"/>
          </a:xfrm>
          <a:prstGeom prst="diamond">
            <a:avLst/>
          </a:prstGeom>
          <a:solidFill>
            <a:srgbClr val="00FFFF">
              <a:alpha val="50195"/>
            </a:srgbClr>
          </a:solidFill>
          <a:ln>
            <a:noFill/>
          </a:ln>
          <a:effectLst/>
        </p:spPr>
        <p:txBody>
          <a:bodyPr wrap="none" t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defRPr/>
            </a:pPr>
            <a:r>
              <a:rPr lang="en-US" altLang="en-US" sz="4400" u="sng">
                <a:solidFill>
                  <a:srgbClr val="A50021"/>
                </a:solidFill>
                <a:latin typeface="Garamond" panose="02020404030301010803" pitchFamily="18" charset="0"/>
              </a:rPr>
              <a:t>TECH</a:t>
            </a:r>
            <a:r>
              <a:rPr lang="en-US" altLang="en-US" sz="4800" u="sng">
                <a:solidFill>
                  <a:srgbClr val="A50021"/>
                </a:solidFill>
                <a:latin typeface="Garamond" panose="02020404030301010803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ctr">
              <a:spcBef>
                <a:spcPct val="20000"/>
              </a:spcBef>
              <a:defRPr/>
            </a:pPr>
            <a:r>
              <a:rPr lang="en-US" altLang="en-US" sz="2800">
                <a:solidFill>
                  <a:srgbClr val="006666"/>
                </a:solidFill>
                <a:latin typeface="Garamond" panose="02020404030301010803" pitchFamily="18" charset="0"/>
              </a:rPr>
              <a:t>Computer Science</a:t>
            </a:r>
            <a:endParaRPr lang="en-US" altLang="en-US" sz="1800">
              <a:solidFill>
                <a:srgbClr val="006666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499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8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783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117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715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070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05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625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138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041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2332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9955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9518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573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284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978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8" name="Line 10">
            <a:extLst>
              <a:ext uri="{FF2B5EF4-FFF2-40B4-BE49-F238E27FC236}">
                <a16:creationId xmlns:a16="http://schemas.microsoft.com/office/drawing/2014/main" id="{6A003D2D-5605-BD15-FD7F-B1404AEA5BE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81000" y="990600"/>
            <a:ext cx="8229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IN"/>
          </a:p>
        </p:txBody>
      </p:sp>
      <p:sp>
        <p:nvSpPr>
          <p:cNvPr id="19" name="Line 11">
            <a:extLst>
              <a:ext uri="{FF2B5EF4-FFF2-40B4-BE49-F238E27FC236}">
                <a16:creationId xmlns:a16="http://schemas.microsoft.com/office/drawing/2014/main" id="{B0835FE0-99D0-2F68-861D-598E68C1A8F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81000" y="914400"/>
            <a:ext cx="822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817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jikkNiuR2CQ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FFC6AB1-9E44-A82D-9C2C-951B6FB17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60350"/>
            <a:ext cx="82296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3200" b="1"/>
              <a:t>Sorting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F7F3812-042C-52FA-7B3D-BD5D9276EE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598" y="1340768"/>
            <a:ext cx="7490793" cy="4700595"/>
          </a:xfrm>
        </p:spPr>
        <p:txBody>
          <a:bodyPr>
            <a:normAutofit/>
          </a:bodyPr>
          <a:lstStyle/>
          <a:p>
            <a:pPr lvl="1"/>
            <a:r>
              <a:rPr lang="en-US" altLang="en-US" sz="2400" dirty="0"/>
              <a:t>arranging elements of set into order</a:t>
            </a:r>
          </a:p>
          <a:p>
            <a:endParaRPr lang="en-US" altLang="en-US" sz="2800" dirty="0"/>
          </a:p>
          <a:p>
            <a:r>
              <a:rPr lang="en-US" altLang="en-US" sz="2800" dirty="0"/>
              <a:t>Solution:</a:t>
            </a:r>
          </a:p>
          <a:p>
            <a:pPr lvl="1"/>
            <a:r>
              <a:rPr lang="en-US" altLang="en-US" sz="2400" dirty="0"/>
              <a:t>Insertion Sort</a:t>
            </a:r>
          </a:p>
          <a:p>
            <a:pPr lvl="1"/>
            <a:r>
              <a:rPr lang="en-US" altLang="en-US" sz="2400" dirty="0"/>
              <a:t>Quicksort</a:t>
            </a:r>
          </a:p>
          <a:p>
            <a:pPr lvl="1"/>
            <a:r>
              <a:rPr lang="en-US" altLang="en-US" sz="2400" dirty="0" err="1"/>
              <a:t>Mergesort</a:t>
            </a:r>
            <a:endParaRPr lang="en-US" altLang="en-US" sz="2400" dirty="0"/>
          </a:p>
          <a:p>
            <a:pPr lvl="1"/>
            <a:r>
              <a:rPr lang="en-US" altLang="en-US" sz="2400" dirty="0"/>
              <a:t>Heapsort</a:t>
            </a:r>
          </a:p>
          <a:p>
            <a:pPr lvl="1"/>
            <a:r>
              <a:rPr lang="en-US" altLang="en-US" sz="2400" dirty="0" err="1"/>
              <a:t>Shellsort</a:t>
            </a:r>
            <a:endParaRPr lang="en-US" altLang="en-US" sz="2400" dirty="0"/>
          </a:p>
          <a:p>
            <a:pPr lvl="1"/>
            <a:r>
              <a:rPr lang="en-US" altLang="en-US" sz="2400" dirty="0"/>
              <a:t>Radix Sorting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4835B51-D1BB-10F5-F4C6-1EEDBFEC89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60648"/>
            <a:ext cx="6347713" cy="1320800"/>
          </a:xfrm>
        </p:spPr>
        <p:txBody>
          <a:bodyPr/>
          <a:lstStyle/>
          <a:p>
            <a:r>
              <a:rPr lang="en-US" altLang="en-US" dirty="0"/>
              <a:t>Application of Sorting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ED08034-A770-3C71-A471-AE10B72A0A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512" y="1844824"/>
            <a:ext cx="8066857" cy="3880773"/>
          </a:xfrm>
        </p:spPr>
        <p:txBody>
          <a:bodyPr>
            <a:normAutofit lnSpcReduction="10000"/>
          </a:bodyPr>
          <a:lstStyle/>
          <a:p>
            <a:r>
              <a:rPr lang="en-US" altLang="en-US" sz="2400" dirty="0"/>
              <a:t>For searching on unsorted data by comparing keys, optimal solutions require </a:t>
            </a:r>
            <a:r>
              <a:rPr lang="en-US" altLang="en-US" sz="2400" dirty="0">
                <a:sym typeface="Symbol" panose="05050102010706020507" pitchFamily="18" charset="2"/>
              </a:rPr>
              <a:t></a:t>
            </a:r>
            <a:r>
              <a:rPr lang="en-US" altLang="en-US" sz="2400" dirty="0"/>
              <a:t>(n) comparisons.</a:t>
            </a:r>
          </a:p>
          <a:p>
            <a:endParaRPr lang="en-US" altLang="en-US" sz="2400" dirty="0"/>
          </a:p>
          <a:p>
            <a:r>
              <a:rPr lang="en-US" altLang="en-US" sz="2400" dirty="0"/>
              <a:t>For searching on sorted data by comparing keys, optimal solutions require </a:t>
            </a:r>
            <a:r>
              <a:rPr lang="en-US" altLang="en-US" sz="2400" dirty="0">
                <a:sym typeface="Symbol" panose="05050102010706020507" pitchFamily="18" charset="2"/>
              </a:rPr>
              <a:t></a:t>
            </a:r>
            <a:r>
              <a:rPr lang="en-US" altLang="en-US" sz="2400" dirty="0"/>
              <a:t>(log n) comparisons.</a:t>
            </a:r>
          </a:p>
          <a:p>
            <a:endParaRPr lang="en-US" altLang="en-US" sz="2400" dirty="0"/>
          </a:p>
          <a:p>
            <a:r>
              <a:rPr lang="en-US" altLang="en-US" sz="2400" dirty="0"/>
              <a:t>Sorting data for users</a:t>
            </a:r>
          </a:p>
          <a:p>
            <a:endParaRPr lang="en-US" altLang="en-US" sz="2400" dirty="0"/>
          </a:p>
          <a:p>
            <a:r>
              <a:rPr lang="en-US" altLang="en-US" sz="2400" dirty="0"/>
              <a:t>More…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16D675-CFC8-EB39-DD44-77680F8083FC}"/>
              </a:ext>
            </a:extLst>
          </p:cNvPr>
          <p:cNvSpPr txBox="1"/>
          <p:nvPr/>
        </p:nvSpPr>
        <p:spPr>
          <a:xfrm>
            <a:off x="35496" y="260648"/>
            <a:ext cx="9001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Comparison based sorting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:. (</a:t>
            </a:r>
            <a:r>
              <a:rPr lang="en-IN" sz="1800" b="0" i="0" dirty="0" err="1">
                <a:solidFill>
                  <a:schemeClr val="tx1"/>
                </a:solidFill>
                <a:effectLst/>
                <a:latin typeface="+mn-lt"/>
              </a:rPr>
              <a:t>eg.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insertion sort. merge sort, bubble sort, quick sort etc.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I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Non-Comparison based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sorting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: ( </a:t>
            </a:r>
            <a:r>
              <a:rPr lang="en-IN" sz="1800" b="0" i="0" dirty="0" err="1">
                <a:solidFill>
                  <a:schemeClr val="tx1"/>
                </a:solidFill>
                <a:effectLst/>
                <a:latin typeface="+mn-lt"/>
              </a:rPr>
              <a:t>eg.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bucket sort, radix sort, counting sort etc.)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I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nternal Sorting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: (</a:t>
            </a:r>
            <a:r>
              <a:rPr lang="en-IN" sz="1800" b="0" i="0" dirty="0" err="1">
                <a:solidFill>
                  <a:schemeClr val="tx1"/>
                </a:solidFill>
                <a:effectLst/>
                <a:latin typeface="+mn-lt"/>
              </a:rPr>
              <a:t>eg.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bubble sort. insertion sort. etc.)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I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External Sorting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: (</a:t>
            </a:r>
            <a:r>
              <a:rPr lang="en-IN" sz="1800" b="0" i="0" dirty="0" err="1">
                <a:solidFill>
                  <a:schemeClr val="tx1"/>
                </a:solidFill>
                <a:effectLst/>
                <a:latin typeface="+mn-lt"/>
              </a:rPr>
              <a:t>eg.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quick sort. merge sort. etc.)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I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Stable sorting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: (</a:t>
            </a:r>
            <a:r>
              <a:rPr lang="en-IN" sz="1800" b="0" i="0" dirty="0" err="1">
                <a:solidFill>
                  <a:schemeClr val="tx1"/>
                </a:solidFill>
                <a:effectLst/>
                <a:latin typeface="+mn-lt"/>
              </a:rPr>
              <a:t>eg.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merge sort, insertion sort, bubble sort)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I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Unstable sorting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:(quicksort, heap sort, and selection sort)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I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Adaptive Sorting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: (i.e. sorted or unsorted data </a:t>
            </a:r>
            <a:r>
              <a:rPr lang="en-IN" sz="1800" b="0" i="0" dirty="0" err="1">
                <a:solidFill>
                  <a:schemeClr val="tx1"/>
                </a:solidFill>
                <a:effectLst/>
                <a:latin typeface="+mn-lt"/>
              </a:rPr>
              <a:t>eg.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bubble sort, insertion sort, quick sort etc)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I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Non-Adaptive Sorting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: (</a:t>
            </a:r>
            <a:r>
              <a:rPr lang="en-IN" sz="1800" b="0" i="0" dirty="0" err="1">
                <a:solidFill>
                  <a:schemeClr val="tx1"/>
                </a:solidFill>
                <a:effectLst/>
                <a:latin typeface="+mn-lt"/>
              </a:rPr>
              <a:t>eg.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selection sort, merge sort, heap sort etc.)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en-I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just"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In-place/Outplace technique –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en-IN" sz="1800" b="0" i="0" dirty="0" err="1">
                <a:solidFill>
                  <a:schemeClr val="tx1"/>
                </a:solidFill>
                <a:effectLst/>
                <a:latin typeface="+mn-lt"/>
              </a:rPr>
              <a:t>eg.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in comparison based techniques mentioned above only merge sort is outplaced. Among the non-comparison based techniques mentioned above all are outplaced techniques.</a:t>
            </a:r>
            <a:endParaRPr lang="en-IN" sz="1350" b="0" i="0" dirty="0">
              <a:solidFill>
                <a:srgbClr val="444444"/>
              </a:solidFill>
              <a:effectLst/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299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A4205741-C7D7-7310-D1D4-CB777F9E53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2478" y="310227"/>
            <a:ext cx="6347714" cy="106137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z="4400" b="1" dirty="0"/>
              <a:t>Insertion Sort</a:t>
            </a:r>
          </a:p>
          <a:p>
            <a:pPr marL="0" indent="0">
              <a:buFontTx/>
              <a:buNone/>
            </a:pPr>
            <a:endParaRPr lang="en-US" altLang="en-US" sz="4400" b="1" dirty="0"/>
          </a:p>
          <a:p>
            <a:pPr marL="0" indent="0">
              <a:buFontTx/>
              <a:buNone/>
            </a:pPr>
            <a:endParaRPr lang="en-IN" altLang="en-US" sz="4400" b="1" dirty="0"/>
          </a:p>
        </p:txBody>
      </p:sp>
      <p:pic>
        <p:nvPicPr>
          <p:cNvPr id="7172" name="Picture 3" descr="Insertion sort sketchy, before insertion">
            <a:extLst>
              <a:ext uri="{FF2B5EF4-FFF2-40B4-BE49-F238E27FC236}">
                <a16:creationId xmlns:a16="http://schemas.microsoft.com/office/drawing/2014/main" id="{BFB6F42E-7CC7-EB12-93A5-BDEB9A27F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286000"/>
            <a:ext cx="63246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4" descr="Insertion sort sketchy, after insertion">
            <a:extLst>
              <a:ext uri="{FF2B5EF4-FFF2-40B4-BE49-F238E27FC236}">
                <a16:creationId xmlns:a16="http://schemas.microsoft.com/office/drawing/2014/main" id="{334087FC-1DD6-9B7C-0B8A-0CA8CA76A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4419600"/>
            <a:ext cx="6248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7CDB325-F9EE-4C57-E6F2-7BF81E25B1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-26988"/>
            <a:ext cx="8229600" cy="685801"/>
          </a:xfrm>
        </p:spPr>
        <p:txBody>
          <a:bodyPr/>
          <a:lstStyle/>
          <a:p>
            <a:r>
              <a:rPr lang="en-US" altLang="en-US" dirty="0"/>
              <a:t>Insertion Sort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F1AE931-6FD2-0470-2B46-0CD6F0A4AE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836613"/>
            <a:ext cx="8785100" cy="5400699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Strategy:  Insertion of an element in proper order: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</a:pPr>
            <a:r>
              <a:rPr lang="en-US" altLang="en-US" sz="2000" dirty="0"/>
              <a:t>Begin with a sequence E of n elements in arbitrary order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</a:pPr>
            <a:r>
              <a:rPr lang="en-US" altLang="en-US" sz="2000" dirty="0"/>
              <a:t>Initially assume the sorted segment contains first element</a:t>
            </a:r>
          </a:p>
          <a:p>
            <a:pPr marL="457200" lvl="1" indent="0" algn="just">
              <a:lnSpc>
                <a:spcPct val="150000"/>
              </a:lnSpc>
              <a:spcBef>
                <a:spcPct val="0"/>
              </a:spcBef>
              <a:buNone/>
            </a:pPr>
            <a:endParaRPr lang="en-US" altLang="en-US" sz="2000" dirty="0"/>
          </a:p>
          <a:p>
            <a:pPr lvl="1" algn="just">
              <a:spcBef>
                <a:spcPct val="0"/>
              </a:spcBef>
            </a:pPr>
            <a:r>
              <a:rPr lang="en-US" altLang="en-US" sz="2000" dirty="0"/>
              <a:t>Let x be the next element to be inserted in sorted segment, pull x “out of the way”, leaving a vacancy</a:t>
            </a:r>
          </a:p>
          <a:p>
            <a:pPr lvl="1" algn="just">
              <a:spcBef>
                <a:spcPct val="0"/>
              </a:spcBef>
            </a:pPr>
            <a:endParaRPr lang="en-US" altLang="en-US" sz="2000" dirty="0"/>
          </a:p>
          <a:p>
            <a:pPr lvl="1" algn="just">
              <a:spcBef>
                <a:spcPct val="0"/>
              </a:spcBef>
            </a:pPr>
            <a:r>
              <a:rPr lang="en-US" altLang="en-US" sz="2000" dirty="0"/>
              <a:t>repeatedly compare x to the element just to the left of the vacancy, and as long as x is smaller, move that element into the vacancy, </a:t>
            </a:r>
          </a:p>
          <a:p>
            <a:pPr lvl="1" algn="just">
              <a:spcBef>
                <a:spcPct val="0"/>
              </a:spcBef>
            </a:pPr>
            <a:endParaRPr lang="en-US" altLang="en-US" sz="2000" dirty="0"/>
          </a:p>
          <a:p>
            <a:pPr lvl="1" algn="just">
              <a:lnSpc>
                <a:spcPct val="150000"/>
              </a:lnSpc>
              <a:spcBef>
                <a:spcPct val="0"/>
              </a:spcBef>
            </a:pPr>
            <a:r>
              <a:rPr lang="en-US" altLang="en-US" sz="2000" dirty="0"/>
              <a:t>else put x in the vacancy,</a:t>
            </a:r>
          </a:p>
          <a:p>
            <a:pPr marL="457200" lvl="1" indent="0" algn="just">
              <a:lnSpc>
                <a:spcPct val="150000"/>
              </a:lnSpc>
              <a:spcBef>
                <a:spcPct val="0"/>
              </a:spcBef>
              <a:buNone/>
            </a:pPr>
            <a:endParaRPr lang="en-US" altLang="en-US" sz="2000" dirty="0"/>
          </a:p>
          <a:p>
            <a:pPr lvl="1" algn="just">
              <a:lnSpc>
                <a:spcPct val="150000"/>
              </a:lnSpc>
              <a:spcBef>
                <a:spcPct val="0"/>
              </a:spcBef>
            </a:pPr>
            <a:r>
              <a:rPr lang="en-US" altLang="en-US" sz="2000" dirty="0"/>
              <a:t>repeat the next element that has not yet examined.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FF55500-DAF7-AC89-2D75-58E47A99C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4" y="84137"/>
            <a:ext cx="8229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Insertion Sort</a:t>
            </a:r>
          </a:p>
        </p:txBody>
      </p:sp>
      <p:sp>
        <p:nvSpPr>
          <p:cNvPr id="9218" name="Date Placeholder 2">
            <a:extLst>
              <a:ext uri="{FF2B5EF4-FFF2-40B4-BE49-F238E27FC236}">
                <a16:creationId xmlns:a16="http://schemas.microsoft.com/office/drawing/2014/main" id="{6338881B-98C3-7AE5-EB7F-2742CCDF53E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6727825" y="6408738"/>
            <a:ext cx="1919288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61712A6-3E00-412E-855F-FCD13BF51B2E}" type="datetime1">
              <a:rPr kumimoji="0" lang="en-US" altLang="en-US" sz="2400"/>
              <a:pPr>
                <a:spcBef>
                  <a:spcPct val="0"/>
                </a:spcBef>
                <a:buClrTx/>
                <a:buFontTx/>
                <a:buNone/>
              </a:pPr>
              <a:t>9/21/2026</a:t>
            </a:fld>
            <a:endParaRPr kumimoji="0" lang="en-US" altLang="en-US" sz="2400"/>
          </a:p>
        </p:txBody>
      </p:sp>
      <p:sp>
        <p:nvSpPr>
          <p:cNvPr id="9219" name="Slide Number Placeholder 4">
            <a:extLst>
              <a:ext uri="{FF2B5EF4-FFF2-40B4-BE49-F238E27FC236}">
                <a16:creationId xmlns:a16="http://schemas.microsoft.com/office/drawing/2014/main" id="{14E18573-62C8-3EA4-C7D7-573CE7B16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A8874E5-EC7A-44C9-92CF-FAEAA0B53028}" type="slidenum">
              <a:rPr kumimoji="0" lang="en-US" altLang="en-US" sz="2400"/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kumimoji="0" lang="en-US" altLang="en-US" sz="2400"/>
          </a:p>
        </p:txBody>
      </p:sp>
      <p:pic>
        <p:nvPicPr>
          <p:cNvPr id="9221" name="Picture 6" descr="Insertion sort example">
            <a:extLst>
              <a:ext uri="{FF2B5EF4-FFF2-40B4-BE49-F238E27FC236}">
                <a16:creationId xmlns:a16="http://schemas.microsoft.com/office/drawing/2014/main" id="{9417A072-2436-FEF5-0927-DC36F8024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" y="836712"/>
            <a:ext cx="8618537" cy="566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087BB-83E9-D94E-EB43-1EC055A45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26" y="404664"/>
            <a:ext cx="7297733" cy="5040560"/>
          </a:xfrm>
        </p:spPr>
        <p:txBody>
          <a:bodyPr>
            <a:normAutofit/>
          </a:bodyPr>
          <a:lstStyle/>
          <a:p>
            <a:pPr marL="0" indent="0">
              <a:buFontTx/>
              <a:buNone/>
              <a:defRPr/>
            </a:pPr>
            <a:r>
              <a:rPr lang="en-IN" sz="2400" b="1" dirty="0"/>
              <a:t>Insertion Sort</a:t>
            </a:r>
            <a:r>
              <a:rPr lang="en-IN" sz="2400" dirty="0"/>
              <a:t> (A)</a:t>
            </a:r>
          </a:p>
          <a:p>
            <a:pPr marL="0" indent="0">
              <a:buFontTx/>
              <a:buNone/>
              <a:defRPr/>
            </a:pPr>
            <a:r>
              <a:rPr lang="en-IN" sz="2400" dirty="0"/>
              <a:t>for j=2 to </a:t>
            </a:r>
            <a:r>
              <a:rPr lang="en-IN" sz="2400" dirty="0" err="1"/>
              <a:t>A.length</a:t>
            </a:r>
            <a:endParaRPr lang="en-IN" sz="2400" dirty="0"/>
          </a:p>
          <a:p>
            <a:pPr marL="0" indent="0">
              <a:buFontTx/>
              <a:buNone/>
              <a:defRPr/>
            </a:pPr>
            <a:r>
              <a:rPr lang="en-IN" sz="2400" dirty="0"/>
              <a:t>    key = A[j]</a:t>
            </a:r>
          </a:p>
          <a:p>
            <a:pPr marL="0" indent="0">
              <a:buFontTx/>
              <a:buNone/>
              <a:defRPr/>
            </a:pPr>
            <a:r>
              <a:rPr lang="en-IN" sz="2400" dirty="0"/>
              <a:t>    //insert A[j] into sorted sequence A[1..j-1]</a:t>
            </a:r>
          </a:p>
          <a:p>
            <a:pPr marL="0" indent="0">
              <a:buFontTx/>
              <a:buNone/>
              <a:defRPr/>
            </a:pPr>
            <a:r>
              <a:rPr lang="en-IN" sz="2400" dirty="0"/>
              <a:t>    i=j-1</a:t>
            </a:r>
          </a:p>
          <a:p>
            <a:pPr marL="0" indent="0">
              <a:buFontTx/>
              <a:buNone/>
              <a:defRPr/>
            </a:pPr>
            <a:r>
              <a:rPr lang="en-IN" sz="2400" dirty="0"/>
              <a:t>   while (i&gt;0 and A[i] &gt; key )</a:t>
            </a:r>
          </a:p>
          <a:p>
            <a:pPr marL="0" indent="0">
              <a:buFontTx/>
              <a:buNone/>
              <a:defRPr/>
            </a:pPr>
            <a:r>
              <a:rPr lang="en-IN" sz="2400" dirty="0"/>
              <a:t>      A[i+1] =A [i]</a:t>
            </a:r>
          </a:p>
          <a:p>
            <a:pPr marL="0" indent="0">
              <a:buFontTx/>
              <a:buNone/>
              <a:defRPr/>
            </a:pPr>
            <a:r>
              <a:rPr lang="en-IN" sz="2400" dirty="0"/>
              <a:t>       i=i-1</a:t>
            </a:r>
          </a:p>
          <a:p>
            <a:pPr marL="0" indent="0">
              <a:buFontTx/>
              <a:buNone/>
              <a:defRPr/>
            </a:pPr>
            <a:r>
              <a:rPr lang="en-IN" sz="2400" dirty="0"/>
              <a:t> A[i+1]= key</a:t>
            </a:r>
          </a:p>
          <a:p>
            <a:pPr>
              <a:defRPr/>
            </a:pPr>
            <a:endParaRPr lang="en-IN" sz="2400" dirty="0"/>
          </a:p>
        </p:txBody>
      </p:sp>
      <p:pic>
        <p:nvPicPr>
          <p:cNvPr id="10243" name="Picture 3" descr="Insertion sort example">
            <a:extLst>
              <a:ext uri="{FF2B5EF4-FFF2-40B4-BE49-F238E27FC236}">
                <a16:creationId xmlns:a16="http://schemas.microsoft.com/office/drawing/2014/main" id="{1FAFE72C-C186-F4AD-14BE-F39909D00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068960"/>
            <a:ext cx="4470400" cy="3598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F9ADEEB-5F02-5826-2AAF-5CFEB55417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28600"/>
            <a:ext cx="6347713" cy="680120"/>
          </a:xfrm>
        </p:spPr>
        <p:txBody>
          <a:bodyPr/>
          <a:lstStyle/>
          <a:p>
            <a:r>
              <a:rPr lang="en-US" altLang="en-US"/>
              <a:t>Insertion Sort: Analysis</a:t>
            </a:r>
          </a:p>
        </p:txBody>
      </p:sp>
      <p:sp>
        <p:nvSpPr>
          <p:cNvPr id="370691" name="Rectangle 3">
            <a:extLst>
              <a:ext uri="{FF2B5EF4-FFF2-40B4-BE49-F238E27FC236}">
                <a16:creationId xmlns:a16="http://schemas.microsoft.com/office/drawing/2014/main" id="{E1BDC5E3-58DB-64E0-42BA-8AB35602DC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990600"/>
            <a:ext cx="8512175" cy="5638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/>
              <a:t>Worst-Case Complexity</a:t>
            </a:r>
          </a:p>
          <a:p>
            <a:pPr lvl="1">
              <a:defRPr/>
            </a:pPr>
            <a:r>
              <a:rPr lang="en-US" sz="2000" dirty="0"/>
              <a:t>W(n) = </a:t>
            </a:r>
            <a:r>
              <a:rPr lang="en-US" sz="2000" dirty="0">
                <a:sym typeface="Symbol" pitchFamily="18" charset="2"/>
              </a:rPr>
              <a:t>O</a:t>
            </a:r>
            <a:r>
              <a:rPr lang="en-US" sz="2000" dirty="0"/>
              <a:t>(n</a:t>
            </a:r>
            <a:r>
              <a:rPr lang="en-US" sz="2000" baseline="30000" dirty="0"/>
              <a:t>2</a:t>
            </a:r>
            <a:r>
              <a:rPr lang="en-US" sz="2000" dirty="0"/>
              <a:t>)</a:t>
            </a:r>
          </a:p>
          <a:p>
            <a:pPr lvl="1">
              <a:defRPr/>
            </a:pPr>
            <a:r>
              <a:rPr lang="en-US" sz="2000" dirty="0"/>
              <a:t>When the elements are in reversed order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en-US" sz="2000" dirty="0"/>
          </a:p>
          <a:p>
            <a:pPr>
              <a:defRPr/>
            </a:pPr>
            <a:r>
              <a:rPr lang="en-US" sz="2400" dirty="0"/>
              <a:t>Best Case </a:t>
            </a:r>
          </a:p>
          <a:p>
            <a:pPr lvl="1">
              <a:defRPr/>
            </a:pPr>
            <a:r>
              <a:rPr lang="en-US" sz="2000" dirty="0"/>
              <a:t>W(n) = </a:t>
            </a:r>
            <a:r>
              <a:rPr lang="en-US" sz="2000" dirty="0">
                <a:sym typeface="Symbol" pitchFamily="18" charset="2"/>
              </a:rPr>
              <a:t>Omega</a:t>
            </a:r>
            <a:r>
              <a:rPr lang="en-US" sz="2000" dirty="0"/>
              <a:t>(n)</a:t>
            </a:r>
          </a:p>
          <a:p>
            <a:pPr lvl="1">
              <a:defRPr/>
            </a:pPr>
            <a:r>
              <a:rPr lang="en-US" sz="2000" dirty="0"/>
              <a:t>When the elements are already sorted in ascending order</a:t>
            </a: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AB5AB0CD-6D21-4D52-972C-84FEC33778AA}"/>
              </a:ext>
            </a:extLst>
          </p:cNvPr>
          <p:cNvSpPr txBox="1">
            <a:spLocks/>
          </p:cNvSpPr>
          <p:nvPr/>
        </p:nvSpPr>
        <p:spPr>
          <a:xfrm>
            <a:off x="338064" y="4409728"/>
            <a:ext cx="8424936" cy="2448272"/>
          </a:xfrm>
          <a:prstGeom prst="rect">
            <a:avLst/>
          </a:prstGeom>
        </p:spPr>
        <p:txBody>
          <a:bodyPr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>
              <a:defRPr/>
            </a:pPr>
            <a:r>
              <a:rPr lang="en-IN" sz="2400" dirty="0">
                <a:solidFill>
                  <a:schemeClr val="tx1"/>
                </a:solidFill>
                <a:effectLst/>
              </a:rPr>
              <a:t>Analysis 		[no of comparisons/movement ]</a:t>
            </a:r>
          </a:p>
          <a:p>
            <a:pPr>
              <a:defRPr/>
            </a:pPr>
            <a:endParaRPr lang="en-IN" sz="2400" dirty="0">
              <a:solidFill>
                <a:schemeClr val="tx1"/>
              </a:solidFill>
              <a:effectLst/>
            </a:endParaRPr>
          </a:p>
          <a:p>
            <a:pPr>
              <a:defRPr/>
            </a:pPr>
            <a:r>
              <a:rPr lang="en-IN" sz="2400" dirty="0">
                <a:solidFill>
                  <a:schemeClr val="tx1"/>
                </a:solidFill>
                <a:effectLst/>
              </a:rPr>
              <a:t>F(n) = 1 + 2 + 3 + ………(n-3) +(n-2)+ (n-1)</a:t>
            </a:r>
          </a:p>
          <a:p>
            <a:pPr>
              <a:defRPr/>
            </a:pPr>
            <a:r>
              <a:rPr lang="en-IN" sz="2400" dirty="0">
                <a:solidFill>
                  <a:schemeClr val="tx1"/>
                </a:solidFill>
                <a:effectLst/>
              </a:rPr>
              <a:t>= n (n-1 ) / 2</a:t>
            </a:r>
          </a:p>
          <a:p>
            <a:pPr>
              <a:defRPr/>
            </a:pPr>
            <a:r>
              <a:rPr lang="en-IN" sz="2400" dirty="0">
                <a:solidFill>
                  <a:schemeClr val="tx1"/>
                </a:solidFill>
                <a:effectLst/>
              </a:rPr>
              <a:t>= O (n</a:t>
            </a:r>
            <a:r>
              <a:rPr lang="en-IN" sz="2400" baseline="30000" dirty="0">
                <a:solidFill>
                  <a:schemeClr val="tx1"/>
                </a:solidFill>
                <a:effectLst/>
              </a:rPr>
              <a:t>2</a:t>
            </a:r>
            <a:r>
              <a:rPr lang="en-IN" sz="2400" dirty="0">
                <a:solidFill>
                  <a:schemeClr val="tx1"/>
                </a:solidFill>
                <a:effectLst/>
              </a:rPr>
              <a:t> ) </a:t>
            </a:r>
            <a:endParaRPr lang="en-IN" sz="2400" baseline="30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59F55-A2A3-CD5C-DDCD-A33141D8E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692696"/>
            <a:ext cx="8208912" cy="5616624"/>
          </a:xfrm>
        </p:spPr>
        <p:txBody>
          <a:bodyPr>
            <a:normAutofit/>
          </a:bodyPr>
          <a:lstStyle/>
          <a:p>
            <a:pPr marL="0" indent="0">
              <a:buFontTx/>
              <a:buNone/>
              <a:defRPr/>
            </a:pPr>
            <a:r>
              <a:rPr lang="en-IN" sz="2400" b="1" dirty="0">
                <a:solidFill>
                  <a:schemeClr val="accent2"/>
                </a:solidFill>
              </a:rPr>
              <a:t>Improvement Analysis</a:t>
            </a:r>
          </a:p>
          <a:p>
            <a:pPr marL="0" indent="0">
              <a:buFontTx/>
              <a:buNone/>
              <a:defRPr/>
            </a:pPr>
            <a:r>
              <a:rPr lang="en-IN" sz="2400" dirty="0"/>
              <a:t>(by reducing number of</a:t>
            </a:r>
            <a:r>
              <a:rPr lang="en-IN" sz="2400" b="1" i="1" u="sng" dirty="0"/>
              <a:t> comparisons </a:t>
            </a:r>
            <a:r>
              <a:rPr lang="en-IN" sz="2400" dirty="0"/>
              <a:t>and </a:t>
            </a:r>
            <a:r>
              <a:rPr lang="en-IN" sz="2400" b="1" i="1" u="sng" dirty="0"/>
              <a:t>movement</a:t>
            </a:r>
            <a:r>
              <a:rPr lang="en-IN" sz="2400" dirty="0"/>
              <a:t>)</a:t>
            </a:r>
          </a:p>
          <a:p>
            <a:pPr marL="0" indent="0">
              <a:buFontTx/>
              <a:buNone/>
              <a:defRPr/>
            </a:pPr>
            <a:endParaRPr lang="en-IN" sz="2400" dirty="0"/>
          </a:p>
          <a:p>
            <a:pPr marL="0" indent="0">
              <a:buFontTx/>
              <a:buNone/>
              <a:defRPr/>
            </a:pPr>
            <a:r>
              <a:rPr lang="en-IN" sz="2400" b="1" i="1" dirty="0">
                <a:solidFill>
                  <a:schemeClr val="accent4"/>
                </a:solidFill>
              </a:rPr>
              <a:t>Reduce number of Comparison</a:t>
            </a:r>
          </a:p>
          <a:p>
            <a:pPr>
              <a:buFontTx/>
              <a:buChar char="-"/>
              <a:defRPr/>
            </a:pPr>
            <a:r>
              <a:rPr lang="en-IN" sz="2400" dirty="0"/>
              <a:t>Apply binary search</a:t>
            </a:r>
          </a:p>
          <a:p>
            <a:pPr>
              <a:buFontTx/>
              <a:buChar char="-"/>
              <a:defRPr/>
            </a:pPr>
            <a:endParaRPr lang="en-IN" sz="2400" dirty="0"/>
          </a:p>
          <a:p>
            <a:pPr marL="0" indent="0">
              <a:buFontTx/>
              <a:buNone/>
              <a:defRPr/>
            </a:pPr>
            <a:r>
              <a:rPr lang="en-IN" sz="2400" b="1" i="1" dirty="0">
                <a:solidFill>
                  <a:schemeClr val="accent4"/>
                </a:solidFill>
              </a:rPr>
              <a:t>Reduce number of Movement</a:t>
            </a:r>
          </a:p>
          <a:p>
            <a:pPr>
              <a:buFontTx/>
              <a:buChar char="-"/>
              <a:defRPr/>
            </a:pPr>
            <a:r>
              <a:rPr lang="en-IN" sz="2400" dirty="0"/>
              <a:t>-Implement doubly linked list</a:t>
            </a:r>
          </a:p>
          <a:p>
            <a:pPr>
              <a:buFontTx/>
              <a:buChar char="-"/>
              <a:defRPr/>
            </a:pPr>
            <a:endParaRPr lang="en-IN" sz="2400" dirty="0"/>
          </a:p>
          <a:p>
            <a:pPr>
              <a:buFontTx/>
              <a:buChar char="-"/>
              <a:defRPr/>
            </a:pPr>
            <a:r>
              <a:rPr lang="en-IN" sz="2400" dirty="0"/>
              <a:t>cannot make total running time better than O(n</a:t>
            </a:r>
            <a:r>
              <a:rPr lang="en-IN" sz="2400" baseline="30000" dirty="0"/>
              <a:t>2</a:t>
            </a:r>
            <a:r>
              <a:rPr lang="en-IN" sz="2400" dirty="0"/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BA13B-7E49-A5A8-EF49-64C7A9AD0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338" y="1484313"/>
            <a:ext cx="8255000" cy="1287462"/>
          </a:xfrm>
        </p:spPr>
        <p:txBody>
          <a:bodyPr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FontTx/>
              <a:buNone/>
              <a:defRPr/>
            </a:pPr>
            <a:r>
              <a:rPr lang="en-IN" sz="2000" b="1" dirty="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Insertion Sort Analysis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FontTx/>
              <a:buNone/>
              <a:defRPr/>
            </a:pPr>
            <a:r>
              <a:rPr lang="en-IN" sz="1800" dirty="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https://youtu.be/jikkNiuR2CQ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defRPr/>
            </a:pPr>
            <a:endParaRPr lang="en-IN" dirty="0"/>
          </a:p>
        </p:txBody>
      </p:sp>
      <p:sp>
        <p:nvSpPr>
          <p:cNvPr id="13315" name="TextBox 3">
            <a:extLst>
              <a:ext uri="{FF2B5EF4-FFF2-40B4-BE49-F238E27FC236}">
                <a16:creationId xmlns:a16="http://schemas.microsoft.com/office/drawing/2014/main" id="{D00446E2-D936-2FAF-A1CF-7E789BC5B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33375"/>
            <a:ext cx="63357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2400"/>
              <a:t>Video Lecture of the topic can be found at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21959</TotalTime>
  <Words>622</Words>
  <Application>Microsoft Office PowerPoint</Application>
  <PresentationFormat>On-screen Show (4:3)</PresentationFormat>
  <Paragraphs>89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Calibri</vt:lpstr>
      <vt:lpstr>Garamond</vt:lpstr>
      <vt:lpstr>PT Sans</vt:lpstr>
      <vt:lpstr>Rockwell</vt:lpstr>
      <vt:lpstr>Symbol</vt:lpstr>
      <vt:lpstr>Times New Roman</vt:lpstr>
      <vt:lpstr>Trebuchet MS</vt:lpstr>
      <vt:lpstr>Wingdings</vt:lpstr>
      <vt:lpstr>Wingdings 3</vt:lpstr>
      <vt:lpstr>Facet</vt:lpstr>
      <vt:lpstr>PowerPoint Presentation</vt:lpstr>
      <vt:lpstr>Application of Sorting</vt:lpstr>
      <vt:lpstr>PowerPoint Presentation</vt:lpstr>
      <vt:lpstr>PowerPoint Presentation</vt:lpstr>
      <vt:lpstr>Insertion Sort</vt:lpstr>
      <vt:lpstr>Insertion Sort</vt:lpstr>
      <vt:lpstr>PowerPoint Presentation</vt:lpstr>
      <vt:lpstr>Insertion Sort: Analysis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CS520 Advanced Analysis of Algorithms and Complexity</dc:title>
  <dc:creator>Adrian &amp; Wendy</dc:creator>
  <cp:lastModifiedBy>ASHISH SETH</cp:lastModifiedBy>
  <cp:revision>568</cp:revision>
  <cp:lastPrinted>1999-12-17T13:56:08Z</cp:lastPrinted>
  <dcterms:created xsi:type="dcterms:W3CDTF">1998-09-21T10:37:54Z</dcterms:created>
  <dcterms:modified xsi:type="dcterms:W3CDTF">2026-09-21T19:24:17Z</dcterms:modified>
</cp:coreProperties>
</file>