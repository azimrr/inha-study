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26"/>
  </p:notesMasterIdLst>
  <p:handoutMasterIdLst>
    <p:handoutMasterId r:id="rId27"/>
  </p:handoutMasterIdLst>
  <p:sldIdLst>
    <p:sldId id="502" r:id="rId2"/>
    <p:sldId id="493" r:id="rId3"/>
    <p:sldId id="500" r:id="rId4"/>
    <p:sldId id="506" r:id="rId5"/>
    <p:sldId id="489" r:id="rId6"/>
    <p:sldId id="499" r:id="rId7"/>
    <p:sldId id="451" r:id="rId8"/>
    <p:sldId id="452" r:id="rId9"/>
    <p:sldId id="487" r:id="rId10"/>
    <p:sldId id="485" r:id="rId11"/>
    <p:sldId id="484" r:id="rId12"/>
    <p:sldId id="504" r:id="rId13"/>
    <p:sldId id="503" r:id="rId14"/>
    <p:sldId id="505" r:id="rId15"/>
    <p:sldId id="486" r:id="rId16"/>
    <p:sldId id="496" r:id="rId17"/>
    <p:sldId id="494" r:id="rId18"/>
    <p:sldId id="498" r:id="rId19"/>
    <p:sldId id="491" r:id="rId20"/>
    <p:sldId id="492" r:id="rId21"/>
    <p:sldId id="488" r:id="rId22"/>
    <p:sldId id="497" r:id="rId23"/>
    <p:sldId id="507" r:id="rId24"/>
    <p:sldId id="501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5018" autoAdjust="0"/>
  </p:normalViewPr>
  <p:slideViewPr>
    <p:cSldViewPr>
      <p:cViewPr varScale="1">
        <p:scale>
          <a:sx n="70" d="100"/>
          <a:sy n="70" d="100"/>
        </p:scale>
        <p:origin x="1949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44" y="-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40758FFE-835A-A971-5BC8-0EA340EB31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ADCE2541-4DE2-A695-8FBE-283260DA0D3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C291CBE-A9A4-4BEE-AA45-7183A14164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24D6FF8-9745-BF59-1622-BF6D807CF1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CB75209-B947-2731-6CB7-DF08AA6A24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7B023CE-57A1-7012-7941-0F14ABDA22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C880FEDA-C296-01EF-F76D-93EE263B276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E08BCD44-C62A-78BD-A928-E97BBC9CFD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A16505C0-7856-226B-A4FF-071E7CA22D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00271D8-90D4-4886-BB58-270CEFC331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26C9C289-CD77-25AD-3345-CFA0190E3B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9DD28AAD-8102-B40D-7A05-AC23E0239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F52191F3-9200-CDBA-BECE-31D216C2DC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501CB43-8F1B-46B2-9749-1ADACE6D4BE6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815E49A-7E84-4041-AA24-2B161AF6D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E6058881-AD4B-A38B-1731-EBD9617E9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A4B72E6-BAA9-8220-6F8E-EC44BE5A0E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FF73FC-98C7-4C53-A605-D8700A3D6172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CBC9C2F-3C6C-E925-92ED-D7F6BB46E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42F34FA8-6F05-57B4-33DA-26AFCE0FB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FE230F16-C300-3782-7550-1154B2A6E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7D4B73-FC78-4DFC-A024-A8F29753A550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">
            <a:extLst>
              <a:ext uri="{FF2B5EF4-FFF2-40B4-BE49-F238E27FC236}">
                <a16:creationId xmlns:a16="http://schemas.microsoft.com/office/drawing/2014/main" id="{6A1E6DD6-6F79-596F-C861-AE20C6A400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3" name="Line 9">
            <a:extLst>
              <a:ext uri="{FF2B5EF4-FFF2-40B4-BE49-F238E27FC236}">
                <a16:creationId xmlns:a16="http://schemas.microsoft.com/office/drawing/2014/main" id="{DE4D18E1-A2AE-5366-2B34-F571DC8F45D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E0E2B396-733D-E246-7F64-8095DD5330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29200" y="4038600"/>
            <a:ext cx="4114800" cy="4132263"/>
          </a:xfrm>
          <a:prstGeom prst="diamond">
            <a:avLst/>
          </a:prstGeom>
          <a:solidFill>
            <a:srgbClr val="00FFFF">
              <a:alpha val="50195"/>
            </a:srgbClr>
          </a:solidFill>
          <a:ln>
            <a:noFill/>
          </a:ln>
          <a:effectLst/>
        </p:spPr>
        <p:txBody>
          <a:bodyPr wrap="none" t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altLang="en-US" sz="4400" u="sng">
                <a:solidFill>
                  <a:srgbClr val="A50021"/>
                </a:solidFill>
                <a:latin typeface="Garamond" panose="02020404030301010803" pitchFamily="18" charset="0"/>
              </a:rPr>
              <a:t>TECH</a:t>
            </a:r>
            <a:r>
              <a:rPr lang="en-US" altLang="en-US" sz="4800" u="sng">
                <a:solidFill>
                  <a:srgbClr val="A50021"/>
                </a:solidFill>
                <a:latin typeface="Garamond" panose="02020404030301010803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en-US" sz="2800">
                <a:solidFill>
                  <a:srgbClr val="006666"/>
                </a:solidFill>
                <a:latin typeface="Garamond" panose="02020404030301010803" pitchFamily="18" charset="0"/>
              </a:rPr>
              <a:t>Computer Science</a:t>
            </a:r>
            <a:endParaRPr lang="en-US" altLang="en-US" sz="1800">
              <a:solidFill>
                <a:srgbClr val="006666"/>
              </a:solidFill>
              <a:latin typeface="Garamond" panose="02020404030301010803" pitchFamily="18" charset="0"/>
            </a:endParaRPr>
          </a:p>
        </p:txBody>
      </p:sp>
      <p:sp>
        <p:nvSpPr>
          <p:cNvPr id="49166" name="Rectangle 14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916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1000" y="1066800"/>
            <a:ext cx="8229600" cy="5638800"/>
          </a:xfrm>
        </p:spPr>
        <p:txBody>
          <a:bodyPr/>
          <a:lstStyle>
            <a:lvl1pPr marL="282575" indent="-282575">
              <a:defRPr/>
            </a:lvl1pPr>
            <a:lvl2pPr marL="800100" lvl="1" indent="-403225">
              <a:defRPr/>
            </a:lvl2pPr>
            <a:lvl3pPr marL="1200150" lvl="2" indent="-285750">
              <a:defRPr/>
            </a:lvl3pPr>
            <a:lvl4pPr marL="1598613" lvl="3" indent="-222250">
              <a:defRPr/>
            </a:lvl4pPr>
            <a:lvl5pPr lvl="4" indent="-280988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>
                <a:sym typeface="MT Extra" pitchFamily="18" charset="2"/>
              </a:rPr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59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87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536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47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1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7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1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00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153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592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07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228600"/>
            <a:ext cx="20637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388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1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351274B8-2811-BAE8-E43D-8E9879A07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4389B5E7-9F98-9674-4744-77A64091A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255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>
                <a:sym typeface="MT Extra" panose="05050102010205020202" pitchFamily="18" charset="2"/>
              </a:rPr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4FC297E8-A5F4-585A-EA45-9ECCCEDD26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1029" name="Line 11">
            <a:extLst>
              <a:ext uri="{FF2B5EF4-FFF2-40B4-BE49-F238E27FC236}">
                <a16:creationId xmlns:a16="http://schemas.microsoft.com/office/drawing/2014/main" id="{5DCB3DDA-F2D4-5C43-6F5E-8A34F182032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Q"/>
        <a:defRPr kumimoji="1" sz="2400" b="1">
          <a:solidFill>
            <a:schemeClr val="tx1"/>
          </a:solidFill>
          <a:latin typeface="+mn-lt"/>
          <a:sym typeface="MT Extra" panose="05050102010205020202" pitchFamily="18" charset="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T Extra" panose="05050102010205020202" pitchFamily="18" charset="2"/>
        <a:buChar char="f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CQO2OP1_TI&amp;t=5s" TargetMode="External"/><Relationship Id="rId2" Type="http://schemas.openxmlformats.org/officeDocument/2006/relationships/hyperlink" Target="https://www.youtube.com/watch?v=phYfC_NqfH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_UZ1gf0M0GM" TargetMode="External"/><Relationship Id="rId5" Type="http://schemas.openxmlformats.org/officeDocument/2006/relationships/hyperlink" Target="https://youtu.be/jCKWkFTZwCk" TargetMode="External"/><Relationship Id="rId4" Type="http://schemas.openxmlformats.org/officeDocument/2006/relationships/hyperlink" Target="https://www.youtube.com/watch?v=qcoqre-JHQ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4">
            <a:extLst>
              <a:ext uri="{FF2B5EF4-FFF2-40B4-BE49-F238E27FC236}">
                <a16:creationId xmlns:a16="http://schemas.microsoft.com/office/drawing/2014/main" id="{FDB50524-AD53-8DBF-27EF-38EFD494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349500"/>
            <a:ext cx="4572000" cy="768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4400"/>
              <a:t>Heap and Heapsort</a:t>
            </a:r>
            <a:endParaRPr kumimoji="0" lang="en-IN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F40A3F-5ACF-7ED8-3EEF-AAD7A3449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1800"/>
              <a:t>Performance of certain operations with different data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46F6F8-9452-A149-5E42-1265989149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1550" y="3500438"/>
          <a:ext cx="7451726" cy="275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321">
                <a:tc>
                  <a:txBody>
                    <a:bodyPr/>
                    <a:lstStyle/>
                    <a:p>
                      <a:r>
                        <a:rPr lang="en-IN" sz="1800" dirty="0"/>
                        <a:t>Array</a:t>
                      </a:r>
                      <a:r>
                        <a:rPr lang="en-IN" sz="1800" baseline="0" dirty="0"/>
                        <a:t> Input</a:t>
                      </a: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Insert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Search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Find Minimum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Delete</a:t>
                      </a:r>
                      <a:r>
                        <a:rPr lang="en-IN" sz="1800" baseline="0" dirty="0"/>
                        <a:t> (Min)</a:t>
                      </a: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Unsorted array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Sorted Array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3">
                <a:tc>
                  <a:txBody>
                    <a:bodyPr/>
                    <a:lstStyle/>
                    <a:p>
                      <a:r>
                        <a:rPr lang="en-IN" sz="1800" dirty="0"/>
                        <a:t>Unsorted Linked List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Heap(Min)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18493D0E-3AB1-C1B2-494E-AF5FB7D53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1800"/>
              <a:t>Performance of certain operations with different data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FA49B0-4FDA-A087-4E3B-DF0E94523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434801"/>
              </p:ext>
            </p:extLst>
          </p:nvPr>
        </p:nvGraphicFramePr>
        <p:xfrm>
          <a:off x="1043608" y="2708920"/>
          <a:ext cx="7451726" cy="275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321">
                <a:tc>
                  <a:txBody>
                    <a:bodyPr/>
                    <a:lstStyle/>
                    <a:p>
                      <a:r>
                        <a:rPr lang="en-IN" sz="1800" dirty="0"/>
                        <a:t>Array</a:t>
                      </a:r>
                      <a:r>
                        <a:rPr lang="en-IN" sz="1800" baseline="0" dirty="0"/>
                        <a:t> Input</a:t>
                      </a:r>
                      <a:endParaRPr lang="en-IN" sz="1800" dirty="0"/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Insert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Search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Find Minimum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Delete</a:t>
                      </a:r>
                      <a:r>
                        <a:rPr lang="en-IN" sz="1800" baseline="0" dirty="0"/>
                        <a:t> (Min)</a:t>
                      </a:r>
                      <a:endParaRPr lang="en-IN" sz="1800" dirty="0"/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Unsorted array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 0(1)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Sorted Array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0(log</a:t>
                      </a:r>
                      <a:r>
                        <a:rPr lang="en-IN" sz="1800" baseline="0" dirty="0"/>
                        <a:t> n</a:t>
                      </a:r>
                      <a:r>
                        <a:rPr lang="en-IN" sz="1800" dirty="0"/>
                        <a:t>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0(1)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3">
                <a:tc>
                  <a:txBody>
                    <a:bodyPr/>
                    <a:lstStyle/>
                    <a:p>
                      <a:r>
                        <a:rPr lang="en-IN" sz="1800" dirty="0"/>
                        <a:t>Unsorted Linked List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0(1)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0(n)</a:t>
                      </a:r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34">
                <a:tc>
                  <a:txBody>
                    <a:bodyPr/>
                    <a:lstStyle/>
                    <a:p>
                      <a:r>
                        <a:rPr lang="en-IN" sz="1800" dirty="0"/>
                        <a:t>Heap(Min)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0(log</a:t>
                      </a:r>
                      <a:r>
                        <a:rPr lang="en-IN" sz="1800" baseline="0" dirty="0"/>
                        <a:t> n</a:t>
                      </a:r>
                      <a:r>
                        <a:rPr lang="en-IN" sz="1800" dirty="0"/>
                        <a:t>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0(log</a:t>
                      </a:r>
                      <a:r>
                        <a:rPr lang="en-IN" sz="1800" baseline="0" dirty="0"/>
                        <a:t> n</a:t>
                      </a:r>
                      <a:r>
                        <a:rPr lang="en-IN" sz="1800" dirty="0"/>
                        <a:t>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0(1)</a:t>
                      </a:r>
                    </a:p>
                  </a:txBody>
                  <a:tcPr marL="91423" marR="91423" marT="45705" marB="4570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0(1)</a:t>
                      </a:r>
                    </a:p>
                  </a:txBody>
                  <a:tcPr marL="91423" marR="91423" marT="45705" marB="457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C0343B-70CD-3D0F-B04E-CCE9D1F865C4}"/>
              </a:ext>
            </a:extLst>
          </p:cNvPr>
          <p:cNvSpPr txBox="1"/>
          <p:nvPr/>
        </p:nvSpPr>
        <p:spPr>
          <a:xfrm>
            <a:off x="251520" y="3212976"/>
            <a:ext cx="3672408" cy="31166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</a:pPr>
            <a:r>
              <a:rPr lang="en-US" sz="2000" b="1" i="0" dirty="0">
                <a:solidFill>
                  <a:srgbClr val="001D35"/>
                </a:solidFill>
                <a:effectLst/>
                <a:latin typeface="Google Sans"/>
              </a:rPr>
              <a:t>Complete Binary Tree:</a:t>
            </a:r>
            <a:endParaRPr lang="en-US" sz="20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 binary tree is considered complete if all levels are completely filled, except possibly the last level. 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If the last level is not completely filled, 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Google Sans"/>
              </a:rPr>
              <a:t>all nodes in that level must be as far left as possible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There cannot be any gaps in the filling of nodes from left to right on the last level.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E62E7-C2BA-6414-EE8F-E2AD8BC77C60}"/>
              </a:ext>
            </a:extLst>
          </p:cNvPr>
          <p:cNvSpPr txBox="1"/>
          <p:nvPr/>
        </p:nvSpPr>
        <p:spPr>
          <a:xfrm>
            <a:off x="4211960" y="4005064"/>
            <a:ext cx="4572000" cy="2756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Bef>
                <a:spcPts val="750"/>
              </a:spcBef>
              <a:spcAft>
                <a:spcPts val="1500"/>
              </a:spcAft>
            </a:pPr>
            <a:r>
              <a:rPr lang="en-US" sz="2000" b="1" i="0" dirty="0">
                <a:solidFill>
                  <a:srgbClr val="001D35"/>
                </a:solidFill>
                <a:effectLst/>
                <a:latin typeface="Google Sans"/>
              </a:rPr>
              <a:t>Perfect Binary Tree:</a:t>
            </a:r>
            <a:endParaRPr lang="en-US" sz="20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 perfect binary tree is a special type of binary 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Google Sans"/>
              </a:rPr>
              <a:t>tree that is both full and complete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All internal nodes have exactly two children, and all leaf nodes are at the same level (depth). 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This implies that all levels of the tree are completely filled.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56B1A-F803-C880-EB52-80930999058C}"/>
              </a:ext>
            </a:extLst>
          </p:cNvPr>
          <p:cNvSpPr txBox="1"/>
          <p:nvPr/>
        </p:nvSpPr>
        <p:spPr>
          <a:xfrm>
            <a:off x="4211960" y="1556792"/>
            <a:ext cx="4572000" cy="21798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</a:pPr>
            <a:r>
              <a:rPr lang="en-US" sz="2000" b="1" i="0" dirty="0">
                <a:solidFill>
                  <a:srgbClr val="001D35"/>
                </a:solidFill>
                <a:effectLst/>
                <a:latin typeface="Google Sans"/>
              </a:rPr>
              <a:t>Full Binary Tree:</a:t>
            </a:r>
            <a:endParaRPr lang="en-US" sz="20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 binary tree is considered full if every 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Google Sans"/>
              </a:rPr>
              <a:t>node has either zero or two children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In other words, no node in a full binary tree can have only one child.</a:t>
            </a:r>
          </a:p>
          <a:p>
            <a:pPr algn="just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All internal nodes (non-leaf nodes) must have exactly two children.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44BA9-CD70-6957-4FD6-178044529F1C}"/>
              </a:ext>
            </a:extLst>
          </p:cNvPr>
          <p:cNvSpPr txBox="1"/>
          <p:nvPr/>
        </p:nvSpPr>
        <p:spPr>
          <a:xfrm>
            <a:off x="359296" y="1772816"/>
            <a:ext cx="3334952" cy="103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750"/>
              </a:spcAft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Binary trees can be categorized based on specific structural properties: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0564A9C-14D1-6519-AA0B-2E06F6EE00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82540"/>
            <a:ext cx="7056784" cy="12999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89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8CCD8F11-2BD5-D7C7-82DD-2424428862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537" y="188640"/>
            <a:ext cx="8209036" cy="23634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2">
            <a:extLst>
              <a:ext uri="{FF2B5EF4-FFF2-40B4-BE49-F238E27FC236}">
                <a16:creationId xmlns:a16="http://schemas.microsoft.com/office/drawing/2014/main" id="{85A2F78A-8E18-6161-DC82-EEC77B97A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1888" y="2781300"/>
            <a:ext cx="6824662" cy="40322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80878EF-52D5-9F2C-2179-0F16F9F899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20663"/>
            <a:ext cx="8351838" cy="1768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D3DC3071-DD4C-ED29-FC4D-E0CC05EAC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565400"/>
            <a:ext cx="7343775" cy="392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8EF8C4E-3170-75C9-804D-441AEDD61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4180C5A-D13B-5F14-FD48-D953C5F3B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512175" cy="56388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/>
              <a:t>A Heap data structure is a binary tree with special properties:</a:t>
            </a:r>
          </a:p>
          <a:p>
            <a:pPr lvl="1">
              <a:defRPr/>
            </a:pPr>
            <a:r>
              <a:rPr lang="en-US" sz="2000" dirty="0"/>
              <a:t>Heap Structure </a:t>
            </a:r>
          </a:p>
          <a:p>
            <a:pPr lvl="1">
              <a:defRPr/>
            </a:pPr>
            <a:r>
              <a:rPr lang="en-US" sz="2000" dirty="0"/>
              <a:t>Partial order tree property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Definition: Heap Structure</a:t>
            </a:r>
          </a:p>
          <a:p>
            <a:pPr lvl="1">
              <a:defRPr/>
            </a:pPr>
            <a:r>
              <a:rPr lang="en-US" sz="2000" dirty="0"/>
              <a:t>A binary tree T is a heap structure if and only if it satisfies the following conditions: (h = height of the tree)</a:t>
            </a:r>
          </a:p>
          <a:p>
            <a:pPr lvl="2">
              <a:defRPr/>
            </a:pPr>
            <a:r>
              <a:rPr lang="en-US" sz="1800" dirty="0"/>
              <a:t>1. T is complete </a:t>
            </a:r>
          </a:p>
          <a:p>
            <a:pPr lvl="2">
              <a:defRPr/>
            </a:pPr>
            <a:r>
              <a:rPr lang="en-US" sz="1800" dirty="0"/>
              <a:t>2. All leaves are at depth h or h –1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400" dirty="0"/>
              <a:t>Definition: Partial order tree property</a:t>
            </a:r>
          </a:p>
          <a:p>
            <a:pPr lvl="1">
              <a:defRPr/>
            </a:pPr>
            <a:r>
              <a:rPr lang="en-US" sz="2000" dirty="0"/>
              <a:t>A tree T is a (maximizing) partial order tree if and only if the key at any node is greater than or equal to  the keys at each of its children (if it has any)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27402FA-E490-78CA-2BB9-9AB95353A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0350"/>
            <a:ext cx="8229600" cy="685800"/>
          </a:xfrm>
        </p:spPr>
        <p:txBody>
          <a:bodyPr/>
          <a:lstStyle/>
          <a:p>
            <a:r>
              <a:rPr lang="en-US" altLang="en-US"/>
              <a:t>e.g. Heaps (or not)</a:t>
            </a:r>
          </a:p>
        </p:txBody>
      </p:sp>
      <p:pic>
        <p:nvPicPr>
          <p:cNvPr id="11267" name="Picture 4" descr="X:\nakul1\7image17.jpg">
            <a:extLst>
              <a:ext uri="{FF2B5EF4-FFF2-40B4-BE49-F238E27FC236}">
                <a16:creationId xmlns:a16="http://schemas.microsoft.com/office/drawing/2014/main" id="{26644B69-41D1-3B72-DFAA-38BB4B6F9285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5" t="2342" r="7562" b="12163"/>
          <a:stretch>
            <a:fillRect/>
          </a:stretch>
        </p:blipFill>
        <p:spPr>
          <a:xfrm>
            <a:off x="304800" y="1066800"/>
            <a:ext cx="8382000" cy="556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D18E-4ABA-891C-905F-43FE7CB9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1075"/>
            <a:ext cx="8255000" cy="5030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IN" dirty="0"/>
              <a:t>Height of binary tree  (log n)</a:t>
            </a:r>
          </a:p>
          <a:p>
            <a:pPr>
              <a:defRPr/>
            </a:pPr>
            <a:r>
              <a:rPr lang="en-IN" dirty="0"/>
              <a:t>Max. number of nodes in complete binary tree of height h is (2</a:t>
            </a:r>
            <a:r>
              <a:rPr lang="en-IN" baseline="30000" dirty="0"/>
              <a:t>h+1</a:t>
            </a:r>
            <a:r>
              <a:rPr lang="en-IN" dirty="0"/>
              <a:t> – 1)</a:t>
            </a:r>
            <a:endParaRPr lang="en-IN" baseline="30000" dirty="0"/>
          </a:p>
          <a:p>
            <a:pPr>
              <a:defRPr/>
            </a:pPr>
            <a:r>
              <a:rPr lang="en-IN" dirty="0"/>
              <a:t>All leaves in tree are consecutive and starts at [floor(n/2)+1 to n] </a:t>
            </a:r>
            <a:r>
              <a:rPr lang="en-IN" sz="2000" dirty="0"/>
              <a:t>(for index starts at 1 else [floor(n/2) to n] )</a:t>
            </a:r>
          </a:p>
          <a:p>
            <a:pPr>
              <a:defRPr/>
            </a:pPr>
            <a:r>
              <a:rPr lang="en-IN" dirty="0"/>
              <a:t>Every node is heap in itself</a:t>
            </a:r>
          </a:p>
          <a:p>
            <a:pPr>
              <a:defRPr/>
            </a:pPr>
            <a:r>
              <a:rPr lang="en-IN" dirty="0"/>
              <a:t>Binary heap can be implemented in array using relationship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 err="1"/>
              <a:t>Left_child</a:t>
            </a:r>
            <a:r>
              <a:rPr lang="en-IN" sz="2000" dirty="0"/>
              <a:t>= 2*index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 err="1"/>
              <a:t>Right_child</a:t>
            </a:r>
            <a:r>
              <a:rPr lang="en-IN" sz="2000" dirty="0"/>
              <a:t> = 2 *index +1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/>
              <a:t>Parent of node = floor (index /2)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12291" name="Title 1">
            <a:extLst>
              <a:ext uri="{FF2B5EF4-FFF2-40B4-BE49-F238E27FC236}">
                <a16:creationId xmlns:a16="http://schemas.microsoft.com/office/drawing/2014/main" id="{BDF42919-D92A-529A-B89D-49BF9E5BA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88913"/>
            <a:ext cx="8229600" cy="685800"/>
          </a:xfrm>
        </p:spPr>
        <p:txBody>
          <a:bodyPr/>
          <a:lstStyle/>
          <a:p>
            <a:r>
              <a:rPr lang="en-IN" altLang="en-US" u="sng"/>
              <a:t>Some Properties</a:t>
            </a:r>
            <a:endParaRPr lang="en-I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7C052-08AA-C0AB-29E1-3B6A1B3FD7FE}"/>
              </a:ext>
            </a:extLst>
          </p:cNvPr>
          <p:cNvSpPr txBox="1"/>
          <p:nvPr/>
        </p:nvSpPr>
        <p:spPr>
          <a:xfrm>
            <a:off x="4716463" y="4868863"/>
            <a:ext cx="4046537" cy="1631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IN" sz="2000" b="1" u="sng" dirty="0"/>
              <a:t>If index starts with 0 then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 err="1"/>
              <a:t>Left_child</a:t>
            </a:r>
            <a:r>
              <a:rPr lang="en-IN" sz="2000" dirty="0"/>
              <a:t>= 2*index +1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 err="1"/>
              <a:t>Right_child</a:t>
            </a:r>
            <a:r>
              <a:rPr lang="en-IN" sz="2000" dirty="0"/>
              <a:t> = 2 *index + 2</a:t>
            </a:r>
          </a:p>
          <a:p>
            <a:pPr indent="12700">
              <a:buFont typeface="Wingdings" pitchFamily="2" charset="2"/>
              <a:buChar char="Ø"/>
              <a:defRPr/>
            </a:pPr>
            <a:r>
              <a:rPr lang="en-IN" sz="2000" dirty="0"/>
              <a:t>Parent of node = ceil(index /2) -1</a:t>
            </a:r>
          </a:p>
          <a:p>
            <a:pPr>
              <a:defRPr/>
            </a:pP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BB6EF1E-30EA-3869-3663-6ECA31B967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713" y="1319758"/>
            <a:ext cx="8713787" cy="398145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altLang="en-US" sz="2000" dirty="0"/>
              <a:t>BUILD-MAX-HEAP(A)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2000" dirty="0"/>
              <a:t>{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2000" dirty="0"/>
              <a:t>     </a:t>
            </a:r>
            <a:r>
              <a:rPr lang="en-IN" altLang="en-US" sz="2000" dirty="0" err="1"/>
              <a:t>A.heap</a:t>
            </a:r>
            <a:r>
              <a:rPr lang="en-IN" altLang="en-US" sz="2000" dirty="0"/>
              <a:t>-size= </a:t>
            </a:r>
            <a:r>
              <a:rPr lang="en-IN" altLang="en-US" sz="2000" dirty="0" err="1"/>
              <a:t>A.length</a:t>
            </a:r>
            <a:endParaRPr lang="en-IN" altLang="en-US" sz="2000" dirty="0"/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2000" dirty="0"/>
              <a:t>     for(</a:t>
            </a:r>
            <a:r>
              <a:rPr lang="en-IN" altLang="en-US" sz="2000" dirty="0" err="1"/>
              <a:t>i</a:t>
            </a:r>
            <a:r>
              <a:rPr lang="en-IN" altLang="en-US" sz="2000" dirty="0"/>
              <a:t>=floor(</a:t>
            </a:r>
            <a:r>
              <a:rPr lang="en-IN" altLang="en-US" sz="2000" dirty="0" err="1"/>
              <a:t>A.length</a:t>
            </a:r>
            <a:r>
              <a:rPr lang="en-IN" altLang="en-US" sz="2000" dirty="0"/>
              <a:t>/2) </a:t>
            </a:r>
            <a:r>
              <a:rPr lang="en-IN" altLang="en-US" sz="2000" dirty="0" err="1"/>
              <a:t>downto</a:t>
            </a:r>
            <a:r>
              <a:rPr lang="en-IN" altLang="en-US" sz="2000" dirty="0"/>
              <a:t> 1*)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2000" dirty="0"/>
              <a:t>     MAX-HEAPIFY(</a:t>
            </a:r>
            <a:r>
              <a:rPr lang="en-IN" altLang="en-US" sz="2000" dirty="0" err="1"/>
              <a:t>A,i</a:t>
            </a:r>
            <a:r>
              <a:rPr lang="en-IN" altLang="en-US" sz="2000" dirty="0"/>
              <a:t>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2000" dirty="0"/>
              <a:t>}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endParaRPr lang="en-IN" altLang="en-US" dirty="0"/>
          </a:p>
          <a:p>
            <a:pPr marL="0" indent="0">
              <a:buFontTx/>
              <a:buNone/>
              <a:defRPr/>
            </a:pPr>
            <a:endParaRPr lang="en-IN" altLang="en-US" dirty="0"/>
          </a:p>
          <a:p>
            <a:pPr marL="0" indent="0">
              <a:buFontTx/>
              <a:buNone/>
              <a:defRPr/>
            </a:pPr>
            <a:endParaRPr lang="en-IN" altLang="en-US" dirty="0"/>
          </a:p>
          <a:p>
            <a:pPr marL="0" indent="0">
              <a:buFontTx/>
              <a:buNone/>
              <a:defRPr/>
            </a:pPr>
            <a:endParaRPr lang="en-IN" altLang="en-US" sz="2400" dirty="0"/>
          </a:p>
          <a:p>
            <a:pPr marL="0" indent="0">
              <a:buFontTx/>
              <a:buNone/>
              <a:defRPr/>
            </a:pPr>
            <a:endParaRPr lang="en-I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714EDB-FD01-0CFD-9A72-1BED6F738D19}"/>
              </a:ext>
            </a:extLst>
          </p:cNvPr>
          <p:cNvSpPr txBox="1">
            <a:spLocks/>
          </p:cNvSpPr>
          <p:nvPr/>
        </p:nvSpPr>
        <p:spPr bwMode="auto">
          <a:xfrm>
            <a:off x="6145213" y="0"/>
            <a:ext cx="2987675" cy="3095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IN" sz="1400" dirty="0"/>
              <a:t>MAX-HEAPIFY(</a:t>
            </a:r>
            <a:r>
              <a:rPr lang="en-IN" sz="1400" dirty="0" err="1"/>
              <a:t>A,i</a:t>
            </a:r>
            <a:r>
              <a:rPr lang="en-IN" sz="14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{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     </a:t>
            </a:r>
            <a:r>
              <a:rPr lang="en-IN" sz="1200" dirty="0"/>
              <a:t>l=2i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r=2i+1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If(l&lt;=</a:t>
            </a:r>
            <a:r>
              <a:rPr lang="en-IN" sz="1200" dirty="0" err="1"/>
              <a:t>A.heap</a:t>
            </a:r>
            <a:r>
              <a:rPr lang="en-IN" sz="1200" dirty="0"/>
              <a:t>-size and A[l]&gt;A[i])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largest=l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else largest = i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If(r&lt;=</a:t>
            </a:r>
            <a:r>
              <a:rPr lang="en-IN" sz="1200" dirty="0" err="1"/>
              <a:t>A.heap</a:t>
            </a:r>
            <a:r>
              <a:rPr lang="en-IN" sz="1200" dirty="0"/>
              <a:t>-size and A[r]&gt;A[largest])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 largest=r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If(largest&lt;&gt;i)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   Exchange A[i] with A[largest]</a:t>
            </a:r>
          </a:p>
          <a:p>
            <a:pPr>
              <a:defRPr/>
            </a:pPr>
            <a:r>
              <a:rPr lang="en-IN" sz="1200" dirty="0"/>
              <a:t>           MAX-HEAPIFY(</a:t>
            </a:r>
            <a:r>
              <a:rPr lang="en-IN" sz="1200" dirty="0" err="1"/>
              <a:t>A,largest</a:t>
            </a:r>
            <a:r>
              <a:rPr lang="en-IN" sz="12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39E2E-1EE6-5C65-E4C2-3BB34D9F34AC}"/>
              </a:ext>
            </a:extLst>
          </p:cNvPr>
          <p:cNvSpPr txBox="1"/>
          <p:nvPr/>
        </p:nvSpPr>
        <p:spPr>
          <a:xfrm>
            <a:off x="287338" y="5457998"/>
            <a:ext cx="5962650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altLang="en-US" sz="1800" dirty="0"/>
              <a:t>An array with descending Order  (complete tree)is Max-Heap</a:t>
            </a:r>
          </a:p>
          <a:p>
            <a:pPr>
              <a:defRPr/>
            </a:pPr>
            <a:r>
              <a:rPr lang="en-IN" altLang="en-US" sz="1800" dirty="0"/>
              <a:t>An array with ascending Order  (complete tree)is Min-Heap</a:t>
            </a:r>
          </a:p>
          <a:p>
            <a:pPr>
              <a:defRPr/>
            </a:pPr>
            <a:r>
              <a:rPr lang="en-IN" altLang="en-US" sz="1800" dirty="0"/>
              <a:t>=&gt; Sorting cost is </a:t>
            </a:r>
            <a:r>
              <a:rPr lang="en-IN" altLang="en-US" sz="1800" b="1" dirty="0"/>
              <a:t>n log n</a:t>
            </a:r>
          </a:p>
        </p:txBody>
      </p:sp>
      <p:pic>
        <p:nvPicPr>
          <p:cNvPr id="13317" name="Picture 1">
            <a:extLst>
              <a:ext uri="{FF2B5EF4-FFF2-40B4-BE49-F238E27FC236}">
                <a16:creationId xmlns:a16="http://schemas.microsoft.com/office/drawing/2014/main" id="{6559C715-916F-88BE-8747-F6794A592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537" y="3245930"/>
            <a:ext cx="3128963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Box 7">
            <a:extLst>
              <a:ext uri="{FF2B5EF4-FFF2-40B4-BE49-F238E27FC236}">
                <a16:creationId xmlns:a16="http://schemas.microsoft.com/office/drawing/2014/main" id="{A173C06F-95D2-2E48-8F83-CE816D1E9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537" y="6093296"/>
            <a:ext cx="3338959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1600" b="1"/>
              <a:t>i=floor(A.length/2) downto 1*) OR i=floor(A.length/2)-1 downto 0*)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6E0FB-8165-8B81-03C9-AF59166C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333375"/>
            <a:ext cx="5976937" cy="640873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2000" dirty="0"/>
              <a:t>MAX-HEAPIFY(</a:t>
            </a:r>
            <a:r>
              <a:rPr lang="en-IN" sz="2000" dirty="0" err="1"/>
              <a:t>A,i</a:t>
            </a:r>
            <a:r>
              <a:rPr lang="en-IN" sz="20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2000" dirty="0"/>
              <a:t>{</a:t>
            </a:r>
          </a:p>
          <a:p>
            <a:pPr marL="0" indent="0">
              <a:buFontTx/>
              <a:buNone/>
              <a:defRPr/>
            </a:pPr>
            <a:r>
              <a:rPr lang="en-IN" sz="2000" dirty="0"/>
              <a:t>     </a:t>
            </a:r>
            <a:r>
              <a:rPr lang="en-IN" sz="1800" dirty="0"/>
              <a:t>l=2i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r=2i+1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If(l&lt;=</a:t>
            </a:r>
            <a:r>
              <a:rPr lang="en-IN" sz="1800" dirty="0" err="1"/>
              <a:t>A.heap</a:t>
            </a:r>
            <a:r>
              <a:rPr lang="en-IN" sz="1800" dirty="0"/>
              <a:t>-size and A[l]&gt;A[i])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   largest=l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else largest = i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If(r&lt;=</a:t>
            </a:r>
            <a:r>
              <a:rPr lang="en-IN" sz="1800" dirty="0" err="1"/>
              <a:t>A.heap</a:t>
            </a:r>
            <a:r>
              <a:rPr lang="en-IN" sz="1800" dirty="0"/>
              <a:t>-size and A[r]&gt;A[largest])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    largest=r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If(largest&lt;&gt;i)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      Exchange A[i] with A[largest]</a:t>
            </a:r>
          </a:p>
          <a:p>
            <a:pPr marL="0" indent="0">
              <a:buFontTx/>
              <a:buNone/>
              <a:defRPr/>
            </a:pPr>
            <a:r>
              <a:rPr lang="en-IN" sz="1800" dirty="0"/>
              <a:t>        MAX-HEAPIFY(</a:t>
            </a:r>
            <a:r>
              <a:rPr lang="en-IN" sz="1800" dirty="0" err="1"/>
              <a:t>A,largest</a:t>
            </a:r>
            <a:r>
              <a:rPr lang="en-IN" sz="18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dirty="0"/>
              <a:t>}</a:t>
            </a:r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CD945306-FEAE-E148-A7D0-2F6B80495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88" y="188913"/>
            <a:ext cx="2776537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Box 4">
            <a:extLst>
              <a:ext uri="{FF2B5EF4-FFF2-40B4-BE49-F238E27FC236}">
                <a16:creationId xmlns:a16="http://schemas.microsoft.com/office/drawing/2014/main" id="{5998D1E3-F5D8-5608-A03B-8E692AAC9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2600325"/>
            <a:ext cx="2444750" cy="4619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 b="1"/>
              <a:t>Heapify (A,0) = ?</a:t>
            </a:r>
            <a:endParaRPr kumimoji="0" lang="en-IN" altLang="en-US" sz="24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0821C2-EAF5-9069-FF3D-257C4BCFC558}"/>
              </a:ext>
            </a:extLst>
          </p:cNvPr>
          <p:cNvGraphicFramePr>
            <a:graphicFrameLocks noGrp="1"/>
          </p:cNvGraphicFramePr>
          <p:nvPr/>
        </p:nvGraphicFramePr>
        <p:xfrm>
          <a:off x="5573713" y="1846263"/>
          <a:ext cx="3338513" cy="609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4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8383FA-2154-4A62-35DC-8C6BD47F71B4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3051175"/>
          <a:ext cx="3338513" cy="609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4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marL="91475" marR="914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EA2745-86AC-D8D1-CA78-173EE98A0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18282"/>
              </p:ext>
            </p:extLst>
          </p:nvPr>
        </p:nvGraphicFramePr>
        <p:xfrm>
          <a:off x="5541963" y="4113213"/>
          <a:ext cx="3336922" cy="1957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4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178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1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2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2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2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2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669" marB="456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A6A62429-025A-4F4B-7FAD-266E836EC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852738"/>
            <a:ext cx="2444750" cy="4619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 b="1"/>
              <a:t>Heapify (A,0) = ?</a:t>
            </a:r>
            <a:endParaRPr kumimoji="0" lang="en-IN" altLang="en-US" sz="24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A1FE32-4FD1-4EF3-A79E-B1E6B54FE2A7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052513"/>
          <a:ext cx="4249739" cy="7651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382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3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A76819-6C03-9E01-C5A3-6D7A398420FC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060575"/>
          <a:ext cx="4418013" cy="4351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9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782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4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683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6481" name="Picture 9">
            <a:extLst>
              <a:ext uri="{FF2B5EF4-FFF2-40B4-BE49-F238E27FC236}">
                <a16:creationId xmlns:a16="http://schemas.microsoft.com/office/drawing/2014/main" id="{F25A5550-F2B3-04B6-D721-089520166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33375"/>
            <a:ext cx="3603625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F31DE9-9ADB-F112-E18D-4CEC3C9D3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416389"/>
              </p:ext>
            </p:extLst>
          </p:nvPr>
        </p:nvGraphicFramePr>
        <p:xfrm>
          <a:off x="138113" y="753518"/>
          <a:ext cx="5976937" cy="60531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5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2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7779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 2 to 0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23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53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=2</a:t>
                      </a: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=2</a:t>
                      </a:r>
                    </a:p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(A,2)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Swap A[2] &lt;-&gt;A[6]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=2 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l=5, r=6 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(A,6)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Exit-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(A,6)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668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52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=1</a:t>
                      </a: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=1</a:t>
                      </a:r>
                    </a:p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(A,1)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=1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l=3, r=4 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Swap A[1] &lt;-&gt;A[4]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530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(A,4)</a:t>
                      </a:r>
                    </a:p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=4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l=9, r=10  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65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Exit-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(A,4)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523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=0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=0</a:t>
                      </a:r>
                    </a:p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(A,0)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=0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l=1, r=2 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6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Swap A[0] &lt;-&gt;A[2]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(A,2)</a:t>
                      </a:r>
                    </a:p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=2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l=5, r=6 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Swap A[2] &lt;-&gt;A[6]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2523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Exit-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(A,4)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0696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(A,6)</a:t>
                      </a: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7574" name="TextBox 7">
            <a:extLst>
              <a:ext uri="{FF2B5EF4-FFF2-40B4-BE49-F238E27FC236}">
                <a16:creationId xmlns:a16="http://schemas.microsoft.com/office/drawing/2014/main" id="{3B8E5316-8680-C4D1-2750-F3C038608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1816100"/>
            <a:ext cx="2808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1200" b="1"/>
              <a:t>i=floor(A.length/2) downto 1*) OR i=floor(A.length/2)-1 downto 0*)</a:t>
            </a:r>
          </a:p>
        </p:txBody>
      </p:sp>
      <p:pic>
        <p:nvPicPr>
          <p:cNvPr id="17575" name="Picture 1">
            <a:extLst>
              <a:ext uri="{FF2B5EF4-FFF2-40B4-BE49-F238E27FC236}">
                <a16:creationId xmlns:a16="http://schemas.microsoft.com/office/drawing/2014/main" id="{CE5BA617-2AEF-490B-EDC6-704DFA5E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3068961"/>
            <a:ext cx="2773070" cy="1510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5755864-8E9A-B275-23BB-803D33E23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95963" y="44450"/>
            <a:ext cx="3384550" cy="162877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altLang="en-US" sz="1600" dirty="0"/>
              <a:t>BUILD-MAX-HEAP(A)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1600" dirty="0"/>
              <a:t>{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1600" dirty="0"/>
              <a:t>     </a:t>
            </a:r>
            <a:r>
              <a:rPr lang="en-IN" altLang="en-US" sz="1600" dirty="0" err="1"/>
              <a:t>A.heap</a:t>
            </a:r>
            <a:r>
              <a:rPr lang="en-IN" altLang="en-US" sz="1600" dirty="0"/>
              <a:t>-size= </a:t>
            </a:r>
            <a:r>
              <a:rPr lang="en-IN" altLang="en-US" sz="1600" dirty="0" err="1"/>
              <a:t>A.length</a:t>
            </a:r>
            <a:endParaRPr lang="en-IN" altLang="en-US" sz="1600" dirty="0"/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1600" dirty="0"/>
              <a:t>     for(</a:t>
            </a:r>
            <a:r>
              <a:rPr lang="en-IN" altLang="en-US" sz="1600" dirty="0" err="1"/>
              <a:t>i</a:t>
            </a:r>
            <a:r>
              <a:rPr lang="en-IN" altLang="en-US" sz="1600" dirty="0"/>
              <a:t>=floor(</a:t>
            </a:r>
            <a:r>
              <a:rPr lang="en-IN" altLang="en-US" sz="1600" dirty="0" err="1"/>
              <a:t>A.length</a:t>
            </a:r>
            <a:r>
              <a:rPr lang="en-IN" altLang="en-US" sz="1600" dirty="0"/>
              <a:t>/2) </a:t>
            </a:r>
            <a:r>
              <a:rPr lang="en-IN" altLang="en-US" sz="1600" dirty="0" err="1"/>
              <a:t>downto</a:t>
            </a:r>
            <a:r>
              <a:rPr lang="en-IN" altLang="en-US" sz="1600" dirty="0"/>
              <a:t> 1*)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1600" dirty="0"/>
              <a:t>     MAX-HEAPIFY(</a:t>
            </a:r>
            <a:r>
              <a:rPr lang="en-IN" altLang="en-US" sz="1600" dirty="0" err="1"/>
              <a:t>A,i</a:t>
            </a:r>
            <a:r>
              <a:rPr lang="en-IN" altLang="en-US" sz="1600" dirty="0"/>
              <a:t>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IN" altLang="en-US" sz="1600" dirty="0"/>
              <a:t>}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endParaRPr lang="en-IN" altLang="en-US" sz="2000" dirty="0"/>
          </a:p>
          <a:p>
            <a:pPr marL="0" indent="0">
              <a:buFontTx/>
              <a:buNone/>
              <a:defRPr/>
            </a:pPr>
            <a:endParaRPr lang="en-IN" altLang="en-US" sz="2000" dirty="0"/>
          </a:p>
          <a:p>
            <a:pPr marL="0" indent="0">
              <a:buFontTx/>
              <a:buNone/>
              <a:defRPr/>
            </a:pPr>
            <a:endParaRPr lang="en-IN" altLang="en-US" sz="1800" dirty="0"/>
          </a:p>
          <a:p>
            <a:pPr marL="0" indent="0">
              <a:buFontTx/>
              <a:buNone/>
              <a:defRPr/>
            </a:pPr>
            <a:endParaRPr lang="en-I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5A7F52-3F31-3B51-869C-30B40A1D8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116697"/>
              </p:ext>
            </p:extLst>
          </p:nvPr>
        </p:nvGraphicFramePr>
        <p:xfrm>
          <a:off x="179512" y="1046070"/>
          <a:ext cx="5976937" cy="578326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5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2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9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92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7725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 2 to 0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47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47">
                <a:tc rowSpan="2"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88"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1588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9642" name="TextBox 7">
            <a:extLst>
              <a:ext uri="{FF2B5EF4-FFF2-40B4-BE49-F238E27FC236}">
                <a16:creationId xmlns:a16="http://schemas.microsoft.com/office/drawing/2014/main" id="{CBAEA746-9918-3A47-794F-CAD12D939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1816100"/>
            <a:ext cx="2646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1200" b="1"/>
              <a:t>i=floor(A.length/2) downto 1*) OR i=floor(A.length/2)-1 downto 0*)</a:t>
            </a:r>
          </a:p>
        </p:txBody>
      </p:sp>
      <p:pic>
        <p:nvPicPr>
          <p:cNvPr id="19643" name="Picture 2">
            <a:extLst>
              <a:ext uri="{FF2B5EF4-FFF2-40B4-BE49-F238E27FC236}">
                <a16:creationId xmlns:a16="http://schemas.microsoft.com/office/drawing/2014/main" id="{66290C25-88DC-4FF8-124A-63AA4F115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975" y="2636838"/>
            <a:ext cx="2632075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AE777D01-C498-7488-150A-751A17DF3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2877" y="1726407"/>
            <a:ext cx="3975100" cy="369411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altLang="en-US" sz="1800" dirty="0"/>
              <a:t>Heap-Extract-Max(A)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{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If </a:t>
            </a:r>
            <a:r>
              <a:rPr lang="en-IN" altLang="en-US" sz="1800" dirty="0" err="1"/>
              <a:t>A.heap</a:t>
            </a:r>
            <a:r>
              <a:rPr lang="en-IN" altLang="en-US" sz="1800" dirty="0"/>
              <a:t>-size &lt; 1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      error “ heap underflow”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max=A[1]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A[1]=A[</a:t>
            </a:r>
            <a:r>
              <a:rPr lang="en-IN" altLang="en-US" sz="1800" dirty="0" err="1"/>
              <a:t>A.heap</a:t>
            </a:r>
            <a:r>
              <a:rPr lang="en-IN" altLang="en-US" sz="1800" dirty="0"/>
              <a:t>-size]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</a:t>
            </a:r>
            <a:r>
              <a:rPr lang="en-IN" altLang="en-US" sz="1800" dirty="0" err="1"/>
              <a:t>A.heap</a:t>
            </a:r>
            <a:r>
              <a:rPr lang="en-IN" altLang="en-US" sz="1800" dirty="0"/>
              <a:t>-size=A.heap-size-1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MAX-HEAPIFY(A,1)</a:t>
            </a:r>
          </a:p>
          <a:p>
            <a:pPr marL="0" indent="0">
              <a:buFontTx/>
              <a:buNone/>
              <a:defRPr/>
            </a:pPr>
            <a:r>
              <a:rPr lang="en-IN" altLang="en-US" sz="1800" dirty="0"/>
              <a:t>	return max</a:t>
            </a:r>
          </a:p>
          <a:p>
            <a:pPr marL="0" indent="0">
              <a:buFontTx/>
              <a:buNone/>
              <a:defRPr/>
            </a:pPr>
            <a:r>
              <a:rPr lang="en-IN" altLang="en-US" sz="2000" dirty="0"/>
              <a:t>}</a:t>
            </a:r>
          </a:p>
          <a:p>
            <a:pPr marL="0" indent="0">
              <a:buFontTx/>
              <a:buNone/>
              <a:defRPr/>
            </a:pPr>
            <a:endParaRPr lang="en-IN" alt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7D2201-CE1C-9B6E-33D6-72D647219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588623"/>
              </p:ext>
            </p:extLst>
          </p:nvPr>
        </p:nvGraphicFramePr>
        <p:xfrm>
          <a:off x="4572000" y="692696"/>
          <a:ext cx="4249739" cy="6477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377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92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67" marR="91467" marT="45687" marB="456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9556A3-977D-6808-AEE2-3196CBAB5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143109"/>
              </p:ext>
            </p:extLst>
          </p:nvPr>
        </p:nvGraphicFramePr>
        <p:xfrm>
          <a:off x="4572000" y="1628800"/>
          <a:ext cx="4416423" cy="51006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8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77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44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6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666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6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6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666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16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1" marR="91421"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D53B0369-2C2D-332C-A71F-F0E0A2276BDF}"/>
              </a:ext>
            </a:extLst>
          </p:cNvPr>
          <p:cNvSpPr/>
          <p:nvPr/>
        </p:nvSpPr>
        <p:spPr bwMode="auto">
          <a:xfrm>
            <a:off x="8194675" y="3284538"/>
            <a:ext cx="339725" cy="288925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E47C-654F-350B-F86A-FCDC9744A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4400" b="1" dirty="0"/>
              <a:t>Complexity Analysis</a:t>
            </a:r>
          </a:p>
          <a:p>
            <a:pPr>
              <a:defRPr/>
            </a:pPr>
            <a:endParaRPr lang="en-IN" dirty="0"/>
          </a:p>
          <a:p>
            <a:pPr marL="0" indent="0">
              <a:buFontTx/>
              <a:buNone/>
              <a:defRPr/>
            </a:pPr>
            <a:r>
              <a:rPr lang="en-IN" dirty="0">
                <a:latin typeface="AR CHRISTY" pitchFamily="2" charset="0"/>
              </a:rPr>
              <a:t>Max-</a:t>
            </a:r>
            <a:r>
              <a:rPr lang="en-IN" dirty="0" err="1">
                <a:latin typeface="AR CHRISTY" pitchFamily="2" charset="0"/>
              </a:rPr>
              <a:t>Heapify</a:t>
            </a:r>
            <a:r>
              <a:rPr lang="en-IN" dirty="0">
                <a:latin typeface="AR CHRISTY" pitchFamily="2" charset="0"/>
              </a:rPr>
              <a:t> </a:t>
            </a:r>
          </a:p>
          <a:p>
            <a:pPr marL="0" indent="0">
              <a:buFontTx/>
              <a:buNone/>
              <a:defRPr/>
            </a:pPr>
            <a:r>
              <a:rPr lang="en-IN" dirty="0">
                <a:latin typeface="AR CHRISTY" pitchFamily="2" charset="0"/>
              </a:rPr>
              <a:t>Heap-Extract-Max </a:t>
            </a:r>
          </a:p>
          <a:p>
            <a:pPr marL="0" indent="0">
              <a:buFontTx/>
              <a:buNone/>
              <a:defRPr/>
            </a:pPr>
            <a:r>
              <a:rPr lang="en-IN" dirty="0" err="1">
                <a:latin typeface="AR CHRISTY" pitchFamily="2" charset="0"/>
              </a:rPr>
              <a:t>Build_Heap</a:t>
            </a:r>
            <a:endParaRPr lang="en-IN" dirty="0">
              <a:latin typeface="AR CHRISTY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627B4AF1-65BE-AB9D-3023-0AC4D5F51E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4191000" cy="3714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IN" altLang="en-US"/>
              <a:t>Performance Analysis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1EE0A3B3-6605-7084-5D0D-6E09FE194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338" y="2565400"/>
            <a:ext cx="6483350" cy="75565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IN" altLang="en-US" sz="2000" dirty="0"/>
              <a:t>Number of at most node with height h	ceil(n/2</a:t>
            </a:r>
            <a:r>
              <a:rPr lang="en-IN" altLang="en-US" sz="2000" baseline="30000" dirty="0"/>
              <a:t>h+1</a:t>
            </a:r>
            <a:r>
              <a:rPr lang="en-IN" altLang="en-US" sz="2000" dirty="0"/>
              <a:t>)</a:t>
            </a:r>
          </a:p>
          <a:p>
            <a:pPr>
              <a:defRPr/>
            </a:pPr>
            <a:r>
              <a:rPr lang="en-IN" altLang="en-US" sz="2000" dirty="0"/>
              <a:t>Time taken by any Max-</a:t>
            </a:r>
            <a:r>
              <a:rPr lang="en-IN" altLang="en-US" sz="2000" dirty="0" err="1"/>
              <a:t>Heapify</a:t>
            </a:r>
            <a:r>
              <a:rPr lang="en-IN" altLang="en-US" sz="2000" dirty="0"/>
              <a:t> at any node is O(h)</a:t>
            </a:r>
          </a:p>
          <a:p>
            <a:pPr>
              <a:defRPr/>
            </a:pPr>
            <a:endParaRPr lang="en-IN" altLang="en-US" sz="2400" dirty="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EE9157A-EA00-4477-FD96-FAB01055C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8" y="923925"/>
            <a:ext cx="5618162" cy="12001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2400" dirty="0"/>
              <a:t>Max-</a:t>
            </a:r>
            <a:r>
              <a:rPr kumimoji="0" lang="en-IN" altLang="en-US" sz="2400" dirty="0" err="1"/>
              <a:t>Heapify</a:t>
            </a:r>
            <a:r>
              <a:rPr kumimoji="0" lang="en-IN" altLang="en-US" sz="2400" dirty="0"/>
              <a:t> takes O(log n)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2400" dirty="0"/>
              <a:t>Heap-Extract-Max running time is O(log n)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2400" dirty="0"/>
              <a:t>The running time of </a:t>
            </a:r>
            <a:r>
              <a:rPr kumimoji="0" lang="en-IN" altLang="en-US" sz="2400" dirty="0" err="1"/>
              <a:t>Build_Heap</a:t>
            </a:r>
            <a:r>
              <a:rPr kumimoji="0" lang="en-IN" altLang="en-US" sz="2400" dirty="0"/>
              <a:t> is O(n)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85BADA-2112-9148-70A0-A253A0DDC72C}"/>
              </a:ext>
            </a:extLst>
          </p:cNvPr>
          <p:cNvSpPr txBox="1">
            <a:spLocks/>
          </p:cNvSpPr>
          <p:nvPr/>
        </p:nvSpPr>
        <p:spPr bwMode="auto">
          <a:xfrm>
            <a:off x="6130925" y="3644900"/>
            <a:ext cx="2987675" cy="2852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IN" sz="1400" dirty="0"/>
              <a:t>MAX-HEAPIFY(</a:t>
            </a:r>
            <a:r>
              <a:rPr lang="en-IN" sz="1400" dirty="0" err="1"/>
              <a:t>A,i</a:t>
            </a:r>
            <a:r>
              <a:rPr lang="en-IN" sz="14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{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     </a:t>
            </a:r>
            <a:r>
              <a:rPr lang="en-IN" sz="1200" dirty="0"/>
              <a:t>l=2i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r=2i+1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If(l&lt;=</a:t>
            </a:r>
            <a:r>
              <a:rPr lang="en-IN" sz="1200" dirty="0" err="1"/>
              <a:t>A.heap</a:t>
            </a:r>
            <a:r>
              <a:rPr lang="en-IN" sz="1200" dirty="0"/>
              <a:t>-size and A[l]&gt;A[i])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largest=l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else largest = i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If(r&lt;=</a:t>
            </a:r>
            <a:r>
              <a:rPr lang="en-IN" sz="1200" dirty="0" err="1"/>
              <a:t>A.heap</a:t>
            </a:r>
            <a:r>
              <a:rPr lang="en-IN" sz="1200" dirty="0"/>
              <a:t>-size and A[r]&gt;A[largest])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 largest=r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If(largest&lt;&gt;i)</a:t>
            </a:r>
          </a:p>
          <a:p>
            <a:pPr marL="0" indent="0">
              <a:buFontTx/>
              <a:buNone/>
              <a:defRPr/>
            </a:pPr>
            <a:r>
              <a:rPr lang="en-IN" sz="1200" dirty="0"/>
              <a:t>              Exchange A[i] with A[largest]</a:t>
            </a:r>
          </a:p>
          <a:p>
            <a:pPr>
              <a:defRPr/>
            </a:pPr>
            <a:r>
              <a:rPr lang="en-IN" sz="1200" dirty="0"/>
              <a:t>           MAX-HEAPIFY(</a:t>
            </a:r>
            <a:r>
              <a:rPr lang="en-IN" sz="1200" dirty="0" err="1"/>
              <a:t>A,largest</a:t>
            </a:r>
            <a:r>
              <a:rPr lang="en-IN" sz="12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1400" dirty="0"/>
              <a:t>}</a:t>
            </a: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D3B6A9D8-A149-3066-8BEB-313FF19DF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245100"/>
            <a:ext cx="3743325" cy="1384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BUILD-MAX-HEAP(A)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	</a:t>
            </a:r>
            <a:r>
              <a:rPr kumimoji="0" lang="en-IN" altLang="en-US" sz="1400" dirty="0" err="1"/>
              <a:t>A.heap</a:t>
            </a:r>
            <a:r>
              <a:rPr kumimoji="0" lang="en-IN" altLang="en-US" sz="1400" dirty="0"/>
              <a:t>-size= </a:t>
            </a:r>
            <a:r>
              <a:rPr kumimoji="0" lang="en-IN" altLang="en-US" sz="1400" dirty="0" err="1"/>
              <a:t>A.length</a:t>
            </a:r>
            <a:endParaRPr kumimoji="0" lang="en-IN" altLang="en-US" sz="1400" dirty="0"/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	for(</a:t>
            </a:r>
            <a:r>
              <a:rPr kumimoji="0" lang="en-IN" altLang="en-US" sz="1400" dirty="0" err="1"/>
              <a:t>i</a:t>
            </a:r>
            <a:r>
              <a:rPr kumimoji="0" lang="en-IN" altLang="en-US" sz="1400" dirty="0"/>
              <a:t>=floor(</a:t>
            </a:r>
            <a:r>
              <a:rPr kumimoji="0" lang="en-IN" altLang="en-US" sz="1400" dirty="0" err="1"/>
              <a:t>A.length</a:t>
            </a:r>
            <a:r>
              <a:rPr kumimoji="0" lang="en-IN" altLang="en-US" sz="1400" dirty="0"/>
              <a:t>/2) </a:t>
            </a:r>
            <a:r>
              <a:rPr kumimoji="0" lang="en-IN" altLang="en-US" sz="1400" dirty="0" err="1"/>
              <a:t>downto</a:t>
            </a:r>
            <a:r>
              <a:rPr kumimoji="0" lang="en-IN" altLang="en-US" sz="1400" dirty="0"/>
              <a:t> 1)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	MAX-HEAPIFY(</a:t>
            </a:r>
            <a:r>
              <a:rPr kumimoji="0" lang="en-IN" altLang="en-US" sz="1400" dirty="0" err="1"/>
              <a:t>A,i</a:t>
            </a:r>
            <a:r>
              <a:rPr kumimoji="0" lang="en-IN" altLang="en-US" sz="1400" dirty="0"/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}</a:t>
            </a:r>
          </a:p>
        </p:txBody>
      </p:sp>
      <p:sp>
        <p:nvSpPr>
          <p:cNvPr id="17415" name="Content Placeholder 2">
            <a:extLst>
              <a:ext uri="{FF2B5EF4-FFF2-40B4-BE49-F238E27FC236}">
                <a16:creationId xmlns:a16="http://schemas.microsoft.com/office/drawing/2014/main" id="{B03F3E42-5F46-EC28-DB0D-FE0AA150EBBF}"/>
              </a:ext>
            </a:extLst>
          </p:cNvPr>
          <p:cNvSpPr txBox="1">
            <a:spLocks/>
          </p:cNvSpPr>
          <p:nvPr/>
        </p:nvSpPr>
        <p:spPr bwMode="auto">
          <a:xfrm>
            <a:off x="6213475" y="188913"/>
            <a:ext cx="2822575" cy="23034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  <a:defRPr/>
            </a:pPr>
            <a:r>
              <a:rPr lang="en-IN" altLang="en-US" sz="1200" dirty="0"/>
              <a:t>Heap-Extract-Max(A)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{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If </a:t>
            </a:r>
            <a:r>
              <a:rPr lang="en-IN" altLang="en-US" sz="1200" dirty="0" err="1"/>
              <a:t>A.heap</a:t>
            </a:r>
            <a:r>
              <a:rPr lang="en-IN" altLang="en-US" sz="1200" dirty="0"/>
              <a:t>-size &lt; 1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      error “ heap underflow”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max=A[1]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A[1]=A[</a:t>
            </a:r>
            <a:r>
              <a:rPr lang="en-IN" altLang="en-US" sz="1200" dirty="0" err="1"/>
              <a:t>A.heap</a:t>
            </a:r>
            <a:r>
              <a:rPr lang="en-IN" altLang="en-US" sz="1200" dirty="0"/>
              <a:t>-size]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</a:t>
            </a:r>
            <a:r>
              <a:rPr lang="en-IN" altLang="en-US" sz="1200" dirty="0" err="1"/>
              <a:t>A.heap</a:t>
            </a:r>
            <a:r>
              <a:rPr lang="en-IN" altLang="en-US" sz="1200" dirty="0"/>
              <a:t>-size=A.heap-size-1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MAX-HEAPIFY(A,1)</a:t>
            </a:r>
          </a:p>
          <a:p>
            <a:pPr>
              <a:buFontTx/>
              <a:buNone/>
              <a:defRPr/>
            </a:pPr>
            <a:r>
              <a:rPr lang="en-IN" altLang="en-US" sz="1200" dirty="0"/>
              <a:t>	return max</a:t>
            </a:r>
          </a:p>
          <a:p>
            <a:pPr>
              <a:buFontTx/>
              <a:buNone/>
              <a:defRPr/>
            </a:pPr>
            <a:r>
              <a:rPr lang="en-IN" altLang="en-US" sz="1400" dirty="0"/>
              <a:t>}</a:t>
            </a:r>
          </a:p>
          <a:p>
            <a:pPr>
              <a:buFontTx/>
              <a:buNone/>
              <a:defRPr/>
            </a:pPr>
            <a:endParaRPr lang="en-IN" alt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0CACAEA6-E2B1-27A6-7312-61E9FF9D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628775"/>
            <a:ext cx="25590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4800"/>
              <a:t>Heap sort</a:t>
            </a:r>
            <a:endParaRPr kumimoji="0" lang="en-IN" altLang="en-US"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1EF0E2C-2741-EC7C-C965-66C4915BE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3543300" cy="392113"/>
          </a:xfrm>
          <a:solidFill>
            <a:schemeClr val="accent1"/>
          </a:solidFill>
        </p:spPr>
        <p:txBody>
          <a:bodyPr/>
          <a:lstStyle/>
          <a:p>
            <a:r>
              <a:rPr lang="en-US" altLang="en-US" sz="2800"/>
              <a:t>Heapsort Strategy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75DAD7D-34D1-8CC5-C425-ACB91ADE9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700808"/>
            <a:ext cx="8785225" cy="2798763"/>
          </a:xfrm>
          <a:solidFill>
            <a:schemeClr val="accent5"/>
          </a:solidFill>
        </p:spPr>
        <p:txBody>
          <a:bodyPr/>
          <a:lstStyle/>
          <a:p>
            <a:pPr>
              <a:defRPr/>
            </a:pPr>
            <a:r>
              <a:rPr lang="en-US" sz="2000" dirty="0"/>
              <a:t>The elements to be sorted are arranged in a heap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With this heap, we can build a sorted sequence in reverse order by repeatedly removing the element from the root,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Rearranging the remaining elements to reestablish the partial order tree property, and so on.</a:t>
            </a:r>
          </a:p>
          <a:p>
            <a:pPr>
              <a:defRPr/>
            </a:pPr>
            <a:endParaRPr lang="en-US" dirty="0"/>
          </a:p>
          <a:p>
            <a:pPr algn="just">
              <a:defRPr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1C0E7-3718-33B1-DC51-DE33F453BEC6}"/>
              </a:ext>
            </a:extLst>
          </p:cNvPr>
          <p:cNvSpPr txBox="1"/>
          <p:nvPr/>
        </p:nvSpPr>
        <p:spPr>
          <a:xfrm>
            <a:off x="251520" y="4797152"/>
            <a:ext cx="8286750" cy="1323975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u="sng" dirty="0"/>
              <a:t>How does it work?(</a:t>
            </a:r>
            <a:r>
              <a:rPr lang="en-US" sz="2000" dirty="0"/>
              <a:t>Max-</a:t>
            </a:r>
            <a:r>
              <a:rPr lang="en-US" sz="2000" dirty="0" err="1"/>
              <a:t>Heapify</a:t>
            </a:r>
            <a:r>
              <a:rPr lang="en-US" sz="2000" dirty="0"/>
              <a:t>/Build-Max-Heap/Heap-Extract-Max)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/>
              <a:t>Note</a:t>
            </a:r>
          </a:p>
          <a:p>
            <a:pPr algn="just">
              <a:defRPr/>
            </a:pPr>
            <a:r>
              <a:rPr lang="en-US" sz="2000" dirty="0"/>
              <a:t>Ascending and descending will always be min and max heap respectively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D63EB6D-91AE-22C7-5498-1400E8668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5825" y="0"/>
            <a:ext cx="1908175" cy="100806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2400" dirty="0"/>
              <a:t>Heapsort </a:t>
            </a:r>
            <a:br>
              <a:rPr lang="en-US" altLang="en-US" sz="2400" dirty="0"/>
            </a:br>
            <a:r>
              <a:rPr lang="en-US" altLang="en-US" sz="2400" dirty="0"/>
              <a:t>in action</a:t>
            </a:r>
          </a:p>
        </p:txBody>
      </p:sp>
      <p:pic>
        <p:nvPicPr>
          <p:cNvPr id="26627" name="Picture 4" descr="X:\nakul1\7image18.jpg">
            <a:extLst>
              <a:ext uri="{FF2B5EF4-FFF2-40B4-BE49-F238E27FC236}">
                <a16:creationId xmlns:a16="http://schemas.microsoft.com/office/drawing/2014/main" id="{69962CD7-382F-0482-62B0-A0A5A3B93301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54"/>
          <a:stretch>
            <a:fillRect/>
          </a:stretch>
        </p:blipFill>
        <p:spPr>
          <a:xfrm>
            <a:off x="34925" y="577850"/>
            <a:ext cx="7416800" cy="6235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628" name="Straight Arrow Connector 2">
            <a:extLst>
              <a:ext uri="{FF2B5EF4-FFF2-40B4-BE49-F238E27FC236}">
                <a16:creationId xmlns:a16="http://schemas.microsoft.com/office/drawing/2014/main" id="{4B4AA31B-035D-9196-89E3-792490ABA4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43213" y="923925"/>
            <a:ext cx="1296987" cy="2873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29" name="Straight Arrow Connector 3">
            <a:extLst>
              <a:ext uri="{FF2B5EF4-FFF2-40B4-BE49-F238E27FC236}">
                <a16:creationId xmlns:a16="http://schemas.microsoft.com/office/drawing/2014/main" id="{C04C94E1-0689-F9A3-2777-024CCC723A3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74913" y="2349500"/>
            <a:ext cx="1665287" cy="647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0" name="Straight Arrow Connector 6">
            <a:extLst>
              <a:ext uri="{FF2B5EF4-FFF2-40B4-BE49-F238E27FC236}">
                <a16:creationId xmlns:a16="http://schemas.microsoft.com/office/drawing/2014/main" id="{0BB437B9-44E2-BAAC-1A10-5C9518F3A4C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35375" y="3765550"/>
            <a:ext cx="715963" cy="730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31" name="Straight Arrow Connector 8">
            <a:extLst>
              <a:ext uri="{FF2B5EF4-FFF2-40B4-BE49-F238E27FC236}">
                <a16:creationId xmlns:a16="http://schemas.microsoft.com/office/drawing/2014/main" id="{0F3BA752-B75E-ABA4-E279-591F4A96542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148263" y="5157788"/>
            <a:ext cx="309562" cy="346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1F5AE-3679-C1F1-20A2-E750B2430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56792"/>
            <a:ext cx="6423025" cy="275907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dirty="0"/>
              <a:t>HEAP-SORT(A)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IN" dirty="0"/>
              <a:t>BUILD-MAX-HEAP(A)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IN" dirty="0"/>
              <a:t>For I </a:t>
            </a:r>
            <a:r>
              <a:rPr lang="en-IN" dirty="0">
                <a:sym typeface="Wingdings" pitchFamily="2" charset="2"/>
              </a:rPr>
              <a:t> length [A] down to 2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IN" dirty="0">
                <a:sym typeface="Wingdings" pitchFamily="2" charset="2"/>
              </a:rPr>
              <a:t>	Do exchange A[1]  A [i]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IN" dirty="0">
                <a:sym typeface="Wingdings" pitchFamily="2" charset="2"/>
              </a:rPr>
              <a:t>		Heap-size[A]  heap-size[A]-1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IN" dirty="0">
                <a:sym typeface="Wingdings" pitchFamily="2" charset="2"/>
              </a:rPr>
              <a:t>		MAX-HEAPIFY(A,1)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IN" dirty="0">
              <a:sym typeface="Wingdings" pitchFamily="2" charset="2"/>
            </a:endParaRP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3D588-2ECF-2985-A1B5-885F896CD5F5}"/>
              </a:ext>
            </a:extLst>
          </p:cNvPr>
          <p:cNvSpPr txBox="1"/>
          <p:nvPr/>
        </p:nvSpPr>
        <p:spPr>
          <a:xfrm>
            <a:off x="467544" y="4653136"/>
            <a:ext cx="6423025" cy="1878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dirty="0"/>
              <a:t>The running time of </a:t>
            </a:r>
            <a:r>
              <a:rPr lang="en-IN" dirty="0" err="1"/>
              <a:t>Build_Heap</a:t>
            </a:r>
            <a:r>
              <a:rPr lang="en-IN" dirty="0"/>
              <a:t> is O(n)</a:t>
            </a:r>
          </a:p>
          <a:p>
            <a:pPr>
              <a:defRPr/>
            </a:pPr>
            <a:r>
              <a:rPr lang="en-IN" dirty="0"/>
              <a:t>Max-</a:t>
            </a:r>
            <a:r>
              <a:rPr lang="en-IN" dirty="0" err="1"/>
              <a:t>Heapify</a:t>
            </a:r>
            <a:r>
              <a:rPr lang="en-IN" dirty="0"/>
              <a:t> takes O(log n)</a:t>
            </a:r>
          </a:p>
          <a:p>
            <a:pPr>
              <a:defRPr/>
            </a:pPr>
            <a:r>
              <a:rPr lang="en-IN" sz="2000" i="1" dirty="0"/>
              <a:t>(</a:t>
            </a:r>
            <a:r>
              <a:rPr lang="en-IN" sz="2000" i="1" dirty="0" err="1"/>
              <a:t>heapify</a:t>
            </a:r>
            <a:r>
              <a:rPr lang="en-IN" sz="2000" i="1" dirty="0"/>
              <a:t> to apply n-1 times)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Therefore running time is </a:t>
            </a:r>
            <a:r>
              <a:rPr lang="en-IN" b="1" dirty="0"/>
              <a:t>O(n log 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7C924641-9B13-8825-4B90-410E067F9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" y="1220788"/>
            <a:ext cx="4733925" cy="1385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dirty="0"/>
              <a:t>HEAP-SORT(A)</a:t>
            </a:r>
          </a:p>
          <a:p>
            <a:pPr lvl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b="0" dirty="0"/>
              <a:t>BUILD-MAX-HEAP(A)</a:t>
            </a:r>
          </a:p>
          <a:p>
            <a:pPr lvl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b="0" dirty="0"/>
              <a:t>For I </a:t>
            </a:r>
            <a:r>
              <a:rPr kumimoji="0" lang="en-IN" altLang="en-US" sz="1400" b="0" dirty="0">
                <a:sym typeface="Wingdings" panose="05000000000000000000" pitchFamily="2" charset="2"/>
              </a:rPr>
              <a:t> length [A] down to 2</a:t>
            </a:r>
          </a:p>
          <a:p>
            <a:pPr lvl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b="0" dirty="0">
                <a:sym typeface="Wingdings" panose="05000000000000000000" pitchFamily="2" charset="2"/>
              </a:rPr>
              <a:t>	Do exchange A[1]  A [</a:t>
            </a:r>
            <a:r>
              <a:rPr kumimoji="0" lang="en-IN" altLang="en-US" sz="1400" b="0" dirty="0" err="1">
                <a:sym typeface="Wingdings" panose="05000000000000000000" pitchFamily="2" charset="2"/>
              </a:rPr>
              <a:t>i</a:t>
            </a:r>
            <a:r>
              <a:rPr kumimoji="0" lang="en-IN" altLang="en-US" sz="1400" b="0" dirty="0">
                <a:sym typeface="Wingdings" panose="05000000000000000000" pitchFamily="2" charset="2"/>
              </a:rPr>
              <a:t>]</a:t>
            </a:r>
          </a:p>
          <a:p>
            <a:pPr lvl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b="0" dirty="0">
                <a:sym typeface="Wingdings" panose="05000000000000000000" pitchFamily="2" charset="2"/>
              </a:rPr>
              <a:t>		Heap-size[A]  heap-size[A]-1</a:t>
            </a:r>
          </a:p>
          <a:p>
            <a:pPr lvl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400" b="0" dirty="0">
                <a:sym typeface="Wingdings" panose="05000000000000000000" pitchFamily="2" charset="2"/>
              </a:rPr>
              <a:t>		MAX-HEAPIFY(A,1)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56992FAB-6A6D-D4DC-65B2-5E5F28C75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113"/>
            <a:ext cx="3384550" cy="1200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BUILD-MAX-HEAP(A)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	A.heap-size= A.length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	for(i=floor(A.length/2) downto 1)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	MAX-HEAPIFY(A,i)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N" altLang="en-US" sz="1200"/>
              <a:t>}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ADD94F-D5F5-10F9-4E5A-908641719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247180"/>
              </p:ext>
            </p:extLst>
          </p:nvPr>
        </p:nvGraphicFramePr>
        <p:xfrm>
          <a:off x="184150" y="2565400"/>
          <a:ext cx="3725861" cy="4175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Build Max heap</a:t>
                      </a: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i</a:t>
                      </a:r>
                      <a:r>
                        <a:rPr lang="en-US" sz="1400" dirty="0">
                          <a:sym typeface="Wingdings" panose="05000000000000000000" pitchFamily="2" charset="2"/>
                        </a:rPr>
                        <a:t> 2 to 0</a:t>
                      </a:r>
                      <a:endParaRPr lang="en-IN" sz="1400" dirty="0"/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 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400" i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 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400" i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 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0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334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 i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702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400" i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8782" name="Group 15">
            <a:extLst>
              <a:ext uri="{FF2B5EF4-FFF2-40B4-BE49-F238E27FC236}">
                <a16:creationId xmlns:a16="http://schemas.microsoft.com/office/drawing/2014/main" id="{1AE054A9-9757-291A-26C7-F9FEFD363E11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57563"/>
            <a:ext cx="2160587" cy="2087562"/>
            <a:chOff x="1403350" y="2133600"/>
            <a:chExt cx="2160588" cy="2087563"/>
          </a:xfrm>
        </p:grpSpPr>
        <p:cxnSp>
          <p:nvCxnSpPr>
            <p:cNvPr id="28994" name="Straight Arrow Connector 4">
              <a:extLst>
                <a:ext uri="{FF2B5EF4-FFF2-40B4-BE49-F238E27FC236}">
                  <a16:creationId xmlns:a16="http://schemas.microsoft.com/office/drawing/2014/main" id="{A13979D0-391A-6EA0-2B0A-3FA508C5E5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11413" y="2133600"/>
              <a:ext cx="115252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995" name="Straight Arrow Connector 6">
              <a:extLst>
                <a:ext uri="{FF2B5EF4-FFF2-40B4-BE49-F238E27FC236}">
                  <a16:creationId xmlns:a16="http://schemas.microsoft.com/office/drawing/2014/main" id="{4AD702B7-0642-65F3-A4D3-679615080E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35150" y="3213100"/>
              <a:ext cx="792163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996" name="Straight Arrow Connector 8">
              <a:extLst>
                <a:ext uri="{FF2B5EF4-FFF2-40B4-BE49-F238E27FC236}">
                  <a16:creationId xmlns:a16="http://schemas.microsoft.com/office/drawing/2014/main" id="{E2C10410-71B5-B72A-31D6-374504CF8E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3350" y="4221163"/>
              <a:ext cx="28892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DC8A3D-BED2-C2C1-D987-21D12024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379053"/>
              </p:ext>
            </p:extLst>
          </p:nvPr>
        </p:nvGraphicFramePr>
        <p:xfrm>
          <a:off x="4716463" y="44450"/>
          <a:ext cx="3743327" cy="6532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8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Heap-Sort</a:t>
                      </a: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It-1</a:t>
                      </a:r>
                      <a:endParaRPr lang="en-IN" sz="1200" dirty="0"/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It-2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It-3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It-4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 err="1">
                          <a:solidFill>
                            <a:schemeClr val="tx1"/>
                          </a:solidFill>
                        </a:rPr>
                        <a:t>heapify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It-5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75411">
                <a:tc>
                  <a:txBody>
                    <a:bodyPr/>
                    <a:lstStyle/>
                    <a:p>
                      <a:pPr algn="ctr"/>
                      <a:endParaRPr lang="en-IN"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cxnSp>
        <p:nvCxnSpPr>
          <p:cNvPr id="28985" name="Straight Arrow Connector 4">
            <a:extLst>
              <a:ext uri="{FF2B5EF4-FFF2-40B4-BE49-F238E27FC236}">
                <a16:creationId xmlns:a16="http://schemas.microsoft.com/office/drawing/2014/main" id="{B6195009-2710-57F7-6F4A-5B9D9201B7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89638" y="908050"/>
            <a:ext cx="7429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86" name="Straight Arrow Connector 4">
            <a:extLst>
              <a:ext uri="{FF2B5EF4-FFF2-40B4-BE49-F238E27FC236}">
                <a16:creationId xmlns:a16="http://schemas.microsoft.com/office/drawing/2014/main" id="{91FBEA41-29AC-CD5E-C151-180BFA03A0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0425" y="476250"/>
            <a:ext cx="216058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87" name="Straight Arrow Connector 4">
            <a:extLst>
              <a:ext uri="{FF2B5EF4-FFF2-40B4-BE49-F238E27FC236}">
                <a16:creationId xmlns:a16="http://schemas.microsoft.com/office/drawing/2014/main" id="{FFD67715-60A5-5A98-DFD7-5E123F2F68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13438" y="1773238"/>
            <a:ext cx="17541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88" name="Straight Arrow Connector 4">
            <a:extLst>
              <a:ext uri="{FF2B5EF4-FFF2-40B4-BE49-F238E27FC236}">
                <a16:creationId xmlns:a16="http://schemas.microsoft.com/office/drawing/2014/main" id="{DFAEEBCC-5CB5-12CA-E26E-5A94E128C9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0425" y="2276475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89" name="Straight Arrow Connector 4">
            <a:extLst>
              <a:ext uri="{FF2B5EF4-FFF2-40B4-BE49-F238E27FC236}">
                <a16:creationId xmlns:a16="http://schemas.microsoft.com/office/drawing/2014/main" id="{44C0A8E0-1A84-A363-B272-2B5747CBC9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2238" y="2852738"/>
            <a:ext cx="6921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90" name="Straight Arrow Connector 4">
            <a:extLst>
              <a:ext uri="{FF2B5EF4-FFF2-40B4-BE49-F238E27FC236}">
                <a16:creationId xmlns:a16="http://schemas.microsoft.com/office/drawing/2014/main" id="{B9C5B20D-FFA1-A7F2-E6F6-68B7A2851C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11863" y="3644900"/>
            <a:ext cx="10810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91" name="Straight Arrow Connector 4">
            <a:extLst>
              <a:ext uri="{FF2B5EF4-FFF2-40B4-BE49-F238E27FC236}">
                <a16:creationId xmlns:a16="http://schemas.microsoft.com/office/drawing/2014/main" id="{4B70EFAC-CA71-FB2B-787A-B41C2E99A0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62650" y="4292600"/>
            <a:ext cx="7699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92" name="Straight Arrow Connector 4">
            <a:extLst>
              <a:ext uri="{FF2B5EF4-FFF2-40B4-BE49-F238E27FC236}">
                <a16:creationId xmlns:a16="http://schemas.microsoft.com/office/drawing/2014/main" id="{66A1D38E-605F-C04A-BD78-21758005C4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0425" y="5589588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993" name="Straight Arrow Connector 4">
            <a:extLst>
              <a:ext uri="{FF2B5EF4-FFF2-40B4-BE49-F238E27FC236}">
                <a16:creationId xmlns:a16="http://schemas.microsoft.com/office/drawing/2014/main" id="{2B6A45A1-6D8B-9CA9-3401-68DCCEFE95F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62650" y="6165850"/>
            <a:ext cx="28892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680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9D3550-C4B6-AEBD-62D9-98D28BAB9CDB}"/>
              </a:ext>
            </a:extLst>
          </p:cNvPr>
          <p:cNvSpPr txBox="1"/>
          <p:nvPr/>
        </p:nvSpPr>
        <p:spPr>
          <a:xfrm>
            <a:off x="476250" y="1236663"/>
            <a:ext cx="8191500" cy="5018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Heap – Introduction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https://www.youtube.com/watch?v=phYfC_NqfHQ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Illustrative Example of </a:t>
            </a:r>
            <a:r>
              <a:rPr lang="en-IN" sz="2000" kern="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MaxHeapify</a:t>
            </a: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N" sz="2000" kern="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BuildMax</a:t>
            </a: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N" sz="2000" kern="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ExtractMax</a:t>
            </a: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Procedures</a:t>
            </a:r>
            <a:endParaRPr lang="en-IN" sz="3600" b="1" kern="0" dirty="0">
              <a:solidFill>
                <a:srgbClr val="365F91"/>
              </a:solidFill>
              <a:latin typeface="+mn-lt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https://www.youtube.com/watch?v=iCQO2OP1_TI&amp;t=5s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Build Max </a:t>
            </a:r>
            <a:r>
              <a:rPr lang="en-IN" sz="2000" kern="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Heapify</a:t>
            </a: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N" sz="2000" kern="0" dirty="0" err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ExtractMAx</a:t>
            </a:r>
            <a:r>
              <a:rPr lang="en-IN" sz="2000" kern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Analysis</a:t>
            </a:r>
            <a:endParaRPr lang="en-IN" sz="3600" b="1" kern="0" dirty="0">
              <a:solidFill>
                <a:srgbClr val="365F91"/>
              </a:solidFill>
              <a:latin typeface="+mn-lt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https://www.youtube.com/watch?v=qcoqre-JHQU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 err="1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HeapSort</a:t>
            </a: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Strategy and Complexity Analysis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https://youtu.be/jCKWkFTZwCk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Understanding </a:t>
            </a:r>
            <a:r>
              <a:rPr lang="en-IN" sz="2000" dirty="0" err="1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HeapSort</a:t>
            </a:r>
            <a:r>
              <a:rPr lang="en-IN" sz="20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with an Illustrative Example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https://youtu.be/_UZ1gf0M0GM</a:t>
            </a:r>
            <a:endParaRPr lang="en-IN" sz="2800" dirty="0"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9D2E33EE-EFEE-D9E4-0E9B-CA5100D2E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3375"/>
            <a:ext cx="6335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Video Lecture of the topic can be found at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CS364 CH04 Bz1">
  <a:themeElements>
    <a:clrScheme name="CS364 CH04 Bz1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S364 CH04 Bz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S364 CH04 Bz1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D:\Bz\IOs\AJob\Tech\CS364 Computer Architecture\CS364 CH04 Bz1.ppt</Template>
  <TotalTime>23875</TotalTime>
  <Words>2191</Words>
  <Application>Microsoft Office PowerPoint</Application>
  <PresentationFormat>On-screen Show (4:3)</PresentationFormat>
  <Paragraphs>663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 CHRISTY</vt:lpstr>
      <vt:lpstr>Arial</vt:lpstr>
      <vt:lpstr>Garamond</vt:lpstr>
      <vt:lpstr>Google Sans</vt:lpstr>
      <vt:lpstr>MT Extra</vt:lpstr>
      <vt:lpstr>Times New Roman</vt:lpstr>
      <vt:lpstr>Wingdings</vt:lpstr>
      <vt:lpstr>CS364 CH04 Bz1</vt:lpstr>
      <vt:lpstr>PowerPoint Presentation</vt:lpstr>
      <vt:lpstr>Performance of certain operations with different data structure</vt:lpstr>
      <vt:lpstr>Performance of certain operations with different data structure</vt:lpstr>
      <vt:lpstr>PowerPoint Presentation</vt:lpstr>
      <vt:lpstr>PowerPoint Presentation</vt:lpstr>
      <vt:lpstr>PowerPoint Presentation</vt:lpstr>
      <vt:lpstr>Heap </vt:lpstr>
      <vt:lpstr>e.g. Heaps (or not)</vt:lpstr>
      <vt:lpstr>Some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Analysis</vt:lpstr>
      <vt:lpstr>PowerPoint Presentation</vt:lpstr>
      <vt:lpstr>Heapsort Strategy</vt:lpstr>
      <vt:lpstr>Heapsort  in action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CS520 Advanced Analysis of Algorithms and Complexity</dc:title>
  <dc:creator>Adrian &amp; Wendy</dc:creator>
  <cp:lastModifiedBy>ASHISH SETH</cp:lastModifiedBy>
  <cp:revision>643</cp:revision>
  <cp:lastPrinted>1999-12-17T13:56:08Z</cp:lastPrinted>
  <dcterms:created xsi:type="dcterms:W3CDTF">1998-09-21T10:37:54Z</dcterms:created>
  <dcterms:modified xsi:type="dcterms:W3CDTF">2025-10-05T06:55:12Z</dcterms:modified>
</cp:coreProperties>
</file>