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2" r:id="rId4"/>
    <p:sldId id="283" r:id="rId5"/>
    <p:sldId id="285" r:id="rId6"/>
    <p:sldId id="258" r:id="rId7"/>
    <p:sldId id="269" r:id="rId8"/>
    <p:sldId id="259" r:id="rId9"/>
    <p:sldId id="260" r:id="rId10"/>
    <p:sldId id="261" r:id="rId11"/>
    <p:sldId id="262" r:id="rId12"/>
    <p:sldId id="263" r:id="rId13"/>
    <p:sldId id="286" r:id="rId14"/>
    <p:sldId id="265" r:id="rId15"/>
    <p:sldId id="266" r:id="rId16"/>
    <p:sldId id="278" r:id="rId17"/>
    <p:sldId id="279" r:id="rId18"/>
    <p:sldId id="268" r:id="rId19"/>
    <p:sldId id="271" r:id="rId20"/>
    <p:sldId id="287" r:id="rId21"/>
    <p:sldId id="273" r:id="rId22"/>
    <p:sldId id="274" r:id="rId23"/>
    <p:sldId id="275" r:id="rId24"/>
    <p:sldId id="276" r:id="rId25"/>
    <p:sldId id="281" r:id="rId26"/>
    <p:sldId id="280" r:id="rId27"/>
    <p:sldId id="28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D95FC-4E07-4E0C-B69D-E1CB21E0DF7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4A7CB-7D76-4602-BC9B-A2959C560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64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4A7CB-7D76-4602-BC9B-A2959C5603F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80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CF75-C481-6D20-C814-B732DDD75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0C05C-2870-BA78-5121-78FFCEA1E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7B6CA-6886-BAA5-B750-A2051CB1C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E3D7-8E9D-37E3-F663-9A0D72F6E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4A7CB-7D76-4602-BC9B-A2959C5603F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147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4A7CB-7D76-4602-BC9B-A2959C5603F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420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461D-0F03-4721-B7B5-9521D914F68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EA5-CC67-449E-BF3E-0DC2AE51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981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461D-0F03-4721-B7B5-9521D914F68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EA5-CC67-449E-BF3E-0DC2AE51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015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461D-0F03-4721-B7B5-9521D914F68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EA5-CC67-449E-BF3E-0DC2AE51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26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461D-0F03-4721-B7B5-9521D914F68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EA5-CC67-449E-BF3E-0DC2AE51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458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461D-0F03-4721-B7B5-9521D914F68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EA5-CC67-449E-BF3E-0DC2AE51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95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461D-0F03-4721-B7B5-9521D914F68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EA5-CC67-449E-BF3E-0DC2AE51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62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461D-0F03-4721-B7B5-9521D914F68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EA5-CC67-449E-BF3E-0DC2AE51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51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461D-0F03-4721-B7B5-9521D914F68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EA5-CC67-449E-BF3E-0DC2AE51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05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461D-0F03-4721-B7B5-9521D914F68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EA5-CC67-449E-BF3E-0DC2AE51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87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461D-0F03-4721-B7B5-9521D914F68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EA5-CC67-449E-BF3E-0DC2AE51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46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461D-0F03-4721-B7B5-9521D914F68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FEA5-CC67-449E-BF3E-0DC2AE51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94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B461D-0F03-4721-B7B5-9521D914F688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5FEA5-CC67-449E-BF3E-0DC2AE51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09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d1gjlxt8vb0knt.cloudfront.net/wp-content/uploads/redBlackCase2.png" TargetMode="External"/><Relationship Id="rId2" Type="http://schemas.openxmlformats.org/officeDocument/2006/relationships/hyperlink" Target="http://geeksquiz.com/binary-search-tree-set-1-search-and-inser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1qEjtfR0gIo" TargetMode="External"/><Relationship Id="rId2" Type="http://schemas.openxmlformats.org/officeDocument/2006/relationships/hyperlink" Target="https://www.youtube.com/watch?v=H0MutN9u-I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smE0gHcd5Gg" TargetMode="External"/><Relationship Id="rId4" Type="http://schemas.openxmlformats.org/officeDocument/2006/relationships/hyperlink" Target="https://youtu.be/smE0gHcd5G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accent6"/>
          </a:solidFill>
        </p:spPr>
        <p:txBody>
          <a:bodyPr>
            <a:normAutofit fontScale="90000"/>
          </a:bodyPr>
          <a:lstStyle/>
          <a:p>
            <a:r>
              <a:rPr lang="en-IN" sz="7300" dirty="0"/>
              <a:t>RED BLACK TREES </a:t>
            </a:r>
            <a:br>
              <a:rPr lang="en-IN" dirty="0"/>
            </a:br>
            <a:r>
              <a:rPr lang="en-IN" dirty="0"/>
              <a:t>RB-Trees</a:t>
            </a:r>
          </a:p>
        </p:txBody>
      </p:sp>
    </p:spTree>
    <p:extLst>
      <p:ext uri="{BB962C8B-B14F-4D97-AF65-F5344CB8AC3E}">
        <p14:creationId xmlns:p14="http://schemas.microsoft.com/office/powerpoint/2010/main" val="3711494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IN" dirty="0"/>
              <a:t>Red Black Tree is a type of </a:t>
            </a:r>
            <a:r>
              <a:rPr lang="en-IN" b="1" u="sng" dirty="0"/>
              <a:t>self balancing </a:t>
            </a:r>
            <a:r>
              <a:rPr lang="en-IN" dirty="0"/>
              <a:t>binary search tree</a:t>
            </a:r>
          </a:p>
          <a:p>
            <a:endParaRPr lang="en-IN" dirty="0"/>
          </a:p>
          <a:p>
            <a:pPr algn="just"/>
            <a:r>
              <a:rPr lang="en-IN" dirty="0"/>
              <a:t>It is invented in 1972 by Rudolf Bayer who called it “symmetric binary B-Trees”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Each node of this tree  has an extra attribute ‘</a:t>
            </a:r>
            <a:r>
              <a:rPr lang="en-IN" dirty="0" err="1"/>
              <a:t>color</a:t>
            </a:r>
            <a:r>
              <a:rPr lang="en-IN" dirty="0"/>
              <a:t>’ which can be RED or BLACK</a:t>
            </a:r>
          </a:p>
          <a:p>
            <a:pPr algn="just"/>
            <a:endParaRPr lang="en-IN" dirty="0"/>
          </a:p>
          <a:p>
            <a:pPr algn="just"/>
            <a:r>
              <a:rPr lang="en-IN" dirty="0" err="1"/>
              <a:t>Coloring</a:t>
            </a:r>
            <a:r>
              <a:rPr lang="en-IN" dirty="0"/>
              <a:t> of nodes ensures that longest path from root to a leaf is no longer then twice the length of a shortest path which means the tree is  balanced </a:t>
            </a:r>
          </a:p>
        </p:txBody>
      </p:sp>
    </p:spTree>
    <p:extLst>
      <p:ext uri="{BB962C8B-B14F-4D97-AF65-F5344CB8AC3E}">
        <p14:creationId xmlns:p14="http://schemas.microsoft.com/office/powerpoint/2010/main" val="422997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DF5237-B437-7386-3B4F-F4E9C10DA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048034"/>
              </p:ext>
            </p:extLst>
          </p:nvPr>
        </p:nvGraphicFramePr>
        <p:xfrm>
          <a:off x="179512" y="1052280"/>
          <a:ext cx="8856984" cy="53807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7123">
                  <a:extLst>
                    <a:ext uri="{9D8B030D-6E8A-4147-A177-3AD203B41FA5}">
                      <a16:colId xmlns:a16="http://schemas.microsoft.com/office/drawing/2014/main" val="799537282"/>
                    </a:ext>
                  </a:extLst>
                </a:gridCol>
                <a:gridCol w="3789421">
                  <a:extLst>
                    <a:ext uri="{9D8B030D-6E8A-4147-A177-3AD203B41FA5}">
                      <a16:colId xmlns:a16="http://schemas.microsoft.com/office/drawing/2014/main" val="1898704615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1566127319"/>
                    </a:ext>
                  </a:extLst>
                </a:gridCol>
              </a:tblGrid>
              <a:tr h="2656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Parameter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AVL Tree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R-B tree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extLst>
                  <a:ext uri="{0D108BD9-81ED-4DB2-BD59-A6C34878D82A}">
                    <a16:rowId xmlns:a16="http://schemas.microsoft.com/office/drawing/2014/main" val="1841017673"/>
                  </a:ext>
                </a:extLst>
              </a:tr>
              <a:tr h="21111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Balance Factor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0" dirty="0">
                          <a:effectLst/>
                        </a:rPr>
                        <a:t>AVL trees are </a:t>
                      </a:r>
                      <a:r>
                        <a:rPr lang="en-IN" sz="1600" b="1" u="sng" kern="0" dirty="0">
                          <a:effectLst/>
                        </a:rPr>
                        <a:t>more strictly</a:t>
                      </a:r>
                      <a:r>
                        <a:rPr lang="en-IN" sz="1600" b="1" kern="0" dirty="0">
                          <a:effectLst/>
                        </a:rPr>
                        <a:t> balanced compared to RB trees.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In AVL trees, the balance factor (the height difference between the left and right subtrees) of every node is restricted to be at most 1, ensuring a height-balanced tree.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400" kern="0" dirty="0">
                        <a:effectLst/>
                      </a:endParaRPr>
                    </a:p>
                  </a:txBody>
                  <a:tcPr marL="30603" marR="306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 </a:t>
                      </a:r>
                      <a:r>
                        <a:rPr lang="en-IN" sz="1600" b="1" kern="0" dirty="0">
                          <a:effectLst/>
                        </a:rPr>
                        <a:t>RB trees have </a:t>
                      </a:r>
                      <a:r>
                        <a:rPr lang="en-IN" sz="1600" b="1" u="sng" kern="0" dirty="0">
                          <a:effectLst/>
                        </a:rPr>
                        <a:t>less strict</a:t>
                      </a:r>
                      <a:r>
                        <a:rPr lang="en-IN" sz="1600" b="1" kern="0" dirty="0">
                          <a:effectLst/>
                        </a:rPr>
                        <a:t> balance requirements. </a:t>
                      </a:r>
                      <a:endParaRPr lang="en-IN" sz="1600" b="1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They ensure that the tree remains approximately balanced by </a:t>
                      </a:r>
                      <a:r>
                        <a:rPr lang="en-IN" sz="1400" kern="0" dirty="0" err="1">
                          <a:effectLst/>
                        </a:rPr>
                        <a:t>coloring</a:t>
                      </a:r>
                      <a:r>
                        <a:rPr lang="en-IN" sz="1400" kern="0" dirty="0">
                          <a:effectLst/>
                        </a:rPr>
                        <a:t> the nodes (red or black) and enforcing several properties.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400" kern="0" dirty="0">
                        <a:effectLst/>
                      </a:endParaRPr>
                    </a:p>
                  </a:txBody>
                  <a:tcPr marL="30603" marR="30603" marT="0" marB="0"/>
                </a:tc>
                <a:extLst>
                  <a:ext uri="{0D108BD9-81ED-4DB2-BD59-A6C34878D82A}">
                    <a16:rowId xmlns:a16="http://schemas.microsoft.com/office/drawing/2014/main" val="1624873150"/>
                  </a:ext>
                </a:extLst>
              </a:tr>
              <a:tr h="231977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Insertion and Deletion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kern="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Insertions and deletions in AVL trees </a:t>
                      </a:r>
                      <a:r>
                        <a:rPr lang="en-IN" sz="1600" u="sng" kern="0" dirty="0">
                          <a:effectLst/>
                        </a:rPr>
                        <a:t>typically require more rotations</a:t>
                      </a:r>
                      <a:r>
                        <a:rPr lang="en-IN" sz="1600" kern="0" dirty="0">
                          <a:effectLst/>
                        </a:rPr>
                        <a:t>, which can make them slower for these operations.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kern="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Balancing an AVL tree can take multiple rotations in some cases.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kern="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RB trees </a:t>
                      </a:r>
                      <a:r>
                        <a:rPr lang="en-IN" sz="1600" u="sng" kern="0" dirty="0">
                          <a:effectLst/>
                        </a:rPr>
                        <a:t>require fewer rotations</a:t>
                      </a:r>
                      <a:r>
                        <a:rPr lang="en-IN" sz="1600" kern="0" dirty="0">
                          <a:effectLst/>
                        </a:rPr>
                        <a:t> during insertion and deletion, making them more efficient for dynamic datasets where elements are frequently added or removed.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kern="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RB trees are considered more practical for use in databases and file systems where there are many insertions and deletions.</a:t>
                      </a:r>
                      <a:endParaRPr lang="en-IN" sz="16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 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extLst>
                  <a:ext uri="{0D108BD9-81ED-4DB2-BD59-A6C34878D82A}">
                    <a16:rowId xmlns:a16="http://schemas.microsoft.com/office/drawing/2014/main" val="2191406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5A7C3A-536C-0A71-7EAE-D1A3F525DF00}"/>
              </a:ext>
            </a:extLst>
          </p:cNvPr>
          <p:cNvSpPr txBox="1"/>
          <p:nvPr/>
        </p:nvSpPr>
        <p:spPr>
          <a:xfrm>
            <a:off x="3131840" y="332656"/>
            <a:ext cx="2880320" cy="58477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3200" b="1" dirty="0"/>
              <a:t>AVL Vs RB Tree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2458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DF5237-B437-7386-3B4F-F4E9C10DA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031680"/>
              </p:ext>
            </p:extLst>
          </p:nvPr>
        </p:nvGraphicFramePr>
        <p:xfrm>
          <a:off x="467544" y="980728"/>
          <a:ext cx="8208912" cy="40902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799537282"/>
                    </a:ext>
                  </a:extLst>
                </a:gridCol>
                <a:gridCol w="3042783">
                  <a:extLst>
                    <a:ext uri="{9D8B030D-6E8A-4147-A177-3AD203B41FA5}">
                      <a16:colId xmlns:a16="http://schemas.microsoft.com/office/drawing/2014/main" val="1898704615"/>
                    </a:ext>
                  </a:extLst>
                </a:gridCol>
                <a:gridCol w="3437937">
                  <a:extLst>
                    <a:ext uri="{9D8B030D-6E8A-4147-A177-3AD203B41FA5}">
                      <a16:colId xmlns:a16="http://schemas.microsoft.com/office/drawing/2014/main" val="1566127319"/>
                    </a:ext>
                  </a:extLst>
                </a:gridCol>
              </a:tblGrid>
              <a:tr h="3722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>
                          <a:effectLst/>
                        </a:rPr>
                        <a:t>Parameter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>
                          <a:effectLst/>
                        </a:rPr>
                        <a:t>AVL Tree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>
                          <a:effectLst/>
                        </a:rPr>
                        <a:t>R-B tree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extLst>
                  <a:ext uri="{0D108BD9-81ED-4DB2-BD59-A6C34878D82A}">
                    <a16:rowId xmlns:a16="http://schemas.microsoft.com/office/drawing/2014/main" val="1841017673"/>
                  </a:ext>
                </a:extLst>
              </a:tr>
              <a:tr h="20040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>
                          <a:effectLst/>
                        </a:rPr>
                        <a:t>Performance Considerations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AVL trees are well-suited for </a:t>
                      </a:r>
                      <a:r>
                        <a:rPr lang="en-IN" sz="1400" u="sng" kern="0" dirty="0">
                          <a:effectLst/>
                        </a:rPr>
                        <a:t>scenarios where read operations significantly outnumber</a:t>
                      </a:r>
                      <a:r>
                        <a:rPr lang="en-IN" sz="1400" kern="0" dirty="0">
                          <a:effectLst/>
                        </a:rPr>
                        <a:t> write operations, as their read performance is generally better due to their stricter balance criteria.</a:t>
                      </a:r>
                      <a:endParaRPr lang="en-IN" sz="1400" kern="100" dirty="0">
                        <a:effectLst/>
                      </a:endParaRPr>
                    </a:p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 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RB trees are </a:t>
                      </a:r>
                      <a:r>
                        <a:rPr lang="en-IN" sz="1400" u="sng" kern="0" dirty="0">
                          <a:effectLst/>
                        </a:rPr>
                        <a:t>preferred when the dataset is more dynamic</a:t>
                      </a:r>
                      <a:r>
                        <a:rPr lang="en-IN" sz="1400" kern="0" dirty="0">
                          <a:effectLst/>
                        </a:rPr>
                        <a:t>, and there are frequent insertions and deletions. Their performance is often better in situations with a mix of read and write operations, and they are commonly used in real-time systems.</a:t>
                      </a:r>
                      <a:endParaRPr lang="en-IN" sz="1400" kern="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 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extLst>
                  <a:ext uri="{0D108BD9-81ED-4DB2-BD59-A6C34878D82A}">
                    <a16:rowId xmlns:a16="http://schemas.microsoft.com/office/drawing/2014/main" val="339465735"/>
                  </a:ext>
                </a:extLst>
              </a:tr>
              <a:tr h="17139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Code Complexity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400" kern="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AVL trees tend to have more complex code for maintaining </a:t>
                      </a:r>
                      <a:r>
                        <a:rPr lang="en-IN" sz="1400" u="sng" kern="0" dirty="0">
                          <a:effectLst/>
                        </a:rPr>
                        <a:t>balance</a:t>
                      </a:r>
                      <a:r>
                        <a:rPr lang="en-IN" sz="1400" kern="0" dirty="0">
                          <a:effectLst/>
                        </a:rPr>
                        <a:t>, which can lead to larger codebases and potentially more room for bugs.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400" kern="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RB trees are usually </a:t>
                      </a:r>
                      <a:r>
                        <a:rPr lang="en-IN" sz="1400" u="sng" kern="0" dirty="0">
                          <a:effectLst/>
                        </a:rPr>
                        <a:t>easier to implement, maintain, and debug </a:t>
                      </a:r>
                      <a:r>
                        <a:rPr lang="en-IN" sz="1400" kern="0" dirty="0">
                          <a:effectLst/>
                        </a:rPr>
                        <a:t>due to their simpler balance maintenance.</a:t>
                      </a:r>
                      <a:endParaRPr lang="en-IN" sz="1400" kern="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 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603" marR="30603" marT="0" marB="0"/>
                </a:tc>
                <a:extLst>
                  <a:ext uri="{0D108BD9-81ED-4DB2-BD59-A6C34878D82A}">
                    <a16:rowId xmlns:a16="http://schemas.microsoft.com/office/drawing/2014/main" val="236282439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A4D7B09-1FAA-CB5F-BA77-C24E4BD2EB50}"/>
              </a:ext>
            </a:extLst>
          </p:cNvPr>
          <p:cNvSpPr txBox="1"/>
          <p:nvPr/>
        </p:nvSpPr>
        <p:spPr>
          <a:xfrm>
            <a:off x="3131840" y="332656"/>
            <a:ext cx="2808312" cy="58477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3200" b="1" dirty="0"/>
              <a:t>AVL Vs RB Tree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237549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350E84B-E07D-A341-B985-3F23FE0A9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3" y="1016434"/>
            <a:ext cx="9017941" cy="522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232B66-6831-8905-4DFF-B795FDE01298}"/>
              </a:ext>
            </a:extLst>
          </p:cNvPr>
          <p:cNvSpPr txBox="1"/>
          <p:nvPr/>
        </p:nvSpPr>
        <p:spPr>
          <a:xfrm>
            <a:off x="2339752" y="328300"/>
            <a:ext cx="4320480" cy="58477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3200" b="1" dirty="0"/>
              <a:t>AVL </a:t>
            </a:r>
            <a:r>
              <a:rPr lang="en-US" sz="3200" i="1" dirty="0"/>
              <a:t>Vs</a:t>
            </a:r>
            <a:r>
              <a:rPr lang="en-US" sz="3200" b="1" dirty="0"/>
              <a:t> RB </a:t>
            </a:r>
            <a:r>
              <a:rPr lang="en-US" sz="3200" i="1" dirty="0"/>
              <a:t>Vs</a:t>
            </a:r>
            <a:r>
              <a:rPr lang="en-US" sz="3200" b="1" dirty="0"/>
              <a:t> B-Tree</a:t>
            </a:r>
            <a:endParaRPr lang="en-IN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1F4786-2055-E095-6335-828BADDB5009}"/>
                  </a:ext>
                </a:extLst>
              </p:cNvPr>
              <p:cNvSpPr txBox="1"/>
              <p:nvPr/>
            </p:nvSpPr>
            <p:spPr>
              <a:xfrm>
                <a:off x="5580112" y="6202762"/>
                <a:ext cx="3689349" cy="7151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IN" sz="1050" b="0" i="0" dirty="0">
                    <a:effectLst/>
                    <a:latin typeface="Roboto" panose="02000000000000000000" pitchFamily="2" charset="0"/>
                  </a:rPr>
                  <a:t>The height ( h ) of a B-tree is given by: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sz="1050" i="1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IN" sz="1050" i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⌈"/>
                          <m:endChr m:val="⌉"/>
                          <m:ctrlPr>
                            <a:rPr lang="ar-AE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/>
                            <m:sub>
                              <m:r>
                                <m:rPr>
                                  <m:sty m:val="p"/>
                                </m:rPr>
                                <a:rPr lang="en-IN" sz="105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func>
                                <m:funcPr>
                                  <m:ctrlPr>
                                    <a:rPr lang="ar-AE" sz="105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/>
                                <m:e/>
                              </m:func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lang="ar-AE" sz="10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0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ar-AE" sz="1050" i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e>
                              </m:d>
                            </m:sub>
                          </m:sSub>
                          <m:f>
                            <m:fPr>
                              <m:ctrlPr>
                                <a:rPr lang="ar-AE" sz="10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0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105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ar-AE" sz="105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ar-AE" sz="1050" i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105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1F4786-2055-E095-6335-828BADDB5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6202762"/>
                <a:ext cx="3689349" cy="7151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69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260648"/>
            <a:ext cx="4608512" cy="504056"/>
          </a:xfrm>
          <a:solidFill>
            <a:schemeClr val="accent6"/>
          </a:solidFill>
        </p:spPr>
        <p:txBody>
          <a:bodyPr>
            <a:noAutofit/>
          </a:bodyPr>
          <a:lstStyle/>
          <a:p>
            <a:r>
              <a:rPr lang="en-IN" sz="3200" dirty="0"/>
              <a:t>Properties of RB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507288" cy="4392488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IN" sz="2400" b="1" i="1" dirty="0"/>
              <a:t>Root</a:t>
            </a:r>
            <a:r>
              <a:rPr lang="en-IN" sz="2400" dirty="0"/>
              <a:t> is always black</a:t>
            </a:r>
          </a:p>
          <a:p>
            <a:pPr marL="514350" indent="-514350" algn="just">
              <a:buAutoNum type="arabicPeriod"/>
            </a:pPr>
            <a:endParaRPr lang="en-IN" sz="2400" dirty="0"/>
          </a:p>
          <a:p>
            <a:pPr marL="514350" indent="-514350" algn="just">
              <a:buAutoNum type="arabicPeriod"/>
            </a:pPr>
            <a:r>
              <a:rPr lang="en-IN" sz="2400" b="1" i="1" dirty="0"/>
              <a:t>Nil</a:t>
            </a:r>
            <a:r>
              <a:rPr lang="en-IN" sz="2400" dirty="0"/>
              <a:t> is considered to be black which means that every non-Nil node has two children</a:t>
            </a:r>
          </a:p>
          <a:p>
            <a:pPr marL="514350" indent="-514350" algn="just">
              <a:buAutoNum type="arabicPeriod"/>
            </a:pPr>
            <a:endParaRPr lang="en-IN" sz="2400" dirty="0"/>
          </a:p>
          <a:p>
            <a:pPr marL="514350" indent="-514350" algn="just">
              <a:buAutoNum type="arabicPeriod"/>
            </a:pPr>
            <a:r>
              <a:rPr lang="en-IN" sz="2400" b="1" i="1" dirty="0"/>
              <a:t>Black Children Rule</a:t>
            </a:r>
            <a:r>
              <a:rPr lang="en-IN" sz="2400" dirty="0"/>
              <a:t>: children of each red node are black</a:t>
            </a:r>
          </a:p>
          <a:p>
            <a:pPr marL="514350" indent="-514350" algn="just">
              <a:buAutoNum type="arabicPeriod"/>
            </a:pPr>
            <a:endParaRPr lang="en-IN" sz="2400" dirty="0"/>
          </a:p>
          <a:p>
            <a:pPr marL="514350" indent="-514350" algn="just">
              <a:buAutoNum type="arabicPeriod"/>
            </a:pPr>
            <a:r>
              <a:rPr lang="en-IN" sz="2400" b="1" i="1" dirty="0"/>
              <a:t>Black Height Rule: </a:t>
            </a:r>
            <a:r>
              <a:rPr lang="en-IN" sz="2400" dirty="0"/>
              <a:t>For each node v, there exist an integer </a:t>
            </a:r>
            <a:r>
              <a:rPr lang="en-IN" sz="2400" b="1" i="1" dirty="0" err="1"/>
              <a:t>bh</a:t>
            </a:r>
            <a:r>
              <a:rPr lang="en-IN" sz="2400" dirty="0"/>
              <a:t>(v) such that each downward  path from v to a nil has exactly </a:t>
            </a:r>
            <a:r>
              <a:rPr lang="en-IN" sz="2400" dirty="0" err="1"/>
              <a:t>bh</a:t>
            </a:r>
            <a:r>
              <a:rPr lang="en-IN" sz="2400" dirty="0"/>
              <a:t>(v) black real(</a:t>
            </a:r>
            <a:r>
              <a:rPr lang="en-IN" sz="2400" dirty="0" err="1"/>
              <a:t>ie</a:t>
            </a:r>
            <a:r>
              <a:rPr lang="en-IN" sz="2400" dirty="0"/>
              <a:t> non </a:t>
            </a:r>
            <a:r>
              <a:rPr lang="en-IN" sz="2400" dirty="0" err="1"/>
              <a:t>nill</a:t>
            </a:r>
            <a:r>
              <a:rPr lang="en-IN" sz="2400" dirty="0"/>
              <a:t>) nodes.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60752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810544" cy="418058"/>
          </a:xfrm>
          <a:solidFill>
            <a:schemeClr val="accent6"/>
          </a:solidFill>
        </p:spPr>
        <p:txBody>
          <a:bodyPr>
            <a:noAutofit/>
          </a:bodyPr>
          <a:lstStyle/>
          <a:p>
            <a:r>
              <a:rPr lang="en-IN" sz="2800" dirty="0"/>
              <a:t>Ex- RB Tree</a:t>
            </a:r>
          </a:p>
        </p:txBody>
      </p:sp>
      <p:pic>
        <p:nvPicPr>
          <p:cNvPr id="4" name="Content Placeholder 3" descr="https://www.cs.auckland.ac.nz/software/AlgAnim/fig/rb_tree1a.gif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8136904" cy="47525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0466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3888" y="274638"/>
            <a:ext cx="2376265" cy="573155"/>
          </a:xfrm>
          <a:solidFill>
            <a:schemeClr val="accent6"/>
          </a:solidFill>
        </p:spPr>
        <p:txBody>
          <a:bodyPr>
            <a:noAutofit/>
          </a:bodyPr>
          <a:lstStyle/>
          <a:p>
            <a:r>
              <a:rPr lang="en-IN" sz="3200" dirty="0"/>
              <a:t>Rotations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729867"/>
            <a:ext cx="8229600" cy="398904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								    C</a:t>
            </a:r>
          </a:p>
          <a:p>
            <a:pPr marL="0" indent="0">
              <a:buNone/>
            </a:pPr>
            <a:r>
              <a:rPr lang="en-IN" b="1" dirty="0"/>
              <a:t>        B</a:t>
            </a:r>
          </a:p>
          <a:p>
            <a:pPr marL="0" indent="0">
              <a:buNone/>
            </a:pPr>
            <a:r>
              <a:rPr lang="en-IN" b="1" dirty="0"/>
              <a:t>		     C</a:t>
            </a:r>
            <a:r>
              <a:rPr lang="en-IN" dirty="0"/>
              <a:t>				</a:t>
            </a:r>
          </a:p>
          <a:p>
            <a:pPr marL="0" indent="0">
              <a:buNone/>
            </a:pPr>
            <a:r>
              <a:rPr lang="en-IN" dirty="0"/>
              <a:t>						A	  B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 rotations do not break BST- property</a:t>
            </a:r>
          </a:p>
          <a:p>
            <a:pPr marL="0" indent="0">
              <a:buNone/>
            </a:pPr>
            <a:r>
              <a:rPr lang="en-IN" dirty="0"/>
              <a:t>The order (</a:t>
            </a:r>
            <a:r>
              <a:rPr lang="en-IN" dirty="0" err="1"/>
              <a:t>AxByC</a:t>
            </a:r>
            <a:r>
              <a:rPr lang="en-IN" dirty="0"/>
              <a:t> is preserved)</a:t>
            </a:r>
          </a:p>
        </p:txBody>
      </p:sp>
      <p:sp>
        <p:nvSpPr>
          <p:cNvPr id="4" name="Oval 3"/>
          <p:cNvSpPr/>
          <p:nvPr/>
        </p:nvSpPr>
        <p:spPr>
          <a:xfrm>
            <a:off x="1111496" y="1597143"/>
            <a:ext cx="576064" cy="5760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8" name="Oval 7"/>
          <p:cNvSpPr/>
          <p:nvPr/>
        </p:nvSpPr>
        <p:spPr>
          <a:xfrm>
            <a:off x="7308304" y="1948585"/>
            <a:ext cx="576064" cy="5760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y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6300192" y="1423857"/>
            <a:ext cx="2015246" cy="2361705"/>
            <a:chOff x="6300192" y="1423857"/>
            <a:chExt cx="2015246" cy="2361705"/>
          </a:xfrm>
        </p:grpSpPr>
        <p:sp>
          <p:nvSpPr>
            <p:cNvPr id="9" name="Oval 8"/>
            <p:cNvSpPr/>
            <p:nvPr/>
          </p:nvSpPr>
          <p:spPr>
            <a:xfrm>
              <a:off x="6300192" y="2903488"/>
              <a:ext cx="576064" cy="57606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dirty="0">
                  <a:solidFill>
                    <a:srgbClr val="FF0000"/>
                  </a:solidFill>
                </a:rPr>
                <a:t>x</a:t>
              </a:r>
            </a:p>
          </p:txBody>
        </p:sp>
        <p:cxnSp>
          <p:nvCxnSpPr>
            <p:cNvPr id="22" name="Straight Connector 21"/>
            <p:cNvCxnSpPr>
              <a:cxnSpLocks/>
              <a:stCxn id="8" idx="5"/>
            </p:cNvCxnSpPr>
            <p:nvPr/>
          </p:nvCxnSpPr>
          <p:spPr>
            <a:xfrm>
              <a:off x="7800005" y="2440286"/>
              <a:ext cx="515433" cy="217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8" idx="3"/>
              <a:endCxn id="9" idx="7"/>
            </p:cNvCxnSpPr>
            <p:nvPr/>
          </p:nvCxnSpPr>
          <p:spPr>
            <a:xfrm flipH="1">
              <a:off x="6791893" y="2440286"/>
              <a:ext cx="600774" cy="5475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cxnSpLocks/>
              <a:stCxn id="9" idx="5"/>
            </p:cNvCxnSpPr>
            <p:nvPr/>
          </p:nvCxnSpPr>
          <p:spPr>
            <a:xfrm>
              <a:off x="6791893" y="3395189"/>
              <a:ext cx="432048" cy="3903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cxnSpLocks/>
              <a:endCxn id="9" idx="3"/>
            </p:cNvCxnSpPr>
            <p:nvPr/>
          </p:nvCxnSpPr>
          <p:spPr>
            <a:xfrm flipV="1">
              <a:off x="6300192" y="3395189"/>
              <a:ext cx="84363" cy="3903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endCxn id="8" idx="0"/>
            </p:cNvCxnSpPr>
            <p:nvPr/>
          </p:nvCxnSpPr>
          <p:spPr>
            <a:xfrm>
              <a:off x="7596336" y="1423857"/>
              <a:ext cx="0" cy="5247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Arrow Connector 38"/>
          <p:cNvCxnSpPr/>
          <p:nvPr/>
        </p:nvCxnSpPr>
        <p:spPr>
          <a:xfrm>
            <a:off x="3059832" y="2573932"/>
            <a:ext cx="30243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3059833" y="2924944"/>
            <a:ext cx="28803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419872" y="2055067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Left Rotate (T, x)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47864" y="2914128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Right Rotate (T, x)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899593" y="853562"/>
            <a:ext cx="2040930" cy="2575432"/>
            <a:chOff x="1028768" y="1544891"/>
            <a:chExt cx="1930229" cy="2275900"/>
          </a:xfrm>
        </p:grpSpPr>
        <p:sp>
          <p:nvSpPr>
            <p:cNvPr id="7" name="Oval 6"/>
            <p:cNvSpPr/>
            <p:nvPr/>
          </p:nvSpPr>
          <p:spPr>
            <a:xfrm>
              <a:off x="2150438" y="2930497"/>
              <a:ext cx="576064" cy="57606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dirty="0">
                  <a:solidFill>
                    <a:srgbClr val="FF0000"/>
                  </a:solidFill>
                </a:rPr>
                <a:t>y</a:t>
              </a:r>
            </a:p>
          </p:txBody>
        </p:sp>
        <p:cxnSp>
          <p:nvCxnSpPr>
            <p:cNvPr id="11" name="Straight Connector 10"/>
            <p:cNvCxnSpPr>
              <a:cxnSpLocks/>
              <a:endCxn id="7" idx="1"/>
            </p:cNvCxnSpPr>
            <p:nvPr/>
          </p:nvCxnSpPr>
          <p:spPr>
            <a:xfrm>
              <a:off x="1765194" y="2616267"/>
              <a:ext cx="469607" cy="398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cxnSpLocks/>
            </p:cNvCxnSpPr>
            <p:nvPr/>
          </p:nvCxnSpPr>
          <p:spPr>
            <a:xfrm flipH="1">
              <a:off x="1028768" y="2656629"/>
              <a:ext cx="257201" cy="398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cxnSpLocks/>
              <a:endCxn id="7" idx="2"/>
            </p:cNvCxnSpPr>
            <p:nvPr/>
          </p:nvCxnSpPr>
          <p:spPr>
            <a:xfrm flipV="1">
              <a:off x="1701910" y="3218529"/>
              <a:ext cx="448527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505483" y="1544891"/>
              <a:ext cx="0" cy="657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7" idx="5"/>
            </p:cNvCxnSpPr>
            <p:nvPr/>
          </p:nvCxnSpPr>
          <p:spPr>
            <a:xfrm>
              <a:off x="2642139" y="3422198"/>
              <a:ext cx="316858" cy="398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576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9792" y="274638"/>
            <a:ext cx="2448272" cy="562074"/>
          </a:xfrm>
          <a:solidFill>
            <a:schemeClr val="accent6"/>
          </a:solidFill>
        </p:spPr>
        <p:txBody>
          <a:bodyPr>
            <a:normAutofit fontScale="90000"/>
          </a:bodyPr>
          <a:lstStyle/>
          <a:p>
            <a:r>
              <a:rPr lang="en-IN" dirty="0"/>
              <a:t>Insertion 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8229600" cy="46085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5888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916832"/>
            <a:ext cx="8352928" cy="2592289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IN" sz="2800" dirty="0"/>
              <a:t>The type of discrepancy is determined by 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>
                <a:sym typeface="Wingdings" pitchFamily="2" charset="2"/>
              </a:rPr>
              <a:t></a:t>
            </a:r>
            <a:r>
              <a:rPr lang="en-IN" sz="2400" dirty="0"/>
              <a:t>the location of the node with respect to its grand parent, and </a:t>
            </a:r>
            <a:br>
              <a:rPr lang="en-IN" sz="2400" dirty="0"/>
            </a:br>
            <a:br>
              <a:rPr lang="en-IN" sz="2400" dirty="0"/>
            </a:br>
            <a:r>
              <a:rPr lang="en-IN" sz="2800" dirty="0">
                <a:sym typeface="Wingdings" pitchFamily="2" charset="2"/>
              </a:rPr>
              <a:t></a:t>
            </a:r>
            <a:r>
              <a:rPr lang="en-IN" sz="2400" dirty="0">
                <a:sym typeface="Wingdings" pitchFamily="2" charset="2"/>
              </a:rPr>
              <a:t> </a:t>
            </a:r>
            <a:r>
              <a:rPr lang="en-IN" sz="2400" dirty="0"/>
              <a:t>the </a:t>
            </a:r>
            <a:r>
              <a:rPr lang="en-IN" sz="2400" dirty="0" err="1"/>
              <a:t>color</a:t>
            </a:r>
            <a:r>
              <a:rPr lang="en-IN" sz="2400" dirty="0"/>
              <a:t> of the sibling of the parent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76672"/>
            <a:ext cx="7416824" cy="1296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4680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052736"/>
            <a:ext cx="6552728" cy="280831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l"/>
            <a:br>
              <a:rPr lang="en-IN" sz="2800" dirty="0"/>
            </a:br>
            <a:r>
              <a:rPr lang="en-IN" sz="2800" dirty="0"/>
              <a:t>1. </a:t>
            </a:r>
            <a:r>
              <a:rPr lang="en-IN" sz="2800" b="1" i="1" u="sng" dirty="0">
                <a:solidFill>
                  <a:schemeClr val="tx2"/>
                </a:solidFill>
              </a:rPr>
              <a:t>where the parent sibling (uncle) is </a:t>
            </a:r>
            <a:r>
              <a:rPr lang="en-IN" sz="2800" b="1" i="1" u="sng" dirty="0">
                <a:solidFill>
                  <a:srgbClr val="FF0000"/>
                </a:solidFill>
              </a:rPr>
              <a:t>red</a:t>
            </a:r>
            <a:r>
              <a:rPr lang="en-IN" sz="2800" b="1" i="1" u="sng" dirty="0"/>
              <a:t> </a:t>
            </a:r>
            <a:r>
              <a:rPr lang="en-IN" sz="2800" dirty="0"/>
              <a:t>: </a:t>
            </a:r>
            <a:br>
              <a:rPr lang="en-IN" sz="2800" dirty="0"/>
            </a:br>
            <a:r>
              <a:rPr lang="en-IN" sz="2800" dirty="0"/>
              <a:t>			fixed by changing </a:t>
            </a:r>
            <a:r>
              <a:rPr lang="en-IN" sz="2800" dirty="0" err="1"/>
              <a:t>color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/>
              <a:t>2 </a:t>
            </a:r>
            <a:r>
              <a:rPr lang="en-IN" sz="2800" b="1" i="1" u="sng" dirty="0">
                <a:solidFill>
                  <a:schemeClr val="tx2"/>
                </a:solidFill>
              </a:rPr>
              <a:t>where the parent sibling (uncle) is </a:t>
            </a:r>
            <a:r>
              <a:rPr lang="en-IN" sz="2800" b="1" i="1" u="sng" dirty="0"/>
              <a:t>black </a:t>
            </a:r>
            <a:r>
              <a:rPr lang="en-IN" sz="2800" dirty="0"/>
              <a:t>: </a:t>
            </a:r>
            <a:br>
              <a:rPr lang="en-IN" sz="2800" dirty="0"/>
            </a:br>
            <a:r>
              <a:rPr lang="en-IN" sz="2800" dirty="0"/>
              <a:t>			fixed by rotations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1C8066-30CF-A180-3397-42BE2685B877}"/>
              </a:ext>
            </a:extLst>
          </p:cNvPr>
          <p:cNvSpPr txBox="1"/>
          <p:nvPr/>
        </p:nvSpPr>
        <p:spPr>
          <a:xfrm>
            <a:off x="3059832" y="3861048"/>
            <a:ext cx="597666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(</a:t>
            </a:r>
            <a:r>
              <a:rPr lang="en-IN" sz="1800" dirty="0"/>
              <a:t>note: at most one rotation is sufficient for fixing the problem</a:t>
            </a:r>
            <a:r>
              <a:rPr lang="en-IN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919644-5016-C9A0-BC98-4681BF98816A}"/>
              </a:ext>
            </a:extLst>
          </p:cNvPr>
          <p:cNvSpPr txBox="1"/>
          <p:nvPr/>
        </p:nvSpPr>
        <p:spPr>
          <a:xfrm>
            <a:off x="200990" y="328010"/>
            <a:ext cx="1922738" cy="461665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r>
              <a:rPr lang="en-IN" sz="2400" b="1" dirty="0"/>
              <a:t>Discrepancies </a:t>
            </a:r>
          </a:p>
        </p:txBody>
      </p:sp>
    </p:spTree>
    <p:extLst>
      <p:ext uri="{BB962C8B-B14F-4D97-AF65-F5344CB8AC3E}">
        <p14:creationId xmlns:p14="http://schemas.microsoft.com/office/powerpoint/2010/main" val="3143458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860E58-6276-0AC0-F597-E6DBAD2F4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03893B-5620-8298-06EC-0451F753F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75" y="210788"/>
            <a:ext cx="8476049" cy="643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65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3D38D-550A-042F-34EC-17C7AEC18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9E783D-CEFB-203C-77F7-FF9621D1E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7A5D2-4183-6399-6034-20D69252E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75" y="210788"/>
            <a:ext cx="8476049" cy="6436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B5D166-3F38-C487-5926-2A465299F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48" y="1484784"/>
            <a:ext cx="4747456" cy="273630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395C98-D78C-6771-22D0-F5FD5ADE78E5}"/>
              </a:ext>
            </a:extLst>
          </p:cNvPr>
          <p:cNvCxnSpPr/>
          <p:nvPr/>
        </p:nvCxnSpPr>
        <p:spPr>
          <a:xfrm>
            <a:off x="3995936" y="1340768"/>
            <a:ext cx="0" cy="4896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408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856983" cy="6552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5936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6733215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7132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980728"/>
            <a:ext cx="9073008" cy="244827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1)</a:t>
            </a:r>
            <a:r>
              <a:rPr lang="en-US" sz="2000" dirty="0"/>
              <a:t> Perform </a:t>
            </a:r>
            <a:r>
              <a:rPr lang="en-US" sz="2000" dirty="0">
                <a:hlinkClick r:id="rId2"/>
              </a:rPr>
              <a:t>standard BST insertion</a:t>
            </a:r>
            <a:r>
              <a:rPr lang="en-US" sz="2000" dirty="0"/>
              <a:t> and make the color of newly inserted nodes as RED.</a:t>
            </a:r>
            <a:endParaRPr lang="en-IN" sz="2000" dirty="0"/>
          </a:p>
          <a:p>
            <a:pPr marL="0" indent="0">
              <a:buNone/>
            </a:pPr>
            <a:r>
              <a:rPr lang="en-US" sz="2000" b="1" dirty="0"/>
              <a:t>2)</a:t>
            </a:r>
            <a:r>
              <a:rPr lang="en-US" sz="2000" dirty="0"/>
              <a:t> If x is root, change color of x as BLACK </a:t>
            </a:r>
          </a:p>
          <a:p>
            <a:pPr marL="0" indent="0">
              <a:buNone/>
            </a:pPr>
            <a:r>
              <a:rPr lang="en-US" sz="2000" b="1" dirty="0"/>
              <a:t>3) </a:t>
            </a:r>
            <a:r>
              <a:rPr lang="en-US" sz="2000" dirty="0"/>
              <a:t>Do following if color of x’s parent is not BLACK or x is not root.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2000" b="1" dirty="0"/>
              <a:t>a) If x’s uncle is</a:t>
            </a:r>
            <a:r>
              <a:rPr lang="en-US" sz="2000" dirty="0"/>
              <a:t> </a:t>
            </a:r>
            <a:r>
              <a:rPr lang="en-US" sz="2000" b="1" dirty="0"/>
              <a:t>RED</a:t>
            </a:r>
            <a:r>
              <a:rPr lang="en-US" sz="2000" dirty="0"/>
              <a:t>  (</a:t>
            </a:r>
            <a:r>
              <a:rPr lang="en-US" sz="1800" i="1" dirty="0"/>
              <a:t>case1</a:t>
            </a:r>
            <a:r>
              <a:rPr lang="en-US" sz="2000" dirty="0"/>
              <a:t>)</a:t>
            </a:r>
            <a:br>
              <a:rPr lang="en-US" sz="2000" dirty="0"/>
            </a:br>
            <a:r>
              <a:rPr lang="en-US" sz="2000" dirty="0"/>
              <a:t>          </a:t>
            </a:r>
            <a:r>
              <a:rPr lang="en-US" sz="2000" b="1" dirty="0"/>
              <a:t>(i)</a:t>
            </a:r>
            <a:r>
              <a:rPr lang="en-US" sz="2000" dirty="0"/>
              <a:t> Change color of parent and uncle as BLACK.</a:t>
            </a:r>
            <a:br>
              <a:rPr lang="en-US" sz="2000" dirty="0"/>
            </a:br>
            <a:r>
              <a:rPr lang="en-US" sz="2000" dirty="0"/>
              <a:t>          </a:t>
            </a:r>
            <a:r>
              <a:rPr lang="en-US" sz="2000" b="1" dirty="0"/>
              <a:t>(ii)</a:t>
            </a:r>
            <a:r>
              <a:rPr lang="en-US" sz="2000" dirty="0"/>
              <a:t> color of grand parent as RED.</a:t>
            </a:r>
            <a:br>
              <a:rPr lang="en-US" sz="2000" dirty="0"/>
            </a:br>
            <a:r>
              <a:rPr lang="en-US" sz="2000" dirty="0"/>
              <a:t>          </a:t>
            </a:r>
            <a:r>
              <a:rPr lang="en-US" sz="2000" b="1" dirty="0"/>
              <a:t>(iii)</a:t>
            </a:r>
            <a:r>
              <a:rPr lang="en-US" sz="2000" dirty="0"/>
              <a:t> Change x = x’s grandparent, repeat steps 2 and 3 for new x.</a:t>
            </a:r>
            <a:endParaRPr lang="en-IN" sz="2000" dirty="0"/>
          </a:p>
          <a:p>
            <a:endParaRPr lang="en-IN" sz="2400" dirty="0"/>
          </a:p>
        </p:txBody>
      </p:sp>
      <p:pic>
        <p:nvPicPr>
          <p:cNvPr id="7" name="Picture 6" descr="redBlackCase2">
            <a:hlinkClick r:id="rId3"/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501009"/>
            <a:ext cx="7416824" cy="309634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C7E56E-C20E-CEA0-1421-1326728D0110}"/>
              </a:ext>
            </a:extLst>
          </p:cNvPr>
          <p:cNvSpPr txBox="1"/>
          <p:nvPr/>
        </p:nvSpPr>
        <p:spPr>
          <a:xfrm>
            <a:off x="611560" y="116632"/>
            <a:ext cx="7776864" cy="738664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u="sng" dirty="0"/>
              <a:t>Understanding Insertion</a:t>
            </a:r>
          </a:p>
          <a:p>
            <a:pPr marL="0" indent="0">
              <a:buNone/>
            </a:pPr>
            <a:r>
              <a:rPr lang="en-US" dirty="0"/>
              <a:t>Let x be the newly inserted node.</a:t>
            </a:r>
          </a:p>
        </p:txBody>
      </p:sp>
    </p:spTree>
    <p:extLst>
      <p:ext uri="{BB962C8B-B14F-4D97-AF65-F5344CB8AC3E}">
        <p14:creationId xmlns:p14="http://schemas.microsoft.com/office/powerpoint/2010/main" val="2722505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916832"/>
            <a:ext cx="6336704" cy="266429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i</a:t>
            </a:r>
            <a:r>
              <a:rPr lang="en-US" sz="2000" b="1" dirty="0"/>
              <a:t>)</a:t>
            </a:r>
            <a:r>
              <a:rPr lang="en-US" sz="2000" dirty="0"/>
              <a:t> Left </a:t>
            </a:r>
            <a:r>
              <a:rPr lang="en-US" sz="2000" dirty="0" err="1"/>
              <a:t>Left</a:t>
            </a:r>
            <a:r>
              <a:rPr lang="en-US" sz="2000" dirty="0"/>
              <a:t> Case (p is left child of g and x is left child of p)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ii)</a:t>
            </a:r>
            <a:r>
              <a:rPr lang="en-US" sz="2000" dirty="0"/>
              <a:t> Left Right Case (p is left child of g and x is right child of p)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iii)</a:t>
            </a:r>
            <a:r>
              <a:rPr lang="en-US" sz="2000" dirty="0"/>
              <a:t> Right </a:t>
            </a:r>
            <a:r>
              <a:rPr lang="en-US" sz="2000" dirty="0" err="1"/>
              <a:t>Right</a:t>
            </a:r>
            <a:r>
              <a:rPr lang="en-US" sz="2000" dirty="0"/>
              <a:t> Case (Mirror case i)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iv)</a:t>
            </a:r>
            <a:r>
              <a:rPr lang="en-US" sz="2000" dirty="0"/>
              <a:t> Right Left Case (Mirror case ii)</a:t>
            </a:r>
            <a:endParaRPr lang="en-IN" sz="2000" dirty="0"/>
          </a:p>
          <a:p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DD229-4D3F-74F8-658E-FCF0FD9D7C95}"/>
              </a:ext>
            </a:extLst>
          </p:cNvPr>
          <p:cNvSpPr txBox="1"/>
          <p:nvPr/>
        </p:nvSpPr>
        <p:spPr>
          <a:xfrm>
            <a:off x="251520" y="476672"/>
            <a:ext cx="8352928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/>
              <a:t>b) If x’s uncle is BLACK</a:t>
            </a:r>
            <a:r>
              <a:rPr lang="en-US" sz="2400" dirty="0"/>
              <a:t>, </a:t>
            </a:r>
          </a:p>
          <a:p>
            <a:pPr marL="0" indent="0">
              <a:buNone/>
            </a:pPr>
            <a:r>
              <a:rPr lang="en-US" sz="2400" dirty="0"/>
              <a:t>then there can be four configurations for x, x’s parent (</a:t>
            </a:r>
            <a:r>
              <a:rPr lang="en-US" sz="2400" b="1" dirty="0"/>
              <a:t>p</a:t>
            </a:r>
            <a:r>
              <a:rPr lang="en-US" sz="2400" dirty="0"/>
              <a:t>) and x’s grandparent (</a:t>
            </a:r>
            <a:r>
              <a:rPr lang="en-US" sz="2400" b="1" dirty="0"/>
              <a:t>g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4787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0604" y="58614"/>
            <a:ext cx="4042792" cy="475550"/>
          </a:xfrm>
          <a:solidFill>
            <a:schemeClr val="accent6"/>
          </a:solidFill>
        </p:spPr>
        <p:txBody>
          <a:bodyPr>
            <a:noAutofit/>
          </a:bodyPr>
          <a:lstStyle/>
          <a:p>
            <a:r>
              <a:rPr lang="en-IN" sz="3200" b="1" dirty="0"/>
              <a:t>Inserting a new node</a:t>
            </a:r>
            <a:endParaRPr lang="en-IN" sz="3200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70" y="764704"/>
            <a:ext cx="4042792" cy="2664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Content Placeholder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146549"/>
            <a:ext cx="3848125" cy="221855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655169" y="5157192"/>
            <a:ext cx="7381327" cy="12003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400" dirty="0"/>
              <a:t>Change </a:t>
            </a:r>
            <a:r>
              <a:rPr lang="en-IN" sz="2400" dirty="0" err="1"/>
              <a:t>Color</a:t>
            </a:r>
            <a:r>
              <a:rPr lang="en-IN" sz="2400" dirty="0"/>
              <a:t> of Grand Parent of New Node</a:t>
            </a:r>
          </a:p>
          <a:p>
            <a:pPr marL="342900" indent="-342900">
              <a:buAutoNum type="arabicPeriod"/>
            </a:pPr>
            <a:r>
              <a:rPr lang="en-IN" sz="2400" dirty="0"/>
              <a:t>Change </a:t>
            </a:r>
            <a:r>
              <a:rPr lang="en-IN" sz="2400" dirty="0" err="1"/>
              <a:t>Color</a:t>
            </a:r>
            <a:r>
              <a:rPr lang="en-IN" sz="2400" dirty="0"/>
              <a:t> of Parent and Uncle of New Node</a:t>
            </a:r>
          </a:p>
          <a:p>
            <a:pPr marL="342900" indent="-342900">
              <a:buAutoNum type="arabicPeriod"/>
            </a:pPr>
            <a:r>
              <a:rPr lang="en-US" sz="2400" dirty="0"/>
              <a:t>Grandparent will be marked as New Node</a:t>
            </a:r>
            <a:endParaRPr lang="en-IN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91827" y="4085091"/>
            <a:ext cx="4896544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Strategy to resolve : </a:t>
            </a:r>
          </a:p>
          <a:p>
            <a:pPr algn="ctr"/>
            <a:r>
              <a:rPr lang="en-IN" sz="2400" b="1" dirty="0"/>
              <a:t>CHANGE COLOR</a:t>
            </a:r>
          </a:p>
        </p:txBody>
      </p:sp>
    </p:spTree>
    <p:extLst>
      <p:ext uri="{BB962C8B-B14F-4D97-AF65-F5344CB8AC3E}">
        <p14:creationId xmlns:p14="http://schemas.microsoft.com/office/powerpoint/2010/main" val="2528683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36" y="240321"/>
            <a:ext cx="5400600" cy="504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967861"/>
            <a:ext cx="4536504" cy="274917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1749672" y="4220184"/>
            <a:ext cx="3758432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Strategy to resolve : </a:t>
            </a:r>
          </a:p>
          <a:p>
            <a:pPr algn="ctr"/>
            <a:r>
              <a:rPr lang="en-IN" sz="2400" b="1" dirty="0"/>
              <a:t>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49672" y="5157192"/>
            <a:ext cx="5976664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/>
              <a:t>Anti Clockwise Rotation at Parent Node</a:t>
            </a:r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/>
              <a:t>Make Parent as New Node  </a:t>
            </a:r>
          </a:p>
        </p:txBody>
      </p:sp>
    </p:spTree>
    <p:extLst>
      <p:ext uri="{BB962C8B-B14F-4D97-AF65-F5344CB8AC3E}">
        <p14:creationId xmlns:p14="http://schemas.microsoft.com/office/powerpoint/2010/main" val="214317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DC1FA-A2E6-EA95-7BD1-65089E53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DCB05BE4-8F21-7091-8C98-F561A00E08C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579" y="1983011"/>
            <a:ext cx="6779096" cy="2664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AD2CB4-5202-4124-4768-BF5BD02D127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36" y="240321"/>
            <a:ext cx="5400600" cy="504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FF87C9-8B2E-2B5E-FB67-353792EA4CF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6647"/>
            <a:ext cx="2664296" cy="21010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B4EA6D-EC2D-E1B7-9741-A53769F455EE}"/>
              </a:ext>
            </a:extLst>
          </p:cNvPr>
          <p:cNvSpPr txBox="1"/>
          <p:nvPr/>
        </p:nvSpPr>
        <p:spPr>
          <a:xfrm>
            <a:off x="785080" y="4652396"/>
            <a:ext cx="3758432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Strategy to resolve : </a:t>
            </a:r>
          </a:p>
          <a:p>
            <a:pPr algn="ctr"/>
            <a:r>
              <a:rPr lang="en-IN" sz="2400" b="1" dirty="0"/>
              <a:t>ROTATION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49E8D-54E8-05C6-108E-F8BA75BA9AD7}"/>
              </a:ext>
            </a:extLst>
          </p:cNvPr>
          <p:cNvSpPr txBox="1"/>
          <p:nvPr/>
        </p:nvSpPr>
        <p:spPr>
          <a:xfrm>
            <a:off x="246729" y="5685854"/>
            <a:ext cx="5249576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Anti Clockwise Rotation at Parent Node</a:t>
            </a:r>
          </a:p>
          <a:p>
            <a:r>
              <a:rPr lang="en-IN" sz="2400" b="1" dirty="0"/>
              <a:t>Make Parent as New Node  </a:t>
            </a:r>
          </a:p>
        </p:txBody>
      </p:sp>
    </p:spTree>
    <p:extLst>
      <p:ext uri="{BB962C8B-B14F-4D97-AF65-F5344CB8AC3E}">
        <p14:creationId xmlns:p14="http://schemas.microsoft.com/office/powerpoint/2010/main" val="3114464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194625"/>
            <a:ext cx="1152128" cy="490067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2400" dirty="0"/>
              <a:t>Case 3 </a:t>
            </a:r>
          </a:p>
        </p:txBody>
      </p:sp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943" y="194625"/>
            <a:ext cx="6912768" cy="504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091645"/>
            <a:ext cx="4464496" cy="244827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483768" y="3759133"/>
            <a:ext cx="4896544" cy="769441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Strategy to resolve : </a:t>
            </a:r>
          </a:p>
          <a:p>
            <a:pPr algn="ctr"/>
            <a:r>
              <a:rPr lang="en-IN" sz="2400" b="1" dirty="0"/>
              <a:t>ROTATION &amp; COLOR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3768" y="4653136"/>
            <a:ext cx="6012668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/>
              <a:t>Clockwise Rotation at </a:t>
            </a:r>
            <a:r>
              <a:rPr lang="en-IN" sz="2400" dirty="0" err="1"/>
              <a:t>GrandParent</a:t>
            </a:r>
            <a:r>
              <a:rPr lang="en-IN" sz="2400" dirty="0"/>
              <a:t> Node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/>
              <a:t>Exchange </a:t>
            </a:r>
            <a:r>
              <a:rPr lang="en-IN" sz="2400" dirty="0" err="1"/>
              <a:t>Color</a:t>
            </a:r>
            <a:r>
              <a:rPr lang="en-IN" sz="2400" dirty="0"/>
              <a:t> of </a:t>
            </a:r>
            <a:r>
              <a:rPr lang="en-IN" sz="2400" dirty="0" err="1"/>
              <a:t>GrandParent</a:t>
            </a:r>
            <a:r>
              <a:rPr lang="en-IN" sz="2400" dirty="0"/>
              <a:t> and Parent </a:t>
            </a:r>
          </a:p>
        </p:txBody>
      </p:sp>
    </p:spTree>
    <p:extLst>
      <p:ext uri="{BB962C8B-B14F-4D97-AF65-F5344CB8AC3E}">
        <p14:creationId xmlns:p14="http://schemas.microsoft.com/office/powerpoint/2010/main" val="1982439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95236"/>
            <a:ext cx="7200800" cy="77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162" y="3181781"/>
            <a:ext cx="4428318" cy="319954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7504" y="166626"/>
            <a:ext cx="1080120" cy="490066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2400" b="1" dirty="0"/>
              <a:t>Case 3 </a:t>
            </a:r>
          </a:p>
        </p:txBody>
      </p:sp>
      <p:pic>
        <p:nvPicPr>
          <p:cNvPr id="7" name="Content Placeholder 4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15" y="1313660"/>
            <a:ext cx="3456090" cy="24482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Arrow Connector 2"/>
          <p:cNvCxnSpPr>
            <a:stCxn id="8" idx="2"/>
          </p:cNvCxnSpPr>
          <p:nvPr/>
        </p:nvCxnSpPr>
        <p:spPr>
          <a:xfrm>
            <a:off x="5976156" y="2744924"/>
            <a:ext cx="31417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36096" y="2240868"/>
            <a:ext cx="1080120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BLACK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08304" y="3232877"/>
            <a:ext cx="1080120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RED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668344" y="3736933"/>
            <a:ext cx="180020" cy="484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990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1594520" cy="418058"/>
          </a:xfrm>
          <a:solidFill>
            <a:schemeClr val="accent6"/>
          </a:solidFill>
        </p:spPr>
        <p:txBody>
          <a:bodyPr>
            <a:noAutofit/>
          </a:bodyPr>
          <a:lstStyle/>
          <a:p>
            <a:r>
              <a:rPr lang="en-IN" sz="2800" dirty="0"/>
              <a:t>Example 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08" y="1052736"/>
            <a:ext cx="6840759" cy="39176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559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3">
            <a:extLst>
              <a:ext uri="{FF2B5EF4-FFF2-40B4-BE49-F238E27FC236}">
                <a16:creationId xmlns:a16="http://schemas.microsoft.com/office/drawing/2014/main" id="{D963A5B3-C22D-0CA4-AFF9-FCE3428ADAC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7183" y="4390911"/>
            <a:ext cx="3240360" cy="223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005" y="173126"/>
            <a:ext cx="2808312" cy="1989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799" y="2067694"/>
            <a:ext cx="3456384" cy="272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496" y="2344126"/>
            <a:ext cx="2590076" cy="250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3AC81C6D-D3BE-01EB-AB4F-F055EC9A18A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5" y="21246"/>
            <a:ext cx="2742875" cy="20396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258CD6-535B-C0BC-25B7-2E7576CEDB68}"/>
              </a:ext>
            </a:extLst>
          </p:cNvPr>
          <p:cNvSpPr txBox="1"/>
          <p:nvPr/>
        </p:nvSpPr>
        <p:spPr>
          <a:xfrm>
            <a:off x="1076623" y="2060848"/>
            <a:ext cx="896399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Insert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AFC4F-1E7D-3294-07B7-822E41254482}"/>
              </a:ext>
            </a:extLst>
          </p:cNvPr>
          <p:cNvSpPr txBox="1"/>
          <p:nvPr/>
        </p:nvSpPr>
        <p:spPr>
          <a:xfrm>
            <a:off x="6919680" y="771550"/>
            <a:ext cx="811441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Case-1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3524321-41F4-D3F8-2BD4-EFA758116772}"/>
              </a:ext>
            </a:extLst>
          </p:cNvPr>
          <p:cNvSpPr/>
          <p:nvPr/>
        </p:nvSpPr>
        <p:spPr>
          <a:xfrm>
            <a:off x="3004921" y="762970"/>
            <a:ext cx="756084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0C808A1-2FFB-5D0D-F13B-01A6A7B6F157}"/>
              </a:ext>
            </a:extLst>
          </p:cNvPr>
          <p:cNvSpPr/>
          <p:nvPr/>
        </p:nvSpPr>
        <p:spPr>
          <a:xfrm rot="2222514">
            <a:off x="5929448" y="1972565"/>
            <a:ext cx="711691" cy="3365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764BB4-5FA9-2300-0E3C-A222DE2E8B38}"/>
              </a:ext>
            </a:extLst>
          </p:cNvPr>
          <p:cNvSpPr txBox="1"/>
          <p:nvPr/>
        </p:nvSpPr>
        <p:spPr>
          <a:xfrm>
            <a:off x="5804811" y="5157192"/>
            <a:ext cx="324036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Anti Clockwise Rotation at Parent Node</a:t>
            </a:r>
          </a:p>
          <a:p>
            <a:r>
              <a:rPr lang="en-IN" sz="1400" dirty="0"/>
              <a:t>Make Parent as New Node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0E9C59-3000-BD72-7DC3-DEC4996039E5}"/>
              </a:ext>
            </a:extLst>
          </p:cNvPr>
          <p:cNvSpPr txBox="1"/>
          <p:nvPr/>
        </p:nvSpPr>
        <p:spPr>
          <a:xfrm>
            <a:off x="5963939" y="21246"/>
            <a:ext cx="3151136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Change </a:t>
            </a:r>
            <a:r>
              <a:rPr lang="en-IN" sz="1200" dirty="0" err="1"/>
              <a:t>Color</a:t>
            </a:r>
            <a:r>
              <a:rPr lang="en-IN" sz="1200" dirty="0"/>
              <a:t> of Grand Parent of New Node</a:t>
            </a:r>
          </a:p>
          <a:p>
            <a:r>
              <a:rPr lang="en-IN" sz="1200" dirty="0"/>
              <a:t>Change </a:t>
            </a:r>
            <a:r>
              <a:rPr lang="en-IN" sz="1200" dirty="0" err="1"/>
              <a:t>Color</a:t>
            </a:r>
            <a:r>
              <a:rPr lang="en-IN" sz="1200" dirty="0"/>
              <a:t> of Parent and Uncle of New Node</a:t>
            </a:r>
          </a:p>
          <a:p>
            <a:r>
              <a:rPr lang="en-US" sz="1200" dirty="0"/>
              <a:t>Grandparent will be marked as New Node</a:t>
            </a:r>
            <a:endParaRPr lang="en-IN" sz="120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53BED56-6F68-81A3-404D-BBBFCB0F3F76}"/>
              </a:ext>
            </a:extLst>
          </p:cNvPr>
          <p:cNvSpPr/>
          <p:nvPr/>
        </p:nvSpPr>
        <p:spPr>
          <a:xfrm rot="10800000">
            <a:off x="5387443" y="3674417"/>
            <a:ext cx="491139" cy="300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1DFDAC-7FB7-001B-7BEE-74B27D2EEABC}"/>
              </a:ext>
            </a:extLst>
          </p:cNvPr>
          <p:cNvSpPr txBox="1"/>
          <p:nvPr/>
        </p:nvSpPr>
        <p:spPr>
          <a:xfrm>
            <a:off x="7134969" y="4628207"/>
            <a:ext cx="864096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Case-2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B175EF-8275-31C1-17EB-93E72403E3E8}"/>
              </a:ext>
            </a:extLst>
          </p:cNvPr>
          <p:cNvSpPr txBox="1"/>
          <p:nvPr/>
        </p:nvSpPr>
        <p:spPr>
          <a:xfrm>
            <a:off x="7282965" y="278092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21D2304-4C15-2DCA-344E-50FDFC2CCB65}"/>
              </a:ext>
            </a:extLst>
          </p:cNvPr>
          <p:cNvCxnSpPr>
            <a:cxnSpLocks/>
          </p:cNvCxnSpPr>
          <p:nvPr/>
        </p:nvCxnSpPr>
        <p:spPr>
          <a:xfrm flipH="1">
            <a:off x="7341021" y="3068041"/>
            <a:ext cx="83970" cy="265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AE8C4BE-0ACA-C232-EB76-DCB16CE161D9}"/>
              </a:ext>
            </a:extLst>
          </p:cNvPr>
          <p:cNvSpPr txBox="1"/>
          <p:nvPr/>
        </p:nvSpPr>
        <p:spPr>
          <a:xfrm>
            <a:off x="3175500" y="4570832"/>
            <a:ext cx="864096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Case-3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E9DFF53-8588-8F93-B188-3765A85370A0}"/>
              </a:ext>
            </a:extLst>
          </p:cNvPr>
          <p:cNvSpPr/>
          <p:nvPr/>
        </p:nvSpPr>
        <p:spPr>
          <a:xfrm rot="5879931">
            <a:off x="1452683" y="4342837"/>
            <a:ext cx="491139" cy="300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0E35FB-7B69-ECEB-24FE-09163B2367A0}"/>
              </a:ext>
            </a:extLst>
          </p:cNvPr>
          <p:cNvSpPr txBox="1"/>
          <p:nvPr/>
        </p:nvSpPr>
        <p:spPr>
          <a:xfrm>
            <a:off x="2026712" y="310118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CEB1CD5-B62F-D868-97C1-A065CC7F4ECB}"/>
              </a:ext>
            </a:extLst>
          </p:cNvPr>
          <p:cNvCxnSpPr>
            <a:cxnSpLocks/>
          </p:cNvCxnSpPr>
          <p:nvPr/>
        </p:nvCxnSpPr>
        <p:spPr>
          <a:xfrm>
            <a:off x="2286062" y="3284984"/>
            <a:ext cx="197706" cy="217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BA20FDA-79C1-9F4C-16DE-3A60AF3CFCF1}"/>
              </a:ext>
            </a:extLst>
          </p:cNvPr>
          <p:cNvSpPr txBox="1"/>
          <p:nvPr/>
        </p:nvSpPr>
        <p:spPr>
          <a:xfrm>
            <a:off x="2426613" y="5031041"/>
            <a:ext cx="288201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Clockwise Rotation at </a:t>
            </a:r>
            <a:r>
              <a:rPr lang="en-IN" sz="1200" dirty="0" err="1"/>
              <a:t>GrandParent</a:t>
            </a:r>
            <a:r>
              <a:rPr lang="en-IN" sz="1200" dirty="0"/>
              <a:t> Node </a:t>
            </a:r>
          </a:p>
          <a:p>
            <a:r>
              <a:rPr lang="en-IN" sz="1200" dirty="0"/>
              <a:t>Exchange </a:t>
            </a:r>
            <a:r>
              <a:rPr lang="en-IN" sz="1200" dirty="0" err="1"/>
              <a:t>Color</a:t>
            </a:r>
            <a:r>
              <a:rPr lang="en-IN" sz="1200" dirty="0"/>
              <a:t> of </a:t>
            </a:r>
            <a:r>
              <a:rPr lang="en-IN" sz="1200" dirty="0" err="1"/>
              <a:t>GrandParent</a:t>
            </a:r>
            <a:r>
              <a:rPr lang="en-IN" sz="1200" dirty="0"/>
              <a:t> and Parent </a:t>
            </a:r>
          </a:p>
        </p:txBody>
      </p:sp>
    </p:spTree>
    <p:extLst>
      <p:ext uri="{BB962C8B-B14F-4D97-AF65-F5344CB8AC3E}">
        <p14:creationId xmlns:p14="http://schemas.microsoft.com/office/powerpoint/2010/main" val="656843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404665"/>
            <a:ext cx="8229600" cy="302433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Insert following nodes in an empty RB Tree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41, 38,31, 12, 19, 8</a:t>
            </a:r>
          </a:p>
          <a:p>
            <a:endParaRPr lang="en-IN" dirty="0"/>
          </a:p>
          <a:p>
            <a:r>
              <a:rPr lang="en-IN" dirty="0"/>
              <a:t>5, 10, 15, 25, 20, 30</a:t>
            </a:r>
          </a:p>
        </p:txBody>
      </p:sp>
    </p:spTree>
    <p:extLst>
      <p:ext uri="{BB962C8B-B14F-4D97-AF65-F5344CB8AC3E}">
        <p14:creationId xmlns:p14="http://schemas.microsoft.com/office/powerpoint/2010/main" val="1993172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476672"/>
            <a:ext cx="8712968" cy="61206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/>
              <a:t>Exercises</a:t>
            </a:r>
          </a:p>
          <a:p>
            <a:pPr marL="0" indent="0" algn="just">
              <a:buNone/>
            </a:pPr>
            <a:r>
              <a:rPr lang="en-IN" sz="2400" dirty="0"/>
              <a:t>-1	Draw the complete binary search tree of height 3 on the keys {1, 2, . . . , 15}. Add the NIL leaves and </a:t>
            </a:r>
            <a:r>
              <a:rPr lang="en-IN" sz="2400" dirty="0" err="1"/>
              <a:t>color</a:t>
            </a:r>
            <a:r>
              <a:rPr lang="en-IN" sz="2400" dirty="0"/>
              <a:t> the nodes in three different ways such that the black-heights of the resulting red-black trees are 2, 3, and 4.</a:t>
            </a:r>
          </a:p>
          <a:p>
            <a:pPr algn="just"/>
            <a:endParaRPr lang="en-IN" sz="2400" dirty="0"/>
          </a:p>
          <a:p>
            <a:pPr marL="0" indent="0" algn="just">
              <a:buNone/>
            </a:pPr>
            <a:r>
              <a:rPr lang="en-IN" sz="2400" dirty="0"/>
              <a:t>-2	Suppose that the root of a red-black tree is red. If we make it black, does the tree remain a red-black tree?</a:t>
            </a:r>
          </a:p>
          <a:p>
            <a:pPr marL="0" indent="0" algn="just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31162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CA7FC-E394-6BB8-70B2-D91C8BB96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5000"/>
              </a:lnSpc>
              <a:spcBef>
                <a:spcPts val="2400"/>
              </a:spcBef>
              <a:buNone/>
            </a:pPr>
            <a:r>
              <a:rPr lang="en-IN" sz="2400" b="0" kern="0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Red Black Tree and Insertion</a:t>
            </a:r>
            <a:endParaRPr lang="en-IN" sz="2400" b="1" kern="0" dirty="0">
              <a:solidFill>
                <a:srgbClr val="365F91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400" u="sng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Mangal" panose="02040503050203030202" pitchFamily="18" charset="0"/>
                <a:hlinkClick r:id="rId2"/>
              </a:rPr>
              <a:t>https://www.youtube.com/watch?v=H0MutN9u-Ik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IN" sz="2400" dirty="0">
              <a:solidFill>
                <a:srgbClr val="000000"/>
              </a:solidFill>
              <a:effectLst/>
              <a:highlight>
                <a:srgbClr val="FFFF00"/>
              </a:highlight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Understanding RB Tree Deletion cases with an Example 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400" u="sng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https://youtu.be/1qEjtfR0gIo</a:t>
            </a:r>
            <a:endParaRPr lang="en-IN" sz="2400" u="sng" dirty="0">
              <a:solidFill>
                <a:srgbClr val="000000"/>
              </a:solidFill>
              <a:effectLst/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IN" sz="2400" u="sng" dirty="0">
              <a:solidFill>
                <a:srgbClr val="000000"/>
              </a:solidFill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Perform Search &amp; Insert Operation In Binary Search Tree (BST)</a:t>
            </a:r>
            <a:endParaRPr lang="en-US" sz="2200" dirty="0">
              <a:solidFill>
                <a:srgbClr val="000000"/>
              </a:solidFill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  <a:hlinkClick r:id="rId5"/>
              </a:rPr>
              <a:t>https://www.youtube.com/watch?v=smE0gHcd5Gg</a:t>
            </a:r>
            <a:endParaRPr lang="en-IN" sz="26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IN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AECDDB-4278-DDCA-B941-A79D96B82F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61472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/>
              <a:t>Video Lecture of the topic can be found at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2852807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1173</Words>
  <Application>Microsoft Office PowerPoint</Application>
  <PresentationFormat>On-screen Show (4:3)</PresentationFormat>
  <Paragraphs>146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Cambria</vt:lpstr>
      <vt:lpstr>Cambria Math</vt:lpstr>
      <vt:lpstr>Roboto</vt:lpstr>
      <vt:lpstr>Rockwell</vt:lpstr>
      <vt:lpstr>Wingdings</vt:lpstr>
      <vt:lpstr>Office Theme</vt:lpstr>
      <vt:lpstr>RED BLACK TREES  RB-Trees</vt:lpstr>
      <vt:lpstr>PowerPoint Presentation</vt:lpstr>
      <vt:lpstr>PowerPoint Presentation</vt:lpstr>
      <vt:lpstr>PowerPoint Presentation</vt:lpstr>
      <vt:lpstr>PowerPoint Presentation</vt:lpstr>
      <vt:lpstr>Properties of RB Tree</vt:lpstr>
      <vt:lpstr>Ex- RB Tree</vt:lpstr>
      <vt:lpstr>Rotations </vt:lpstr>
      <vt:lpstr>Insertion </vt:lpstr>
      <vt:lpstr>The type of discrepancy is determined by   the location of the node with respect to its grand parent, and    the color of the sibling of the parent</vt:lpstr>
      <vt:lpstr> 1. where the parent sibling (uncle) is red :     fixed by changing color  2 where the parent sibling (uncle) is black :     fixed by rotations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Inserting a new node</vt:lpstr>
      <vt:lpstr>PowerPoint Presentation</vt:lpstr>
      <vt:lpstr>PowerPoint Presentation</vt:lpstr>
      <vt:lpstr>Case 3 </vt:lpstr>
      <vt:lpstr>Case 3 </vt:lpstr>
      <vt:lpstr>Example </vt:lpstr>
      <vt:lpstr>PowerPoint Presentation</vt:lpstr>
      <vt:lpstr>PowerPoint Presentation</vt:lpstr>
      <vt:lpstr>PowerPoint Presentation</vt:lpstr>
      <vt:lpstr>Video Lecture of the topic can be found 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BLACK TREES    RB-Trees</dc:title>
  <dc:creator>ASHISH SETH</dc:creator>
  <cp:lastModifiedBy>ASHISH SETH</cp:lastModifiedBy>
  <cp:revision>49</cp:revision>
  <dcterms:created xsi:type="dcterms:W3CDTF">2016-10-29T07:30:10Z</dcterms:created>
  <dcterms:modified xsi:type="dcterms:W3CDTF">2026-10-11T08:28:04Z</dcterms:modified>
</cp:coreProperties>
</file>