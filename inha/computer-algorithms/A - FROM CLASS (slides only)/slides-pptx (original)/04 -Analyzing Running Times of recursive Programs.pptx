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4" r:id="rId3"/>
    <p:sldId id="257" r:id="rId4"/>
    <p:sldId id="265" r:id="rId5"/>
    <p:sldId id="266" r:id="rId6"/>
    <p:sldId id="267" r:id="rId7"/>
    <p:sldId id="268" r:id="rId8"/>
    <p:sldId id="269" r:id="rId9"/>
    <p:sldId id="270" r:id="rId10"/>
    <p:sldId id="275" r:id="rId11"/>
    <p:sldId id="271" r:id="rId12"/>
    <p:sldId id="272" r:id="rId13"/>
    <p:sldId id="274" r:id="rId14"/>
    <p:sldId id="273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662" autoAdjust="0"/>
  </p:normalViewPr>
  <p:slideViewPr>
    <p:cSldViewPr>
      <p:cViewPr varScale="1">
        <p:scale>
          <a:sx n="77" d="100"/>
          <a:sy n="77" d="100"/>
        </p:scale>
        <p:origin x="1608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63CE7E-BBAD-4EAD-9D66-D8B552519069}" type="datetimeFigureOut">
              <a:rPr lang="en-IN" smtClean="0"/>
              <a:t>23-09-2024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149BA9-E534-40E1-8AE0-FEE2AADB6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652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149BA9-E534-40E1-8AE0-FEE2AADB6E4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946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51839-FEF6-439C-8608-8987C344D910}" type="datetime1">
              <a:rPr lang="en-IN" smtClean="0"/>
              <a:t>23-09-2024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39F9-FD17-4814-AE76-9C9B32AFF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896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F5767-57E1-4F4A-8773-220294399146}" type="datetime1">
              <a:rPr lang="en-IN" smtClean="0"/>
              <a:t>23-09-2024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39F9-FD17-4814-AE76-9C9B32AFF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622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46725-04ED-4DB2-BD57-3B1F5E9A96D5}" type="datetime1">
              <a:rPr lang="en-IN" smtClean="0"/>
              <a:t>23-09-2024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39F9-FD17-4814-AE76-9C9B32AFF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077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7E6B5-FDD8-4F53-88B0-7A7021BD267D}" type="datetime1">
              <a:rPr lang="en-IN" smtClean="0"/>
              <a:t>23-09-2024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39F9-FD17-4814-AE76-9C9B32AFF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408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8E61-4DDF-4B7E-9084-760815B05925}" type="datetime1">
              <a:rPr lang="en-IN" smtClean="0"/>
              <a:t>23-09-2024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39F9-FD17-4814-AE76-9C9B32AFF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454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FE319-5DC3-4F14-98F9-5FA59D7EEAFD}" type="datetime1">
              <a:rPr lang="en-IN" smtClean="0"/>
              <a:t>23-09-2024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39F9-FD17-4814-AE76-9C9B32AFF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4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B7003-42B3-4F00-ACFF-7EE1D07D80EE}" type="datetime1">
              <a:rPr lang="en-IN" smtClean="0"/>
              <a:t>23-09-2024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39F9-FD17-4814-AE76-9C9B32AFF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916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A005C-3C85-444A-913F-43B14A5B1FFF}" type="datetime1">
              <a:rPr lang="en-IN" smtClean="0"/>
              <a:t>23-09-2024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39F9-FD17-4814-AE76-9C9B32AFF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092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9A318-152C-4EDF-9D56-032573D383EB}" type="datetime1">
              <a:rPr lang="en-IN" smtClean="0"/>
              <a:t>23-09-2024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39F9-FD17-4814-AE76-9C9B32AFF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819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7061-52E6-4E9E-BBAB-C824AA6A8CD3}" type="datetime1">
              <a:rPr lang="en-IN" smtClean="0"/>
              <a:t>23-09-2024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39F9-FD17-4814-AE76-9C9B32AFF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136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C7028-E32D-494E-92CE-E1EDE58F4E29}" type="datetime1">
              <a:rPr lang="en-IN" smtClean="0"/>
              <a:t>23-09-2024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39F9-FD17-4814-AE76-9C9B32AFF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367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B51BAA-E201-48FA-9968-771547625CAD}" type="datetime1">
              <a:rPr lang="en-IN" smtClean="0"/>
              <a:t>23-09-2024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7539F9-FD17-4814-AE76-9C9B32AFF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366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zcPF4ZXt5F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KPtjTsAmDn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0809"/>
            <a:ext cx="7772400" cy="1899642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Analyzing</a:t>
            </a:r>
            <a:r>
              <a:rPr lang="en-IN" dirty="0"/>
              <a:t> Running Times</a:t>
            </a:r>
            <a:br>
              <a:rPr lang="en-IN" dirty="0"/>
            </a:br>
            <a:r>
              <a:rPr lang="en-IN" dirty="0"/>
              <a:t>Of </a:t>
            </a:r>
            <a:br>
              <a:rPr lang="en-IN" dirty="0"/>
            </a:br>
            <a:r>
              <a:rPr lang="en-IN" b="1" dirty="0"/>
              <a:t>Recursive Program </a:t>
            </a:r>
            <a:r>
              <a:rPr lang="en-IN" dirty="0"/>
              <a:t>Code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39F9-FD17-4814-AE76-9C9B32AFF9B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030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Techniques of </a:t>
            </a:r>
            <a:r>
              <a:rPr lang="en-IN" dirty="0" err="1"/>
              <a:t>Analyzing</a:t>
            </a:r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Recursive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Back Substitution Method</a:t>
            </a:r>
          </a:p>
          <a:p>
            <a:r>
              <a:rPr lang="en-IN" dirty="0"/>
              <a:t>Recursive Tree Method</a:t>
            </a:r>
          </a:p>
          <a:p>
            <a:r>
              <a:rPr lang="en-IN" dirty="0"/>
              <a:t>Master’s Theorem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39F9-FD17-4814-AE76-9C9B32AFF9B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721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IN" dirty="0"/>
              <a:t>0(n</a:t>
            </a:r>
            <a:r>
              <a:rPr lang="en-IN" baseline="30000" dirty="0"/>
              <a:t>2</a:t>
            </a:r>
            <a:r>
              <a:rPr lang="en-IN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demo</a:t>
            </a:r>
            <a:r>
              <a:rPr lang="en-IN" dirty="0"/>
              <a:t>(</a:t>
            </a:r>
            <a:r>
              <a:rPr lang="en-IN" dirty="0" err="1"/>
              <a:t>int</a:t>
            </a:r>
            <a:r>
              <a:rPr lang="en-IN" dirty="0"/>
              <a:t> n)</a:t>
            </a:r>
          </a:p>
          <a:p>
            <a:pPr marL="0" indent="0">
              <a:buNone/>
            </a:pPr>
            <a:r>
              <a:rPr lang="en-IN" dirty="0"/>
              <a:t>{ </a:t>
            </a:r>
          </a:p>
          <a:p>
            <a:pPr marL="0" indent="0">
              <a:buNone/>
            </a:pPr>
            <a:r>
              <a:rPr lang="en-IN"/>
              <a:t> if(n&gt;0)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{</a:t>
            </a:r>
          </a:p>
          <a:p>
            <a:pPr marL="0" indent="0">
              <a:buNone/>
            </a:pPr>
            <a:r>
              <a:rPr lang="en-IN" dirty="0"/>
              <a:t>      for(i=1; i&lt;=n; i++)</a:t>
            </a:r>
          </a:p>
          <a:p>
            <a:pPr marL="0" indent="0">
              <a:buNone/>
            </a:pPr>
            <a:r>
              <a:rPr lang="en-IN" dirty="0"/>
              <a:t>          print (“message”);</a:t>
            </a:r>
          </a:p>
          <a:p>
            <a:pPr marL="0" indent="0">
              <a:buNone/>
            </a:pPr>
            <a:r>
              <a:rPr lang="en-IN" dirty="0"/>
              <a:t>      demo(n-1);</a:t>
            </a:r>
          </a:p>
          <a:p>
            <a:pPr marL="0" indent="0">
              <a:buNone/>
            </a:pPr>
            <a:r>
              <a:rPr lang="en-IN" dirty="0"/>
              <a:t>   }</a:t>
            </a:r>
          </a:p>
          <a:p>
            <a:pPr marL="0" indent="0">
              <a:buNone/>
            </a:pPr>
            <a:r>
              <a:rPr lang="en-IN" dirty="0"/>
              <a:t>else</a:t>
            </a:r>
          </a:p>
          <a:p>
            <a:pPr marL="0" indent="0">
              <a:buNone/>
            </a:pPr>
            <a:r>
              <a:rPr lang="en-IN" dirty="0"/>
              <a:t>return 1;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39F9-FD17-4814-AE76-9C9B32AFF9B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7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IN" dirty="0"/>
              <a:t>0(n </a:t>
            </a:r>
            <a:r>
              <a:rPr lang="en-IN" dirty="0" err="1"/>
              <a:t>logn</a:t>
            </a:r>
            <a:r>
              <a:rPr lang="en-IN" dirty="0"/>
              <a:t>)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demo</a:t>
            </a:r>
            <a:r>
              <a:rPr lang="en-IN" dirty="0"/>
              <a:t>(</a:t>
            </a:r>
            <a:r>
              <a:rPr lang="en-IN" dirty="0" err="1"/>
              <a:t>int</a:t>
            </a:r>
            <a:r>
              <a:rPr lang="en-IN" dirty="0"/>
              <a:t> n)</a:t>
            </a:r>
          </a:p>
          <a:p>
            <a:pPr marL="0" indent="0">
              <a:buNone/>
            </a:pPr>
            <a:r>
              <a:rPr lang="en-IN" dirty="0"/>
              <a:t>{ </a:t>
            </a:r>
          </a:p>
          <a:p>
            <a:pPr marL="0" indent="0">
              <a:buNone/>
            </a:pPr>
            <a:r>
              <a:rPr lang="en-IN" dirty="0"/>
              <a:t> if(n&gt;0)</a:t>
            </a:r>
          </a:p>
          <a:p>
            <a:pPr marL="0" indent="0">
              <a:buNone/>
            </a:pPr>
            <a:r>
              <a:rPr lang="en-IN" dirty="0"/>
              <a:t>   {</a:t>
            </a:r>
          </a:p>
          <a:p>
            <a:pPr marL="0" indent="0">
              <a:buNone/>
            </a:pPr>
            <a:r>
              <a:rPr lang="en-IN" dirty="0"/>
              <a:t>      for(i=1; i&lt;=n; i=i*2)</a:t>
            </a:r>
          </a:p>
          <a:p>
            <a:pPr marL="0" indent="0">
              <a:buNone/>
            </a:pPr>
            <a:r>
              <a:rPr lang="en-IN" dirty="0"/>
              <a:t>          print (“message”);</a:t>
            </a:r>
          </a:p>
          <a:p>
            <a:pPr marL="0" indent="0">
              <a:buNone/>
            </a:pPr>
            <a:r>
              <a:rPr lang="en-IN" dirty="0"/>
              <a:t>      demo(n-1);</a:t>
            </a:r>
          </a:p>
          <a:p>
            <a:pPr marL="0" indent="0">
              <a:buNone/>
            </a:pPr>
            <a:r>
              <a:rPr lang="en-IN" dirty="0"/>
              <a:t>   }</a:t>
            </a:r>
          </a:p>
          <a:p>
            <a:pPr marL="0" indent="0">
              <a:buNone/>
            </a:pPr>
            <a:r>
              <a:rPr lang="en-IN" dirty="0"/>
              <a:t>else</a:t>
            </a:r>
          </a:p>
          <a:p>
            <a:pPr marL="0" indent="0">
              <a:buNone/>
            </a:pPr>
            <a:r>
              <a:rPr lang="en-IN" dirty="0"/>
              <a:t>return 1;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39F9-FD17-4814-AE76-9C9B32AFF9B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870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IN" dirty="0"/>
              <a:t>0(2</a:t>
            </a:r>
            <a:r>
              <a:rPr lang="en-IN" baseline="30000" dirty="0"/>
              <a:t>n</a:t>
            </a:r>
            <a:r>
              <a:rPr lang="en-IN" dirty="0"/>
              <a:t>)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demo</a:t>
            </a:r>
            <a:r>
              <a:rPr lang="en-IN" dirty="0"/>
              <a:t>(</a:t>
            </a:r>
            <a:r>
              <a:rPr lang="en-IN" dirty="0" err="1"/>
              <a:t>int</a:t>
            </a:r>
            <a:r>
              <a:rPr lang="en-IN" dirty="0"/>
              <a:t> n)</a:t>
            </a:r>
          </a:p>
          <a:p>
            <a:pPr marL="0" indent="0">
              <a:buNone/>
            </a:pPr>
            <a:r>
              <a:rPr lang="en-IN" dirty="0"/>
              <a:t>{ </a:t>
            </a:r>
          </a:p>
          <a:p>
            <a:pPr marL="0" indent="0">
              <a:buNone/>
            </a:pPr>
            <a:r>
              <a:rPr lang="en-IN" dirty="0"/>
              <a:t> if(n&gt;0)</a:t>
            </a:r>
          </a:p>
          <a:p>
            <a:pPr marL="0" indent="0">
              <a:buNone/>
            </a:pPr>
            <a:r>
              <a:rPr lang="en-IN" dirty="0"/>
              <a:t>   {</a:t>
            </a:r>
          </a:p>
          <a:p>
            <a:pPr marL="0" indent="0">
              <a:buNone/>
            </a:pPr>
            <a:r>
              <a:rPr lang="en-IN" dirty="0"/>
              <a:t>      print (“message”);</a:t>
            </a:r>
          </a:p>
          <a:p>
            <a:pPr marL="0" indent="0">
              <a:buNone/>
            </a:pPr>
            <a:r>
              <a:rPr lang="en-IN" dirty="0"/>
              <a:t>      demo(n-1);</a:t>
            </a:r>
          </a:p>
          <a:p>
            <a:pPr marL="0" indent="0">
              <a:buNone/>
            </a:pPr>
            <a:r>
              <a:rPr lang="en-IN" dirty="0"/>
              <a:t>      demo(n-1);</a:t>
            </a:r>
          </a:p>
          <a:p>
            <a:pPr marL="0" indent="0">
              <a:buNone/>
            </a:pPr>
            <a:r>
              <a:rPr lang="en-IN" dirty="0"/>
              <a:t>   }</a:t>
            </a:r>
          </a:p>
          <a:p>
            <a:pPr marL="0" indent="0">
              <a:buNone/>
            </a:pPr>
            <a:r>
              <a:rPr lang="en-IN" dirty="0"/>
              <a:t>else</a:t>
            </a:r>
          </a:p>
          <a:p>
            <a:pPr marL="0" indent="0">
              <a:buNone/>
            </a:pPr>
            <a:r>
              <a:rPr lang="en-IN" dirty="0"/>
              <a:t>return 1;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39F9-FD17-4814-AE76-9C9B32AFF9B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981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IN" dirty="0"/>
              <a:t>0(</a:t>
            </a:r>
            <a:r>
              <a:rPr lang="en-IN" dirty="0" err="1"/>
              <a:t>logn</a:t>
            </a:r>
            <a:r>
              <a:rPr lang="en-IN" dirty="0"/>
              <a:t>)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demo</a:t>
            </a:r>
            <a:r>
              <a:rPr lang="en-IN" dirty="0"/>
              <a:t>(</a:t>
            </a:r>
            <a:r>
              <a:rPr lang="en-IN" dirty="0" err="1"/>
              <a:t>int</a:t>
            </a:r>
            <a:r>
              <a:rPr lang="en-IN" dirty="0"/>
              <a:t> n)</a:t>
            </a:r>
          </a:p>
          <a:p>
            <a:pPr marL="0" indent="0">
              <a:buNone/>
            </a:pPr>
            <a:r>
              <a:rPr lang="en-IN" dirty="0"/>
              <a:t>{ </a:t>
            </a:r>
          </a:p>
          <a:p>
            <a:pPr marL="0" indent="0">
              <a:buNone/>
            </a:pPr>
            <a:r>
              <a:rPr lang="en-IN" dirty="0"/>
              <a:t> if(n&gt;1)</a:t>
            </a:r>
          </a:p>
          <a:p>
            <a:pPr marL="0" indent="0">
              <a:buNone/>
            </a:pPr>
            <a:r>
              <a:rPr lang="en-IN" dirty="0"/>
              <a:t>   {</a:t>
            </a:r>
          </a:p>
          <a:p>
            <a:pPr marL="0" indent="0">
              <a:buNone/>
            </a:pPr>
            <a:r>
              <a:rPr lang="en-IN" dirty="0"/>
              <a:t>      print (“message”);</a:t>
            </a:r>
          </a:p>
          <a:p>
            <a:pPr marL="0" indent="0">
              <a:buNone/>
            </a:pPr>
            <a:r>
              <a:rPr lang="en-IN" dirty="0"/>
              <a:t>      demo(n/2);</a:t>
            </a:r>
          </a:p>
          <a:p>
            <a:pPr marL="0" indent="0">
              <a:buNone/>
            </a:pPr>
            <a:r>
              <a:rPr lang="en-IN" dirty="0"/>
              <a:t>     }</a:t>
            </a:r>
          </a:p>
          <a:p>
            <a:pPr marL="0" indent="0">
              <a:buNone/>
            </a:pPr>
            <a:r>
              <a:rPr lang="en-IN" dirty="0"/>
              <a:t>else</a:t>
            </a:r>
          </a:p>
          <a:p>
            <a:pPr marL="0" indent="0">
              <a:buNone/>
            </a:pPr>
            <a:r>
              <a:rPr lang="en-IN" dirty="0"/>
              <a:t>return 1;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39F9-FD17-4814-AE76-9C9B32AFF9B5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98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IN" dirty="0"/>
              <a:t>0(n)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demo</a:t>
            </a:r>
            <a:r>
              <a:rPr lang="en-IN" dirty="0"/>
              <a:t>(</a:t>
            </a:r>
            <a:r>
              <a:rPr lang="en-IN" dirty="0" err="1"/>
              <a:t>int</a:t>
            </a:r>
            <a:r>
              <a:rPr lang="en-IN" dirty="0"/>
              <a:t> n)</a:t>
            </a:r>
          </a:p>
          <a:p>
            <a:pPr marL="0" indent="0">
              <a:buNone/>
            </a:pPr>
            <a:r>
              <a:rPr lang="en-IN" dirty="0"/>
              <a:t>{ </a:t>
            </a:r>
          </a:p>
          <a:p>
            <a:pPr marL="0" indent="0">
              <a:buNone/>
            </a:pPr>
            <a:r>
              <a:rPr lang="en-IN" dirty="0"/>
              <a:t> if(n&gt;1)</a:t>
            </a:r>
          </a:p>
          <a:p>
            <a:pPr marL="0" indent="0">
              <a:buNone/>
            </a:pPr>
            <a:r>
              <a:rPr lang="en-IN" dirty="0"/>
              <a:t>   {</a:t>
            </a:r>
          </a:p>
          <a:p>
            <a:pPr marL="0" indent="0">
              <a:buNone/>
            </a:pPr>
            <a:r>
              <a:rPr lang="en-IN" dirty="0"/>
              <a:t>	for(i=1; i&lt;=n; i=i+1)    </a:t>
            </a:r>
          </a:p>
          <a:p>
            <a:pPr marL="0" indent="0">
              <a:buNone/>
            </a:pPr>
            <a:r>
              <a:rPr lang="en-IN" dirty="0"/>
              <a:t>	print (“message”);</a:t>
            </a:r>
          </a:p>
          <a:p>
            <a:pPr marL="0" indent="0">
              <a:buNone/>
            </a:pPr>
            <a:r>
              <a:rPr lang="en-IN" dirty="0"/>
              <a:t>      	demo(n/2);</a:t>
            </a:r>
          </a:p>
          <a:p>
            <a:pPr marL="0" indent="0">
              <a:buNone/>
            </a:pPr>
            <a:r>
              <a:rPr lang="en-IN" dirty="0"/>
              <a:t>     }</a:t>
            </a:r>
          </a:p>
          <a:p>
            <a:pPr marL="0" indent="0">
              <a:buNone/>
            </a:pPr>
            <a:r>
              <a:rPr lang="en-IN" dirty="0"/>
              <a:t>else</a:t>
            </a:r>
          </a:p>
          <a:p>
            <a:pPr marL="0" indent="0">
              <a:buNone/>
            </a:pPr>
            <a:r>
              <a:rPr lang="en-IN" dirty="0"/>
              <a:t>return 1;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39F9-FD17-4814-AE76-9C9B32AFF9B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366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IN" dirty="0"/>
              <a:t>0(n </a:t>
            </a:r>
            <a:r>
              <a:rPr lang="en-IN" dirty="0" err="1"/>
              <a:t>logn</a:t>
            </a:r>
            <a:r>
              <a:rPr lang="en-IN" dirty="0"/>
              <a:t>)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demo</a:t>
            </a:r>
            <a:r>
              <a:rPr lang="en-IN" dirty="0"/>
              <a:t>(</a:t>
            </a:r>
            <a:r>
              <a:rPr lang="en-IN" dirty="0" err="1"/>
              <a:t>int</a:t>
            </a:r>
            <a:r>
              <a:rPr lang="en-IN" dirty="0"/>
              <a:t> n)</a:t>
            </a:r>
          </a:p>
          <a:p>
            <a:pPr marL="0" indent="0">
              <a:buNone/>
            </a:pPr>
            <a:r>
              <a:rPr lang="en-IN" dirty="0"/>
              <a:t>{ </a:t>
            </a:r>
          </a:p>
          <a:p>
            <a:pPr marL="0" indent="0">
              <a:buNone/>
            </a:pPr>
            <a:r>
              <a:rPr lang="en-IN" dirty="0"/>
              <a:t> if(n&gt;1)</a:t>
            </a:r>
          </a:p>
          <a:p>
            <a:pPr marL="0" indent="0">
              <a:buNone/>
            </a:pPr>
            <a:r>
              <a:rPr lang="en-IN" dirty="0"/>
              <a:t>   {</a:t>
            </a:r>
          </a:p>
          <a:p>
            <a:pPr marL="0" indent="0">
              <a:buNone/>
            </a:pPr>
            <a:r>
              <a:rPr lang="en-IN" dirty="0"/>
              <a:t>	for(i=1; i&lt;=n; i=i+1)    </a:t>
            </a:r>
          </a:p>
          <a:p>
            <a:pPr marL="0" indent="0">
              <a:buNone/>
            </a:pPr>
            <a:r>
              <a:rPr lang="en-IN" dirty="0"/>
              <a:t>	print (“message”);</a:t>
            </a:r>
          </a:p>
          <a:p>
            <a:pPr marL="0" indent="0">
              <a:buNone/>
            </a:pPr>
            <a:r>
              <a:rPr lang="en-IN" dirty="0"/>
              <a:t>      	demo(n/2);</a:t>
            </a:r>
          </a:p>
          <a:p>
            <a:pPr marL="0" indent="0">
              <a:buNone/>
            </a:pPr>
            <a:r>
              <a:rPr lang="en-IN" dirty="0"/>
              <a:t>	demo(n/2);</a:t>
            </a:r>
          </a:p>
          <a:p>
            <a:pPr marL="0" indent="0">
              <a:buNone/>
            </a:pPr>
            <a:r>
              <a:rPr lang="en-IN" dirty="0"/>
              <a:t>     }</a:t>
            </a:r>
          </a:p>
          <a:p>
            <a:pPr marL="0" indent="0">
              <a:buNone/>
            </a:pPr>
            <a:r>
              <a:rPr lang="en-IN" dirty="0"/>
              <a:t>else</a:t>
            </a:r>
          </a:p>
          <a:p>
            <a:pPr marL="0" indent="0">
              <a:buNone/>
            </a:pPr>
            <a:r>
              <a:rPr lang="en-IN" dirty="0"/>
              <a:t>return 1;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39F9-FD17-4814-AE76-9C9B32AFF9B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280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188" y="533850"/>
            <a:ext cx="8229600" cy="175679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T(n) 	= c + 2T(n/2)  		n&gt;1</a:t>
            </a:r>
          </a:p>
          <a:p>
            <a:pPr marL="0" indent="0">
              <a:buNone/>
            </a:pPr>
            <a:r>
              <a:rPr lang="en-IN" dirty="0"/>
              <a:t>	= c          			n=1</a:t>
            </a:r>
          </a:p>
        </p:txBody>
      </p:sp>
      <p:sp>
        <p:nvSpPr>
          <p:cNvPr id="4" name="Right Brace 3"/>
          <p:cNvSpPr/>
          <p:nvPr/>
        </p:nvSpPr>
        <p:spPr>
          <a:xfrm>
            <a:off x="3995936" y="620688"/>
            <a:ext cx="648072" cy="115212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7740352" y="251356"/>
            <a:ext cx="9188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/>
              <a:t>0(n)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39F9-FD17-4814-AE76-9C9B32AFF9B5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6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FD9F5-140E-A45A-0F96-F27852218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36" y="764704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Amount of work done varies at different levels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(max. work done at root)</a:t>
            </a:r>
          </a:p>
          <a:p>
            <a:pPr marL="0" indent="0">
              <a:buNone/>
            </a:pPr>
            <a:r>
              <a:rPr lang="en-US" b="1" dirty="0"/>
              <a:t>T(n) = 2T(n/2) + cn</a:t>
            </a:r>
            <a:r>
              <a:rPr lang="en-US" b="1" baseline="30000" dirty="0"/>
              <a:t>2    			</a:t>
            </a:r>
            <a:r>
              <a:rPr lang="en-IN" b="1" dirty="0"/>
              <a:t>[ n</a:t>
            </a:r>
            <a:r>
              <a:rPr lang="en-IN" b="1" baseline="30000" dirty="0"/>
              <a:t>2</a:t>
            </a:r>
            <a:r>
              <a:rPr lang="en-IN" b="1" dirty="0"/>
              <a:t> ] </a:t>
            </a:r>
          </a:p>
          <a:p>
            <a:pPr marL="0" indent="0">
              <a:buNone/>
            </a:pPr>
            <a:endParaRPr lang="en-IN" b="1" baseline="300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(work is done equally at all levels)</a:t>
            </a:r>
          </a:p>
          <a:p>
            <a:pPr marL="0" indent="0">
              <a:buNone/>
            </a:pPr>
            <a:r>
              <a:rPr lang="en-US" b="1" dirty="0"/>
              <a:t>T(n) = 2T(n/2) + </a:t>
            </a:r>
            <a:r>
              <a:rPr lang="en-US" b="1" dirty="0" err="1"/>
              <a:t>cn</a:t>
            </a:r>
            <a:r>
              <a:rPr lang="en-US" b="1" baseline="30000" dirty="0"/>
              <a:t>    			</a:t>
            </a:r>
            <a:r>
              <a:rPr lang="en-IN" b="1" dirty="0"/>
              <a:t>[ n log n ] </a:t>
            </a:r>
            <a:endParaRPr lang="en-IN" b="1" baseline="30000" dirty="0"/>
          </a:p>
          <a:p>
            <a:pPr marL="0" indent="0">
              <a:buNone/>
            </a:pPr>
            <a:endParaRPr lang="en-IN" b="1" baseline="30000" dirty="0"/>
          </a:p>
          <a:p>
            <a:pPr marL="0" indent="0">
              <a:buNone/>
            </a:pPr>
            <a:endParaRPr lang="en-IN" b="1" baseline="30000" dirty="0"/>
          </a:p>
          <a:p>
            <a:pPr marL="0" indent="0">
              <a:buNone/>
            </a:pPr>
            <a:r>
              <a:rPr lang="en-US" sz="2400" dirty="0"/>
              <a:t>(max. work done at leaves)</a:t>
            </a:r>
          </a:p>
          <a:p>
            <a:pPr marL="0" indent="0">
              <a:buNone/>
            </a:pPr>
            <a:r>
              <a:rPr lang="en-US" b="1" dirty="0"/>
              <a:t>T(n) = 2T(n/2) + c</a:t>
            </a:r>
            <a:r>
              <a:rPr lang="en-US" b="1" baseline="30000" dirty="0"/>
              <a:t>    			</a:t>
            </a:r>
            <a:r>
              <a:rPr lang="en-IN" b="1" dirty="0"/>
              <a:t>[ n ] </a:t>
            </a:r>
            <a:endParaRPr lang="en-IN" b="1" baseline="30000" dirty="0"/>
          </a:p>
          <a:p>
            <a:pPr marL="0" indent="0">
              <a:buNone/>
            </a:pPr>
            <a:endParaRPr lang="en-IN" b="1" baseline="30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93320-7773-FFD7-A8C2-7D1CE7ADB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39F9-FD17-4814-AE76-9C9B32AFF9B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171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IN" dirty="0"/>
              <a:t>Results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47861"/>
            <a:ext cx="8229600" cy="521744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T(n) 	= c + T(n-1)		=&gt; 0(n)</a:t>
            </a:r>
          </a:p>
          <a:p>
            <a:pPr marL="0" indent="0">
              <a:buNone/>
            </a:pPr>
            <a:r>
              <a:rPr lang="en-IN" dirty="0"/>
              <a:t>	= 1 + T(n-1)		=&gt; 0(n)</a:t>
            </a:r>
          </a:p>
          <a:p>
            <a:pPr marL="0" indent="0">
              <a:buNone/>
            </a:pPr>
            <a:r>
              <a:rPr lang="en-IN" dirty="0"/>
              <a:t>	= n + T(n-1)		=&gt; 0(n</a:t>
            </a:r>
            <a:r>
              <a:rPr lang="en-IN" baseline="30000" dirty="0"/>
              <a:t>2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	= n</a:t>
            </a:r>
            <a:r>
              <a:rPr lang="en-IN" baseline="30000" dirty="0"/>
              <a:t>2</a:t>
            </a:r>
            <a:r>
              <a:rPr lang="en-IN" dirty="0"/>
              <a:t> + T(n-1)	=&gt; 0(n</a:t>
            </a:r>
            <a:r>
              <a:rPr lang="en-IN" baseline="30000" dirty="0"/>
              <a:t>3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	= </a:t>
            </a:r>
            <a:r>
              <a:rPr lang="en-IN" dirty="0" err="1"/>
              <a:t>logn</a:t>
            </a:r>
            <a:r>
              <a:rPr lang="en-IN" dirty="0"/>
              <a:t> + T(n-1)	=&gt; 0(</a:t>
            </a:r>
            <a:r>
              <a:rPr lang="en-IN" dirty="0" err="1"/>
              <a:t>nlogn</a:t>
            </a: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T(n) 	= 2T(n-1) + c	=&gt; 0(2</a:t>
            </a:r>
            <a:r>
              <a:rPr lang="en-IN" baseline="30000" dirty="0"/>
              <a:t>n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	= 3T(n-1) + 1	=&gt; 0(3</a:t>
            </a:r>
            <a:r>
              <a:rPr lang="en-IN" baseline="30000" dirty="0"/>
              <a:t>n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	= 2T(n-1) + n	=&gt; 0(n2</a:t>
            </a:r>
            <a:r>
              <a:rPr lang="en-IN" baseline="30000" dirty="0"/>
              <a:t>n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	= 2T(n-1) + log n	=&gt; 0(log n.2</a:t>
            </a:r>
            <a:r>
              <a:rPr lang="en-IN" baseline="30000" dirty="0"/>
              <a:t>n</a:t>
            </a: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39F9-FD17-4814-AE76-9C9B32AFF9B5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291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838EF-83E6-F360-23D2-600AFC013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3B2C9-BC56-935F-B62B-EA633F70E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T(n) = T(n/2) +1 = 0 (log n)</a:t>
            </a:r>
          </a:p>
          <a:p>
            <a:pPr marL="0" lvl="2" indent="0">
              <a:buNone/>
            </a:pPr>
            <a:r>
              <a:rPr lang="en-IN" sz="3200" dirty="0"/>
              <a:t>	  = T(n/2) + n = 0 ( n)</a:t>
            </a:r>
          </a:p>
          <a:p>
            <a:pPr marL="0" lvl="2" indent="0">
              <a:buNone/>
            </a:pPr>
            <a:r>
              <a:rPr lang="en-IN" sz="3200" dirty="0"/>
              <a:t>            = 2T(n/2) +n = 0 (n log n)</a:t>
            </a:r>
          </a:p>
          <a:p>
            <a:pPr marL="914400" lvl="2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87358-FEB6-D3F2-569B-F2F6302A2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39F9-FD17-4814-AE76-9C9B32AFF9B5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209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CF074-35BA-3BE1-5F20-917D5B039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Related contents can be found</a:t>
            </a:r>
            <a:endParaRPr lang="en-IN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8151B-4396-25D6-7661-6D91939AA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u="sng" dirty="0"/>
              <a:t>Analyzing Running Time of Iterative Algorithms</a:t>
            </a:r>
          </a:p>
          <a:p>
            <a:pPr marL="0" indent="0">
              <a:buNone/>
            </a:pPr>
            <a:r>
              <a:rPr lang="en-IN" sz="2000" dirty="0"/>
              <a:t>https://cexpertvision.com/analyzing-running-time-of-iterative-algorithms/</a:t>
            </a:r>
          </a:p>
          <a:p>
            <a:pPr marL="0" indent="0">
              <a:buNone/>
            </a:pPr>
            <a:endParaRPr lang="en-IN" sz="2400" b="1" i="1" u="sng" dirty="0"/>
          </a:p>
          <a:p>
            <a:pPr marL="0" indent="0">
              <a:buNone/>
            </a:pPr>
            <a:r>
              <a:rPr lang="en-IN" sz="2400" b="1" i="1" u="sng" dirty="0"/>
              <a:t>Back Substitution Method</a:t>
            </a:r>
          </a:p>
          <a:p>
            <a:pPr marL="0" indent="0">
              <a:buNone/>
            </a:pPr>
            <a:r>
              <a:rPr lang="en-IN" sz="2000" dirty="0"/>
              <a:t>https://cexpertvision.com/back-substitution-method/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6ED53-12CE-EC51-065E-6558B83B9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39F9-FD17-4814-AE76-9C9B32AFF9B5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104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1E76B-6C96-D0CC-7BAD-80EE8CA97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39F9-FD17-4814-AE76-9C9B32AFF9B5}" type="slidenum">
              <a:rPr lang="en-IN" smtClean="0"/>
              <a:t>14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113F7E-E76C-7E11-67B8-291E5893BC07}"/>
              </a:ext>
            </a:extLst>
          </p:cNvPr>
          <p:cNvSpPr txBox="1"/>
          <p:nvPr/>
        </p:nvSpPr>
        <p:spPr>
          <a:xfrm>
            <a:off x="457200" y="1791297"/>
            <a:ext cx="8455968" cy="3518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solidFill>
                  <a:srgbClr val="000000"/>
                </a:solidFill>
                <a:effectLst/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Analyzing</a:t>
            </a:r>
            <a:r>
              <a:rPr lang="en-IN" sz="1800" dirty="0">
                <a:solidFill>
                  <a:srgbClr val="000000"/>
                </a:solidFill>
                <a:effectLst/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 Running Time of Iterative Program Code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https://youtu.be/zcPF4ZXt5FI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000000"/>
                </a:solidFill>
                <a:effectLst/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solidFill>
                  <a:srgbClr val="000000"/>
                </a:solidFill>
                <a:effectLst/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Analyzing</a:t>
            </a:r>
            <a:r>
              <a:rPr lang="en-IN" sz="1800" dirty="0">
                <a:solidFill>
                  <a:srgbClr val="000000"/>
                </a:solidFill>
                <a:effectLst/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 Running Time of Recursive Code using Back Substitution method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000000"/>
                </a:solidFill>
                <a:effectLst/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https://youtu.be/9OXy5V7jMYc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000000"/>
                </a:solidFill>
                <a:effectLst/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solidFill>
                  <a:srgbClr val="000000"/>
                </a:solidFill>
                <a:effectLst/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Analyzing</a:t>
            </a:r>
            <a:r>
              <a:rPr lang="en-IN" sz="1800" dirty="0">
                <a:solidFill>
                  <a:srgbClr val="000000"/>
                </a:solidFill>
                <a:effectLst/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 Running Time of Recursive Code using Recursive tree Method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u="sng" dirty="0">
                <a:solidFill>
                  <a:srgbClr val="000000"/>
                </a:solidFill>
                <a:effectLst/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  <a:hlinkClick r:id="rId4"/>
              </a:rPr>
              <a:t>https://youtu.be/KPtjTsAmDn4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6FE6C2-41E5-F86D-D0E4-5FB91C0EF491}"/>
              </a:ext>
            </a:extLst>
          </p:cNvPr>
          <p:cNvSpPr txBox="1"/>
          <p:nvPr/>
        </p:nvSpPr>
        <p:spPr>
          <a:xfrm>
            <a:off x="827584" y="74445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Tx/>
              <a:buNone/>
              <a:defRPr/>
            </a:pPr>
            <a:r>
              <a:rPr lang="en-US" dirty="0"/>
              <a:t>Video Lecture of the topic can be found at</a:t>
            </a:r>
          </a:p>
        </p:txBody>
      </p:sp>
    </p:spTree>
    <p:extLst>
      <p:ext uri="{BB962C8B-B14F-4D97-AF65-F5344CB8AC3E}">
        <p14:creationId xmlns:p14="http://schemas.microsoft.com/office/powerpoint/2010/main" val="1957732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742</Words>
  <Application>Microsoft Office PowerPoint</Application>
  <PresentationFormat>On-screen Show (4:3)</PresentationFormat>
  <Paragraphs>139</Paragraphs>
  <Slides>14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Rockwell</vt:lpstr>
      <vt:lpstr>Office Theme</vt:lpstr>
      <vt:lpstr>Analyzing Running Times Of  Recursive Program Code </vt:lpstr>
      <vt:lpstr>Techniques of Analyzing  Recursive Code</vt:lpstr>
      <vt:lpstr>0(n2)</vt:lpstr>
      <vt:lpstr>0(n logn)</vt:lpstr>
      <vt:lpstr>0(2n)</vt:lpstr>
      <vt:lpstr>0(logn)</vt:lpstr>
      <vt:lpstr>0(n)</vt:lpstr>
      <vt:lpstr>0(n logn)</vt:lpstr>
      <vt:lpstr>PowerPoint Presentation</vt:lpstr>
      <vt:lpstr>PowerPoint Presentation</vt:lpstr>
      <vt:lpstr>Results </vt:lpstr>
      <vt:lpstr>PowerPoint Presentation</vt:lpstr>
      <vt:lpstr>Related contents can be found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Analyzing Running Times</dc:title>
  <dc:creator>ASHISH SETH</dc:creator>
  <cp:lastModifiedBy>Ashish Seth</cp:lastModifiedBy>
  <cp:revision>25</cp:revision>
  <dcterms:created xsi:type="dcterms:W3CDTF">2020-09-30T04:48:21Z</dcterms:created>
  <dcterms:modified xsi:type="dcterms:W3CDTF">2024-09-23T03:53:57Z</dcterms:modified>
</cp:coreProperties>
</file>