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1" r:id="rId1"/>
  </p:sldMasterIdLst>
  <p:sldIdLst>
    <p:sldId id="261" r:id="rId2"/>
    <p:sldId id="267" r:id="rId3"/>
    <p:sldId id="266" r:id="rId4"/>
    <p:sldId id="256" r:id="rId5"/>
    <p:sldId id="257" r:id="rId6"/>
    <p:sldId id="271" r:id="rId7"/>
    <p:sldId id="275" r:id="rId8"/>
    <p:sldId id="276" r:id="rId9"/>
    <p:sldId id="272" r:id="rId10"/>
    <p:sldId id="274" r:id="rId11"/>
    <p:sldId id="258" r:id="rId12"/>
    <p:sldId id="259" r:id="rId13"/>
    <p:sldId id="260" r:id="rId14"/>
    <p:sldId id="262" r:id="rId15"/>
    <p:sldId id="263" r:id="rId16"/>
    <p:sldId id="268" r:id="rId17"/>
    <p:sldId id="264" r:id="rId18"/>
    <p:sldId id="269" r:id="rId19"/>
    <p:sldId id="265" r:id="rId20"/>
    <p:sldId id="270" r:id="rId21"/>
    <p:sldId id="277" r:id="rId22"/>
    <p:sldId id="273" r:id="rId23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41" autoAdjust="0"/>
    <p:restoredTop sz="94660"/>
  </p:normalViewPr>
  <p:slideViewPr>
    <p:cSldViewPr>
      <p:cViewPr varScale="1">
        <p:scale>
          <a:sx n="70" d="100"/>
          <a:sy n="70" d="100"/>
        </p:scale>
        <p:origin x="1819" y="2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2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4.xml"/><Relationship Id="rId4" Type="http://schemas.openxmlformats.org/officeDocument/2006/relationships/image" Target="../media/image1.jpe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ight Triangle 1">
            <a:extLst>
              <a:ext uri="{FF2B5EF4-FFF2-40B4-BE49-F238E27FC236}">
                <a16:creationId xmlns:a16="http://schemas.microsoft.com/office/drawing/2014/main" id="{47FBEDB0-6839-6C86-7301-E0BA7DA5A668}"/>
              </a:ext>
            </a:extLst>
          </p:cNvPr>
          <p:cNvSpPr/>
          <p:nvPr/>
        </p:nvSpPr>
        <p:spPr>
          <a:xfrm>
            <a:off x="0" y="4664075"/>
            <a:ext cx="9150350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grpSp>
        <p:nvGrpSpPr>
          <p:cNvPr id="3" name="Group 15">
            <a:extLst>
              <a:ext uri="{FF2B5EF4-FFF2-40B4-BE49-F238E27FC236}">
                <a16:creationId xmlns:a16="http://schemas.microsoft.com/office/drawing/2014/main" id="{0FFB2E90-2F43-C89E-9A4D-76FDEED66BFC}"/>
              </a:ext>
            </a:extLst>
          </p:cNvPr>
          <p:cNvGrpSpPr>
            <a:grpSpLocks/>
          </p:cNvGrpSpPr>
          <p:nvPr/>
        </p:nvGrpSpPr>
        <p:grpSpPr bwMode="auto">
          <a:xfrm>
            <a:off x="-3175" y="4953000"/>
            <a:ext cx="9147175" cy="1911350"/>
            <a:chOff x="-3765" y="4832896"/>
            <a:chExt cx="9147765" cy="2032192"/>
          </a:xfrm>
        </p:grpSpPr>
        <p:sp>
          <p:nvSpPr>
            <p:cNvPr id="4" name="Freeform 15">
              <a:extLst>
                <a:ext uri="{FF2B5EF4-FFF2-40B4-BE49-F238E27FC236}">
                  <a16:creationId xmlns:a16="http://schemas.microsoft.com/office/drawing/2014/main" id="{9DAB80BE-0F3B-39C8-B756-6DB7F1339A6E}"/>
                </a:ext>
              </a:extLst>
            </p:cNvPr>
            <p:cNvSpPr>
              <a:spLocks/>
            </p:cNvSpPr>
            <p:nvPr/>
          </p:nvSpPr>
          <p:spPr bwMode="auto">
            <a:xfrm>
              <a:off x="1687032" y="4832896"/>
              <a:ext cx="7456968" cy="51817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en-US">
                <a:latin typeface="Tahoma" charset="0"/>
              </a:endParaRPr>
            </a:p>
          </p:txBody>
        </p:sp>
        <p:sp>
          <p:nvSpPr>
            <p:cNvPr id="5" name="Freeform 18">
              <a:extLst>
                <a:ext uri="{FF2B5EF4-FFF2-40B4-BE49-F238E27FC236}">
                  <a16:creationId xmlns:a16="http://schemas.microsoft.com/office/drawing/2014/main" id="{95488A63-9B23-8F34-8F26-E8BA60DE98F3}"/>
                </a:ext>
              </a:extLst>
            </p:cNvPr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/>
              <a:gdLst>
                <a:gd name="T0" fmla="*/ 0 w 5760"/>
                <a:gd name="T1" fmla="*/ 0 h 528"/>
                <a:gd name="T2" fmla="*/ 2147483646 w 5760"/>
                <a:gd name="T3" fmla="*/ 0 h 528"/>
                <a:gd name="T4" fmla="*/ 2147483646 w 5760"/>
                <a:gd name="T5" fmla="*/ 2147483646 h 528"/>
                <a:gd name="T6" fmla="*/ 2147483646 w 5760"/>
                <a:gd name="T7" fmla="*/ 0 h 52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760"/>
                <a:gd name="T13" fmla="*/ 0 h 528"/>
                <a:gd name="T14" fmla="*/ 5760 w 5760"/>
                <a:gd name="T15" fmla="*/ 528 h 52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6" name="Freeform 18">
              <a:extLst>
                <a:ext uri="{FF2B5EF4-FFF2-40B4-BE49-F238E27FC236}">
                  <a16:creationId xmlns:a16="http://schemas.microsoft.com/office/drawing/2014/main" id="{08D1FF13-8349-C228-3DD5-2B4933AFE4D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US"/>
            </a:p>
          </p:txBody>
        </p: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93EFE96D-1489-5B9E-7ECD-FD073A3A632B}"/>
                </a:ext>
              </a:extLst>
            </p:cNvPr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anchor="b"/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Date Placeholder 29">
            <a:extLst>
              <a:ext uri="{FF2B5EF4-FFF2-40B4-BE49-F238E27FC236}">
                <a16:creationId xmlns:a16="http://schemas.microsoft.com/office/drawing/2014/main" id="{FA7FDD0F-FB9C-CEF6-F9C5-168A564899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10" name="Footer Placeholder 18">
            <a:extLst>
              <a:ext uri="{FF2B5EF4-FFF2-40B4-BE49-F238E27FC236}">
                <a16:creationId xmlns:a16="http://schemas.microsoft.com/office/drawing/2014/main" id="{6389EAB1-2AE7-5C4E-8A1B-DD0A867C7F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11" name="Slide Number Placeholder 26">
            <a:extLst>
              <a:ext uri="{FF2B5EF4-FFF2-40B4-BE49-F238E27FC236}">
                <a16:creationId xmlns:a16="http://schemas.microsoft.com/office/drawing/2014/main" id="{F9D06135-0315-D061-D875-DEEEFB11DB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32CA03FD-E68A-45B6-8D42-AB65F69C60E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297861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Date Placeholder 9">
            <a:extLst>
              <a:ext uri="{FF2B5EF4-FFF2-40B4-BE49-F238E27FC236}">
                <a16:creationId xmlns:a16="http://schemas.microsoft.com/office/drawing/2014/main" id="{0A8628E6-C5DA-F93F-0B66-C0CDC92811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Footer Placeholder 21">
            <a:extLst>
              <a:ext uri="{FF2B5EF4-FFF2-40B4-BE49-F238E27FC236}">
                <a16:creationId xmlns:a16="http://schemas.microsoft.com/office/drawing/2014/main" id="{86F71D85-FD24-2A3D-A1B1-622A87886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DB976FA6-2D35-972F-5C2C-D2AADA4ED7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E328EA0-5FB7-4158-B3BF-1524FB00E99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753213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evron 10">
            <a:extLst>
              <a:ext uri="{FF2B5EF4-FFF2-40B4-BE49-F238E27FC236}">
                <a16:creationId xmlns:a16="http://schemas.microsoft.com/office/drawing/2014/main" id="{218FD407-26C1-48E5-B6DD-11FC2535BD66}"/>
              </a:ext>
            </a:extLst>
          </p:cNvPr>
          <p:cNvSpPr/>
          <p:nvPr/>
        </p:nvSpPr>
        <p:spPr>
          <a:xfrm>
            <a:off x="3636963" y="3005138"/>
            <a:ext cx="182562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5" name="Chevron 11">
            <a:extLst>
              <a:ext uri="{FF2B5EF4-FFF2-40B4-BE49-F238E27FC236}">
                <a16:creationId xmlns:a16="http://schemas.microsoft.com/office/drawing/2014/main" id="{5B17BA59-E824-A820-2C13-22CD80D9103E}"/>
              </a:ext>
            </a:extLst>
          </p:cNvPr>
          <p:cNvSpPr/>
          <p:nvPr/>
        </p:nvSpPr>
        <p:spPr>
          <a:xfrm>
            <a:off x="3449638" y="3005138"/>
            <a:ext cx="18415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anchor="b"/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D9983A95-B206-67BF-F032-17AAF1B424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A874629F-B598-FC77-C6AF-3B53EF5168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654D3380-4D21-2B29-341F-3FAF4B259E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E64C93-C6CD-4C67-A96B-2E5038B6BB5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702331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Date Placeholder 4">
            <a:extLst>
              <a:ext uri="{FF2B5EF4-FFF2-40B4-BE49-F238E27FC236}">
                <a16:creationId xmlns:a16="http://schemas.microsoft.com/office/drawing/2014/main" id="{658930C8-C10E-9E90-217F-E33A6A4650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5">
            <a:extLst>
              <a:ext uri="{FF2B5EF4-FFF2-40B4-BE49-F238E27FC236}">
                <a16:creationId xmlns:a16="http://schemas.microsoft.com/office/drawing/2014/main" id="{4ADC5F42-5FFC-94FB-4A48-493FEBFF1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71B49C5F-1027-96A1-63DA-7ED5427201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8D03B1B-50E2-487C-B295-16E95CAD809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5903955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/>
          <a:lstStyle>
            <a:lvl1pPr>
              <a:defRPr/>
            </a:lvl1pPr>
            <a:extLst/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7423535-13E1-081B-09C0-22C6797527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21BE89D-E30B-F854-4840-5F60AC4B0D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B9506C1-BBB1-26EE-2D74-1430470F9E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DD2AFE7-CAD7-4226-8AFE-D6B78E24D5C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558849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Date Placeholder 2">
            <a:extLst>
              <a:ext uri="{FF2B5EF4-FFF2-40B4-BE49-F238E27FC236}">
                <a16:creationId xmlns:a16="http://schemas.microsoft.com/office/drawing/2014/main" id="{E07926CF-DD80-6E2E-C3BD-FEADCB7C92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756D49E7-1704-1D2A-A72B-FEDB772848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4">
            <a:extLst>
              <a:ext uri="{FF2B5EF4-FFF2-40B4-BE49-F238E27FC236}">
                <a16:creationId xmlns:a16="http://schemas.microsoft.com/office/drawing/2014/main" id="{A64B9203-E2DF-BFBE-D5CF-2296332FAB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751BFCA-A356-4891-AE13-1AB37055BA3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2827313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9">
            <a:extLst>
              <a:ext uri="{FF2B5EF4-FFF2-40B4-BE49-F238E27FC236}">
                <a16:creationId xmlns:a16="http://schemas.microsoft.com/office/drawing/2014/main" id="{4596713C-4BD4-FCCA-17CB-F70009AF91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Footer Placeholder 21">
            <a:extLst>
              <a:ext uri="{FF2B5EF4-FFF2-40B4-BE49-F238E27FC236}">
                <a16:creationId xmlns:a16="http://schemas.microsoft.com/office/drawing/2014/main" id="{338D12AD-BE0B-FDA7-D814-42BF322100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17">
            <a:extLst>
              <a:ext uri="{FF2B5EF4-FFF2-40B4-BE49-F238E27FC236}">
                <a16:creationId xmlns:a16="http://schemas.microsoft.com/office/drawing/2014/main" id="{D6E3B07D-0A97-D73E-C388-D14073B10A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E3DC09-7493-44CD-8C37-6D221FD5BAC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674289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0F885C-36EE-96F4-BA98-A58FEF39C3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CC8B81-531A-E34D-5A8E-60A879E701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7A5378-9A20-9736-1C5C-8BDF04D874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4005A68-CDE2-4B79-98CF-EEF409D9FAF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5969866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10">
            <a:extLst>
              <a:ext uri="{FF2B5EF4-FFF2-40B4-BE49-F238E27FC236}">
                <a16:creationId xmlns:a16="http://schemas.microsoft.com/office/drawing/2014/main" id="{BED113FB-6561-7673-BEC9-1AC8CDA90627}"/>
              </a:ext>
            </a:extLst>
          </p:cNvPr>
          <p:cNvSpPr>
            <a:spLocks/>
          </p:cNvSpPr>
          <p:nvPr/>
        </p:nvSpPr>
        <p:spPr bwMode="auto">
          <a:xfrm>
            <a:off x="500063" y="5945188"/>
            <a:ext cx="4940300" cy="9207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Tahoma" charset="0"/>
            </a:endParaRPr>
          </a:p>
        </p:txBody>
      </p:sp>
      <p:sp>
        <p:nvSpPr>
          <p:cNvPr id="6" name="Freeform 15">
            <a:extLst>
              <a:ext uri="{FF2B5EF4-FFF2-40B4-BE49-F238E27FC236}">
                <a16:creationId xmlns:a16="http://schemas.microsoft.com/office/drawing/2014/main" id="{2B84CFF8-A4AC-C793-785A-45233256DAEE}"/>
              </a:ext>
            </a:extLst>
          </p:cNvPr>
          <p:cNvSpPr>
            <a:spLocks/>
          </p:cNvSpPr>
          <p:nvPr/>
        </p:nvSpPr>
        <p:spPr bwMode="auto">
          <a:xfrm>
            <a:off x="485775" y="5938838"/>
            <a:ext cx="3690938" cy="933450"/>
          </a:xfrm>
          <a:custGeom>
            <a:avLst/>
            <a:gdLst>
              <a:gd name="T0" fmla="*/ 0 w 5591"/>
              <a:gd name="T1" fmla="*/ 0 h 588"/>
              <a:gd name="T2" fmla="*/ 2147483646 w 5591"/>
              <a:gd name="T3" fmla="*/ 0 h 588"/>
              <a:gd name="T4" fmla="*/ 2147483646 w 5591"/>
              <a:gd name="T5" fmla="*/ 2147483646 h 588"/>
              <a:gd name="T6" fmla="*/ 2147483646 w 5591"/>
              <a:gd name="T7" fmla="*/ 0 h 588"/>
              <a:gd name="T8" fmla="*/ 0 60000 65536"/>
              <a:gd name="T9" fmla="*/ 0 60000 65536"/>
              <a:gd name="T10" fmla="*/ 0 60000 65536"/>
              <a:gd name="T11" fmla="*/ 0 60000 65536"/>
              <a:gd name="T12" fmla="*/ 0 w 5591"/>
              <a:gd name="T13" fmla="*/ 0 h 588"/>
              <a:gd name="T14" fmla="*/ 5591 w 5591"/>
              <a:gd name="T15" fmla="*/ 588 h 58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7" name="Right Triangle 6">
            <a:extLst>
              <a:ext uri="{FF2B5EF4-FFF2-40B4-BE49-F238E27FC236}">
                <a16:creationId xmlns:a16="http://schemas.microsoft.com/office/drawing/2014/main" id="{D7C82303-D2A1-880F-41EE-F380DEE8D5EE}"/>
              </a:ext>
            </a:extLst>
          </p:cNvPr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4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61AD786-1B20-E8E5-9339-7D9C416B26EA}"/>
              </a:ext>
            </a:extLst>
          </p:cNvPr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Chevron 18">
            <a:extLst>
              <a:ext uri="{FF2B5EF4-FFF2-40B4-BE49-F238E27FC236}">
                <a16:creationId xmlns:a16="http://schemas.microsoft.com/office/drawing/2014/main" id="{6935BB96-51B0-8897-AB74-EFFA379EBB95}"/>
              </a:ext>
            </a:extLst>
          </p:cNvPr>
          <p:cNvSpPr/>
          <p:nvPr/>
        </p:nvSpPr>
        <p:spPr>
          <a:xfrm>
            <a:off x="8664575" y="4987925"/>
            <a:ext cx="182563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10" name="Chevron 19">
            <a:extLst>
              <a:ext uri="{FF2B5EF4-FFF2-40B4-BE49-F238E27FC236}">
                <a16:creationId xmlns:a16="http://schemas.microsoft.com/office/drawing/2014/main" id="{9DB388DB-797F-5931-3790-71A39DDCAB1A}"/>
              </a:ext>
            </a:extLst>
          </p:cNvPr>
          <p:cNvSpPr/>
          <p:nvPr/>
        </p:nvSpPr>
        <p:spPr>
          <a:xfrm>
            <a:off x="8477250" y="4987925"/>
            <a:ext cx="182563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tIns="0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>
            <a:normAutofit/>
          </a:bodyPr>
          <a:lstStyle>
            <a:lvl1pPr marL="0" indent="0">
              <a:buNone/>
              <a:defRPr sz="3200"/>
            </a:lvl1pPr>
            <a:extLst/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Date Placeholder 4">
            <a:extLst>
              <a:ext uri="{FF2B5EF4-FFF2-40B4-BE49-F238E27FC236}">
                <a16:creationId xmlns:a16="http://schemas.microsoft.com/office/drawing/2014/main" id="{A0DD621D-07A5-332C-31C7-6509F2A159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12" name="Footer Placeholder 5">
            <a:extLst>
              <a:ext uri="{FF2B5EF4-FFF2-40B4-BE49-F238E27FC236}">
                <a16:creationId xmlns:a16="http://schemas.microsoft.com/office/drawing/2014/main" id="{DCFB1FCB-8AD1-9411-86DF-E709BEC4C0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13" name="Slide Number Placeholder 6">
            <a:extLst>
              <a:ext uri="{FF2B5EF4-FFF2-40B4-BE49-F238E27FC236}">
                <a16:creationId xmlns:a16="http://schemas.microsoft.com/office/drawing/2014/main" id="{7BBFE549-7A48-3154-C878-F4ED4DB24C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55C13DD-14F2-4E61-8A98-5CAF47C7C36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5535890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9">
            <a:extLst>
              <a:ext uri="{FF2B5EF4-FFF2-40B4-BE49-F238E27FC236}">
                <a16:creationId xmlns:a16="http://schemas.microsoft.com/office/drawing/2014/main" id="{2A1BE7BA-8051-D4BF-1BBA-6466A9D8CD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21">
            <a:extLst>
              <a:ext uri="{FF2B5EF4-FFF2-40B4-BE49-F238E27FC236}">
                <a16:creationId xmlns:a16="http://schemas.microsoft.com/office/drawing/2014/main" id="{FD1ABA6B-B6BD-EFE1-89C0-CCAE2BA1B0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17">
            <a:extLst>
              <a:ext uri="{FF2B5EF4-FFF2-40B4-BE49-F238E27FC236}">
                <a16:creationId xmlns:a16="http://schemas.microsoft.com/office/drawing/2014/main" id="{FB2C2EEE-E28C-BCD8-81B7-7CA368C5C7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22A97A-82A7-4DB3-AADC-B240EC4656C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516805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9">
            <a:extLst>
              <a:ext uri="{FF2B5EF4-FFF2-40B4-BE49-F238E27FC236}">
                <a16:creationId xmlns:a16="http://schemas.microsoft.com/office/drawing/2014/main" id="{DDD794D9-2C6B-6999-10C6-C8959FBF5A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21">
            <a:extLst>
              <a:ext uri="{FF2B5EF4-FFF2-40B4-BE49-F238E27FC236}">
                <a16:creationId xmlns:a16="http://schemas.microsoft.com/office/drawing/2014/main" id="{03F47A27-E562-41D8-5083-6888FE6BD2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17">
            <a:extLst>
              <a:ext uri="{FF2B5EF4-FFF2-40B4-BE49-F238E27FC236}">
                <a16:creationId xmlns:a16="http://schemas.microsoft.com/office/drawing/2014/main" id="{8B3C1336-BC05-ADDC-BA52-B70352C9E7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FF66AF-8D8F-457A-91B7-D2FBF336456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241692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>
            <a:extLst>
              <a:ext uri="{FF2B5EF4-FFF2-40B4-BE49-F238E27FC236}">
                <a16:creationId xmlns:a16="http://schemas.microsoft.com/office/drawing/2014/main" id="{FE3FEFF6-933C-E706-8BBF-C311C9377090}"/>
              </a:ext>
            </a:extLst>
          </p:cNvPr>
          <p:cNvSpPr>
            <a:spLocks/>
          </p:cNvSpPr>
          <p:nvPr/>
        </p:nvSpPr>
        <p:spPr bwMode="auto">
          <a:xfrm>
            <a:off x="500063" y="5945188"/>
            <a:ext cx="4940300" cy="9207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Tahoma" charset="0"/>
            </a:endParaRPr>
          </a:p>
        </p:txBody>
      </p:sp>
      <p:sp>
        <p:nvSpPr>
          <p:cNvPr id="1027" name="Freeform 11">
            <a:extLst>
              <a:ext uri="{FF2B5EF4-FFF2-40B4-BE49-F238E27FC236}">
                <a16:creationId xmlns:a16="http://schemas.microsoft.com/office/drawing/2014/main" id="{55B42EB5-7C9E-762B-9438-3C6EA829D2A0}"/>
              </a:ext>
            </a:extLst>
          </p:cNvPr>
          <p:cNvSpPr>
            <a:spLocks/>
          </p:cNvSpPr>
          <p:nvPr/>
        </p:nvSpPr>
        <p:spPr bwMode="auto">
          <a:xfrm>
            <a:off x="485775" y="5938838"/>
            <a:ext cx="3690938" cy="933450"/>
          </a:xfrm>
          <a:custGeom>
            <a:avLst/>
            <a:gdLst>
              <a:gd name="T0" fmla="*/ 0 w 5591"/>
              <a:gd name="T1" fmla="*/ 0 h 588"/>
              <a:gd name="T2" fmla="*/ 2147483646 w 5591"/>
              <a:gd name="T3" fmla="*/ 0 h 588"/>
              <a:gd name="T4" fmla="*/ 2147483646 w 5591"/>
              <a:gd name="T5" fmla="*/ 2147483646 h 588"/>
              <a:gd name="T6" fmla="*/ 2147483646 w 5591"/>
              <a:gd name="T7" fmla="*/ 0 h 588"/>
              <a:gd name="T8" fmla="*/ 0 60000 65536"/>
              <a:gd name="T9" fmla="*/ 0 60000 65536"/>
              <a:gd name="T10" fmla="*/ 0 60000 65536"/>
              <a:gd name="T11" fmla="*/ 0 60000 65536"/>
              <a:gd name="T12" fmla="*/ 0 w 5591"/>
              <a:gd name="T13" fmla="*/ 0 h 588"/>
              <a:gd name="T14" fmla="*/ 5591 w 5591"/>
              <a:gd name="T15" fmla="*/ 588 h 58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4" name="Right Triangle 13">
            <a:extLst>
              <a:ext uri="{FF2B5EF4-FFF2-40B4-BE49-F238E27FC236}">
                <a16:creationId xmlns:a16="http://schemas.microsoft.com/office/drawing/2014/main" id="{D993AF63-9608-2296-076D-A0FC3699B895}"/>
              </a:ext>
            </a:extLst>
          </p:cNvPr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9FD03A2-AD19-EE83-D809-C104BE62A570}"/>
              </a:ext>
            </a:extLst>
          </p:cNvPr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>
            <a:extLst>
              <a:ext uri="{FF2B5EF4-FFF2-40B4-BE49-F238E27FC236}">
                <a16:creationId xmlns:a16="http://schemas.microsoft.com/office/drawing/2014/main" id="{A3F61E10-E8EB-9773-33CA-DBEA1CF918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33" name="Text Placeholder 29">
            <a:extLst>
              <a:ext uri="{FF2B5EF4-FFF2-40B4-BE49-F238E27FC236}">
                <a16:creationId xmlns:a16="http://schemas.microsoft.com/office/drawing/2014/main" id="{83F94E5C-8D79-3EF5-128E-B45B8F4C9E2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481138"/>
            <a:ext cx="8229600" cy="452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E00DF718-B3B7-9331-5480-87B493DE06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727825" y="6408738"/>
            <a:ext cx="1919288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  <a:latin typeface="Tahoma" charset="0"/>
              </a:defRPr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22" name="Footer Placeholder 21">
            <a:extLst>
              <a:ext uri="{FF2B5EF4-FFF2-40B4-BE49-F238E27FC236}">
                <a16:creationId xmlns:a16="http://schemas.microsoft.com/office/drawing/2014/main" id="{A43EA263-8F93-1F08-0B62-176FF6B755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79913" y="6408738"/>
            <a:ext cx="2351087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  <a:latin typeface="Tahoma" charset="0"/>
              </a:defRPr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A875A189-72F7-344B-2D9C-F85AA448C7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47113" y="6408738"/>
            <a:ext cx="366712" cy="365125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000"/>
            </a:lvl1pPr>
          </a:lstStyle>
          <a:p>
            <a:pPr>
              <a:defRPr/>
            </a:pPr>
            <a:fld id="{D42A077D-7F6E-49A6-B672-A9471A32AC9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42" r:id="rId1"/>
    <p:sldLayoutId id="2147483938" r:id="rId2"/>
    <p:sldLayoutId id="2147483943" r:id="rId3"/>
    <p:sldLayoutId id="2147483944" r:id="rId4"/>
    <p:sldLayoutId id="2147483945" r:id="rId5"/>
    <p:sldLayoutId id="2147483946" r:id="rId6"/>
    <p:sldLayoutId id="2147483939" r:id="rId7"/>
    <p:sldLayoutId id="2147483947" r:id="rId8"/>
    <p:sldLayoutId id="2147483948" r:id="rId9"/>
    <p:sldLayoutId id="2147483940" r:id="rId10"/>
    <p:sldLayoutId id="2147483941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itchFamily="34" charset="0"/>
        </a:defRPr>
      </a:lvl9pPr>
      <a:extLst/>
    </p:titleStyle>
    <p:bodyStyle>
      <a:lvl1pPr marL="365125" indent="-255588" algn="l" rtl="0" eaLnBrk="0" fontAlgn="base" hangingPunct="0">
        <a:spcBef>
          <a:spcPts val="400"/>
        </a:spcBef>
        <a:spcAft>
          <a:spcPct val="0"/>
        </a:spcAft>
        <a:buClr>
          <a:schemeClr val="accent1"/>
        </a:buClr>
        <a:buSzPct val="68000"/>
        <a:buFont typeface="Wingdings 3" panose="05040102010807070707" pitchFamily="18" charset="2"/>
        <a:buChar char=""/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0713" indent="-228600" algn="l" rtl="0" eaLnBrk="0" fontAlgn="base" hangingPunct="0">
        <a:spcBef>
          <a:spcPts val="325"/>
        </a:spcBef>
        <a:spcAft>
          <a:spcPct val="0"/>
        </a:spcAft>
        <a:buClr>
          <a:schemeClr val="accent1"/>
        </a:buClr>
        <a:buFont typeface="Verdana" panose="020B0604030504040204" pitchFamily="34" charset="0"/>
        <a:buChar char="◦"/>
        <a:defRPr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8838" indent="-228600" algn="l" rtl="0" eaLnBrk="0" fontAlgn="base" hangingPunct="0">
        <a:spcBef>
          <a:spcPts val="350"/>
        </a:spcBef>
        <a:spcAft>
          <a:spcPct val="0"/>
        </a:spcAft>
        <a:buClr>
          <a:schemeClr val="accent2"/>
        </a:buClr>
        <a:buSzPct val="100000"/>
        <a:buFont typeface="Wingdings 2" panose="05020102010507070707" pitchFamily="18" charset="2"/>
        <a:buChar char=""/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0" fontAlgn="base" hangingPunct="0">
        <a:spcBef>
          <a:spcPts val="350"/>
        </a:spcBef>
        <a:spcAft>
          <a:spcPct val="0"/>
        </a:spcAft>
        <a:buClr>
          <a:schemeClr val="accent2"/>
        </a:buClr>
        <a:buFont typeface="Wingdings 2" panose="05020102010507070707" pitchFamily="18" charset="2"/>
        <a:buChar char=""/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0" fontAlgn="base" hangingPunct="0">
        <a:spcBef>
          <a:spcPts val="350"/>
        </a:spcBef>
        <a:spcAft>
          <a:spcPct val="0"/>
        </a:spcAft>
        <a:buClr>
          <a:schemeClr val="accent2"/>
        </a:buClr>
        <a:buFont typeface="Wingdings 2" panose="05020102010507070707" pitchFamily="18" charset="2"/>
        <a:buChar char="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LPE9xYEsfIU" TargetMode="External"/><Relationship Id="rId2" Type="http://schemas.openxmlformats.org/officeDocument/2006/relationships/hyperlink" Target="https://youtu.be/HO4B-kG_6Ag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cexpertvision.com/2020/10/18/comparison-based-sorting-ca/" TargetMode="External"/><Relationship Id="rId5" Type="http://schemas.openxmlformats.org/officeDocument/2006/relationships/hyperlink" Target="https://youtu.be/HEZdrU8ZPIk" TargetMode="External"/><Relationship Id="rId4" Type="http://schemas.openxmlformats.org/officeDocument/2006/relationships/hyperlink" Target="https://youtu.be/gCP06CTpEaE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Content Placeholder 2">
            <a:extLst>
              <a:ext uri="{FF2B5EF4-FFF2-40B4-BE49-F238E27FC236}">
                <a16:creationId xmlns:a16="http://schemas.microsoft.com/office/drawing/2014/main" id="{DCB62A97-81CA-A084-8089-C3AC36595C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 eaLnBrk="1" hangingPunct="1">
              <a:buFont typeface="Wingdings" panose="05000000000000000000" pitchFamily="2" charset="2"/>
              <a:buNone/>
            </a:pPr>
            <a:r>
              <a:rPr lang="en-IN" altLang="en-US" sz="6600"/>
              <a:t>Quick Sort </a:t>
            </a:r>
          </a:p>
          <a:p>
            <a:pPr marL="0" indent="0" algn="ctr" eaLnBrk="1" hangingPunct="1">
              <a:buFont typeface="Wingdings" panose="05000000000000000000" pitchFamily="2" charset="2"/>
              <a:buNone/>
            </a:pPr>
            <a:r>
              <a:rPr lang="en-IN" altLang="en-US" sz="6600"/>
              <a:t>Analysis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69D3A0-839C-83D5-B61F-E80D6B196E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1600200"/>
            <a:ext cx="8305800" cy="1829761"/>
          </a:xfrm>
        </p:spPr>
        <p:txBody>
          <a:bodyPr>
            <a:normAutofit fontScale="90000"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dirty="0">
                <a:sym typeface="Symbol" pitchFamily="18" charset="2"/>
              </a:rPr>
              <a:t>Algorithm Design Technique </a:t>
            </a:r>
            <a:br>
              <a:rPr lang="en-US" dirty="0">
                <a:sym typeface="Symbol" pitchFamily="18" charset="2"/>
              </a:rPr>
            </a:br>
            <a:br>
              <a:rPr lang="en-US" dirty="0">
                <a:sym typeface="Symbol" pitchFamily="18" charset="2"/>
              </a:rPr>
            </a:br>
            <a:r>
              <a:rPr lang="en-US" dirty="0">
                <a:sym typeface="Symbol" pitchFamily="18" charset="2"/>
              </a:rPr>
              <a:t>Divide and Conquer</a:t>
            </a:r>
            <a:endParaRPr lang="en-I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3">
            <a:extLst>
              <a:ext uri="{FF2B5EF4-FFF2-40B4-BE49-F238E27FC236}">
                <a16:creationId xmlns:a16="http://schemas.microsoft.com/office/drawing/2014/main" id="{D8BC7C4B-41DA-DAB3-4ABE-84C402AA30F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0" y="990600"/>
            <a:ext cx="8991600" cy="5562600"/>
          </a:xfrm>
        </p:spPr>
        <p:txBody>
          <a:bodyPr>
            <a:normAutofit fontScale="92500" lnSpcReduction="20000"/>
          </a:bodyPr>
          <a:lstStyle/>
          <a:p>
            <a:pPr marL="441325" lvl="1" indent="-346075" eaLnBrk="1" fontAlgn="auto" hangingPunct="1">
              <a:lnSpc>
                <a:spcPct val="90000"/>
              </a:lnSpc>
              <a:spcBef>
                <a:spcPts val="324"/>
              </a:spcBef>
              <a:spcAft>
                <a:spcPts val="0"/>
              </a:spcAft>
              <a:buFont typeface="Verdana"/>
              <a:buChar char="◦"/>
              <a:tabLst>
                <a:tab pos="441325" algn="l"/>
              </a:tabLst>
              <a:defRPr/>
            </a:pPr>
            <a:r>
              <a:rPr lang="en-US" dirty="0">
                <a:sym typeface="Symbol" pitchFamily="18" charset="2"/>
              </a:rPr>
              <a:t>It is often easier to </a:t>
            </a:r>
            <a:r>
              <a:rPr lang="en-US" i="1" dirty="0">
                <a:sym typeface="Symbol" pitchFamily="18" charset="2"/>
              </a:rPr>
              <a:t>solve several small instances</a:t>
            </a:r>
            <a:r>
              <a:rPr lang="en-US" dirty="0">
                <a:sym typeface="Symbol" pitchFamily="18" charset="2"/>
              </a:rPr>
              <a:t> of a problem than one large one.</a:t>
            </a:r>
          </a:p>
          <a:p>
            <a:pPr marL="441325" lvl="1" indent="-346075" eaLnBrk="1" fontAlgn="auto" hangingPunct="1">
              <a:lnSpc>
                <a:spcPct val="90000"/>
              </a:lnSpc>
              <a:spcBef>
                <a:spcPts val="324"/>
              </a:spcBef>
              <a:spcAft>
                <a:spcPts val="0"/>
              </a:spcAft>
              <a:buFont typeface="Verdana"/>
              <a:buChar char="◦"/>
              <a:tabLst>
                <a:tab pos="441325" algn="l"/>
              </a:tabLst>
              <a:defRPr/>
            </a:pPr>
            <a:endParaRPr lang="en-US" dirty="0">
              <a:sym typeface="Symbol" pitchFamily="18" charset="2"/>
            </a:endParaRPr>
          </a:p>
          <a:p>
            <a:pPr marL="441325" lvl="2" indent="-173038" eaLnBrk="1" fontAlgn="auto" hangingPunct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Wingdings 2"/>
              <a:buChar char=""/>
              <a:defRPr/>
            </a:pPr>
            <a:r>
              <a:rPr lang="en-US" i="1" dirty="0">
                <a:sym typeface="Symbol" pitchFamily="18" charset="2"/>
              </a:rPr>
              <a:t>divide</a:t>
            </a:r>
            <a:r>
              <a:rPr lang="en-US" dirty="0">
                <a:sym typeface="Symbol" pitchFamily="18" charset="2"/>
              </a:rPr>
              <a:t> the problem into smaller instances of the same problem</a:t>
            </a:r>
          </a:p>
          <a:p>
            <a:pPr marL="441325" lvl="2" indent="-173038" eaLnBrk="1" fontAlgn="auto" hangingPunct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Wingdings 2"/>
              <a:buChar char=""/>
              <a:defRPr/>
            </a:pPr>
            <a:r>
              <a:rPr lang="en-US" dirty="0">
                <a:sym typeface="Symbol" pitchFamily="18" charset="2"/>
              </a:rPr>
              <a:t>solve (</a:t>
            </a:r>
            <a:r>
              <a:rPr lang="en-US" i="1" dirty="0">
                <a:sym typeface="Symbol" pitchFamily="18" charset="2"/>
              </a:rPr>
              <a:t>conquer</a:t>
            </a:r>
            <a:r>
              <a:rPr lang="en-US" dirty="0">
                <a:sym typeface="Symbol" pitchFamily="18" charset="2"/>
              </a:rPr>
              <a:t>) the smaller instances recursively</a:t>
            </a:r>
          </a:p>
          <a:p>
            <a:pPr marL="441325" lvl="2" indent="-173038" eaLnBrk="1" fontAlgn="auto" hangingPunct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Wingdings 2"/>
              <a:buChar char=""/>
              <a:defRPr/>
            </a:pPr>
            <a:r>
              <a:rPr lang="en-US" i="1" dirty="0">
                <a:sym typeface="Symbol" pitchFamily="18" charset="2"/>
              </a:rPr>
              <a:t>combine</a:t>
            </a:r>
            <a:r>
              <a:rPr lang="en-US" dirty="0">
                <a:sym typeface="Symbol" pitchFamily="18" charset="2"/>
              </a:rPr>
              <a:t> the solutions to obtain the solution for original input</a:t>
            </a:r>
          </a:p>
          <a:p>
            <a:pPr marL="365760" indent="-256032" eaLnBrk="1" fontAlgn="auto" hangingPunct="1">
              <a:lnSpc>
                <a:spcPct val="90000"/>
              </a:lnSpc>
              <a:spcAft>
                <a:spcPts val="0"/>
              </a:spcAft>
              <a:buFont typeface="Wingdings 3"/>
              <a:buChar char=""/>
              <a:defRPr/>
            </a:pPr>
            <a:endParaRPr lang="en-US" sz="2800" dirty="0">
              <a:sym typeface="Symbol" pitchFamily="18" charset="2"/>
            </a:endParaRPr>
          </a:p>
          <a:p>
            <a:pPr marL="365760" indent="-256032" eaLnBrk="1" fontAlgn="auto" hangingPunct="1">
              <a:lnSpc>
                <a:spcPct val="90000"/>
              </a:lnSpc>
              <a:spcAft>
                <a:spcPts val="0"/>
              </a:spcAft>
              <a:buFont typeface="Wingdings 3"/>
              <a:buChar char=""/>
              <a:defRPr/>
            </a:pPr>
            <a:r>
              <a:rPr lang="en-US" sz="2800" dirty="0">
                <a:sym typeface="Symbol" pitchFamily="18" charset="2"/>
              </a:rPr>
              <a:t>Solve(I)</a:t>
            </a:r>
          </a:p>
          <a:p>
            <a:pPr marL="621792" lvl="1" eaLnBrk="1" fontAlgn="auto" hangingPunct="1">
              <a:lnSpc>
                <a:spcPct val="90000"/>
              </a:lnSpc>
              <a:spcBef>
                <a:spcPts val="324"/>
              </a:spcBef>
              <a:spcAft>
                <a:spcPts val="0"/>
              </a:spcAft>
              <a:buFont typeface="Verdana"/>
              <a:buChar char="◦"/>
              <a:defRPr/>
            </a:pPr>
            <a:r>
              <a:rPr lang="en-US" sz="2400" dirty="0">
                <a:sym typeface="Symbol" pitchFamily="18" charset="2"/>
              </a:rPr>
              <a:t>n = size(I)</a:t>
            </a:r>
          </a:p>
          <a:p>
            <a:pPr marL="621792" lvl="1" eaLnBrk="1" fontAlgn="auto" hangingPunct="1">
              <a:lnSpc>
                <a:spcPct val="90000"/>
              </a:lnSpc>
              <a:spcBef>
                <a:spcPts val="324"/>
              </a:spcBef>
              <a:spcAft>
                <a:spcPts val="0"/>
              </a:spcAft>
              <a:buFont typeface="Verdana"/>
              <a:buChar char="◦"/>
              <a:defRPr/>
            </a:pPr>
            <a:r>
              <a:rPr lang="en-US" sz="2400" dirty="0">
                <a:sym typeface="Symbol" pitchFamily="18" charset="2"/>
              </a:rPr>
              <a:t>if (n &lt;= </a:t>
            </a:r>
            <a:r>
              <a:rPr lang="en-US" sz="2400" dirty="0" err="1">
                <a:sym typeface="Symbol" pitchFamily="18" charset="2"/>
              </a:rPr>
              <a:t>smallsize</a:t>
            </a:r>
            <a:r>
              <a:rPr lang="en-US" sz="2400" dirty="0">
                <a:sym typeface="Symbol" pitchFamily="18" charset="2"/>
              </a:rPr>
              <a:t>)</a:t>
            </a:r>
          </a:p>
          <a:p>
            <a:pPr marL="859536" lvl="2" eaLnBrk="1" fontAlgn="auto" hangingPunct="1">
              <a:lnSpc>
                <a:spcPct val="90000"/>
              </a:lnSpc>
              <a:spcAft>
                <a:spcPts val="0"/>
              </a:spcAft>
              <a:buFont typeface="Wingdings 2"/>
              <a:buChar char=""/>
              <a:defRPr/>
            </a:pPr>
            <a:r>
              <a:rPr lang="en-US" sz="2000" dirty="0">
                <a:sym typeface="Symbol" pitchFamily="18" charset="2"/>
              </a:rPr>
              <a:t>solution = </a:t>
            </a:r>
            <a:r>
              <a:rPr lang="en-US" sz="2000" dirty="0" err="1">
                <a:sym typeface="Symbol" pitchFamily="18" charset="2"/>
              </a:rPr>
              <a:t>directlySolve</a:t>
            </a:r>
            <a:r>
              <a:rPr lang="en-US" sz="2000" dirty="0">
                <a:sym typeface="Symbol" pitchFamily="18" charset="2"/>
              </a:rPr>
              <a:t>(I);</a:t>
            </a:r>
          </a:p>
          <a:p>
            <a:pPr marL="621792" lvl="1" eaLnBrk="1" fontAlgn="auto" hangingPunct="1">
              <a:lnSpc>
                <a:spcPct val="90000"/>
              </a:lnSpc>
              <a:spcBef>
                <a:spcPts val="324"/>
              </a:spcBef>
              <a:spcAft>
                <a:spcPts val="0"/>
              </a:spcAft>
              <a:buFont typeface="Verdana"/>
              <a:buChar char="◦"/>
              <a:defRPr/>
            </a:pPr>
            <a:r>
              <a:rPr lang="en-US" sz="2400" dirty="0">
                <a:sym typeface="Symbol" pitchFamily="18" charset="2"/>
              </a:rPr>
              <a:t>else</a:t>
            </a:r>
          </a:p>
          <a:p>
            <a:pPr marL="859536" lvl="2" eaLnBrk="1" fontAlgn="auto" hangingPunct="1">
              <a:lnSpc>
                <a:spcPct val="90000"/>
              </a:lnSpc>
              <a:spcAft>
                <a:spcPts val="0"/>
              </a:spcAft>
              <a:buFont typeface="Wingdings 2"/>
              <a:buChar char=""/>
              <a:defRPr/>
            </a:pPr>
            <a:r>
              <a:rPr lang="en-US" sz="2000" dirty="0">
                <a:sym typeface="Symbol" pitchFamily="18" charset="2"/>
              </a:rPr>
              <a:t>divide I into I1, …, </a:t>
            </a:r>
            <a:r>
              <a:rPr lang="en-US" sz="2000" dirty="0" err="1">
                <a:sym typeface="Symbol" pitchFamily="18" charset="2"/>
              </a:rPr>
              <a:t>Ik</a:t>
            </a:r>
            <a:r>
              <a:rPr lang="en-US" sz="2000" dirty="0">
                <a:sym typeface="Symbol" pitchFamily="18" charset="2"/>
              </a:rPr>
              <a:t>.</a:t>
            </a:r>
          </a:p>
          <a:p>
            <a:pPr marL="859536" lvl="2" eaLnBrk="1" fontAlgn="auto" hangingPunct="1">
              <a:lnSpc>
                <a:spcPct val="90000"/>
              </a:lnSpc>
              <a:spcAft>
                <a:spcPts val="0"/>
              </a:spcAft>
              <a:buFont typeface="Wingdings 2"/>
              <a:buChar char=""/>
              <a:defRPr/>
            </a:pPr>
            <a:r>
              <a:rPr lang="en-US" sz="2000" dirty="0">
                <a:sym typeface="Symbol" pitchFamily="18" charset="2"/>
              </a:rPr>
              <a:t>for each i in {1, …, k}</a:t>
            </a:r>
          </a:p>
          <a:p>
            <a:pPr lvl="3" eaLnBrk="1" fontAlgn="auto" hangingPunct="1">
              <a:lnSpc>
                <a:spcPct val="90000"/>
              </a:lnSpc>
              <a:spcAft>
                <a:spcPts val="0"/>
              </a:spcAft>
              <a:buFont typeface="Wingdings 2"/>
              <a:buChar char=""/>
              <a:defRPr/>
            </a:pPr>
            <a:r>
              <a:rPr lang="en-US" sz="1800" dirty="0">
                <a:sym typeface="Symbol" pitchFamily="18" charset="2"/>
              </a:rPr>
              <a:t>Si = solve(Ii);</a:t>
            </a:r>
          </a:p>
          <a:p>
            <a:pPr marL="859536" lvl="2" eaLnBrk="1" fontAlgn="auto" hangingPunct="1">
              <a:lnSpc>
                <a:spcPct val="90000"/>
              </a:lnSpc>
              <a:spcAft>
                <a:spcPts val="0"/>
              </a:spcAft>
              <a:buFont typeface="Wingdings 2"/>
              <a:buChar char=""/>
              <a:defRPr/>
            </a:pPr>
            <a:r>
              <a:rPr lang="en-US" sz="2000" dirty="0">
                <a:sym typeface="Symbol" pitchFamily="18" charset="2"/>
              </a:rPr>
              <a:t>solution = combine(S1, …, </a:t>
            </a:r>
            <a:r>
              <a:rPr lang="en-US" sz="2000" dirty="0" err="1">
                <a:sym typeface="Symbol" pitchFamily="18" charset="2"/>
              </a:rPr>
              <a:t>Sk</a:t>
            </a:r>
            <a:r>
              <a:rPr lang="en-US" sz="2000" dirty="0">
                <a:sym typeface="Symbol" pitchFamily="18" charset="2"/>
              </a:rPr>
              <a:t>);</a:t>
            </a:r>
          </a:p>
          <a:p>
            <a:pPr marL="621792" lvl="1" eaLnBrk="1" fontAlgn="auto" hangingPunct="1">
              <a:lnSpc>
                <a:spcPct val="90000"/>
              </a:lnSpc>
              <a:spcBef>
                <a:spcPts val="324"/>
              </a:spcBef>
              <a:spcAft>
                <a:spcPts val="0"/>
              </a:spcAft>
              <a:buFont typeface="Verdana"/>
              <a:buChar char="◦"/>
              <a:defRPr/>
            </a:pPr>
            <a:r>
              <a:rPr lang="en-US" sz="2400" dirty="0">
                <a:sym typeface="Symbol" pitchFamily="18" charset="2"/>
              </a:rPr>
              <a:t>return solution;</a:t>
            </a:r>
          </a:p>
        </p:txBody>
      </p:sp>
      <p:sp>
        <p:nvSpPr>
          <p:cNvPr id="3074" name="Rectangle 2">
            <a:extLst>
              <a:ext uri="{FF2B5EF4-FFF2-40B4-BE49-F238E27FC236}">
                <a16:creationId xmlns:a16="http://schemas.microsoft.com/office/drawing/2014/main" id="{A6C8EC64-CD69-4540-1830-EEF82A2F3EC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04800" y="228600"/>
            <a:ext cx="8229600" cy="533400"/>
          </a:xfrm>
        </p:spPr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200" dirty="0">
                <a:solidFill>
                  <a:schemeClr val="bg2">
                    <a:lumMod val="50000"/>
                  </a:schemeClr>
                </a:solidFill>
                <a:sym typeface="Symbol" pitchFamily="18" charset="2"/>
              </a:rPr>
              <a:t>Divide and Conquer</a:t>
            </a:r>
            <a:endParaRPr lang="en-US" sz="2800" dirty="0">
              <a:solidFill>
                <a:schemeClr val="bg2">
                  <a:lumMod val="50000"/>
                </a:schemeClr>
              </a:solidFill>
              <a:sym typeface="Symbol" pitchFamily="18" charset="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AutoShape 2">
            <a:extLst>
              <a:ext uri="{FF2B5EF4-FFF2-40B4-BE49-F238E27FC236}">
                <a16:creationId xmlns:a16="http://schemas.microsoft.com/office/drawing/2014/main" id="{6A27ACE6-A4E8-C8F1-C598-DE9794126EF1}"/>
              </a:ext>
            </a:extLst>
          </p:cNvPr>
          <p:cNvSpPr>
            <a:spLocks noGrp="1" noChangeAspect="1" noChangeArrowheads="1"/>
          </p:cNvSpPr>
          <p:nvPr>
            <p:ph type="ctrTitle"/>
          </p:nvPr>
        </p:nvSpPr>
        <p:spPr>
          <a:xfrm>
            <a:off x="228600" y="427703"/>
            <a:ext cx="8305800" cy="5203825"/>
          </a:xfrm>
        </p:spPr>
        <p:txBody>
          <a:bodyPr>
            <a:normAutofit fontScale="90000"/>
          </a:bodyPr>
          <a:lstStyle/>
          <a:p>
            <a:pPr algn="l" eaLnBrk="1" fontAlgn="auto" hangingPunct="1">
              <a:spcAft>
                <a:spcPts val="0"/>
              </a:spcAft>
              <a:defRPr/>
            </a:pPr>
            <a:br>
              <a:rPr lang="en-US" sz="4000" dirty="0"/>
            </a:br>
            <a:br>
              <a:rPr lang="en-US" sz="4000" dirty="0"/>
            </a:br>
            <a:r>
              <a:rPr lang="en-US" sz="2400" dirty="0"/>
              <a:t>Pseudocode for quicksort</a:t>
            </a:r>
            <a:br>
              <a:rPr lang="en-US" sz="2400" dirty="0"/>
            </a:br>
            <a:br>
              <a:rPr lang="en-US" sz="4000" dirty="0"/>
            </a:br>
            <a:r>
              <a:rPr lang="en-US" sz="4000" dirty="0"/>
              <a:t>QUICKSORT(</a:t>
            </a:r>
            <a:r>
              <a:rPr lang="en-US" sz="4000" i="1" dirty="0"/>
              <a:t>A</a:t>
            </a:r>
            <a:r>
              <a:rPr lang="en-US" sz="4000" dirty="0"/>
              <a:t>, </a:t>
            </a:r>
            <a:r>
              <a:rPr lang="en-US" sz="4000" i="1" dirty="0"/>
              <a:t>p, r</a:t>
            </a:r>
            <a:r>
              <a:rPr lang="en-US" sz="4000" dirty="0"/>
              <a:t>)</a:t>
            </a:r>
            <a:br>
              <a:rPr lang="en-US" sz="4000" dirty="0"/>
            </a:br>
            <a:r>
              <a:rPr lang="en-US" sz="4000" dirty="0"/>
              <a:t>if  </a:t>
            </a:r>
            <a:r>
              <a:rPr lang="en-US" sz="4000" i="1" dirty="0"/>
              <a:t>p</a:t>
            </a:r>
            <a:r>
              <a:rPr lang="en-US" sz="4000" dirty="0"/>
              <a:t>&lt; </a:t>
            </a:r>
            <a:r>
              <a:rPr lang="en-US" sz="4000" i="1" dirty="0"/>
              <a:t>r</a:t>
            </a:r>
            <a:br>
              <a:rPr lang="en-US" sz="4000" dirty="0"/>
            </a:br>
            <a:r>
              <a:rPr lang="en-US" sz="4000" dirty="0"/>
              <a:t>    then </a:t>
            </a:r>
            <a:r>
              <a:rPr lang="en-US" sz="4000" i="1" dirty="0" err="1"/>
              <a:t>q</a:t>
            </a:r>
            <a:r>
              <a:rPr lang="en-US" sz="4000" dirty="0" err="1"/>
              <a:t>←PARTITION</a:t>
            </a:r>
            <a:r>
              <a:rPr lang="en-US" sz="4000" dirty="0"/>
              <a:t>(</a:t>
            </a:r>
            <a:r>
              <a:rPr lang="en-US" sz="4000" i="1" dirty="0"/>
              <a:t>A</a:t>
            </a:r>
            <a:r>
              <a:rPr lang="en-US" sz="4000" dirty="0"/>
              <a:t>, </a:t>
            </a:r>
            <a:r>
              <a:rPr lang="en-US" sz="4000" i="1" dirty="0"/>
              <a:t>p, r</a:t>
            </a:r>
            <a:r>
              <a:rPr lang="en-US" sz="4000" dirty="0"/>
              <a:t>)           QUICKSORT(</a:t>
            </a:r>
            <a:r>
              <a:rPr lang="en-US" sz="4000" i="1" dirty="0"/>
              <a:t>A</a:t>
            </a:r>
            <a:r>
              <a:rPr lang="en-US" sz="4000" dirty="0"/>
              <a:t>, </a:t>
            </a:r>
            <a:r>
              <a:rPr lang="en-US" sz="4000" i="1" dirty="0"/>
              <a:t>p, q</a:t>
            </a:r>
            <a:r>
              <a:rPr lang="en-US" sz="4000" dirty="0"/>
              <a:t>–1)</a:t>
            </a:r>
            <a:br>
              <a:rPr lang="en-US" sz="4000" dirty="0"/>
            </a:br>
            <a:r>
              <a:rPr lang="en-US" sz="4000" dirty="0"/>
              <a:t>QUICKSORT(</a:t>
            </a:r>
            <a:r>
              <a:rPr lang="en-US" sz="4000" i="1" dirty="0"/>
              <a:t>A</a:t>
            </a:r>
            <a:r>
              <a:rPr lang="en-US" sz="4000" dirty="0"/>
              <a:t>, </a:t>
            </a:r>
            <a:r>
              <a:rPr lang="en-US" sz="4000" i="1" dirty="0"/>
              <a:t>q+</a:t>
            </a:r>
            <a:r>
              <a:rPr lang="en-US" sz="4000" dirty="0"/>
              <a:t>1</a:t>
            </a:r>
            <a:r>
              <a:rPr lang="en-US" sz="4000" i="1" dirty="0"/>
              <a:t>, r</a:t>
            </a:r>
            <a:r>
              <a:rPr lang="en-US" sz="4000" dirty="0"/>
              <a:t>)</a:t>
            </a:r>
            <a:br>
              <a:rPr lang="en-US" sz="4000" dirty="0"/>
            </a:br>
            <a:br>
              <a:rPr lang="en-US" sz="4000" dirty="0"/>
            </a:br>
            <a:br>
              <a:rPr lang="en-US" sz="4000" dirty="0"/>
            </a:br>
            <a:endParaRPr lang="en-US" sz="4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376DA7-1A4F-BC3E-705D-64E10BA8C778}"/>
              </a:ext>
            </a:extLst>
          </p:cNvPr>
          <p:cNvSpPr txBox="1"/>
          <p:nvPr/>
        </p:nvSpPr>
        <p:spPr>
          <a:xfrm flipH="1">
            <a:off x="228600" y="5334000"/>
            <a:ext cx="4648200" cy="13239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IN" sz="2800" b="1" dirty="0"/>
              <a:t>Versions Of Quick sort</a:t>
            </a:r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IN" sz="2800" b="1" dirty="0"/>
              <a:t> </a:t>
            </a:r>
            <a:r>
              <a:rPr lang="en-IN" sz="2400" dirty="0"/>
              <a:t>Randomized Quick sort</a:t>
            </a:r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IN" sz="2400" dirty="0"/>
              <a:t> Median of 3 Partition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3">
            <a:extLst>
              <a:ext uri="{FF2B5EF4-FFF2-40B4-BE49-F238E27FC236}">
                <a16:creationId xmlns:a16="http://schemas.microsoft.com/office/drawing/2014/main" id="{8258835B-AA76-90BB-5EE8-E14E88372CA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228600"/>
            <a:ext cx="8229600" cy="5410200"/>
          </a:xfrm>
        </p:spPr>
        <p:txBody>
          <a:bodyPr>
            <a:normAutofit/>
          </a:bodyPr>
          <a:lstStyle/>
          <a:p>
            <a:pPr marL="109728" indent="0" eaLnBrk="1" fontAlgn="auto" hangingPunct="1">
              <a:spcAft>
                <a:spcPts val="0"/>
              </a:spcAft>
              <a:buFont typeface="Wingdings 3"/>
              <a:buNone/>
              <a:defRPr/>
            </a:pPr>
            <a:r>
              <a:rPr lang="en-US" dirty="0"/>
              <a:t>PARTITION (</a:t>
            </a:r>
            <a:r>
              <a:rPr lang="en-US" dirty="0" err="1"/>
              <a:t>A,p,r</a:t>
            </a:r>
            <a:r>
              <a:rPr lang="en-US" dirty="0"/>
              <a:t>)</a:t>
            </a:r>
          </a:p>
          <a:p>
            <a:pPr marL="365760" indent="-256032" eaLnBrk="1" fontAlgn="auto" hangingPunct="1">
              <a:spcAft>
                <a:spcPts val="0"/>
              </a:spcAft>
              <a:buFont typeface="Wingdings 3"/>
              <a:buChar char=""/>
              <a:defRPr/>
            </a:pPr>
            <a:r>
              <a:rPr lang="en-US" dirty="0"/>
              <a:t> x=A[r]</a:t>
            </a:r>
          </a:p>
          <a:p>
            <a:pPr marL="365760" indent="-256032" eaLnBrk="1" fontAlgn="auto" hangingPunct="1">
              <a:spcAft>
                <a:spcPts val="0"/>
              </a:spcAft>
              <a:buFont typeface="Wingdings 3"/>
              <a:buChar char=""/>
              <a:defRPr/>
            </a:pPr>
            <a:r>
              <a:rPr lang="en-US" dirty="0"/>
              <a:t> i ← p -1</a:t>
            </a:r>
          </a:p>
          <a:p>
            <a:pPr marL="365760" indent="-256032" eaLnBrk="1" fontAlgn="auto" hangingPunct="1">
              <a:spcAft>
                <a:spcPts val="0"/>
              </a:spcAft>
              <a:buFont typeface="Wingdings 3"/>
              <a:buChar char=""/>
              <a:defRPr/>
            </a:pPr>
            <a:r>
              <a:rPr lang="en-US" dirty="0"/>
              <a:t>   For  j ← p to r-1</a:t>
            </a:r>
          </a:p>
          <a:p>
            <a:pPr marL="365760" indent="-256032" eaLnBrk="1" fontAlgn="auto" hangingPunct="1">
              <a:spcAft>
                <a:spcPts val="0"/>
              </a:spcAft>
              <a:buFont typeface="Wingdings 3"/>
              <a:buChar char=""/>
              <a:defRPr/>
            </a:pPr>
            <a:r>
              <a:rPr lang="en-US" dirty="0"/>
              <a:t>         do if A[j] &lt;= x</a:t>
            </a:r>
          </a:p>
          <a:p>
            <a:pPr marL="365760" indent="-256032" eaLnBrk="1" fontAlgn="auto" hangingPunct="1">
              <a:spcAft>
                <a:spcPts val="0"/>
              </a:spcAft>
              <a:buFont typeface="Wingdings 3"/>
              <a:buChar char=""/>
              <a:defRPr/>
            </a:pPr>
            <a:r>
              <a:rPr lang="en-US" dirty="0"/>
              <a:t>                then i ← i + 1</a:t>
            </a:r>
          </a:p>
          <a:p>
            <a:pPr marL="365760" indent="-256032" eaLnBrk="1" fontAlgn="auto" hangingPunct="1">
              <a:spcAft>
                <a:spcPts val="0"/>
              </a:spcAft>
              <a:buFont typeface="Wingdings 3"/>
              <a:buChar char=""/>
              <a:defRPr/>
            </a:pPr>
            <a:r>
              <a:rPr lang="en-US" dirty="0"/>
              <a:t>                 exchange A[i] &lt;-&gt; A[j]</a:t>
            </a:r>
          </a:p>
          <a:p>
            <a:pPr marL="365760" indent="-256032" eaLnBrk="1" fontAlgn="auto" hangingPunct="1">
              <a:spcAft>
                <a:spcPts val="0"/>
              </a:spcAft>
              <a:buFont typeface="Wingdings 3"/>
              <a:buChar char=""/>
              <a:defRPr/>
            </a:pPr>
            <a:r>
              <a:rPr lang="en-US" dirty="0"/>
              <a:t>    Exchange A[i+1] &lt;-&gt; A[r]</a:t>
            </a:r>
          </a:p>
          <a:p>
            <a:pPr marL="365760" indent="-256032" eaLnBrk="1" fontAlgn="auto" hangingPunct="1">
              <a:spcAft>
                <a:spcPts val="0"/>
              </a:spcAft>
              <a:buFont typeface="Wingdings 3"/>
              <a:buChar char=""/>
              <a:defRPr/>
            </a:pPr>
            <a:r>
              <a:rPr lang="en-US" dirty="0"/>
              <a:t> Return i+1</a:t>
            </a:r>
          </a:p>
        </p:txBody>
      </p:sp>
      <p:sp>
        <p:nvSpPr>
          <p:cNvPr id="13315" name="TextBox 2">
            <a:extLst>
              <a:ext uri="{FF2B5EF4-FFF2-40B4-BE49-F238E27FC236}">
                <a16:creationId xmlns:a16="http://schemas.microsoft.com/office/drawing/2014/main" id="{14A129E2-24D7-FA82-D08B-DB68F5FC3A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14800" y="5181600"/>
            <a:ext cx="4800600" cy="1570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2400"/>
              <a:t>Ex: 5 7 6 1 3 2 4</a:t>
            </a:r>
            <a:br>
              <a:rPr lang="en-US" altLang="en-US" sz="2400"/>
            </a:br>
            <a:br>
              <a:rPr lang="en-US" altLang="en-US" sz="2400"/>
            </a:br>
            <a:r>
              <a:rPr lang="en-US" altLang="en-US" sz="2400"/>
              <a:t>Initial call:QUICKSORT(</a:t>
            </a:r>
            <a:r>
              <a:rPr lang="en-US" altLang="en-US" sz="2400" i="1"/>
              <a:t>A</a:t>
            </a:r>
            <a:r>
              <a:rPr lang="en-US" altLang="en-US" sz="2400"/>
              <a:t>, p</a:t>
            </a:r>
            <a:r>
              <a:rPr lang="en-US" altLang="en-US" sz="2400" i="1"/>
              <a:t>, r</a:t>
            </a:r>
            <a:r>
              <a:rPr lang="en-US" altLang="en-US" sz="2400"/>
              <a:t>)</a:t>
            </a:r>
            <a:br>
              <a:rPr lang="en-US" altLang="en-US" sz="2400"/>
            </a:br>
            <a:r>
              <a:rPr lang="en-US" altLang="en-US" sz="2400">
                <a:sym typeface="Wingdings" panose="05000000000000000000" pitchFamily="2" charset="2"/>
              </a:rPr>
              <a:t> </a:t>
            </a:r>
            <a:r>
              <a:rPr lang="en-US" altLang="en-US" sz="2400"/>
              <a:t>QUICKSORT(</a:t>
            </a:r>
            <a:r>
              <a:rPr lang="en-US" altLang="en-US" sz="2400" i="1"/>
              <a:t>A</a:t>
            </a:r>
            <a:r>
              <a:rPr lang="en-US" altLang="en-US" sz="2400"/>
              <a:t>, 1</a:t>
            </a:r>
            <a:r>
              <a:rPr lang="en-US" altLang="en-US" sz="2400" i="1"/>
              <a:t>, 7</a:t>
            </a:r>
            <a:r>
              <a:rPr lang="en-US" altLang="en-US" sz="2400"/>
              <a:t>)</a:t>
            </a:r>
            <a:endParaRPr lang="en-IN" altLang="en-US" sz="24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extBox 3">
            <a:extLst>
              <a:ext uri="{FF2B5EF4-FFF2-40B4-BE49-F238E27FC236}">
                <a16:creationId xmlns:a16="http://schemas.microsoft.com/office/drawing/2014/main" id="{74E58ECF-74D9-DBA6-A701-0328ABE2AD09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2936875" y="196850"/>
            <a:ext cx="46482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IN" altLang="en-US" sz="2000" b="1"/>
              <a:t>Versions Of Quick sort</a:t>
            </a:r>
          </a:p>
        </p:txBody>
      </p:sp>
      <p:sp>
        <p:nvSpPr>
          <p:cNvPr id="14339" name="TextBox 5">
            <a:extLst>
              <a:ext uri="{FF2B5EF4-FFF2-40B4-BE49-F238E27FC236}">
                <a16:creationId xmlns:a16="http://schemas.microsoft.com/office/drawing/2014/main" id="{8798C472-3CD2-A834-FCB9-4CB8DDF250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67000" y="952500"/>
            <a:ext cx="45783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IN" altLang="en-US" sz="2400" b="1"/>
              <a:t>Randomized Quick sort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D472F19-23B9-E1EE-EB6B-D6B4EB099393}"/>
              </a:ext>
            </a:extLst>
          </p:cNvPr>
          <p:cNvSpPr txBox="1"/>
          <p:nvPr/>
        </p:nvSpPr>
        <p:spPr>
          <a:xfrm>
            <a:off x="3657600" y="4038600"/>
            <a:ext cx="5486400" cy="16319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109728" eaLnBrk="1" fontAlgn="auto" hangingPunct="1">
              <a:spcAft>
                <a:spcPts val="0"/>
              </a:spcAft>
              <a:buFont typeface="Wingdings 3"/>
              <a:buNone/>
              <a:defRPr/>
            </a:pPr>
            <a:r>
              <a:rPr lang="en-US" sz="2000" b="1" dirty="0"/>
              <a:t>RANDOMIZED-PARTITION</a:t>
            </a:r>
            <a:r>
              <a:rPr lang="en-US" sz="2000" dirty="0"/>
              <a:t> (A, p, r)</a:t>
            </a:r>
          </a:p>
          <a:p>
            <a:pPr marL="365760" indent="-256032" eaLnBrk="1" fontAlgn="auto" hangingPunct="1">
              <a:spcAft>
                <a:spcPts val="0"/>
              </a:spcAft>
              <a:buFont typeface="Wingdings 3"/>
              <a:buChar char=""/>
              <a:defRPr/>
            </a:pPr>
            <a:r>
              <a:rPr lang="en-US" sz="2000" dirty="0" err="1"/>
              <a:t>i</a:t>
            </a:r>
            <a:r>
              <a:rPr lang="en-US" sz="2000" dirty="0"/>
              <a:t> ← RANDOM (p, r)</a:t>
            </a:r>
          </a:p>
          <a:p>
            <a:pPr marL="365760" indent="-256032" eaLnBrk="1" fontAlgn="auto" hangingPunct="1">
              <a:spcAft>
                <a:spcPts val="0"/>
              </a:spcAft>
              <a:buFont typeface="Wingdings 3"/>
              <a:buChar char=""/>
              <a:defRPr/>
            </a:pPr>
            <a:r>
              <a:rPr lang="en-US" sz="2000" dirty="0"/>
              <a:t>exchange A[r] &lt;-&gt; A[</a:t>
            </a:r>
            <a:r>
              <a:rPr lang="en-US" sz="2000" dirty="0" err="1"/>
              <a:t>i</a:t>
            </a:r>
            <a:r>
              <a:rPr lang="en-US" sz="2000" dirty="0"/>
              <a:t>]</a:t>
            </a:r>
          </a:p>
          <a:p>
            <a:pPr marL="365760" indent="-256032" eaLnBrk="1" fontAlgn="auto" hangingPunct="1">
              <a:spcAft>
                <a:spcPts val="0"/>
              </a:spcAft>
              <a:buFont typeface="Wingdings 3"/>
              <a:buChar char=""/>
              <a:defRPr/>
            </a:pPr>
            <a:r>
              <a:rPr lang="en-US" sz="2000" dirty="0"/>
              <a:t>return PARTITION (A, p, r)</a:t>
            </a:r>
          </a:p>
          <a:p>
            <a:pPr marL="365760" indent="-256032" eaLnBrk="1" fontAlgn="auto" hangingPunct="1">
              <a:spcAft>
                <a:spcPts val="0"/>
              </a:spcAft>
              <a:buFont typeface="Wingdings 3"/>
              <a:buChar char=""/>
              <a:defRPr/>
            </a:pPr>
            <a:endParaRPr lang="en-US" sz="2000" dirty="0"/>
          </a:p>
        </p:txBody>
      </p:sp>
      <p:sp>
        <p:nvSpPr>
          <p:cNvPr id="14341" name="TextBox 9">
            <a:extLst>
              <a:ext uri="{FF2B5EF4-FFF2-40B4-BE49-F238E27FC236}">
                <a16:creationId xmlns:a16="http://schemas.microsoft.com/office/drawing/2014/main" id="{39D49556-73E9-8799-7A06-3F1AB731C3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1766888"/>
            <a:ext cx="5562600" cy="1938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2000" b="1"/>
              <a:t>RANDOMIZED-QUICKSORT</a:t>
            </a:r>
            <a:r>
              <a:rPr lang="en-US" altLang="en-US" sz="2000"/>
              <a:t>(</a:t>
            </a:r>
            <a:r>
              <a:rPr lang="en-US" altLang="en-US" sz="2000" i="1"/>
              <a:t>A</a:t>
            </a:r>
            <a:r>
              <a:rPr lang="en-US" altLang="en-US" sz="2000"/>
              <a:t>, </a:t>
            </a:r>
            <a:r>
              <a:rPr lang="en-US" altLang="en-US" sz="2000" i="1"/>
              <a:t>p, r</a:t>
            </a:r>
            <a:r>
              <a:rPr lang="en-US" altLang="en-US" sz="2000"/>
              <a:t>)</a:t>
            </a:r>
            <a:br>
              <a:rPr lang="en-US" altLang="en-US" sz="2000"/>
            </a:br>
            <a:r>
              <a:rPr lang="en-US" altLang="en-US" sz="2000"/>
              <a:t>if  </a:t>
            </a:r>
            <a:r>
              <a:rPr lang="en-US" altLang="en-US" sz="2000" i="1"/>
              <a:t>p</a:t>
            </a:r>
            <a:r>
              <a:rPr lang="en-US" altLang="en-US" sz="2000"/>
              <a:t>&lt; </a:t>
            </a:r>
            <a:r>
              <a:rPr lang="en-US" altLang="en-US" sz="2000" i="1"/>
              <a:t>r</a:t>
            </a:r>
            <a:br>
              <a:rPr lang="en-US" altLang="en-US" sz="2000"/>
            </a:br>
            <a:r>
              <a:rPr lang="en-US" altLang="en-US" sz="2000"/>
              <a:t>    then </a:t>
            </a:r>
            <a:r>
              <a:rPr lang="en-US" altLang="en-US" sz="2000" i="1"/>
              <a:t>q </a:t>
            </a:r>
            <a:r>
              <a:rPr lang="en-US" altLang="en-US" sz="2000"/>
              <a:t>← RANDOMIZED-PARTITION(</a:t>
            </a:r>
            <a:r>
              <a:rPr lang="en-US" altLang="en-US" sz="2000" i="1"/>
              <a:t>A</a:t>
            </a:r>
            <a:r>
              <a:rPr lang="en-US" altLang="en-US" sz="2000"/>
              <a:t>, </a:t>
            </a:r>
            <a:r>
              <a:rPr lang="en-US" altLang="en-US" sz="2000" i="1"/>
              <a:t>p, r</a:t>
            </a:r>
            <a:r>
              <a:rPr lang="en-US" altLang="en-US" sz="2000"/>
              <a:t>)       	RANDOMIZED-QUICKSORT(</a:t>
            </a:r>
            <a:r>
              <a:rPr lang="en-US" altLang="en-US" sz="2000" i="1"/>
              <a:t>A</a:t>
            </a:r>
            <a:r>
              <a:rPr lang="en-US" altLang="en-US" sz="2000"/>
              <a:t>, </a:t>
            </a:r>
            <a:r>
              <a:rPr lang="en-US" altLang="en-US" sz="2000" i="1"/>
              <a:t>p, q</a:t>
            </a:r>
            <a:r>
              <a:rPr lang="en-US" altLang="en-US" sz="2000"/>
              <a:t>–1)</a:t>
            </a:r>
            <a:br>
              <a:rPr lang="en-US" altLang="en-US" sz="2000"/>
            </a:br>
            <a:r>
              <a:rPr lang="en-US" altLang="en-US" sz="2000"/>
              <a:t>	RANDOMIZED-QUICKSORT(</a:t>
            </a:r>
            <a:r>
              <a:rPr lang="en-US" altLang="en-US" sz="2000" i="1"/>
              <a:t>A</a:t>
            </a:r>
            <a:r>
              <a:rPr lang="en-US" altLang="en-US" sz="2000"/>
              <a:t>, </a:t>
            </a:r>
            <a:r>
              <a:rPr lang="en-US" altLang="en-US" sz="2000" i="1"/>
              <a:t>q+</a:t>
            </a:r>
            <a:r>
              <a:rPr lang="en-US" altLang="en-US" sz="2000"/>
              <a:t>1</a:t>
            </a:r>
            <a:r>
              <a:rPr lang="en-US" altLang="en-US" sz="2000" i="1"/>
              <a:t>, r</a:t>
            </a:r>
            <a:r>
              <a:rPr lang="en-US" altLang="en-US" sz="2000"/>
              <a:t>)</a:t>
            </a:r>
            <a:br>
              <a:rPr lang="en-US" altLang="en-US" sz="2000"/>
            </a:br>
            <a:endParaRPr lang="en-IN" altLang="en-US" sz="2000"/>
          </a:p>
        </p:txBody>
      </p:sp>
      <p:sp>
        <p:nvSpPr>
          <p:cNvPr id="14342" name="TextBox 11">
            <a:extLst>
              <a:ext uri="{FF2B5EF4-FFF2-40B4-BE49-F238E27FC236}">
                <a16:creationId xmlns:a16="http://schemas.microsoft.com/office/drawing/2014/main" id="{1E34910D-28FC-74B5-DB91-7EA80F0DFA1D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228600" y="5791200"/>
            <a:ext cx="8686800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IN" altLang="en-US" sz="1600" b="1"/>
              <a:t>RANDOM(a,b) returns a random integer in the range (a,b) i.e. (b-a+1) integers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E459DFA-AAC9-A61C-17E3-6D3A1F3ED8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09537" indent="0">
              <a:buFont typeface="Wingdings 3" panose="05040102010807070707" pitchFamily="18" charset="2"/>
              <a:buNone/>
              <a:defRPr/>
            </a:pPr>
            <a:r>
              <a:rPr lang="en-US" b="1" i="1" u="sng" dirty="0"/>
              <a:t>Partition</a:t>
            </a:r>
          </a:p>
          <a:p>
            <a:pPr>
              <a:defRPr/>
            </a:pPr>
            <a:r>
              <a:rPr lang="en-US" dirty="0"/>
              <a:t>1. Choose a random pivot element</a:t>
            </a:r>
          </a:p>
          <a:p>
            <a:pPr>
              <a:defRPr/>
            </a:pPr>
            <a:r>
              <a:rPr lang="en-US" dirty="0"/>
              <a:t>2. swap it with last index element</a:t>
            </a:r>
          </a:p>
          <a:p>
            <a:pPr>
              <a:defRPr/>
            </a:pPr>
            <a:r>
              <a:rPr lang="en-US" dirty="0"/>
              <a:t>3. (for </a:t>
            </a:r>
            <a:r>
              <a:rPr lang="en-US" dirty="0" err="1"/>
              <a:t>i</a:t>
            </a:r>
            <a:r>
              <a:rPr lang="en-US" dirty="0"/>
              <a:t>) proceed from left (</a:t>
            </a:r>
            <a:r>
              <a:rPr lang="en-US" dirty="0" err="1"/>
              <a:t>i</a:t>
            </a:r>
            <a:r>
              <a:rPr lang="en-US" dirty="0"/>
              <a:t>++) till elements are less than pivot [also (</a:t>
            </a:r>
            <a:r>
              <a:rPr lang="en-US" dirty="0" err="1"/>
              <a:t>i</a:t>
            </a:r>
            <a:r>
              <a:rPr lang="en-US" dirty="0"/>
              <a:t>&lt;j)]</a:t>
            </a:r>
          </a:p>
          <a:p>
            <a:pPr>
              <a:defRPr/>
            </a:pPr>
            <a:r>
              <a:rPr lang="en-US" dirty="0"/>
              <a:t>4. (for j) proceed from right (j--) till elements are more than pivot [also (</a:t>
            </a:r>
            <a:r>
              <a:rPr lang="en-US" dirty="0" err="1"/>
              <a:t>i</a:t>
            </a:r>
            <a:r>
              <a:rPr lang="en-US" dirty="0"/>
              <a:t>&lt;j)]</a:t>
            </a:r>
          </a:p>
          <a:p>
            <a:pPr>
              <a:defRPr/>
            </a:pPr>
            <a:r>
              <a:rPr lang="en-US" dirty="0"/>
              <a:t>5.exchange </a:t>
            </a:r>
            <a:r>
              <a:rPr lang="en-US" dirty="0" err="1"/>
              <a:t>i</a:t>
            </a:r>
            <a:r>
              <a:rPr lang="en-US" dirty="0"/>
              <a:t> &amp; j elements when condition is unsatisfied [keeping (</a:t>
            </a:r>
            <a:r>
              <a:rPr lang="en-US" dirty="0" err="1"/>
              <a:t>i</a:t>
            </a:r>
            <a:r>
              <a:rPr lang="en-US" dirty="0"/>
              <a:t>&lt;j)]</a:t>
            </a:r>
          </a:p>
          <a:p>
            <a:pPr>
              <a:defRPr/>
            </a:pPr>
            <a:r>
              <a:rPr lang="en-US" dirty="0"/>
              <a:t>6. for (</a:t>
            </a:r>
            <a:r>
              <a:rPr lang="en-US" dirty="0" err="1"/>
              <a:t>i</a:t>
            </a:r>
            <a:r>
              <a:rPr lang="en-US" dirty="0"/>
              <a:t>&gt;j) swap </a:t>
            </a:r>
            <a:r>
              <a:rPr lang="en-US" dirty="0" err="1"/>
              <a:t>i</a:t>
            </a:r>
            <a:r>
              <a:rPr lang="en-US" dirty="0"/>
              <a:t> with last element</a:t>
            </a:r>
          </a:p>
          <a:p>
            <a:pPr>
              <a:defRPr/>
            </a:pP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93DD2A0-E287-041F-A5F2-36F4E8940A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Median Method V2- Quick Sort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1E53ED9-D660-52F8-EA9F-2747A6649D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488" y="1219200"/>
            <a:ext cx="8963025" cy="2938463"/>
          </a:xfrm>
        </p:spPr>
        <p:txBody>
          <a:bodyPr/>
          <a:lstStyle/>
          <a:p>
            <a:pPr marL="109537" indent="0">
              <a:buFont typeface="Wingdings 3" panose="05040102010807070707" pitchFamily="18" charset="2"/>
              <a:buNone/>
              <a:defRPr/>
            </a:pPr>
            <a:r>
              <a:rPr lang="en-US" sz="1600" b="1" i="1" u="sng" dirty="0"/>
              <a:t>Partition</a:t>
            </a:r>
          </a:p>
          <a:p>
            <a:pPr>
              <a:defRPr/>
            </a:pPr>
            <a:r>
              <a:rPr lang="en-US" sz="1800" dirty="0"/>
              <a:t>1. Choose a random pivot element</a:t>
            </a:r>
          </a:p>
          <a:p>
            <a:pPr>
              <a:defRPr/>
            </a:pPr>
            <a:r>
              <a:rPr lang="en-US" sz="1800" dirty="0"/>
              <a:t>2. swap it with last index element</a:t>
            </a:r>
          </a:p>
          <a:p>
            <a:pPr>
              <a:defRPr/>
            </a:pPr>
            <a:r>
              <a:rPr lang="en-US" sz="1800" dirty="0"/>
              <a:t>3. (for </a:t>
            </a:r>
            <a:r>
              <a:rPr lang="en-US" sz="1800" dirty="0" err="1"/>
              <a:t>i</a:t>
            </a:r>
            <a:r>
              <a:rPr lang="en-US" sz="1800" dirty="0"/>
              <a:t>) proceed from left (</a:t>
            </a:r>
            <a:r>
              <a:rPr lang="en-US" sz="1800" dirty="0" err="1"/>
              <a:t>i</a:t>
            </a:r>
            <a:r>
              <a:rPr lang="en-US" sz="1800" dirty="0"/>
              <a:t>++) till elements are less than pivot [also (</a:t>
            </a:r>
            <a:r>
              <a:rPr lang="en-US" sz="1800" dirty="0" err="1"/>
              <a:t>i</a:t>
            </a:r>
            <a:r>
              <a:rPr lang="en-US" sz="1800" dirty="0"/>
              <a:t>&lt;j)]</a:t>
            </a:r>
          </a:p>
          <a:p>
            <a:pPr>
              <a:defRPr/>
            </a:pPr>
            <a:r>
              <a:rPr lang="en-US" sz="1800" dirty="0"/>
              <a:t>4. (for j) proceed from right (j--) till elements are more than pivot [also (</a:t>
            </a:r>
            <a:r>
              <a:rPr lang="en-US" sz="1800" dirty="0" err="1"/>
              <a:t>i</a:t>
            </a:r>
            <a:r>
              <a:rPr lang="en-US" sz="1800" dirty="0"/>
              <a:t>&lt;j)]</a:t>
            </a:r>
          </a:p>
          <a:p>
            <a:pPr>
              <a:defRPr/>
            </a:pPr>
            <a:r>
              <a:rPr lang="en-US" sz="1800" dirty="0"/>
              <a:t>5.exchange </a:t>
            </a:r>
            <a:r>
              <a:rPr lang="en-US" sz="1800" dirty="0" err="1"/>
              <a:t>i</a:t>
            </a:r>
            <a:r>
              <a:rPr lang="en-US" sz="1800" dirty="0"/>
              <a:t> &amp; j elements when condition is unsatisfied [keeping (</a:t>
            </a:r>
            <a:r>
              <a:rPr lang="en-US" sz="1800" dirty="0" err="1"/>
              <a:t>i</a:t>
            </a:r>
            <a:r>
              <a:rPr lang="en-US" sz="1800" dirty="0"/>
              <a:t>&lt;j)]</a:t>
            </a:r>
          </a:p>
          <a:p>
            <a:pPr>
              <a:defRPr/>
            </a:pPr>
            <a:r>
              <a:rPr lang="en-US" sz="1800" dirty="0"/>
              <a:t>6. for (</a:t>
            </a:r>
            <a:r>
              <a:rPr lang="en-US" sz="1800" dirty="0" err="1"/>
              <a:t>i</a:t>
            </a:r>
            <a:r>
              <a:rPr lang="en-US" sz="1800" dirty="0"/>
              <a:t>&gt;j) swap </a:t>
            </a:r>
            <a:r>
              <a:rPr lang="en-US" sz="1800" dirty="0" err="1"/>
              <a:t>i</a:t>
            </a:r>
            <a:r>
              <a:rPr lang="en-US" sz="1800" dirty="0"/>
              <a:t> with last element</a:t>
            </a:r>
          </a:p>
          <a:p>
            <a:pPr>
              <a:defRPr/>
            </a:pPr>
            <a:endParaRPr lang="en-US" sz="1600" dirty="0"/>
          </a:p>
          <a:p>
            <a:pPr marL="109537" indent="0">
              <a:buFont typeface="Wingdings 3" panose="05040102010807070707" pitchFamily="18" charset="2"/>
              <a:buNone/>
              <a:defRPr/>
            </a:pPr>
            <a:r>
              <a:rPr lang="en-US" sz="1600" dirty="0"/>
              <a:t>Ex.</a:t>
            </a:r>
          </a:p>
          <a:p>
            <a:pPr marL="109537" indent="0">
              <a:buFont typeface="Wingdings 3" panose="05040102010807070707" pitchFamily="18" charset="2"/>
              <a:buNone/>
              <a:defRPr/>
            </a:pPr>
            <a:endParaRPr lang="en-US" sz="1600" dirty="0"/>
          </a:p>
          <a:p>
            <a:pPr marL="109537" indent="0">
              <a:buFont typeface="Wingdings 3" panose="05040102010807070707" pitchFamily="18" charset="2"/>
              <a:buNone/>
              <a:defRPr/>
            </a:pPr>
            <a:r>
              <a:rPr lang="en-US" sz="1600" dirty="0"/>
              <a:t>		</a:t>
            </a:r>
            <a:r>
              <a:rPr lang="en-US" sz="3600" b="1" dirty="0"/>
              <a:t>5    7	6    1    3     2     4</a:t>
            </a:r>
          </a:p>
          <a:p>
            <a:pPr>
              <a:defRPr/>
            </a:pPr>
            <a:endParaRPr lang="en-US" sz="16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11EFD4E-9296-F896-9B99-B316FA421D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Median Method V2- Quick Sort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extBox 3">
            <a:extLst>
              <a:ext uri="{FF2B5EF4-FFF2-40B4-BE49-F238E27FC236}">
                <a16:creationId xmlns:a16="http://schemas.microsoft.com/office/drawing/2014/main" id="{C214C1DE-8143-F915-A306-8E3C64C572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57500" y="152400"/>
            <a:ext cx="40767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IN" altLang="en-US" sz="2000" b="1"/>
              <a:t>MEDIAN-OF-3-PARTITION</a:t>
            </a:r>
          </a:p>
        </p:txBody>
      </p:sp>
      <p:sp>
        <p:nvSpPr>
          <p:cNvPr id="17411" name="TextBox 4">
            <a:extLst>
              <a:ext uri="{FF2B5EF4-FFF2-40B4-BE49-F238E27FC236}">
                <a16:creationId xmlns:a16="http://schemas.microsoft.com/office/drawing/2014/main" id="{B2D78F20-06BC-03E0-5042-A1D5D668BD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584200"/>
            <a:ext cx="8534400" cy="5940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IN" altLang="en-US" sz="2000" b="1"/>
              <a:t>Median-of-3-Partition (A, p, r)</a:t>
            </a:r>
          </a:p>
          <a:p>
            <a:r>
              <a:rPr lang="en-IN" altLang="en-US" sz="2000"/>
              <a:t>i </a:t>
            </a:r>
            <a:r>
              <a:rPr lang="en-IN" altLang="en-US" sz="2000">
                <a:sym typeface="Wingdings" panose="05000000000000000000" pitchFamily="2" charset="2"/>
              </a:rPr>
              <a:t> RANDOM (p, r)</a:t>
            </a:r>
            <a:r>
              <a:rPr lang="en-IN" altLang="en-US" sz="2000"/>
              <a:t> </a:t>
            </a:r>
          </a:p>
          <a:p>
            <a:r>
              <a:rPr lang="en-IN" altLang="en-US" sz="2000"/>
              <a:t>j </a:t>
            </a:r>
            <a:r>
              <a:rPr lang="en-IN" altLang="en-US" sz="2000">
                <a:sym typeface="Wingdings" panose="05000000000000000000" pitchFamily="2" charset="2"/>
              </a:rPr>
              <a:t> RANDOM (p, r)</a:t>
            </a:r>
            <a:r>
              <a:rPr lang="en-IN" altLang="en-US" sz="2000"/>
              <a:t> </a:t>
            </a:r>
          </a:p>
          <a:p>
            <a:r>
              <a:rPr lang="en-IN" altLang="en-US" sz="2000"/>
              <a:t>k </a:t>
            </a:r>
            <a:r>
              <a:rPr lang="en-IN" altLang="en-US" sz="2000">
                <a:sym typeface="Wingdings" panose="05000000000000000000" pitchFamily="2" charset="2"/>
              </a:rPr>
              <a:t> RANDOM (p, r)</a:t>
            </a:r>
            <a:r>
              <a:rPr lang="en-IN" altLang="en-US" sz="2000"/>
              <a:t> </a:t>
            </a:r>
          </a:p>
          <a:p>
            <a:endParaRPr lang="en-IN" altLang="en-US" sz="2000"/>
          </a:p>
          <a:p>
            <a:r>
              <a:rPr lang="en-IN" altLang="en-US" sz="2000"/>
              <a:t>if(A[i]&lt;=A[j] and A[j]&lt;=A[k]) or (A[k]&lt;=A[j] and A[j]&lt;=A[i])</a:t>
            </a:r>
          </a:p>
          <a:p>
            <a:r>
              <a:rPr lang="en-IN" altLang="en-US" sz="2000"/>
              <a:t> 	then l </a:t>
            </a:r>
            <a:r>
              <a:rPr lang="en-IN" altLang="en-US" sz="2000">
                <a:sym typeface="Wingdings" panose="05000000000000000000" pitchFamily="2" charset="2"/>
              </a:rPr>
              <a:t> j </a:t>
            </a:r>
          </a:p>
          <a:p>
            <a:r>
              <a:rPr lang="en-IN" altLang="en-US" sz="2000">
                <a:sym typeface="Wingdings" panose="05000000000000000000" pitchFamily="2" charset="2"/>
              </a:rPr>
              <a:t>else if </a:t>
            </a:r>
            <a:r>
              <a:rPr lang="en-IN" altLang="en-US" sz="2000"/>
              <a:t> if(A[j]&lt;=A[i] and A[i]&lt;=A[k]) or (A[k]&lt;=A[i] and A[i]&lt;=A[j])</a:t>
            </a:r>
          </a:p>
          <a:p>
            <a:r>
              <a:rPr lang="en-IN" altLang="en-US" sz="2000"/>
              <a:t> 	then l </a:t>
            </a:r>
            <a:r>
              <a:rPr lang="en-IN" altLang="en-US" sz="2000">
                <a:sym typeface="Wingdings" panose="05000000000000000000" pitchFamily="2" charset="2"/>
              </a:rPr>
              <a:t> i</a:t>
            </a:r>
          </a:p>
          <a:p>
            <a:r>
              <a:rPr lang="en-IN" altLang="en-US" sz="2000"/>
              <a:t>else if (A[i]&lt;=A[k] and A[k]&lt;=A[j]) or (A[j]&lt;=A[k] and A[k]&lt;=A[i])</a:t>
            </a:r>
          </a:p>
          <a:p>
            <a:r>
              <a:rPr lang="en-IN" altLang="en-US" sz="2000"/>
              <a:t> 	then l </a:t>
            </a:r>
            <a:r>
              <a:rPr lang="en-IN" altLang="en-US" sz="2000">
                <a:sym typeface="Wingdings" panose="05000000000000000000" pitchFamily="2" charset="2"/>
              </a:rPr>
              <a:t> k</a:t>
            </a:r>
          </a:p>
          <a:p>
            <a:endParaRPr lang="en-IN" altLang="en-US" sz="2000">
              <a:sym typeface="Wingdings" panose="05000000000000000000" pitchFamily="2" charset="2"/>
            </a:endParaRPr>
          </a:p>
          <a:p>
            <a:r>
              <a:rPr lang="en-US" altLang="en-US" sz="2000"/>
              <a:t>exchange A[r] &lt;-&gt; A[l]</a:t>
            </a:r>
          </a:p>
          <a:p>
            <a:r>
              <a:rPr lang="en-US" altLang="en-US" sz="2000"/>
              <a:t>return PARTITION (A, p, r)</a:t>
            </a:r>
          </a:p>
          <a:p>
            <a:endParaRPr lang="en-US" altLang="en-US" sz="2000"/>
          </a:p>
          <a:p>
            <a:endParaRPr lang="en-US" altLang="en-US" sz="2000"/>
          </a:p>
          <a:p>
            <a:pPr algn="just"/>
            <a:r>
              <a:rPr lang="en-US" altLang="en-US" sz="2000"/>
              <a:t>This approach tends to choose the pivot value as median of 3 elements selected randomly. In general this algorithm gives very good results except for few cases 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Content Placeholder 1">
            <a:extLst>
              <a:ext uri="{FF2B5EF4-FFF2-40B4-BE49-F238E27FC236}">
                <a16:creationId xmlns:a16="http://schemas.microsoft.com/office/drawing/2014/main" id="{413517BC-1CD1-E1B5-ECC4-05AD00B134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00" y="685800"/>
            <a:ext cx="8229600" cy="4525963"/>
          </a:xfrm>
        </p:spPr>
        <p:txBody>
          <a:bodyPr/>
          <a:lstStyle/>
          <a:p>
            <a:pPr marL="107950" indent="0" algn="ctr">
              <a:buFont typeface="Wingdings 3" panose="05040102010807070707" pitchFamily="18" charset="2"/>
              <a:buNone/>
            </a:pPr>
            <a:r>
              <a:rPr lang="en-IN" altLang="en-US" sz="2800" b="1"/>
              <a:t>Median-of-3-Partition (A, p, r)</a:t>
            </a:r>
          </a:p>
          <a:p>
            <a:pPr marL="107950" indent="0" algn="ctr">
              <a:buFont typeface="Wingdings 3" panose="05040102010807070707" pitchFamily="18" charset="2"/>
              <a:buNone/>
            </a:pPr>
            <a:endParaRPr lang="en-IN" altLang="en-US" sz="2800" b="1"/>
          </a:p>
          <a:p>
            <a:pPr marL="107950" indent="0" algn="ctr">
              <a:buFont typeface="Wingdings 3" panose="05040102010807070707" pitchFamily="18" charset="2"/>
              <a:buNone/>
            </a:pPr>
            <a:r>
              <a:rPr lang="en-US" altLang="en-US" sz="1800"/>
              <a:t>Generally, with any value of i, j, k it will dilute the worst sequence </a:t>
            </a:r>
          </a:p>
          <a:p>
            <a:pPr marL="107950" indent="0" algn="ctr">
              <a:buFont typeface="Wingdings 3" panose="05040102010807070707" pitchFamily="18" charset="2"/>
              <a:buNone/>
            </a:pPr>
            <a:endParaRPr lang="en-IN" altLang="en-US" sz="2800" b="1"/>
          </a:p>
          <a:p>
            <a:pPr marL="107950" indent="0">
              <a:buFont typeface="Wingdings 3" panose="05040102010807070707" pitchFamily="18" charset="2"/>
              <a:buNone/>
            </a:pPr>
            <a:endParaRPr lang="en-US" altLang="en-US"/>
          </a:p>
          <a:p>
            <a:pPr marL="107950" indent="0">
              <a:buFont typeface="Wingdings 3" panose="05040102010807070707" pitchFamily="18" charset="2"/>
              <a:buNone/>
            </a:pPr>
            <a:r>
              <a:rPr lang="en-US" altLang="en-US"/>
              <a:t>Consider any worst case  sequence </a:t>
            </a:r>
          </a:p>
          <a:p>
            <a:pPr marL="107950" indent="0">
              <a:buFont typeface="Wingdings 3" panose="05040102010807070707" pitchFamily="18" charset="2"/>
              <a:buNone/>
            </a:pPr>
            <a:endParaRPr lang="en-US" altLang="en-US"/>
          </a:p>
          <a:p>
            <a:pPr marL="107950" indent="0" algn="ctr">
              <a:buFont typeface="Wingdings 3" panose="05040102010807070707" pitchFamily="18" charset="2"/>
              <a:buNone/>
            </a:pPr>
            <a:r>
              <a:rPr lang="en-US" altLang="en-US"/>
              <a:t> </a:t>
            </a:r>
            <a:r>
              <a:rPr lang="en-US" altLang="en-US" b="1"/>
              <a:t>23, 67, 12, 89, 34, 95</a:t>
            </a:r>
          </a:p>
          <a:p>
            <a:pPr marL="107950" indent="0" algn="ctr">
              <a:buFont typeface="Wingdings 3" panose="05040102010807070707" pitchFamily="18" charset="2"/>
              <a:buNone/>
            </a:pPr>
            <a:endParaRPr lang="en-US" altLang="en-US"/>
          </a:p>
          <a:p>
            <a:pPr marL="107950" indent="0">
              <a:buFont typeface="Wingdings 3" panose="05040102010807070707" pitchFamily="18" charset="2"/>
              <a:buNone/>
            </a:pPr>
            <a:endParaRPr lang="en-US" altLang="en-US" sz="1800"/>
          </a:p>
          <a:p>
            <a:pPr marL="107950" indent="0">
              <a:buFont typeface="Wingdings 3" panose="05040102010807070707" pitchFamily="18" charset="2"/>
              <a:buNone/>
            </a:pPr>
            <a:endParaRPr lang="en-US" altLang="en-US" sz="18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3">
            <a:extLst>
              <a:ext uri="{FF2B5EF4-FFF2-40B4-BE49-F238E27FC236}">
                <a16:creationId xmlns:a16="http://schemas.microsoft.com/office/drawing/2014/main" id="{3B20B6C1-B19E-9261-3481-1C858BBCB833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109728" indent="0" eaLnBrk="1" fontAlgn="auto" hangingPunct="1">
              <a:spcAft>
                <a:spcPts val="0"/>
              </a:spcAft>
              <a:buFont typeface="Wingdings 3"/>
              <a:buNone/>
              <a:defRPr/>
            </a:pPr>
            <a:r>
              <a:rPr lang="en-US" dirty="0"/>
              <a:t>Depends on whether partitioning is balanced or unbalanced</a:t>
            </a:r>
          </a:p>
          <a:p>
            <a:pPr marL="365760" indent="-256032" eaLnBrk="1" fontAlgn="auto" hangingPunct="1">
              <a:spcAft>
                <a:spcPts val="0"/>
              </a:spcAft>
              <a:buFont typeface="Wingdings 3"/>
              <a:buChar char=""/>
              <a:defRPr/>
            </a:pPr>
            <a:r>
              <a:rPr lang="en-US" dirty="0"/>
              <a:t>If it is balanced :</a:t>
            </a:r>
          </a:p>
          <a:p>
            <a:pPr lvl="4" eaLnBrk="1" fontAlgn="auto" hangingPunct="1">
              <a:spcAft>
                <a:spcPts val="0"/>
              </a:spcAft>
              <a:buFont typeface="Wingdings 2"/>
              <a:buChar char=""/>
              <a:defRPr/>
            </a:pPr>
            <a:r>
              <a:rPr lang="en-US" dirty="0"/>
              <a:t>Runs asymptotically as fast as merge sort</a:t>
            </a:r>
          </a:p>
          <a:p>
            <a:pPr lvl="4" eaLnBrk="1" fontAlgn="auto" hangingPunct="1">
              <a:spcAft>
                <a:spcPts val="0"/>
              </a:spcAft>
              <a:buFont typeface="Wingdings 2"/>
              <a:buChar char=""/>
              <a:defRPr/>
            </a:pPr>
            <a:endParaRPr lang="en-US" dirty="0"/>
          </a:p>
          <a:p>
            <a:pPr marL="365760" indent="-256032" eaLnBrk="1" fontAlgn="auto" hangingPunct="1">
              <a:spcAft>
                <a:spcPts val="0"/>
              </a:spcAft>
              <a:buFont typeface="Wingdings 3"/>
              <a:buChar char=""/>
              <a:defRPr/>
            </a:pPr>
            <a:r>
              <a:rPr lang="en-US" dirty="0"/>
              <a:t>If it is unbalanced </a:t>
            </a:r>
          </a:p>
          <a:p>
            <a:pPr lvl="4" eaLnBrk="1" fontAlgn="auto" hangingPunct="1">
              <a:spcAft>
                <a:spcPts val="0"/>
              </a:spcAft>
              <a:buFont typeface="Wingdings 2"/>
              <a:buChar char=""/>
              <a:defRPr/>
            </a:pPr>
            <a:r>
              <a:rPr lang="en-US" dirty="0"/>
              <a:t>Runs asymptotically as slow as insertion sort</a:t>
            </a:r>
          </a:p>
        </p:txBody>
      </p:sp>
      <p:sp>
        <p:nvSpPr>
          <p:cNvPr id="4098" name="Rectangle 2">
            <a:extLst>
              <a:ext uri="{FF2B5EF4-FFF2-40B4-BE49-F238E27FC236}">
                <a16:creationId xmlns:a16="http://schemas.microsoft.com/office/drawing/2014/main" id="{9F66044C-F78D-87CA-E00D-FB277123CCC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/>
              <a:t>Performance of Quick Sort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3">
            <a:extLst>
              <a:ext uri="{FF2B5EF4-FFF2-40B4-BE49-F238E27FC236}">
                <a16:creationId xmlns:a16="http://schemas.microsoft.com/office/drawing/2014/main" id="{AA2EAFB7-90F7-E693-0E55-21A6B6CD278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81000" y="965200"/>
            <a:ext cx="8382000" cy="5410200"/>
          </a:xfrm>
        </p:spPr>
        <p:txBody>
          <a:bodyPr>
            <a:normAutofit lnSpcReduction="10000"/>
          </a:bodyPr>
          <a:lstStyle/>
          <a:p>
            <a:pPr marL="109728" indent="0" eaLnBrk="1" fontAlgn="auto" hangingPunct="1">
              <a:lnSpc>
                <a:spcPct val="80000"/>
              </a:lnSpc>
              <a:spcAft>
                <a:spcPts val="0"/>
              </a:spcAft>
              <a:buFont typeface="Wingdings 3"/>
              <a:buNone/>
              <a:defRPr/>
            </a:pPr>
            <a:r>
              <a:rPr lang="en-US" sz="2800" dirty="0"/>
              <a:t>When it produces one sub problem with n-1 elements and one with zero elements </a:t>
            </a:r>
          </a:p>
          <a:p>
            <a:pPr marL="365760" indent="-256032" eaLnBrk="1" fontAlgn="auto" hangingPunct="1">
              <a:lnSpc>
                <a:spcPct val="8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endParaRPr lang="en-US" sz="2800" dirty="0"/>
          </a:p>
          <a:p>
            <a:pPr marL="365760" indent="-256032" eaLnBrk="1" fontAlgn="auto" hangingPunct="1">
              <a:lnSpc>
                <a:spcPct val="8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2800" dirty="0"/>
              <a:t>Lets us assume unbalanced partitioning, the partitioning cost </a:t>
            </a:r>
            <a:r>
              <a:rPr lang="ru-RU" sz="2800" dirty="0">
                <a:cs typeface="Arial" charset="0"/>
              </a:rPr>
              <a:t>ө</a:t>
            </a:r>
            <a:r>
              <a:rPr lang="en-US" sz="2800" dirty="0">
                <a:cs typeface="Arial" charset="0"/>
              </a:rPr>
              <a:t>(n) time </a:t>
            </a:r>
          </a:p>
          <a:p>
            <a:pPr marL="365760" indent="-256032" eaLnBrk="1" fontAlgn="auto" hangingPunct="1">
              <a:lnSpc>
                <a:spcPct val="80000"/>
              </a:lnSpc>
              <a:spcAft>
                <a:spcPts val="0"/>
              </a:spcAft>
              <a:buFont typeface="Wingdings 3"/>
              <a:buChar char=""/>
              <a:defRPr/>
            </a:pPr>
            <a:endParaRPr lang="en-US" sz="2800" dirty="0">
              <a:cs typeface="Arial" charset="0"/>
            </a:endParaRPr>
          </a:p>
          <a:p>
            <a:pPr marL="365760" indent="-256032" eaLnBrk="1" fontAlgn="auto" hangingPunct="1">
              <a:lnSpc>
                <a:spcPct val="8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2800" dirty="0">
                <a:cs typeface="Arial" charset="0"/>
              </a:rPr>
              <a:t>The recurrence for running time is </a:t>
            </a:r>
          </a:p>
          <a:p>
            <a:pPr marL="365760" indent="-256032" eaLnBrk="1" fontAlgn="auto" hangingPunct="1">
              <a:lnSpc>
                <a:spcPct val="80000"/>
              </a:lnSpc>
              <a:spcAft>
                <a:spcPts val="0"/>
              </a:spcAft>
              <a:buFont typeface="Wingdings 3"/>
              <a:buChar char=""/>
              <a:defRPr/>
            </a:pPr>
            <a:endParaRPr lang="en-US" sz="2800" dirty="0">
              <a:cs typeface="Arial" charset="0"/>
            </a:endParaRPr>
          </a:p>
          <a:p>
            <a:pPr marL="365760" indent="-256032" eaLnBrk="1" fontAlgn="auto" hangingPunct="1">
              <a:lnSpc>
                <a:spcPct val="8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2800" dirty="0">
                <a:cs typeface="Arial" charset="0"/>
              </a:rPr>
              <a:t>    T (n)= T(n-1) + T (0) + </a:t>
            </a:r>
            <a:r>
              <a:rPr lang="ru-RU" sz="2800" dirty="0">
                <a:cs typeface="Arial" charset="0"/>
              </a:rPr>
              <a:t>ө</a:t>
            </a:r>
            <a:r>
              <a:rPr lang="en-US" sz="2800" dirty="0">
                <a:cs typeface="Arial" charset="0"/>
              </a:rPr>
              <a:t> (n)</a:t>
            </a:r>
          </a:p>
          <a:p>
            <a:pPr marL="365760" indent="-256032" eaLnBrk="1" fontAlgn="auto" hangingPunct="1">
              <a:lnSpc>
                <a:spcPct val="8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2800" dirty="0">
                <a:cs typeface="Arial" charset="0"/>
              </a:rPr>
              <a:t>           = T (n-1) + </a:t>
            </a:r>
            <a:r>
              <a:rPr lang="ru-RU" sz="2800" dirty="0">
                <a:cs typeface="Arial" charset="0"/>
              </a:rPr>
              <a:t>ө</a:t>
            </a:r>
            <a:r>
              <a:rPr lang="en-US" sz="2800" dirty="0">
                <a:cs typeface="Arial" charset="0"/>
              </a:rPr>
              <a:t> (n)</a:t>
            </a:r>
          </a:p>
          <a:p>
            <a:pPr marL="365760" indent="-256032" eaLnBrk="1" fontAlgn="auto" hangingPunct="1">
              <a:lnSpc>
                <a:spcPct val="8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2800" dirty="0">
                <a:cs typeface="Arial" charset="0"/>
              </a:rPr>
              <a:t>Using recurrence Method we get </a:t>
            </a:r>
            <a:r>
              <a:rPr lang="ru-RU" sz="2800" dirty="0">
                <a:cs typeface="Arial" charset="0"/>
              </a:rPr>
              <a:t>ө</a:t>
            </a:r>
            <a:r>
              <a:rPr lang="en-US" sz="2800" dirty="0">
                <a:cs typeface="Arial" charset="0"/>
              </a:rPr>
              <a:t> (n</a:t>
            </a:r>
            <a:r>
              <a:rPr lang="en-US" sz="2800" baseline="30000" dirty="0">
                <a:cs typeface="Arial" charset="0"/>
              </a:rPr>
              <a:t>2</a:t>
            </a:r>
            <a:r>
              <a:rPr lang="en-US" sz="2800" dirty="0">
                <a:cs typeface="Arial" charset="0"/>
              </a:rPr>
              <a:t>) </a:t>
            </a:r>
          </a:p>
          <a:p>
            <a:pPr marL="365760" indent="-256032" eaLnBrk="1" fontAlgn="auto" hangingPunct="1">
              <a:lnSpc>
                <a:spcPct val="8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endParaRPr lang="en-US" sz="2800" dirty="0">
              <a:cs typeface="Arial" charset="0"/>
            </a:endParaRPr>
          </a:p>
          <a:p>
            <a:pPr marL="365760" indent="-256032" eaLnBrk="1" fontAlgn="auto" hangingPunct="1">
              <a:lnSpc>
                <a:spcPct val="8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2800" dirty="0">
                <a:cs typeface="Arial" charset="0"/>
              </a:rPr>
              <a:t>Note : It occurs when input array is already sorted , the best case condition for insertion sort</a:t>
            </a:r>
            <a:endParaRPr lang="ru-RU" sz="2800" dirty="0">
              <a:cs typeface="Arial" charset="0"/>
            </a:endParaRPr>
          </a:p>
        </p:txBody>
      </p:sp>
      <p:sp>
        <p:nvSpPr>
          <p:cNvPr id="5122" name="Rectangle 2">
            <a:extLst>
              <a:ext uri="{FF2B5EF4-FFF2-40B4-BE49-F238E27FC236}">
                <a16:creationId xmlns:a16="http://schemas.microsoft.com/office/drawing/2014/main" id="{B5F680F3-0E55-F604-DD83-32D94BC5796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381000"/>
            <a:ext cx="8229600" cy="584200"/>
          </a:xfrm>
        </p:spPr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4000" u="sng"/>
              <a:t>Worst Case Partitioning</a:t>
            </a:r>
            <a:r>
              <a:rPr lang="en-US" sz="4000"/>
              <a:t> 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3">
            <a:extLst>
              <a:ext uri="{FF2B5EF4-FFF2-40B4-BE49-F238E27FC236}">
                <a16:creationId xmlns:a16="http://schemas.microsoft.com/office/drawing/2014/main" id="{B8C6AFD3-2C74-5937-547A-35BA9E5C6C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The recurrence for running time is </a:t>
            </a:r>
          </a:p>
          <a:p>
            <a:pPr eaLnBrk="1" hangingPunct="1"/>
            <a:endParaRPr lang="en-US" altLang="en-US"/>
          </a:p>
          <a:p>
            <a:pPr eaLnBrk="1" hangingPunct="1"/>
            <a:r>
              <a:rPr lang="en-US" altLang="en-US"/>
              <a:t>T (n) &lt;= 2T (n/2) + </a:t>
            </a:r>
            <a:r>
              <a:rPr lang="ru-RU" altLang="en-US" sz="4400">
                <a:cs typeface="Arial" panose="020B0604020202020204" pitchFamily="34" charset="0"/>
              </a:rPr>
              <a:t>ө</a:t>
            </a:r>
            <a:r>
              <a:rPr lang="en-US" altLang="en-US" sz="4400">
                <a:cs typeface="Arial" panose="020B0604020202020204" pitchFamily="34" charset="0"/>
              </a:rPr>
              <a:t> (n)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z="2800">
              <a:cs typeface="Arial" panose="020B0604020202020204" pitchFamily="34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800">
                <a:cs typeface="Arial" panose="020B0604020202020204" pitchFamily="34" charset="0"/>
              </a:rPr>
              <a:t>Using Main recurrence theorem we get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z="2800">
              <a:cs typeface="Arial" panose="020B0604020202020204" pitchFamily="34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800">
                <a:cs typeface="Arial" panose="020B0604020202020204" pitchFamily="34" charset="0"/>
              </a:rPr>
              <a:t>T (n) = </a:t>
            </a:r>
            <a:r>
              <a:rPr lang="ru-RU" altLang="en-US" sz="4400">
                <a:cs typeface="Arial" panose="020B0604020202020204" pitchFamily="34" charset="0"/>
              </a:rPr>
              <a:t>ө</a:t>
            </a:r>
            <a:r>
              <a:rPr lang="en-US" altLang="en-US" sz="4400">
                <a:cs typeface="Arial" panose="020B0604020202020204" pitchFamily="34" charset="0"/>
              </a:rPr>
              <a:t> (n log n)</a:t>
            </a:r>
          </a:p>
        </p:txBody>
      </p:sp>
      <p:sp>
        <p:nvSpPr>
          <p:cNvPr id="6146" name="Rectangle 2">
            <a:extLst>
              <a:ext uri="{FF2B5EF4-FFF2-40B4-BE49-F238E27FC236}">
                <a16:creationId xmlns:a16="http://schemas.microsoft.com/office/drawing/2014/main" id="{652A7C15-34FA-D96F-FDF6-75A39D133B2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/>
              <a:t>Best Case Partitioning 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B1F4C1-55B8-43C1-5871-27E59EB345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981200"/>
            <a:ext cx="8458200" cy="4114800"/>
          </a:xfrm>
        </p:spPr>
        <p:txBody>
          <a:bodyPr>
            <a:normAutofit/>
          </a:bodyPr>
          <a:lstStyle/>
          <a:p>
            <a:pPr marL="365760" indent="-256032" eaLnBrk="1" fontAlgn="auto" hangingPunct="1">
              <a:spcAft>
                <a:spcPts val="0"/>
              </a:spcAft>
              <a:buFont typeface="Wingdings 3"/>
              <a:buChar char=""/>
              <a:defRPr/>
            </a:pPr>
            <a:r>
              <a:rPr lang="en-IN" dirty="0"/>
              <a:t>When the partitioning splits into some ratio:</a:t>
            </a:r>
          </a:p>
          <a:p>
            <a:pPr marL="0" indent="0" eaLnBrk="1" fontAlgn="auto" hangingPunct="1"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IN" dirty="0"/>
              <a:t>T(n) =  </a:t>
            </a:r>
            <a:r>
              <a:rPr lang="ru-RU" dirty="0">
                <a:cs typeface="Arial" charset="0"/>
              </a:rPr>
              <a:t>ө</a:t>
            </a:r>
            <a:r>
              <a:rPr lang="en-US" dirty="0">
                <a:cs typeface="Arial" charset="0"/>
              </a:rPr>
              <a:t> (n log n)</a:t>
            </a:r>
          </a:p>
          <a:p>
            <a:pPr marL="0" indent="0" eaLnBrk="1" fontAlgn="auto" hangingPunct="1">
              <a:spcAft>
                <a:spcPts val="0"/>
              </a:spcAft>
              <a:buFont typeface="Wingdings" pitchFamily="2" charset="2"/>
              <a:buNone/>
              <a:defRPr/>
            </a:pPr>
            <a:endParaRPr lang="en-US" dirty="0">
              <a:cs typeface="Arial" charset="0"/>
            </a:endParaRPr>
          </a:p>
          <a:p>
            <a:pPr marL="365760" indent="-256032" eaLnBrk="1" fontAlgn="auto" hangingPunct="1">
              <a:spcAft>
                <a:spcPts val="0"/>
              </a:spcAft>
              <a:buFont typeface="Wingdings 3"/>
              <a:buChar char=""/>
              <a:defRPr/>
            </a:pPr>
            <a:r>
              <a:rPr lang="en-IN" dirty="0"/>
              <a:t>When the partitioning split alternative best and worst segments</a:t>
            </a:r>
          </a:p>
          <a:p>
            <a:pPr marL="0" indent="0" eaLnBrk="1" fontAlgn="auto" hangingPunct="1"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IN" dirty="0"/>
              <a:t>T(n) =  </a:t>
            </a:r>
            <a:r>
              <a:rPr lang="ru-RU" dirty="0">
                <a:cs typeface="Arial" charset="0"/>
              </a:rPr>
              <a:t>ө</a:t>
            </a:r>
            <a:r>
              <a:rPr lang="en-US" dirty="0">
                <a:cs typeface="Arial" charset="0"/>
              </a:rPr>
              <a:t> (n log n)</a:t>
            </a:r>
          </a:p>
          <a:p>
            <a:pPr marL="365760" indent="-256032" eaLnBrk="1" fontAlgn="auto" hangingPunct="1">
              <a:spcAft>
                <a:spcPts val="0"/>
              </a:spcAft>
              <a:buFont typeface="Wingdings 3"/>
              <a:buChar char=""/>
              <a:defRPr/>
            </a:pPr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DA57B87-1D0C-3B83-3C38-B4DE8B8281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endParaRPr lang="en-IN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D3A930-090E-7B0F-8109-6FE9EF2AD6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762000"/>
            <a:ext cx="8420100" cy="4114800"/>
          </a:xfrm>
        </p:spPr>
        <p:txBody>
          <a:bodyPr>
            <a:normAutofit fontScale="92500" lnSpcReduction="20000"/>
          </a:bodyPr>
          <a:lstStyle/>
          <a:p>
            <a:pPr marL="109728" indent="0" eaLnBrk="1" fontAlgn="auto" hangingPunct="1">
              <a:spcAft>
                <a:spcPts val="0"/>
              </a:spcAft>
              <a:buFont typeface="Wingdings 3" panose="05040102010807070707" pitchFamily="18" charset="2"/>
              <a:buNone/>
              <a:defRPr/>
            </a:pPr>
            <a:r>
              <a:rPr lang="en-IN" dirty="0"/>
              <a:t>The median of ‘n’ elements can be found in O(n) time. </a:t>
            </a:r>
          </a:p>
          <a:p>
            <a:pPr marL="109728" indent="0" eaLnBrk="1" fontAlgn="auto" hangingPunct="1">
              <a:spcAft>
                <a:spcPts val="0"/>
              </a:spcAft>
              <a:buFont typeface="Wingdings 3" panose="05040102010807070707" pitchFamily="18" charset="2"/>
              <a:buNone/>
              <a:defRPr/>
            </a:pPr>
            <a:endParaRPr lang="en-IN" dirty="0"/>
          </a:p>
          <a:p>
            <a:pPr marL="0" indent="0" eaLnBrk="1" fontAlgn="auto" hangingPunct="1"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IN" dirty="0"/>
              <a:t>What is the complexity of quicksort, in which medium is selected as pivot  ?</a:t>
            </a:r>
          </a:p>
          <a:p>
            <a:pPr marL="0" indent="0" eaLnBrk="1" fontAlgn="auto" hangingPunct="1">
              <a:spcAft>
                <a:spcPts val="0"/>
              </a:spcAft>
              <a:buFont typeface="Wingdings" pitchFamily="2" charset="2"/>
              <a:buNone/>
              <a:defRPr/>
            </a:pPr>
            <a:endParaRPr lang="en-IN" dirty="0"/>
          </a:p>
          <a:p>
            <a:pPr marL="0" indent="0" eaLnBrk="1" fontAlgn="auto" hangingPunct="1"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IN" dirty="0"/>
              <a:t>(finding </a:t>
            </a:r>
            <a:r>
              <a:rPr lang="en-IN" dirty="0" err="1"/>
              <a:t>median+swapping</a:t>
            </a:r>
            <a:r>
              <a:rPr lang="en-IN" dirty="0"/>
              <a:t> with last pivot </a:t>
            </a:r>
            <a:r>
              <a:rPr lang="en-IN" dirty="0" err="1"/>
              <a:t>position+partitioning</a:t>
            </a:r>
            <a:r>
              <a:rPr lang="en-IN" dirty="0"/>
              <a:t>+ division into equal halves)</a:t>
            </a:r>
          </a:p>
          <a:p>
            <a:pPr marL="0" indent="0" eaLnBrk="1" fontAlgn="auto" hangingPunct="1"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IN" dirty="0"/>
              <a:t>T(n)= O(n)+O(1)+O(n)+ 2 T(n/2)</a:t>
            </a:r>
          </a:p>
          <a:p>
            <a:pPr marL="0" indent="0" eaLnBrk="1" fontAlgn="auto" hangingPunct="1"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IN" dirty="0"/>
              <a:t>      = O(n) + 2 T(n/2)</a:t>
            </a:r>
          </a:p>
          <a:p>
            <a:pPr marL="0" indent="0" eaLnBrk="1" fontAlgn="auto" hangingPunct="1"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IN" dirty="0"/>
              <a:t>      = </a:t>
            </a:r>
            <a:r>
              <a:rPr lang="ru-RU" dirty="0">
                <a:cs typeface="Arial" charset="0"/>
              </a:rPr>
              <a:t>ө</a:t>
            </a:r>
            <a:r>
              <a:rPr lang="en-US" dirty="0">
                <a:cs typeface="Arial" charset="0"/>
              </a:rPr>
              <a:t> (n log n)</a:t>
            </a:r>
          </a:p>
          <a:p>
            <a:pPr marL="0" indent="0" eaLnBrk="1" fontAlgn="auto" hangingPunct="1">
              <a:spcAft>
                <a:spcPts val="0"/>
              </a:spcAft>
              <a:buFont typeface="Wingdings" pitchFamily="2" charset="2"/>
              <a:buNone/>
              <a:defRPr/>
            </a:pPr>
            <a:endParaRPr lang="en-IN" dirty="0"/>
          </a:p>
          <a:p>
            <a:pPr marL="0" indent="0" eaLnBrk="1" fontAlgn="auto" hangingPunct="1">
              <a:spcAft>
                <a:spcPts val="0"/>
              </a:spcAft>
              <a:buFont typeface="Wingdings" pitchFamily="2" charset="2"/>
              <a:buNone/>
              <a:defRPr/>
            </a:pPr>
            <a:endParaRPr lang="en-IN" dirty="0"/>
          </a:p>
        </p:txBody>
      </p:sp>
      <p:sp>
        <p:nvSpPr>
          <p:cNvPr id="23555" name="Rectangle 1">
            <a:extLst>
              <a:ext uri="{FF2B5EF4-FFF2-40B4-BE49-F238E27FC236}">
                <a16:creationId xmlns:a16="http://schemas.microsoft.com/office/drawing/2014/main" id="{186B5AB1-92D1-B4D3-B821-AB56B5D336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900" y="2743200"/>
            <a:ext cx="8305800" cy="33528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endParaRPr lang="en-IN" alt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678403-93B2-EF17-50B3-7C41B19729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762000"/>
            <a:ext cx="8839200" cy="4114800"/>
          </a:xfrm>
        </p:spPr>
        <p:txBody>
          <a:bodyPr>
            <a:normAutofit fontScale="85000" lnSpcReduction="10000"/>
          </a:bodyPr>
          <a:lstStyle/>
          <a:p>
            <a:pPr marL="109728" indent="0" eaLnBrk="1" fontAlgn="auto" hangingPunct="1">
              <a:spcAft>
                <a:spcPts val="0"/>
              </a:spcAft>
              <a:buFont typeface="Wingdings 3" panose="05040102010807070707" pitchFamily="18" charset="2"/>
              <a:buNone/>
              <a:defRPr/>
            </a:pPr>
            <a:r>
              <a:rPr lang="en-IN" sz="2800" b="1" dirty="0"/>
              <a:t>The median of ‘n’ elements can be found in O(n) time</a:t>
            </a:r>
            <a:r>
              <a:rPr lang="en-IN" sz="2800" dirty="0"/>
              <a:t> </a:t>
            </a:r>
          </a:p>
          <a:p>
            <a:pPr marL="0" indent="0" eaLnBrk="1" fontAlgn="auto" hangingPunct="1">
              <a:spcAft>
                <a:spcPts val="0"/>
              </a:spcAft>
              <a:buFont typeface="Wingdings" pitchFamily="2" charset="2"/>
              <a:buNone/>
              <a:defRPr/>
            </a:pPr>
            <a:endParaRPr lang="en-IN" dirty="0"/>
          </a:p>
          <a:p>
            <a:pPr marL="0" indent="0"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IN" dirty="0"/>
              <a:t>What is the complexity of quicksort, in which medium is selected as pivot ?</a:t>
            </a:r>
          </a:p>
          <a:p>
            <a:pPr marL="0" indent="0" eaLnBrk="1" fontAlgn="auto" hangingPunct="1">
              <a:spcAft>
                <a:spcPts val="0"/>
              </a:spcAft>
              <a:buFont typeface="Wingdings" pitchFamily="2" charset="2"/>
              <a:buNone/>
              <a:defRPr/>
            </a:pPr>
            <a:endParaRPr lang="en-IN" dirty="0"/>
          </a:p>
          <a:p>
            <a:pPr marL="0" indent="0" eaLnBrk="1" fontAlgn="auto" hangingPunct="1"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IN" dirty="0"/>
              <a:t>(finding median + swapping with last pivot position + partitioning + division into equal halves)</a:t>
            </a:r>
          </a:p>
          <a:p>
            <a:pPr marL="0" indent="0" eaLnBrk="1" fontAlgn="auto" hangingPunct="1">
              <a:spcAft>
                <a:spcPts val="0"/>
              </a:spcAft>
              <a:buFont typeface="Wingdings" pitchFamily="2" charset="2"/>
              <a:buNone/>
              <a:defRPr/>
            </a:pPr>
            <a:endParaRPr lang="en-IN" dirty="0"/>
          </a:p>
          <a:p>
            <a:pPr marL="0" indent="0" eaLnBrk="1" fontAlgn="auto" hangingPunct="1"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IN" dirty="0"/>
              <a:t>T(n)= O(n) + O(1) + O(n) + 2 T(n/2)</a:t>
            </a:r>
          </a:p>
          <a:p>
            <a:pPr marL="0" indent="0" eaLnBrk="1" fontAlgn="auto" hangingPunct="1"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IN" dirty="0"/>
              <a:t>      = O(n) + 2 T(n/2)</a:t>
            </a:r>
          </a:p>
          <a:p>
            <a:pPr marL="0" indent="0" eaLnBrk="1" fontAlgn="auto" hangingPunct="1"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IN" dirty="0"/>
              <a:t>      = O</a:t>
            </a:r>
            <a:r>
              <a:rPr lang="en-US" dirty="0">
                <a:cs typeface="Arial" charset="0"/>
              </a:rPr>
              <a:t> (n log n)</a:t>
            </a:r>
          </a:p>
          <a:p>
            <a:pPr marL="0" indent="0" eaLnBrk="1" fontAlgn="auto" hangingPunct="1">
              <a:spcAft>
                <a:spcPts val="0"/>
              </a:spcAft>
              <a:buFont typeface="Wingdings" pitchFamily="2" charset="2"/>
              <a:buNone/>
              <a:defRPr/>
            </a:pPr>
            <a:endParaRPr lang="en-IN" dirty="0"/>
          </a:p>
          <a:p>
            <a:pPr marL="0" indent="0" eaLnBrk="1" fontAlgn="auto" hangingPunct="1">
              <a:spcAft>
                <a:spcPts val="0"/>
              </a:spcAft>
              <a:buFont typeface="Wingdings" pitchFamily="2" charset="2"/>
              <a:buNone/>
              <a:defRPr/>
            </a:pPr>
            <a:endParaRPr lang="en-IN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632F3C-BCF9-AA4F-3EE9-9A187B164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304800"/>
            <a:ext cx="8229600" cy="6553200"/>
          </a:xfrm>
        </p:spPr>
        <p:txBody>
          <a:bodyPr>
            <a:normAutofit/>
          </a:bodyPr>
          <a:lstStyle/>
          <a:p>
            <a:pPr marL="109728" indent="0" algn="just" eaLnBrk="1" fontAlgn="auto" hangingPunct="1">
              <a:spcAft>
                <a:spcPts val="0"/>
              </a:spcAft>
              <a:buFont typeface="Wingdings 3" panose="05040102010807070707" pitchFamily="18" charset="2"/>
              <a:buNone/>
              <a:defRPr/>
            </a:pPr>
            <a:r>
              <a:rPr lang="en-IN" b="1" dirty="0"/>
              <a:t>In quick sort, for sorting ‘n’  elements, the (n/4)</a:t>
            </a:r>
            <a:r>
              <a:rPr lang="en-IN" b="1" dirty="0" err="1"/>
              <a:t>th</a:t>
            </a:r>
            <a:r>
              <a:rPr lang="en-IN" b="1" dirty="0"/>
              <a:t> smallest element is selected as pivot using O(n) time algorithm.</a:t>
            </a:r>
          </a:p>
          <a:p>
            <a:pPr marL="109728" indent="0" algn="just" eaLnBrk="1" fontAlgn="auto" hangingPunct="1">
              <a:spcAft>
                <a:spcPts val="0"/>
              </a:spcAft>
              <a:buFont typeface="Wingdings 3" panose="05040102010807070707" pitchFamily="18" charset="2"/>
              <a:buNone/>
              <a:defRPr/>
            </a:pPr>
            <a:endParaRPr lang="en-IN" b="1" dirty="0"/>
          </a:p>
          <a:p>
            <a:pPr marL="0" indent="0" eaLnBrk="1" fontAlgn="auto" hangingPunct="1"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IN" dirty="0"/>
              <a:t>What is the worst case complexity of quick sort?</a:t>
            </a:r>
          </a:p>
          <a:p>
            <a:pPr marL="0" indent="0" eaLnBrk="1" fontAlgn="auto" hangingPunct="1">
              <a:spcAft>
                <a:spcPts val="0"/>
              </a:spcAft>
              <a:buFont typeface="Wingdings" pitchFamily="2" charset="2"/>
              <a:buNone/>
              <a:defRPr/>
            </a:pPr>
            <a:endParaRPr lang="en-IN" dirty="0"/>
          </a:p>
          <a:p>
            <a:pPr marL="0" indent="0" eaLnBrk="1" fontAlgn="auto" hangingPunct="1"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IN" dirty="0"/>
              <a:t>(element selection, swapping with pivot position, two partition in ration 1:4)</a:t>
            </a:r>
          </a:p>
          <a:p>
            <a:pPr marL="0" indent="0" eaLnBrk="1" fontAlgn="auto" hangingPunct="1"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IN" dirty="0"/>
              <a:t>T(n)=O(n)+O(1)+O(n)+T(n/4)+T(3n/4)</a:t>
            </a:r>
          </a:p>
          <a:p>
            <a:pPr marL="0" indent="0" eaLnBrk="1" fontAlgn="auto" hangingPunct="1"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IN" dirty="0"/>
              <a:t>	= O(n) + </a:t>
            </a:r>
            <a:r>
              <a:rPr lang="ru-RU" dirty="0">
                <a:cs typeface="Arial" charset="0"/>
              </a:rPr>
              <a:t>ө</a:t>
            </a:r>
            <a:r>
              <a:rPr lang="en-US" dirty="0">
                <a:cs typeface="Arial" charset="0"/>
              </a:rPr>
              <a:t> (n log n)</a:t>
            </a:r>
          </a:p>
          <a:p>
            <a:pPr marL="0" indent="0" eaLnBrk="1" fontAlgn="auto" hangingPunct="1">
              <a:spcAft>
                <a:spcPts val="0"/>
              </a:spcAft>
              <a:buFont typeface="Wingdings" pitchFamily="2" charset="2"/>
              <a:buNone/>
              <a:defRPr/>
            </a:pPr>
            <a:endParaRPr lang="en-IN" dirty="0"/>
          </a:p>
          <a:p>
            <a:pPr marL="0" indent="0" eaLnBrk="1" fontAlgn="auto" hangingPunct="1"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IN" dirty="0"/>
              <a:t>	=</a:t>
            </a:r>
            <a:r>
              <a:rPr lang="ru-RU" dirty="0">
                <a:cs typeface="Arial" charset="0"/>
              </a:rPr>
              <a:t>ө</a:t>
            </a:r>
            <a:r>
              <a:rPr lang="en-US" dirty="0">
                <a:cs typeface="Arial" charset="0"/>
              </a:rPr>
              <a:t> (n log n)</a:t>
            </a:r>
          </a:p>
          <a:p>
            <a:pPr marL="0" indent="0" eaLnBrk="1" fontAlgn="auto" hangingPunct="1">
              <a:spcAft>
                <a:spcPts val="0"/>
              </a:spcAft>
              <a:buFont typeface="Wingdings" pitchFamily="2" charset="2"/>
              <a:buNone/>
              <a:defRPr/>
            </a:pPr>
            <a:endParaRPr lang="en-IN" dirty="0"/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6EE38F25-544D-C22B-3A99-9AD03029AA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2971800"/>
            <a:ext cx="8458200" cy="33528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endParaRPr lang="en-IN" alt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D2604A-7163-BDC8-3412-9635E838C1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304800"/>
            <a:ext cx="8305800" cy="6553200"/>
          </a:xfrm>
        </p:spPr>
        <p:txBody>
          <a:bodyPr>
            <a:normAutofit/>
          </a:bodyPr>
          <a:lstStyle/>
          <a:p>
            <a:pPr marL="109728" indent="0" algn="just" eaLnBrk="1" fontAlgn="auto" hangingPunct="1">
              <a:spcAft>
                <a:spcPts val="0"/>
              </a:spcAft>
              <a:buFont typeface="Wingdings 3" panose="05040102010807070707" pitchFamily="18" charset="2"/>
              <a:buNone/>
              <a:defRPr/>
            </a:pPr>
            <a:r>
              <a:rPr lang="en-IN" b="1" dirty="0"/>
              <a:t>In quick sort, for sorting ‘n’  elements, the (n/4)</a:t>
            </a:r>
            <a:r>
              <a:rPr lang="en-IN" b="1" dirty="0" err="1"/>
              <a:t>th</a:t>
            </a:r>
            <a:r>
              <a:rPr lang="en-IN" b="1" dirty="0"/>
              <a:t> smallest element is selected as pivot using O(n) time algorithm.</a:t>
            </a:r>
          </a:p>
          <a:p>
            <a:pPr marL="0" indent="0" eaLnBrk="1" fontAlgn="auto" hangingPunct="1">
              <a:spcAft>
                <a:spcPts val="0"/>
              </a:spcAft>
              <a:buFont typeface="Wingdings" pitchFamily="2" charset="2"/>
              <a:buNone/>
              <a:defRPr/>
            </a:pPr>
            <a:endParaRPr lang="en-IN" dirty="0"/>
          </a:p>
          <a:p>
            <a:pPr marL="0" indent="0" eaLnBrk="1" fontAlgn="auto" hangingPunct="1"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IN" dirty="0"/>
              <a:t>What is the worst case complexity of quick sort?</a:t>
            </a:r>
          </a:p>
          <a:p>
            <a:pPr marL="0" indent="0" eaLnBrk="1" fontAlgn="auto" hangingPunct="1">
              <a:spcAft>
                <a:spcPts val="0"/>
              </a:spcAft>
              <a:buFont typeface="Wingdings" pitchFamily="2" charset="2"/>
              <a:buNone/>
              <a:defRPr/>
            </a:pPr>
            <a:endParaRPr lang="en-IN" dirty="0"/>
          </a:p>
          <a:p>
            <a:pPr marL="0" indent="0" algn="just" eaLnBrk="1" fontAlgn="auto" hangingPunct="1"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IN" dirty="0"/>
              <a:t>(element selection + swapping with pivot + partition+ two partition in ration 1:4)</a:t>
            </a:r>
          </a:p>
          <a:p>
            <a:pPr marL="0" indent="0" eaLnBrk="1" fontAlgn="auto" hangingPunct="1">
              <a:spcAft>
                <a:spcPts val="0"/>
              </a:spcAft>
              <a:buFont typeface="Wingdings" pitchFamily="2" charset="2"/>
              <a:buNone/>
              <a:defRPr/>
            </a:pPr>
            <a:endParaRPr lang="en-IN" dirty="0"/>
          </a:p>
          <a:p>
            <a:pPr marL="0" indent="0" eaLnBrk="1" fontAlgn="auto" hangingPunct="1"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IN" dirty="0"/>
              <a:t>T(n)=O(n)+O(1)+O(n)+T(n/4)+T(3n/4)</a:t>
            </a:r>
          </a:p>
          <a:p>
            <a:pPr marL="0" indent="0" eaLnBrk="1" fontAlgn="auto" hangingPunct="1"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IN" dirty="0"/>
              <a:t>	= O(n) + </a:t>
            </a:r>
            <a:r>
              <a:rPr lang="ru-RU" dirty="0">
                <a:cs typeface="Arial" charset="0"/>
              </a:rPr>
              <a:t>ө</a:t>
            </a:r>
            <a:r>
              <a:rPr lang="en-US" dirty="0">
                <a:cs typeface="Arial" charset="0"/>
              </a:rPr>
              <a:t> (n log n)</a:t>
            </a:r>
          </a:p>
          <a:p>
            <a:pPr marL="0" indent="0" eaLnBrk="1" fontAlgn="auto" hangingPunct="1">
              <a:spcAft>
                <a:spcPts val="0"/>
              </a:spcAft>
              <a:buFont typeface="Wingdings" pitchFamily="2" charset="2"/>
              <a:buNone/>
              <a:defRPr/>
            </a:pPr>
            <a:endParaRPr lang="en-IN" dirty="0"/>
          </a:p>
          <a:p>
            <a:pPr marL="0" indent="0" eaLnBrk="1" fontAlgn="auto" hangingPunct="1"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IN" dirty="0"/>
              <a:t>	=</a:t>
            </a:r>
            <a:r>
              <a:rPr lang="ru-RU" dirty="0">
                <a:cs typeface="Arial" charset="0"/>
              </a:rPr>
              <a:t>ө</a:t>
            </a:r>
            <a:r>
              <a:rPr lang="en-US" dirty="0">
                <a:cs typeface="Arial" charset="0"/>
              </a:rPr>
              <a:t> (n log n)</a:t>
            </a:r>
          </a:p>
          <a:p>
            <a:pPr marL="0" indent="0" eaLnBrk="1" fontAlgn="auto" hangingPunct="1">
              <a:spcAft>
                <a:spcPts val="0"/>
              </a:spcAft>
              <a:buFont typeface="Wingdings" pitchFamily="2" charset="2"/>
              <a:buNone/>
              <a:defRPr/>
            </a:pPr>
            <a:endParaRPr lang="en-IN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6B6F52-056C-8B6E-DAEF-447879B1D9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685800"/>
            <a:ext cx="8229600" cy="4114800"/>
          </a:xfrm>
        </p:spPr>
        <p:txBody>
          <a:bodyPr>
            <a:normAutofit fontScale="92500" lnSpcReduction="10000"/>
          </a:bodyPr>
          <a:lstStyle/>
          <a:p>
            <a:pPr marL="109728" indent="0" algn="just" eaLnBrk="1" fontAlgn="auto" hangingPunct="1">
              <a:spcAft>
                <a:spcPts val="0"/>
              </a:spcAft>
              <a:buFont typeface="Wingdings 3" panose="05040102010807070707" pitchFamily="18" charset="2"/>
              <a:buNone/>
              <a:defRPr/>
            </a:pPr>
            <a:r>
              <a:rPr lang="en-IN" b="1" dirty="0"/>
              <a:t>Let T1 and T2 be the time taken partitioning the following sequences</a:t>
            </a:r>
          </a:p>
          <a:p>
            <a:pPr marL="109728" indent="0" algn="just" eaLnBrk="1" fontAlgn="auto" hangingPunct="1">
              <a:spcAft>
                <a:spcPts val="0"/>
              </a:spcAft>
              <a:buFont typeface="Wingdings 3" panose="05040102010807070707" pitchFamily="18" charset="2"/>
              <a:buNone/>
              <a:defRPr/>
            </a:pPr>
            <a:endParaRPr lang="en-IN" b="1" dirty="0"/>
          </a:p>
          <a:p>
            <a:pPr marL="0" indent="0" eaLnBrk="1" fontAlgn="auto" hangingPunct="1"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IN" dirty="0"/>
              <a:t>1,2,3,4,5………..n            T1</a:t>
            </a:r>
          </a:p>
          <a:p>
            <a:pPr marL="0" indent="0" eaLnBrk="1" fontAlgn="auto" hangingPunct="1">
              <a:spcAft>
                <a:spcPts val="0"/>
              </a:spcAft>
              <a:buFont typeface="Wingdings" pitchFamily="2" charset="2"/>
              <a:buNone/>
              <a:defRPr/>
            </a:pPr>
            <a:endParaRPr lang="en-IN" dirty="0"/>
          </a:p>
          <a:p>
            <a:pPr marL="0" indent="0" eaLnBrk="1" fontAlgn="auto" hangingPunct="1"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IN" dirty="0"/>
              <a:t>n,n-1,n-2……….1	   T2</a:t>
            </a:r>
          </a:p>
          <a:p>
            <a:pPr marL="109728" indent="0" eaLnBrk="1" fontAlgn="auto" hangingPunct="1">
              <a:spcAft>
                <a:spcPts val="0"/>
              </a:spcAft>
              <a:buFont typeface="Wingdings 3" panose="05040102010807070707" pitchFamily="18" charset="2"/>
              <a:buNone/>
              <a:defRPr/>
            </a:pPr>
            <a:endParaRPr lang="en-IN" dirty="0"/>
          </a:p>
          <a:p>
            <a:pPr marL="109728" indent="0" eaLnBrk="1" fontAlgn="auto" hangingPunct="1">
              <a:spcAft>
                <a:spcPts val="0"/>
              </a:spcAft>
              <a:buFont typeface="Wingdings 3" panose="05040102010807070707" pitchFamily="18" charset="2"/>
              <a:buNone/>
              <a:defRPr/>
            </a:pPr>
            <a:r>
              <a:rPr lang="en-IN" dirty="0"/>
              <a:t>Find the relation between T1 and T2 ?</a:t>
            </a:r>
          </a:p>
          <a:p>
            <a:pPr marL="365760" indent="-256032" eaLnBrk="1" fontAlgn="auto" hangingPunct="1">
              <a:spcAft>
                <a:spcPts val="0"/>
              </a:spcAft>
              <a:buFont typeface="Wingdings 3"/>
              <a:buChar char=""/>
              <a:defRPr/>
            </a:pPr>
            <a:endParaRPr lang="en-IN" dirty="0"/>
          </a:p>
          <a:p>
            <a:pPr marL="0" indent="0" eaLnBrk="1" fontAlgn="auto" hangingPunct="1"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IN" dirty="0" err="1"/>
              <a:t>Ans</a:t>
            </a:r>
            <a:r>
              <a:rPr lang="en-IN" dirty="0"/>
              <a:t> : T1=T2</a:t>
            </a:r>
          </a:p>
        </p:txBody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67974C43-DD2F-C155-7575-D78B24A13F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5450" y="4191000"/>
            <a:ext cx="8001000" cy="15240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endParaRPr lang="en-IN" alt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E01CE6-7ADD-34BD-3190-6DDF95BAA3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685800"/>
            <a:ext cx="8229600" cy="4114800"/>
          </a:xfrm>
        </p:spPr>
        <p:txBody>
          <a:bodyPr>
            <a:normAutofit fontScale="92500" lnSpcReduction="10000"/>
          </a:bodyPr>
          <a:lstStyle/>
          <a:p>
            <a:pPr marL="109728" indent="0" algn="just" eaLnBrk="1" fontAlgn="auto" hangingPunct="1">
              <a:spcAft>
                <a:spcPts val="0"/>
              </a:spcAft>
              <a:buFont typeface="Wingdings 3" panose="05040102010807070707" pitchFamily="18" charset="2"/>
              <a:buNone/>
              <a:defRPr/>
            </a:pPr>
            <a:r>
              <a:rPr lang="en-IN" b="1" dirty="0"/>
              <a:t>Let T1 and T2 be the time taken partitioning the following sequences</a:t>
            </a:r>
          </a:p>
          <a:p>
            <a:pPr marL="0" indent="0" eaLnBrk="1" fontAlgn="auto" hangingPunct="1">
              <a:spcAft>
                <a:spcPts val="0"/>
              </a:spcAft>
              <a:buFont typeface="Wingdings" pitchFamily="2" charset="2"/>
              <a:buNone/>
              <a:defRPr/>
            </a:pPr>
            <a:endParaRPr lang="en-IN" dirty="0"/>
          </a:p>
          <a:p>
            <a:pPr marL="0" indent="0" eaLnBrk="1" fontAlgn="auto" hangingPunct="1"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IN" dirty="0"/>
              <a:t>1,2,3,4,5………..n    	 T1</a:t>
            </a:r>
          </a:p>
          <a:p>
            <a:pPr marL="0" indent="0" eaLnBrk="1" fontAlgn="auto" hangingPunct="1">
              <a:spcAft>
                <a:spcPts val="0"/>
              </a:spcAft>
              <a:buFont typeface="Wingdings" pitchFamily="2" charset="2"/>
              <a:buNone/>
              <a:defRPr/>
            </a:pPr>
            <a:endParaRPr lang="en-IN" dirty="0"/>
          </a:p>
          <a:p>
            <a:pPr marL="0" indent="0" eaLnBrk="1" fontAlgn="auto" hangingPunct="1"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IN" dirty="0"/>
              <a:t>n,n-1,n-2……….1	 T2</a:t>
            </a:r>
          </a:p>
          <a:p>
            <a:pPr marL="109728" indent="0" eaLnBrk="1" fontAlgn="auto" hangingPunct="1">
              <a:spcAft>
                <a:spcPts val="0"/>
              </a:spcAft>
              <a:buFont typeface="Wingdings 3" panose="05040102010807070707" pitchFamily="18" charset="2"/>
              <a:buNone/>
              <a:defRPr/>
            </a:pPr>
            <a:endParaRPr lang="en-IN" dirty="0"/>
          </a:p>
          <a:p>
            <a:pPr marL="109728" indent="0" eaLnBrk="1" fontAlgn="auto" hangingPunct="1">
              <a:spcAft>
                <a:spcPts val="0"/>
              </a:spcAft>
              <a:buFont typeface="Wingdings 3" panose="05040102010807070707" pitchFamily="18" charset="2"/>
              <a:buNone/>
              <a:defRPr/>
            </a:pPr>
            <a:r>
              <a:rPr lang="en-IN" dirty="0"/>
              <a:t>Find the relation between T1 and T2 ?</a:t>
            </a:r>
          </a:p>
          <a:p>
            <a:pPr marL="365760" indent="-256032" eaLnBrk="1" fontAlgn="auto" hangingPunct="1">
              <a:spcAft>
                <a:spcPts val="0"/>
              </a:spcAft>
              <a:buFont typeface="Wingdings 3"/>
              <a:buChar char=""/>
              <a:defRPr/>
            </a:pPr>
            <a:endParaRPr lang="en-IN" dirty="0"/>
          </a:p>
          <a:p>
            <a:pPr marL="0" indent="0" eaLnBrk="1" fontAlgn="auto" hangingPunct="1"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IN" dirty="0" err="1"/>
              <a:t>Ans</a:t>
            </a:r>
            <a:r>
              <a:rPr lang="en-IN" dirty="0"/>
              <a:t> : </a:t>
            </a:r>
            <a:r>
              <a:rPr lang="en-IN" b="1" dirty="0"/>
              <a:t>T1=T2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684880D-B65C-D2CD-7BBE-AC6BE9ACA9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Space  Complexity </a:t>
            </a:r>
          </a:p>
          <a:p>
            <a:pPr marL="109537" indent="0">
              <a:buNone/>
            </a:pPr>
            <a:r>
              <a:rPr lang="en-IN" dirty="0"/>
              <a:t>(defined by number of levels in </a:t>
            </a:r>
            <a:r>
              <a:rPr lang="en-IN"/>
              <a:t>recursive tree)</a:t>
            </a:r>
            <a:endParaRPr lang="en-IN" dirty="0"/>
          </a:p>
          <a:p>
            <a:endParaRPr lang="en-IN" dirty="0"/>
          </a:p>
          <a:p>
            <a:r>
              <a:rPr lang="en-IN" dirty="0"/>
              <a:t>For Balanced partition = O(log n)</a:t>
            </a:r>
          </a:p>
          <a:p>
            <a:endParaRPr lang="en-IN" dirty="0"/>
          </a:p>
          <a:p>
            <a:r>
              <a:rPr lang="en-IN" dirty="0"/>
              <a:t>For unbalanced partition =  O(n)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AE2D37D-24B9-2C59-2E53-CED001C0F4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714223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extBox 4">
            <a:extLst>
              <a:ext uri="{FF2B5EF4-FFF2-40B4-BE49-F238E27FC236}">
                <a16:creationId xmlns:a16="http://schemas.microsoft.com/office/drawing/2014/main" id="{C321ABDC-67D4-596C-9E95-A2EA44F583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914400"/>
            <a:ext cx="7696200" cy="434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IN" altLang="en-US">
                <a:solidFill>
                  <a:srgbClr val="000000"/>
                </a:solidFill>
                <a:latin typeface="Rockwell" panose="02060603020205020403" pitchFamily="18" charset="0"/>
                <a:ea typeface="Calibri" panose="020F0502020204030204" pitchFamily="34" charset="0"/>
                <a:cs typeface="Arial" panose="020B0604020202020204" pitchFamily="34" charset="0"/>
              </a:rPr>
              <a:t>Divide And Conquer Strategy of problem Solving</a:t>
            </a:r>
            <a:endParaRPr lang="en-IN" altLang="en-US" sz="2400"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r>
              <a:rPr lang="en-IN" altLang="en-US" u="sng">
                <a:solidFill>
                  <a:srgbClr val="000000"/>
                </a:solidFill>
                <a:latin typeface="Rockwell" panose="02060603020205020403" pitchFamily="18" charset="0"/>
                <a:ea typeface="Calibri" panose="020F0502020204030204" pitchFamily="34" charset="0"/>
                <a:cs typeface="Arial" panose="020B0604020202020204" pitchFamily="34" charset="0"/>
                <a:hlinkClick r:id="rId2"/>
              </a:rPr>
              <a:t>https://youtu.be/HO4B-kG_6Ag</a:t>
            </a:r>
            <a:endParaRPr lang="en-IN" altLang="en-US" sz="2400"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r>
              <a:rPr lang="en-IN" altLang="en-US">
                <a:solidFill>
                  <a:srgbClr val="000000"/>
                </a:solidFill>
                <a:latin typeface="Rockwell" panose="02060603020205020403" pitchFamily="18" charset="0"/>
                <a:ea typeface="Calibri" panose="020F0502020204030204" pitchFamily="34" charset="0"/>
                <a:cs typeface="Arial" panose="020B0604020202020204" pitchFamily="34" charset="0"/>
              </a:rPr>
              <a:t> </a:t>
            </a:r>
            <a:endParaRPr lang="en-IN" altLang="en-US" sz="2400"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r>
              <a:rPr lang="en-IN" altLang="en-US">
                <a:solidFill>
                  <a:srgbClr val="000000"/>
                </a:solidFill>
                <a:latin typeface="Rockwell" panose="02060603020205020403" pitchFamily="18" charset="0"/>
                <a:ea typeface="Calibri" panose="020F0502020204030204" pitchFamily="34" charset="0"/>
                <a:cs typeface="Arial" panose="020B0604020202020204" pitchFamily="34" charset="0"/>
              </a:rPr>
              <a:t>Quick Sort Analysis</a:t>
            </a:r>
            <a:endParaRPr lang="en-IN" altLang="en-US" sz="2400"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r>
              <a:rPr lang="en-IN" altLang="en-US" u="sng">
                <a:solidFill>
                  <a:srgbClr val="000000"/>
                </a:solidFill>
                <a:latin typeface="Rockwell" panose="02060603020205020403" pitchFamily="18" charset="0"/>
                <a:ea typeface="Calibri" panose="020F0502020204030204" pitchFamily="34" charset="0"/>
                <a:cs typeface="Arial" panose="020B0604020202020204" pitchFamily="34" charset="0"/>
                <a:hlinkClick r:id="rId3"/>
              </a:rPr>
              <a:t>https://youtu.be/LPE9xYEsfIU</a:t>
            </a:r>
            <a:endParaRPr lang="en-IN" altLang="en-US" sz="2400"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endParaRPr lang="en-IN" altLang="en-US">
              <a:solidFill>
                <a:srgbClr val="000000"/>
              </a:solidFill>
              <a:latin typeface="Rockwell" panose="02060603020205020403" pitchFamily="18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en-IN" altLang="en-US">
              <a:solidFill>
                <a:srgbClr val="000000"/>
              </a:solidFill>
              <a:latin typeface="Rockwell" panose="02060603020205020403" pitchFamily="18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r>
              <a:rPr lang="en-IN" altLang="en-US">
                <a:solidFill>
                  <a:srgbClr val="0D0D0D"/>
                </a:solidFill>
                <a:latin typeface="Roboto" panose="02000000000000000000" pitchFamily="2" charset="0"/>
              </a:rPr>
              <a:t>Quick Sort Analysis for various partitioning scenarios </a:t>
            </a:r>
            <a:endParaRPr lang="en-IN" altLang="en-US">
              <a:solidFill>
                <a:srgbClr val="000000"/>
              </a:solidFill>
              <a:latin typeface="Rockwell" panose="02060603020205020403" pitchFamily="18" charset="0"/>
              <a:cs typeface="Calibri" panose="020F0502020204030204" pitchFamily="34" charset="0"/>
            </a:endParaRPr>
          </a:p>
          <a:p>
            <a:r>
              <a:rPr lang="en-IN" altLang="en-US">
                <a:solidFill>
                  <a:srgbClr val="000000"/>
                </a:solidFill>
                <a:latin typeface="Rockwell" panose="02060603020205020403" pitchFamily="18" charset="0"/>
                <a:cs typeface="Calibri" panose="020F0502020204030204" pitchFamily="34" charset="0"/>
                <a:hlinkClick r:id="rId4"/>
              </a:rPr>
              <a:t>https://youtu.be/gCP06CTpEaE  </a:t>
            </a:r>
            <a:endParaRPr lang="en-IN" altLang="en-US">
              <a:solidFill>
                <a:srgbClr val="000000"/>
              </a:solidFill>
              <a:latin typeface="Rockwell" panose="02060603020205020403" pitchFamily="18" charset="0"/>
              <a:cs typeface="Calibri" panose="020F0502020204030204" pitchFamily="34" charset="0"/>
            </a:endParaRPr>
          </a:p>
          <a:p>
            <a:endParaRPr lang="en-IN" altLang="en-US">
              <a:solidFill>
                <a:srgbClr val="000000"/>
              </a:solidFill>
              <a:latin typeface="Rockwell" panose="02060603020205020403" pitchFamily="18" charset="0"/>
              <a:cs typeface="Calibri" panose="020F0502020204030204" pitchFamily="34" charset="0"/>
            </a:endParaRPr>
          </a:p>
          <a:p>
            <a:endParaRPr lang="en-IN" altLang="en-US">
              <a:solidFill>
                <a:srgbClr val="000000"/>
              </a:solidFill>
              <a:latin typeface="Rockwell" panose="02060603020205020403" pitchFamily="18" charset="0"/>
              <a:cs typeface="Calibri" panose="020F0502020204030204" pitchFamily="34" charset="0"/>
            </a:endParaRPr>
          </a:p>
          <a:p>
            <a:r>
              <a:rPr lang="en-IN" altLang="en-US">
                <a:solidFill>
                  <a:srgbClr val="000000"/>
                </a:solidFill>
                <a:latin typeface="Rockwell" panose="02060603020205020403" pitchFamily="18" charset="0"/>
                <a:cs typeface="Calibri" panose="020F0502020204030204" pitchFamily="34" charset="0"/>
              </a:rPr>
              <a:t>Understanding Space Complexity</a:t>
            </a:r>
            <a:endParaRPr lang="en-IN" altLang="en-US" sz="240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 altLang="en-US">
                <a:solidFill>
                  <a:srgbClr val="000000"/>
                </a:solidFill>
                <a:latin typeface="Rockwell" panose="02060603020205020403" pitchFamily="18" charset="0"/>
                <a:cs typeface="Calibri" panose="020F0502020204030204" pitchFamily="34" charset="0"/>
                <a:hlinkClick r:id="rId5"/>
              </a:rPr>
              <a:t>https://youtu.be/HEZdrU8ZPIk</a:t>
            </a:r>
            <a:endParaRPr lang="en-IN" altLang="en-US" sz="24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9699" name="TextBox 3">
            <a:extLst>
              <a:ext uri="{FF2B5EF4-FFF2-40B4-BE49-F238E27FC236}">
                <a16:creationId xmlns:a16="http://schemas.microsoft.com/office/drawing/2014/main" id="{90F0456E-0061-BA55-784F-AD6C1186E0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0400" y="114300"/>
            <a:ext cx="6335713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2400" b="1" i="1" u="sng">
                <a:latin typeface="Times New Roman" panose="02020603050405020304" pitchFamily="18" charset="0"/>
              </a:rPr>
              <a:t>Video Lecture of the topic can be found at</a:t>
            </a:r>
          </a:p>
        </p:txBody>
      </p:sp>
      <p:sp>
        <p:nvSpPr>
          <p:cNvPr id="29700" name="TextBox 2">
            <a:extLst>
              <a:ext uri="{FF2B5EF4-FFF2-40B4-BE49-F238E27FC236}">
                <a16:creationId xmlns:a16="http://schemas.microsoft.com/office/drawing/2014/main" id="{B0C6980D-3FDB-02F2-D8B0-86FAC7F4C0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5573713"/>
            <a:ext cx="87630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IN" altLang="en-US" b="1">
                <a:hlinkClick r:id="rId6"/>
              </a:rPr>
              <a:t>https://cexpertvision.com/2020/10/18/comparison-based-sorting-ca/</a:t>
            </a:r>
            <a:endParaRPr lang="en-IN" altLang="en-US" b="1"/>
          </a:p>
        </p:txBody>
      </p:sp>
    </p:spTree>
  </p:cSld>
  <p:clrMapOvr>
    <a:masterClrMapping/>
  </p:clrMapOvr>
  <p:transition spd="slow"/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Concourse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ppt/theme/themeOverride2.xml><?xml version="1.0" encoding="utf-8"?>
<a:themeOverride xmlns:a="http://schemas.openxmlformats.org/drawingml/2006/main">
  <a:clrScheme name="Concourse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ppt/theme/themeOverride3.xml><?xml version="1.0" encoding="utf-8"?>
<a:themeOverride xmlns:a="http://schemas.openxmlformats.org/drawingml/2006/main">
  <a:clrScheme name="Concourse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ppt/theme/themeOverride4.xml><?xml version="1.0" encoding="utf-8"?>
<a:themeOverride xmlns:a="http://schemas.openxmlformats.org/drawingml/2006/main">
  <a:clrScheme name="Concourse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1969</TotalTime>
  <Words>1678</Words>
  <Application>Microsoft Office PowerPoint</Application>
  <PresentationFormat>On-screen Show (4:3)</PresentationFormat>
  <Paragraphs>197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5" baseType="lpstr">
      <vt:lpstr>Arial</vt:lpstr>
      <vt:lpstr>Calibri</vt:lpstr>
      <vt:lpstr>Lucida Sans Unicode</vt:lpstr>
      <vt:lpstr>Roboto</vt:lpstr>
      <vt:lpstr>Rockwell</vt:lpstr>
      <vt:lpstr>Symbol</vt:lpstr>
      <vt:lpstr>Tahoma</vt:lpstr>
      <vt:lpstr>Times New Roman</vt:lpstr>
      <vt:lpstr>Verdana</vt:lpstr>
      <vt:lpstr>Wingdings</vt:lpstr>
      <vt:lpstr>Wingdings 2</vt:lpstr>
      <vt:lpstr>Wingdings 3</vt:lpstr>
      <vt:lpstr>Concourse</vt:lpstr>
      <vt:lpstr>PowerPoint Presentation</vt:lpstr>
      <vt:lpstr>Algorithm Design Technique   Divide and Conquer</vt:lpstr>
      <vt:lpstr>Divide and Conquer</vt:lpstr>
      <vt:lpstr>  Pseudocode for quicksort  QUICKSORT(A, p, r) if  p&lt; r     then q←PARTITION(A, p, r)           QUICKSORT(A, p, q–1) QUICKSORT(A, q+1, r)   </vt:lpstr>
      <vt:lpstr>PowerPoint Presentation</vt:lpstr>
      <vt:lpstr>PowerPoint Presentation</vt:lpstr>
      <vt:lpstr>Median Method V2- Quick Sort</vt:lpstr>
      <vt:lpstr>Median Method V2- Quick Sort</vt:lpstr>
      <vt:lpstr>PowerPoint Presentation</vt:lpstr>
      <vt:lpstr>PowerPoint Presentation</vt:lpstr>
      <vt:lpstr>Performance of Quick Sort</vt:lpstr>
      <vt:lpstr>Worst Case Partitioning </vt:lpstr>
      <vt:lpstr>Best Case Partitioning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Pseudocode for quicksort QUICKSORT(A, p, r) if  p&lt; r     then q←PARTITION(A, p, r)           QUICKSORT(A, p, q–1) QUICKSORT(A, q+1, r)  Initial call:QUICKSORT(A, 1, n)</dc:title>
  <dc:creator>User</dc:creator>
  <cp:lastModifiedBy>ASHISH SETH</cp:lastModifiedBy>
  <cp:revision>48</cp:revision>
  <dcterms:created xsi:type="dcterms:W3CDTF">2011-08-07T18:18:19Z</dcterms:created>
  <dcterms:modified xsi:type="dcterms:W3CDTF">2025-09-30T06:05:50Z</dcterms:modified>
</cp:coreProperties>
</file>