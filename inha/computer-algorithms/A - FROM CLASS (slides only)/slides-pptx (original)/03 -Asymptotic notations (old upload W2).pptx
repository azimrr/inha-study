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50" r:id="rId1"/>
  </p:sldMasterIdLst>
  <p:notesMasterIdLst>
    <p:notesMasterId r:id="rId31"/>
  </p:notesMasterIdLst>
  <p:handoutMasterIdLst>
    <p:handoutMasterId r:id="rId32"/>
  </p:handoutMasterIdLst>
  <p:sldIdLst>
    <p:sldId id="436" r:id="rId2"/>
    <p:sldId id="468" r:id="rId3"/>
    <p:sldId id="463" r:id="rId4"/>
    <p:sldId id="464" r:id="rId5"/>
    <p:sldId id="465" r:id="rId6"/>
    <p:sldId id="467" r:id="rId7"/>
    <p:sldId id="469" r:id="rId8"/>
    <p:sldId id="435" r:id="rId9"/>
    <p:sldId id="410" r:id="rId10"/>
    <p:sldId id="462" r:id="rId11"/>
    <p:sldId id="445" r:id="rId12"/>
    <p:sldId id="438" r:id="rId13"/>
    <p:sldId id="420" r:id="rId14"/>
    <p:sldId id="461" r:id="rId15"/>
    <p:sldId id="426" r:id="rId16"/>
    <p:sldId id="458" r:id="rId17"/>
    <p:sldId id="422" r:id="rId18"/>
    <p:sldId id="423" r:id="rId19"/>
    <p:sldId id="396" r:id="rId20"/>
    <p:sldId id="412" r:id="rId21"/>
    <p:sldId id="460" r:id="rId22"/>
    <p:sldId id="470" r:id="rId23"/>
    <p:sldId id="471" r:id="rId24"/>
    <p:sldId id="472" r:id="rId25"/>
    <p:sldId id="473" r:id="rId26"/>
    <p:sldId id="474" r:id="rId27"/>
    <p:sldId id="475" r:id="rId28"/>
    <p:sldId id="477" r:id="rId29"/>
    <p:sldId id="476" r:id="rId30"/>
  </p:sldIdLst>
  <p:sldSz cx="9144000" cy="6858000" type="screen4x3"/>
  <p:notesSz cx="7302500" cy="95885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0">
          <p15:clr>
            <a:srgbClr val="A4A3A4"/>
          </p15:clr>
        </p15:guide>
        <p15:guide id="2" pos="229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6600FF"/>
    <a:srgbClr val="9966FF"/>
    <a:srgbClr val="FF66FF"/>
    <a:srgbClr val="FFCC00"/>
    <a:srgbClr val="FF3300"/>
    <a:srgbClr val="CC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7190" autoAdjust="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notesViewPr>
    <p:cSldViewPr snapToGrid="0" snapToObjects="1">
      <p:cViewPr varScale="1">
        <p:scale>
          <a:sx n="59" d="100"/>
          <a:sy n="59" d="100"/>
        </p:scale>
        <p:origin x="-1146" y="-90"/>
      </p:cViewPr>
      <p:guideLst>
        <p:guide orient="horz" pos="3020"/>
        <p:guide pos="229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AD8809A-A82B-8D68-24BF-0602FA72E6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F62D3DE-87FF-3090-84A8-11E28C77C331}"/>
              </a:ext>
            </a:extLst>
          </p:cNvPr>
          <p:cNvSpPr>
            <a:spLocks noChangeArrowheads="1"/>
          </p:cNvSpPr>
          <p:nvPr>
            <p:ph type="sldImg" idx="2"/>
          </p:nvPr>
        </p:nvSpPr>
        <p:spPr bwMode="auto">
          <a:xfrm>
            <a:off x="1255713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72080BC-308D-9985-BDD0-F3E99B32FBA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2FC2E88-7873-51E8-E996-BAB7B451EF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EF3DABF9-EEBA-E782-B2FB-B301757FAA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b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3275E29-7D87-ACBC-8212-49DD2DFB5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9075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C5307F65-47E2-4512-A14A-FF7EAC4BC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FDB64DB-4F1D-BFB7-28C8-BCDB8C411B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D0F8C1-1F43-8E5D-54EF-CEC2EC2A0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4FD5934-8AF4-B590-C5E2-7A179F28AD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CC129A9-DC7A-E832-1678-433714703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28DFA71-7EB1-3E01-7743-D33E4913E0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070333F-1D03-00A9-29AF-361BAF114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9DA05D-7768-9B97-0B75-90086058FD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ECDF828-6C4E-E0B9-605B-41C963D1F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307F5FE-0944-0EAB-C829-8383B6F73F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718C7F6-4B9B-8E6C-772D-0860CAAC4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607EF6F-BEDA-E57C-E803-F171D7576E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6178E66-AD80-3236-4515-CA0804661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2D613D2-CDAA-F69A-CC33-0A5EC69441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294EF39-F6E9-77DA-B3A0-855B45B4A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7CA6D5D-48BB-598C-156E-2331057F0E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5661B9B-A1E8-ADAD-2464-496A0A26F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2EF8798-4EFB-4C3D-4AF1-A6D2BA5BD8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16F38B9-8B39-05A8-2B8A-B6355C4EB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A34870C-BA2D-8BB0-1A23-041AE2FAF08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25C4557-A13E-9510-4EDC-72B193851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61B72B3-041F-B025-4D0B-5536440A87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CD7EF34-DCE1-6989-6EBD-E5E0BA7A7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DAA9350-0374-B806-FD47-CC4D7F0108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A1FE771-DAEF-069C-5450-37D967414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D93D694-0E74-BD5E-EDBC-A430CE222C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3074155-44E8-1D0B-51EF-4DB2E09036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2E1375A1-E32A-18EE-08C6-B41E72E769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43825" y="6400800"/>
            <a:ext cx="184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sz="1400">
              <a:solidFill>
                <a:schemeClr val="hlink"/>
              </a:solidFill>
            </a:endParaRPr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14999-F0E7-F7A9-6A76-B29E63D1334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3333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F1C658-145B-DF15-29E4-6B3E8EA7B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2076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DE88C7-640A-A326-446B-672FB626AD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3996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0BE833-2A04-6789-03C9-F8ED226B08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39968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6228C-1BA2-2C05-1CFF-53218243EE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69553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B2B71A-60CA-C655-6496-784D09D1EB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392102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9DDAD5-3F66-6762-E0AA-025A155077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9566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50664FC-52FA-A2EA-D8AF-F582620C30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416249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A5478-9A27-C60A-3D0E-DEEF6F8B89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88181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1C21D-52B6-16D6-1B9A-32ADAF8211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40926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D951F8-4354-6AFF-8853-B01BADBCF4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92668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DBDA71-8C48-3742-DBCA-F667A08D4C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152204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D7B59-A733-4997-ECAB-665DDE2CF8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387257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23DB74-CC69-B3ED-3FF0-629B54B34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24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549ABA-9D8C-7ACB-6032-0665E9895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38276" name="Rectangle 4">
            <a:extLst>
              <a:ext uri="{FF2B5EF4-FFF2-40B4-BE49-F238E27FC236}">
                <a16:creationId xmlns:a16="http://schemas.microsoft.com/office/drawing/2014/main" id="{689C0CE3-1F29-C092-3163-27EC2D7F84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</a:defRPr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  <p:sp>
        <p:nvSpPr>
          <p:cNvPr id="1029" name="Text Box 6">
            <a:extLst>
              <a:ext uri="{FF2B5EF4-FFF2-40B4-BE49-F238E27FC236}">
                <a16:creationId xmlns:a16="http://schemas.microsoft.com/office/drawing/2014/main" id="{F2951E21-7A7A-021A-2BDD-DD20C2F2A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56363"/>
            <a:ext cx="10033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400">
                <a:solidFill>
                  <a:schemeClr val="hlink"/>
                </a:solidFill>
              </a:rPr>
              <a:t>asymp - </a:t>
            </a:r>
            <a:fld id="{E3850F68-D92E-40D0-9755-5058B3C7FEA6}" type="slidenum">
              <a:rPr lang="en-US" altLang="en-US" sz="1400" smtClean="0">
                <a:solidFill>
                  <a:schemeClr val="hlink"/>
                </a:solidFill>
              </a:rPr>
              <a:pPr>
                <a:defRPr/>
              </a:pPr>
              <a:t>‹#›</a:t>
            </a:fld>
            <a:endParaRPr lang="en-US" altLang="en-US" sz="1400">
              <a:solidFill>
                <a:schemeClr val="hlink"/>
              </a:solidFill>
            </a:endParaRPr>
          </a:p>
        </p:txBody>
      </p:sp>
      <p:sp>
        <p:nvSpPr>
          <p:cNvPr id="1030" name="Text Box 7">
            <a:extLst>
              <a:ext uri="{FF2B5EF4-FFF2-40B4-BE49-F238E27FC236}">
                <a16:creationId xmlns:a16="http://schemas.microsoft.com/office/drawing/2014/main" id="{EA908E70-CED0-1C30-0758-8A5F8E1A6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6400800"/>
            <a:ext cx="184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sz="1400">
              <a:solidFill>
                <a:schemeClr val="hlin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>
          <a:solidFill>
            <a:srgbClr val="01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s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QZySiRblPo" TargetMode="External"/><Relationship Id="rId2" Type="http://schemas.openxmlformats.org/officeDocument/2006/relationships/hyperlink" Target="https://youtu.be/JEnXJPlXh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20049A5-4529-3CE0-343C-AE3A69EFE7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2203450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r>
              <a:rPr lang="en-US" altLang="en-US" u="none"/>
              <a:t>Asymptotic Notations</a:t>
            </a:r>
            <a:br>
              <a:rPr lang="en-US" altLang="en-US" u="none"/>
            </a:br>
            <a:br>
              <a:rPr lang="en-US" altLang="en-US" u="none"/>
            </a:br>
            <a:endParaRPr lang="en-US" altLang="en-US" u="non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A832F4C-483F-6C29-BFCD-989F3128A9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2B20690-FC90-5C0F-6E43-F6EAB8FE2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584200"/>
            <a:ext cx="9142412" cy="479425"/>
          </a:xfrm>
        </p:spPr>
        <p:txBody>
          <a:bodyPr/>
          <a:lstStyle/>
          <a:p>
            <a:r>
              <a:rPr lang="en-IN" altLang="en-US"/>
              <a:t>Mathematical Model of Computation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E4AA4729-9436-2A2C-6B0F-56A1C9111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1004888"/>
            <a:ext cx="5643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 b="1" u="sng">
                <a:solidFill>
                  <a:schemeClr val="tx1"/>
                </a:solidFill>
              </a:rPr>
              <a:t>Framework for Algorithmic Analysis</a:t>
            </a:r>
          </a:p>
        </p:txBody>
      </p:sp>
      <p:sp>
        <p:nvSpPr>
          <p:cNvPr id="6148" name="TextBox 2">
            <a:extLst>
              <a:ext uri="{FF2B5EF4-FFF2-40B4-BE49-F238E27FC236}">
                <a16:creationId xmlns:a16="http://schemas.microsoft.com/office/drawing/2014/main" id="{79F1FBC7-EC12-C497-6891-88CD16B32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3001963"/>
            <a:ext cx="66071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2400" b="1" u="sng">
                <a:solidFill>
                  <a:schemeClr val="tx1"/>
                </a:solidFill>
              </a:rPr>
              <a:t>Need of Mathematical Model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IN" altLang="en-US" sz="240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IN" altLang="en-US" sz="2400" u="sng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Real Computers Vs Mathematical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362E54E7-41AE-10F0-4444-C2BC0F2F6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none"/>
              <a:t>Mathematical Model of Computation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2BBA5-A6BD-E392-73A1-22FC21269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Model of Computation specifies:</a:t>
            </a:r>
          </a:p>
          <a:p>
            <a:pPr>
              <a:defRPr/>
            </a:pPr>
            <a:r>
              <a:rPr lang="en-IN" dirty="0"/>
              <a:t>What operations in an algorithm is allowed</a:t>
            </a:r>
          </a:p>
          <a:p>
            <a:pPr>
              <a:defRPr/>
            </a:pPr>
            <a:r>
              <a:rPr lang="en-IN" dirty="0"/>
              <a:t>Cost (time) of each operation</a:t>
            </a:r>
          </a:p>
          <a:p>
            <a:pPr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Two components of Model</a:t>
            </a:r>
          </a:p>
          <a:p>
            <a:pPr>
              <a:defRPr/>
            </a:pPr>
            <a:r>
              <a:rPr lang="en-IN" dirty="0"/>
              <a:t>Processor (has defined instruction set)</a:t>
            </a:r>
          </a:p>
          <a:p>
            <a:pPr>
              <a:defRPr/>
            </a:pPr>
            <a:r>
              <a:rPr lang="en-IN" dirty="0"/>
              <a:t>Memory (collection of locations)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26BAF47-7517-0833-6209-323C16C56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altLang="en-US"/>
              <a:t>Computing running time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D216-222F-577E-D550-BB8956A5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u="sng" dirty="0"/>
              <a:t>Simple Statement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u="sng" dirty="0"/>
              <a:t>(</a:t>
            </a:r>
            <a:r>
              <a:rPr lang="en-IN" dirty="0"/>
              <a:t>1 step execution </a:t>
            </a:r>
            <a:r>
              <a:rPr lang="en-IN" u="sng" dirty="0"/>
              <a:t>)</a:t>
            </a:r>
          </a:p>
          <a:p>
            <a:pPr>
              <a:defRPr/>
            </a:pPr>
            <a:r>
              <a:rPr lang="en-IN" dirty="0"/>
              <a:t>Arithmetic &amp; logical operations.</a:t>
            </a:r>
          </a:p>
          <a:p>
            <a:pPr>
              <a:defRPr/>
            </a:pPr>
            <a:r>
              <a:rPr lang="en-IN" dirty="0"/>
              <a:t>Jumps &amp; conditional jumps</a:t>
            </a:r>
          </a:p>
          <a:p>
            <a:pPr>
              <a:defRPr/>
            </a:pPr>
            <a:r>
              <a:rPr lang="en-IN" dirty="0"/>
              <a:t>Pointer instruction</a:t>
            </a:r>
          </a:p>
          <a:p>
            <a:pPr>
              <a:defRPr/>
            </a:pPr>
            <a:r>
              <a:rPr lang="en-IN" dirty="0"/>
              <a:t>Array operations (1D)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8739B7B-166B-DCBA-CC2C-BBC5EB3D3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4DAF-5034-728D-3B11-162014FD4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98563"/>
            <a:ext cx="8634413" cy="4876800"/>
          </a:xfrm>
        </p:spPr>
        <p:txBody>
          <a:bodyPr/>
          <a:lstStyle/>
          <a:p>
            <a:pPr>
              <a:defRPr/>
            </a:pPr>
            <a:r>
              <a:rPr lang="en-IN" dirty="0"/>
              <a:t>More Complex Statement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(multistep execution)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A=B+C*D-F			3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A[I]=B[I] + C[I]			4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	C = A[I,J]			4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	           </a:t>
            </a:r>
            <a:r>
              <a:rPr lang="en-IN" dirty="0"/>
              <a:t>A’ [(I)*M + J]   </a:t>
            </a:r>
            <a:r>
              <a:rPr lang="en-IN" sz="1800" dirty="0"/>
              <a:t>where m is the number of columns</a:t>
            </a:r>
          </a:p>
        </p:txBody>
      </p:sp>
      <p:sp>
        <p:nvSpPr>
          <p:cNvPr id="9220" name="Rectangle 1">
            <a:extLst>
              <a:ext uri="{FF2B5EF4-FFF2-40B4-BE49-F238E27FC236}">
                <a16:creationId xmlns:a16="http://schemas.microsoft.com/office/drawing/2014/main" id="{F170F4B4-BF82-1C7D-DEA8-82CDCAE02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3302000"/>
            <a:ext cx="12477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X=B[I]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Y=C[I]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Z=X+Y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A[I]=Z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1B913-FA09-A920-4F9F-FB459369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04825"/>
            <a:ext cx="8458200" cy="486727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IN" u="sng" dirty="0"/>
              <a:t>General Analysis Strategy T(n)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 T(n)= n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Max time taken by an algorithm to solve any instance of size n.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measures a goodness of an algorithm, </a:t>
            </a:r>
            <a:r>
              <a:rPr lang="en-IN" sz="2800" dirty="0" err="1"/>
              <a:t>i.e</a:t>
            </a:r>
            <a:r>
              <a:rPr lang="en-IN" sz="2800" dirty="0"/>
              <a:t> functional form of T(n) is important (linear, cubic, quadratic, etc.)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Significance of T(n) is independent of  model/computer we used for analysis because here the objective is to characterize the algorithm not the machine</a:t>
            </a:r>
            <a:r>
              <a:rPr lang="en-IN" dirty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0D886D3B-4529-ACDE-7764-4C5C2152F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5372100"/>
            <a:ext cx="7924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 b="1">
                <a:solidFill>
                  <a:schemeClr val="tx1"/>
                </a:solidFill>
              </a:rPr>
              <a:t>Running Time Calculations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To Add elements of two arrays of size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B75E09-5B49-E0C3-3131-3FC6C80A5F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5025" y="157163"/>
            <a:ext cx="7772400" cy="1147762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br>
              <a:rPr lang="en-US" altLang="en-US" u="none"/>
            </a:br>
            <a:br>
              <a:rPr lang="en-US" altLang="en-US" u="none"/>
            </a:br>
            <a:r>
              <a:rPr lang="en-US" altLang="en-US" u="none"/>
              <a:t>Asymptotic Notations</a:t>
            </a:r>
            <a:br>
              <a:rPr lang="en-US" altLang="en-US" u="none"/>
            </a:br>
            <a:br>
              <a:rPr lang="en-US" altLang="en-US" u="none"/>
            </a:br>
            <a:endParaRPr lang="en-US" altLang="en-US" u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81FB2-EFBA-C6D0-D661-0A4EBB1F23E1}"/>
              </a:ext>
            </a:extLst>
          </p:cNvPr>
          <p:cNvSpPr txBox="1"/>
          <p:nvPr/>
        </p:nvSpPr>
        <p:spPr>
          <a:xfrm>
            <a:off x="1028700" y="1752600"/>
            <a:ext cx="7310438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3200" dirty="0"/>
          </a:p>
          <a:p>
            <a:pPr>
              <a:defRPr/>
            </a:pPr>
            <a:r>
              <a:rPr lang="en-IN" sz="3200" dirty="0"/>
              <a:t>Has two features </a:t>
            </a:r>
          </a:p>
          <a:p>
            <a:pPr>
              <a:defRPr/>
            </a:pPr>
            <a:endParaRPr lang="en-IN" sz="3200" dirty="0"/>
          </a:p>
          <a:p>
            <a:pPr marL="457200" indent="-457200">
              <a:buFontTx/>
              <a:buAutoNum type="arabicPeriod"/>
              <a:defRPr/>
            </a:pPr>
            <a:r>
              <a:rPr lang="en-IN" sz="3200" dirty="0"/>
              <a:t>Function classification</a:t>
            </a:r>
          </a:p>
          <a:p>
            <a:pPr marL="457200" indent="-457200">
              <a:buFontTx/>
              <a:buAutoNum type="arabicPeriod"/>
              <a:defRPr/>
            </a:pPr>
            <a:endParaRPr lang="en-IN" sz="3200" dirty="0"/>
          </a:p>
          <a:p>
            <a:pPr marL="457200" indent="-457200">
              <a:buFontTx/>
              <a:buAutoNum type="arabicPeriod"/>
              <a:defRPr/>
            </a:pPr>
            <a:r>
              <a:rPr lang="en-IN" sz="3200" dirty="0"/>
              <a:t>Identify the behaviour as n</a:t>
            </a:r>
            <a:r>
              <a:rPr lang="en-IN" sz="3200" dirty="0">
                <a:sym typeface="Wingdings" pitchFamily="2" charset="2"/>
              </a:rPr>
              <a:t> ∞</a:t>
            </a:r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32931BE-3B20-210F-3323-A13CACAE4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Asymptotic Complexity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4BC72F-E30C-2C9D-7B95-C9A0450C1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Running time of an algorithm as a function of </a:t>
            </a:r>
            <a:r>
              <a:rPr lang="en-US" altLang="en-US">
                <a:solidFill>
                  <a:schemeClr val="tx1"/>
                </a:solidFill>
              </a:rPr>
              <a:t>input size </a:t>
            </a:r>
            <a:r>
              <a:rPr lang="en-US" altLang="en-US" i="1">
                <a:solidFill>
                  <a:schemeClr val="tx1"/>
                </a:solidFill>
              </a:rPr>
              <a:t>n</a:t>
            </a:r>
            <a:r>
              <a:rPr lang="en-US" altLang="en-US" b="1">
                <a:solidFill>
                  <a:srgbClr val="CC0000"/>
                </a:solidFill>
              </a:rPr>
              <a:t> for large </a:t>
            </a:r>
            <a:r>
              <a:rPr lang="en-US" altLang="en-US" b="1" i="1">
                <a:solidFill>
                  <a:srgbClr val="CC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Expressed using only the </a:t>
            </a:r>
            <a:r>
              <a:rPr lang="en-US" altLang="en-US" b="1">
                <a:solidFill>
                  <a:srgbClr val="CC0000"/>
                </a:solidFill>
              </a:rPr>
              <a:t>highest-order term</a:t>
            </a:r>
            <a:r>
              <a:rPr lang="en-US" altLang="en-US"/>
              <a:t> in the expression for the exact running time.</a:t>
            </a:r>
          </a:p>
          <a:p>
            <a:pPr lvl="1"/>
            <a:r>
              <a:rPr lang="en-US" altLang="en-US" sz="3000"/>
              <a:t>Instead of exact running time, say </a:t>
            </a:r>
            <a:r>
              <a:rPr lang="en-US" altLang="en-US" sz="3000">
                <a:latin typeface="Symbol" panose="05050102010706020507" pitchFamily="18" charset="2"/>
              </a:rPr>
              <a:t>Q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 baseline="30000"/>
              <a:t>2</a:t>
            </a:r>
            <a:r>
              <a:rPr lang="en-US" altLang="en-US" sz="3000"/>
              <a:t>).</a:t>
            </a:r>
          </a:p>
          <a:p>
            <a:pPr lvl="1"/>
            <a:endParaRPr lang="en-US" altLang="en-US"/>
          </a:p>
          <a:p>
            <a:r>
              <a:rPr lang="en-US" altLang="en-US"/>
              <a:t>Written using </a:t>
            </a:r>
            <a:r>
              <a:rPr lang="en-US" altLang="en-US" b="1" i="1">
                <a:solidFill>
                  <a:srgbClr val="CC0000"/>
                </a:solidFill>
              </a:rPr>
              <a:t>Asymptotic Notation</a:t>
            </a:r>
            <a:r>
              <a:rPr lang="en-US" altLang="en-US" i="1">
                <a:solidFill>
                  <a:srgbClr val="CC0000"/>
                </a:solidFill>
              </a:rPr>
              <a:t>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342B5FB-B42F-8B2E-E9E6-A5437B75D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Asymptotic Notation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18E3D6-DA5B-46B5-48F2-0BC33C65A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8259763" cy="5456238"/>
          </a:xfrm>
        </p:spPr>
        <p:txBody>
          <a:bodyPr/>
          <a:lstStyle/>
          <a:p>
            <a:r>
              <a:rPr lang="en-US" altLang="en-US" sz="2800" b="1"/>
              <a:t>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 i="1">
                <a:solidFill>
                  <a:srgbClr val="CC0000"/>
                </a:solidFill>
              </a:rPr>
              <a:t>O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 i="1">
                <a:solidFill>
                  <a:srgbClr val="CC0000"/>
                </a:solidFill>
              </a:rPr>
              <a:t>o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CC0000"/>
              </a:solidFill>
            </a:endParaRPr>
          </a:p>
          <a:p>
            <a:endParaRPr lang="en-US" altLang="en-US" sz="2800"/>
          </a:p>
          <a:p>
            <a:r>
              <a:rPr lang="en-US" altLang="en-US" sz="2800"/>
              <a:t>Defined for functions over the natural numbers.</a:t>
            </a:r>
          </a:p>
          <a:p>
            <a:pPr lvl="1"/>
            <a:r>
              <a:rPr lang="en-US" altLang="en-US" sz="2000" b="1" u="sng">
                <a:solidFill>
                  <a:schemeClr val="hlink"/>
                </a:solidFill>
              </a:rPr>
              <a:t>Ex:</a:t>
            </a:r>
            <a:r>
              <a:rPr lang="en-US" altLang="en-US" sz="2000"/>
              <a:t> </a:t>
            </a:r>
            <a:r>
              <a:rPr lang="en-US" altLang="en-US"/>
              <a:t>	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 = 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).</a:t>
            </a:r>
          </a:p>
          <a:p>
            <a:pPr lvl="1"/>
            <a:r>
              <a:rPr lang="en-US" altLang="en-US"/>
              <a:t>Describes how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grows in comparison to 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.</a:t>
            </a:r>
          </a:p>
          <a:p>
            <a:endParaRPr lang="en-US" altLang="en-US" sz="2800"/>
          </a:p>
          <a:p>
            <a:r>
              <a:rPr lang="en-US" altLang="en-US" sz="2800"/>
              <a:t>The notations describe different rate-of-growth relations between the defining function and the defined set of 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F20AD69-320D-8A37-ED40-6409379C8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>
                <a:sym typeface="Symbol" panose="05050102010706020507" pitchFamily="18" charset="2"/>
              </a:rPr>
              <a:t>O</a:t>
            </a:r>
            <a:r>
              <a:rPr lang="en-US" altLang="en-US">
                <a:sym typeface="Symbol" panose="05050102010706020507" pitchFamily="18" charset="2"/>
              </a:rPr>
              <a:t>-notation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FB448C6E-F3B7-6660-4E5A-A1F82D99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A4D4B7F2-D01B-1A66-8FDB-EC8991D83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 i="1">
                <a:solidFill>
                  <a:schemeClr val="tx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big-O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pic>
        <p:nvPicPr>
          <p:cNvPr id="16389" name="Picture 8" descr="graph_O">
            <a:extLst>
              <a:ext uri="{FF2B5EF4-FFF2-40B4-BE49-F238E27FC236}">
                <a16:creationId xmlns:a16="http://schemas.microsoft.com/office/drawing/2014/main" id="{626A366F-81EC-98CD-66FE-202FE4E8D5DF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1387475"/>
            <a:ext cx="3819525" cy="3840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0" name="Rectangle 10">
            <a:extLst>
              <a:ext uri="{FF2B5EF4-FFF2-40B4-BE49-F238E27FC236}">
                <a16:creationId xmlns:a16="http://schemas.microsoft.com/office/drawing/2014/main" id="{A4B8C6DE-6718-2E33-E162-0BF682E8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160963"/>
            <a:ext cx="60182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 upper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6391" name="Text Box 11">
            <a:extLst>
              <a:ext uri="{FF2B5EF4-FFF2-40B4-BE49-F238E27FC236}">
                <a16:creationId xmlns:a16="http://schemas.microsoft.com/office/drawing/2014/main" id="{D32E282C-52B7-C053-F8BF-348816D2C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905250"/>
            <a:ext cx="4549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whose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is the same as or lower than that of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6392" name="Text Box 12">
            <a:extLst>
              <a:ext uri="{FF2B5EF4-FFF2-40B4-BE49-F238E27FC236}">
                <a16:creationId xmlns:a16="http://schemas.microsoft.com/office/drawing/2014/main" id="{7E93CAF8-D262-D820-CE46-871EF01F0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5649913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 </a:t>
            </a: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 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C29CF80-EBDF-0466-B0CF-C888A87FF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Examples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4A81676-A87C-6CB4-E2F4-D2DB07CC7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436813"/>
            <a:ext cx="8458200" cy="3673475"/>
          </a:xfrm>
        </p:spPr>
        <p:txBody>
          <a:bodyPr/>
          <a:lstStyle/>
          <a:p>
            <a:r>
              <a:rPr lang="en-US" altLang="en-US"/>
              <a:t>Any linear </a:t>
            </a:r>
            <a:r>
              <a:rPr lang="en-US" altLang="en-US" i="1"/>
              <a:t>function</a:t>
            </a:r>
            <a:r>
              <a:rPr lang="en-US" altLang="en-US"/>
              <a:t> </a:t>
            </a:r>
            <a:r>
              <a:rPr lang="en-US" altLang="en-US" i="1"/>
              <a:t>an</a:t>
            </a:r>
            <a:r>
              <a:rPr lang="en-US" altLang="en-US"/>
              <a:t> + </a:t>
            </a:r>
            <a:r>
              <a:rPr lang="en-US" altLang="en-US" i="1"/>
              <a:t>b</a:t>
            </a:r>
            <a:r>
              <a:rPr lang="en-US" altLang="en-US"/>
              <a:t> is in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). </a:t>
            </a:r>
            <a:r>
              <a:rPr lang="en-US" altLang="en-US" b="1" u="sng">
                <a:solidFill>
                  <a:srgbClr val="CC0000"/>
                </a:solidFill>
              </a:rPr>
              <a:t>How?</a:t>
            </a:r>
            <a:endParaRPr lang="en-US" altLang="en-US" u="sng">
              <a:solidFill>
                <a:srgbClr val="CC0000"/>
              </a:solidFill>
            </a:endParaRPr>
          </a:p>
          <a:p>
            <a:r>
              <a:rPr lang="en-US" altLang="en-US"/>
              <a:t>Show that 3</a:t>
            </a:r>
            <a:r>
              <a:rPr lang="en-US" altLang="en-US" i="1"/>
              <a:t>n</a:t>
            </a:r>
            <a:r>
              <a:rPr lang="en-US" altLang="en-US" baseline="30000"/>
              <a:t>3</a:t>
            </a:r>
            <a:r>
              <a:rPr lang="en-US" altLang="en-US"/>
              <a:t>=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4</a:t>
            </a:r>
            <a:r>
              <a:rPr lang="en-US" altLang="en-US"/>
              <a:t>) for appropriate </a:t>
            </a:r>
            <a:r>
              <a:rPr lang="en-US" altLang="en-US" i="1"/>
              <a:t>c </a:t>
            </a:r>
            <a:r>
              <a:rPr lang="en-US" altLang="en-US"/>
              <a:t>and </a:t>
            </a:r>
            <a:r>
              <a:rPr lang="en-US" altLang="en-US" i="1"/>
              <a:t>n</a:t>
            </a:r>
            <a:r>
              <a:rPr lang="en-US" altLang="en-US" baseline="-25000"/>
              <a:t>0</a:t>
            </a:r>
            <a:r>
              <a:rPr lang="en-US" altLang="en-US"/>
              <a:t>.</a:t>
            </a:r>
          </a:p>
          <a:p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0C734DCA-2492-AA6C-A09F-B21711D0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19200"/>
            <a:ext cx="7645400" cy="9652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800" b="1" i="1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800" b="1">
                <a:solidFill>
                  <a:schemeClr val="accent1"/>
                </a:solidFill>
              </a:rPr>
              <a:t>(</a:t>
            </a:r>
            <a:r>
              <a:rPr kumimoji="1" lang="en-US" altLang="en-US" sz="28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800" b="1">
                <a:solidFill>
                  <a:schemeClr val="accent1"/>
                </a:solidFill>
              </a:rPr>
              <a:t>(</a:t>
            </a:r>
            <a:r>
              <a:rPr kumimoji="1" lang="en-US" altLang="en-US" sz="28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800" b="1">
                <a:solidFill>
                  <a:schemeClr val="accent1"/>
                </a:solidFill>
              </a:rPr>
              <a:t>)) =</a:t>
            </a:r>
            <a:r>
              <a:rPr kumimoji="1" lang="en-US" altLang="en-US" sz="2800" b="1">
                <a:solidFill>
                  <a:schemeClr val="hlink"/>
                </a:solidFill>
              </a:rPr>
              <a:t> {</a:t>
            </a:r>
            <a:r>
              <a:rPr kumimoji="1" lang="en-US" altLang="en-US" sz="2800" b="1" i="1">
                <a:solidFill>
                  <a:schemeClr val="hlink"/>
                </a:solidFill>
              </a:rPr>
              <a:t>f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 : </a:t>
            </a:r>
            <a:r>
              <a:rPr kumimoji="1" lang="en-US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8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800" b="1" i="1">
                <a:solidFill>
                  <a:srgbClr val="FF3300"/>
                </a:solidFill>
              </a:rPr>
              <a:t>c</a:t>
            </a:r>
            <a:r>
              <a:rPr kumimoji="1" lang="en-US" altLang="en-US" sz="2800" b="1">
                <a:solidFill>
                  <a:srgbClr val="FF3300"/>
                </a:solidFill>
              </a:rPr>
              <a:t> and </a:t>
            </a:r>
            <a:r>
              <a:rPr kumimoji="1" lang="en-US" altLang="en-US" sz="2800" b="1" i="1">
                <a:solidFill>
                  <a:srgbClr val="FF3300"/>
                </a:solidFill>
              </a:rPr>
              <a:t>n</a:t>
            </a:r>
            <a:r>
              <a:rPr kumimoji="1" lang="en-US" altLang="en-US" sz="2800" b="1" baseline="-25000">
                <a:solidFill>
                  <a:srgbClr val="FF3300"/>
                </a:solidFill>
              </a:rPr>
              <a:t>0</a:t>
            </a:r>
            <a:r>
              <a:rPr kumimoji="1" lang="en-US" altLang="en-US" sz="2800" b="1">
                <a:solidFill>
                  <a:srgbClr val="FF3300"/>
                </a:solidFill>
              </a:rPr>
              <a:t>,</a:t>
            </a:r>
            <a:r>
              <a:rPr kumimoji="1" lang="en-US" altLang="en-US" sz="2800" b="1">
                <a:solidFill>
                  <a:schemeClr val="hlink"/>
                </a:solidFill>
              </a:rPr>
              <a:t> </a:t>
            </a:r>
            <a:r>
              <a:rPr kumimoji="1" lang="en-US" altLang="en-US" sz="28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8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800" b="1" i="1">
                <a:solidFill>
                  <a:srgbClr val="CC0000"/>
                </a:solidFill>
              </a:rPr>
              <a:t>n </a:t>
            </a:r>
            <a:r>
              <a:rPr kumimoji="1" lang="en-US" altLang="en-US" sz="28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800" b="1" i="1">
                <a:solidFill>
                  <a:srgbClr val="CC0000"/>
                </a:solidFill>
              </a:rPr>
              <a:t>  n</a:t>
            </a:r>
            <a:r>
              <a:rPr kumimoji="1" lang="en-US" altLang="en-US" sz="28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800">
                <a:solidFill>
                  <a:srgbClr val="CC0000"/>
                </a:solidFill>
              </a:rPr>
              <a:t>, </a:t>
            </a:r>
            <a:r>
              <a:rPr kumimoji="1" lang="en-US" altLang="en-US" sz="2800" b="1">
                <a:solidFill>
                  <a:schemeClr val="hlink"/>
                </a:solidFill>
              </a:rPr>
              <a:t>we have 0 </a:t>
            </a:r>
            <a:r>
              <a:rPr kumimoji="1" lang="en-US" altLang="en-US" sz="28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800" b="1">
                <a:solidFill>
                  <a:schemeClr val="hlink"/>
                </a:solidFill>
              </a:rPr>
              <a:t>  </a:t>
            </a:r>
            <a:r>
              <a:rPr kumimoji="1" lang="en-US" altLang="en-US" sz="2800" b="1" i="1">
                <a:solidFill>
                  <a:schemeClr val="hlink"/>
                </a:solidFill>
              </a:rPr>
              <a:t>f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</a:t>
            </a:r>
            <a:r>
              <a:rPr kumimoji="1" lang="en-US" altLang="en-US" sz="2800" b="1" i="1">
                <a:solidFill>
                  <a:schemeClr val="hlink"/>
                </a:solidFill>
              </a:rPr>
              <a:t> </a:t>
            </a:r>
            <a:r>
              <a:rPr kumimoji="1" lang="en-US" altLang="en-US" sz="28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800" b="1">
                <a:solidFill>
                  <a:schemeClr val="hlink"/>
                </a:solidFill>
              </a:rPr>
              <a:t> c</a:t>
            </a:r>
            <a:r>
              <a:rPr kumimoji="1" lang="en-US" altLang="en-US" sz="2800" b="1" i="1">
                <a:solidFill>
                  <a:schemeClr val="hlink"/>
                </a:solidFill>
              </a:rPr>
              <a:t>g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 }</a:t>
            </a:r>
            <a:endParaRPr kumimoji="1" lang="en-US" altLang="en-US" sz="30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DED50C2-5823-2EBF-877B-43DC5921D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 -notation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255AF6E0-0F1D-B17B-6F13-E7EAFB1D2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106988"/>
            <a:ext cx="5981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 lower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9460" name="Text Box 7">
            <a:extLst>
              <a:ext uri="{FF2B5EF4-FFF2-40B4-BE49-F238E27FC236}">
                <a16:creationId xmlns:a16="http://schemas.microsoft.com/office/drawing/2014/main" id="{13798D71-776F-C364-9FA9-B4444F66F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52863"/>
            <a:ext cx="4394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whose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is the same as or higher than that of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19461" name="Picture 10" descr="graph_Omega">
            <a:extLst>
              <a:ext uri="{FF2B5EF4-FFF2-40B4-BE49-F238E27FC236}">
                <a16:creationId xmlns:a16="http://schemas.microsoft.com/office/drawing/2014/main" id="{F0EFD1C8-3F23-7069-0658-5508AABDC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096963"/>
            <a:ext cx="380047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 Box 11">
            <a:extLst>
              <a:ext uri="{FF2B5EF4-FFF2-40B4-BE49-F238E27FC236}">
                <a16:creationId xmlns:a16="http://schemas.microsoft.com/office/drawing/2014/main" id="{F092C51C-0BDC-6503-CC6B-5B692BF9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595938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 </a:t>
            </a: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(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  (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19463" name="Rectangle 12">
            <a:extLst>
              <a:ext uri="{FF2B5EF4-FFF2-40B4-BE49-F238E27FC236}">
                <a16:creationId xmlns:a16="http://schemas.microsoft.com/office/drawing/2014/main" id="{CDEC0694-8CE4-A275-88A1-410248F75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400" b="1">
                <a:solidFill>
                  <a:schemeClr val="hlink"/>
                </a:solidFill>
              </a:rPr>
              <a:t>c</a:t>
            </a:r>
            <a:r>
              <a:rPr kumimoji="1" lang="en-US" altLang="en-US" sz="2400" b="1" i="1">
                <a:solidFill>
                  <a:schemeClr val="hlink"/>
                </a:solidFill>
              </a:rPr>
              <a:t>g</a:t>
            </a:r>
            <a:r>
              <a:rPr kumimoji="1" lang="en-US" altLang="en-US" sz="2400" b="1">
                <a:solidFill>
                  <a:schemeClr val="hlink"/>
                </a:solidFill>
              </a:rPr>
              <a:t>(</a:t>
            </a:r>
            <a:r>
              <a:rPr kumimoji="1" lang="en-US" altLang="en-US" sz="2400" b="1" i="1">
                <a:solidFill>
                  <a:schemeClr val="hlink"/>
                </a:solidFill>
              </a:rPr>
              <a:t>n</a:t>
            </a:r>
            <a:r>
              <a:rPr kumimoji="1" lang="en-US" altLang="en-US" sz="2400" b="1">
                <a:solidFill>
                  <a:schemeClr val="hlink"/>
                </a:solidFill>
              </a:rPr>
              <a:t>)</a:t>
            </a:r>
            <a:r>
              <a:rPr kumimoji="1" lang="en-US" altLang="en-US" sz="2400">
                <a:solidFill>
                  <a:schemeClr val="tx1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400" b="1" i="1">
                <a:solidFill>
                  <a:schemeClr val="hlink"/>
                </a:solidFill>
              </a:rPr>
              <a:t>f</a:t>
            </a:r>
            <a:r>
              <a:rPr kumimoji="1" lang="en-US" altLang="en-US" sz="2400" b="1">
                <a:solidFill>
                  <a:schemeClr val="hlink"/>
                </a:solidFill>
              </a:rPr>
              <a:t>(</a:t>
            </a:r>
            <a:r>
              <a:rPr kumimoji="1" lang="en-US" altLang="en-US" sz="2400" b="1" i="1">
                <a:solidFill>
                  <a:schemeClr val="hlink"/>
                </a:solidFill>
              </a:rPr>
              <a:t>n</a:t>
            </a:r>
            <a:r>
              <a:rPr kumimoji="1" lang="en-US" altLang="en-US" sz="2400" b="1">
                <a:solidFill>
                  <a:schemeClr val="hlink"/>
                </a:solidFill>
              </a:rPr>
              <a:t>)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19464" name="Rectangle 13">
            <a:extLst>
              <a:ext uri="{FF2B5EF4-FFF2-40B4-BE49-F238E27FC236}">
                <a16:creationId xmlns:a16="http://schemas.microsoft.com/office/drawing/2014/main" id="{2B37DF1B-41E7-B23C-EA42-46C58C29B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big-Omega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DAAB8A1-4C30-D64A-3721-DF3E1F0D8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21507" name="Picture 21" descr="graph_thet">
            <a:extLst>
              <a:ext uri="{FF2B5EF4-FFF2-40B4-BE49-F238E27FC236}">
                <a16:creationId xmlns:a16="http://schemas.microsoft.com/office/drawing/2014/main" id="{48616B03-85B3-35B3-877F-861B4B6CF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22">
            <a:extLst>
              <a:ext uri="{FF2B5EF4-FFF2-40B4-BE49-F238E27FC236}">
                <a16:creationId xmlns:a16="http://schemas.microsoft.com/office/drawing/2014/main" id="{FAF882A7-1A7A-9951-B062-8AC98C71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23749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1509" name="Rectangle 23">
            <a:extLst>
              <a:ext uri="{FF2B5EF4-FFF2-40B4-BE49-F238E27FC236}">
                <a16:creationId xmlns:a16="http://schemas.microsoft.com/office/drawing/2014/main" id="{B8DE38A0-C9D5-37DA-C137-CBE22C617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>
                <a:solidFill>
                  <a:schemeClr val="tx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big-Theta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sp>
        <p:nvSpPr>
          <p:cNvPr id="21510" name="Rectangle 24">
            <a:extLst>
              <a:ext uri="{FF2B5EF4-FFF2-40B4-BE49-F238E27FC236}">
                <a16:creationId xmlns:a16="http://schemas.microsoft.com/office/drawing/2014/main" id="{D73CF912-2725-2E8D-D261-A5D10023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567363"/>
            <a:ext cx="6350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asymptotically tight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21511" name="Text Box 25">
            <a:extLst>
              <a:ext uri="{FF2B5EF4-FFF2-40B4-BE49-F238E27FC236}">
                <a16:creationId xmlns:a16="http://schemas.microsoft.com/office/drawing/2014/main" id="{7EAE7E94-4536-81D4-466A-46FC8EA29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405313"/>
            <a:ext cx="4718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have the same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as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FE2EF55-B072-6B24-0564-59E8849D2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23555" name="Picture 3" descr="graph_thet">
            <a:extLst>
              <a:ext uri="{FF2B5EF4-FFF2-40B4-BE49-F238E27FC236}">
                <a16:creationId xmlns:a16="http://schemas.microsoft.com/office/drawing/2014/main" id="{5C625281-2F19-A157-B0C4-49CAB5899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4">
            <a:extLst>
              <a:ext uri="{FF2B5EF4-FFF2-40B4-BE49-F238E27FC236}">
                <a16:creationId xmlns:a16="http://schemas.microsoft.com/office/drawing/2014/main" id="{0136107D-BA9B-242E-A1F5-36D902C96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23749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D6540574-2DAB-778A-EDE7-8F5B88363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>
                <a:solidFill>
                  <a:schemeClr val="tx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big-Theta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sp>
        <p:nvSpPr>
          <p:cNvPr id="23558" name="Text Box 8">
            <a:extLst>
              <a:ext uri="{FF2B5EF4-FFF2-40B4-BE49-F238E27FC236}">
                <a16:creationId xmlns:a16="http://schemas.microsoft.com/office/drawing/2014/main" id="{84E81ABF-D007-48F9-7374-2F8D1D594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591050"/>
            <a:ext cx="38973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Technically, </a:t>
            </a:r>
            <a:r>
              <a:rPr lang="en-US" altLang="en-US" sz="2400" i="1">
                <a:solidFill>
                  <a:schemeClr val="tx1"/>
                </a:solidFill>
              </a:rPr>
              <a:t>f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 (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Older usage,  </a:t>
            </a:r>
            <a:r>
              <a:rPr lang="en-US" altLang="en-US" sz="2400" i="1">
                <a:solidFill>
                  <a:schemeClr val="tx1"/>
                </a:solidFill>
              </a:rPr>
              <a:t>f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= (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accept either notation… </a:t>
            </a:r>
          </a:p>
        </p:txBody>
      </p:sp>
      <p:sp>
        <p:nvSpPr>
          <p:cNvPr id="23559" name="Text Box 9">
            <a:extLst>
              <a:ext uri="{FF2B5EF4-FFF2-40B4-BE49-F238E27FC236}">
                <a16:creationId xmlns:a16="http://schemas.microsoft.com/office/drawing/2014/main" id="{96CFB767-0316-EFC6-C463-8AD8FC12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6007100"/>
            <a:ext cx="565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f</a:t>
            </a:r>
            <a:r>
              <a:rPr lang="en-US" altLang="en-US" sz="2400" b="1">
                <a:solidFill>
                  <a:schemeClr val="tx1"/>
                </a:solidFill>
              </a:rPr>
              <a:t>(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) and </a:t>
            </a:r>
            <a:r>
              <a:rPr lang="en-US" altLang="en-US" sz="2400" b="1" i="1">
                <a:solidFill>
                  <a:schemeClr val="tx1"/>
                </a:solidFill>
              </a:rPr>
              <a:t>g</a:t>
            </a:r>
            <a:r>
              <a:rPr lang="en-US" altLang="en-US" sz="2400" b="1">
                <a:solidFill>
                  <a:schemeClr val="tx1"/>
                </a:solidFill>
              </a:rPr>
              <a:t>(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) are nonnegative, for large 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. </a:t>
            </a:r>
            <a:endParaRPr lang="en-US" altLang="en-US" sz="2400" b="1" i="1" u="sng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FA55538-9DDC-AA69-2186-13B2021D5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6DC39D89-14FD-0B0E-AE8F-EF9830CBE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2468563"/>
            <a:ext cx="7989888" cy="387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10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 i="1"/>
              <a:t> </a:t>
            </a:r>
            <a:r>
              <a:rPr lang="en-US" altLang="en-US"/>
              <a:t>-</a:t>
            </a:r>
            <a:r>
              <a:rPr lang="en-US" altLang="en-US" i="1"/>
              <a:t> </a:t>
            </a:r>
            <a:r>
              <a:rPr lang="en-US" altLang="en-US"/>
              <a:t>3</a:t>
            </a:r>
            <a:r>
              <a:rPr lang="en-US" altLang="en-US" i="1"/>
              <a:t>n =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/>
              <a:t>What constants for </a:t>
            </a:r>
            <a:r>
              <a:rPr lang="en-US" altLang="en-US" i="1"/>
              <a:t>n</a:t>
            </a:r>
            <a:r>
              <a:rPr lang="en-US" altLang="en-US" baseline="-25000"/>
              <a:t>0</a:t>
            </a:r>
            <a:r>
              <a:rPr lang="en-US" altLang="en-US"/>
              <a:t>, </a:t>
            </a:r>
            <a:r>
              <a:rPr lang="en-US" altLang="en-US" i="1"/>
              <a:t>c</a:t>
            </a:r>
            <a:r>
              <a:rPr lang="en-US" altLang="en-US" baseline="-25000"/>
              <a:t>1</a:t>
            </a:r>
            <a:r>
              <a:rPr lang="en-US" altLang="en-US"/>
              <a:t>, and </a:t>
            </a:r>
            <a:r>
              <a:rPr lang="en-US" altLang="en-US" i="1"/>
              <a:t>c</a:t>
            </a:r>
            <a:r>
              <a:rPr lang="en-US" altLang="en-US" baseline="-25000"/>
              <a:t>2</a:t>
            </a:r>
            <a:r>
              <a:rPr lang="en-US" altLang="en-US"/>
              <a:t> will work?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Make </a:t>
            </a:r>
            <a:r>
              <a:rPr lang="en-US" altLang="en-US" i="1"/>
              <a:t>c</a:t>
            </a:r>
            <a:r>
              <a:rPr lang="en-US" altLang="en-US" baseline="-25000"/>
              <a:t>1</a:t>
            </a:r>
            <a:r>
              <a:rPr lang="en-US" altLang="en-US"/>
              <a:t> a little smaller than the leading coefficient, and </a:t>
            </a:r>
            <a:r>
              <a:rPr lang="en-US" altLang="en-US" i="1"/>
              <a:t>c</a:t>
            </a:r>
            <a:r>
              <a:rPr lang="en-US" altLang="en-US" baseline="-25000"/>
              <a:t>2</a:t>
            </a:r>
            <a:r>
              <a:rPr lang="en-US" altLang="en-US"/>
              <a:t> a little bigger.</a:t>
            </a:r>
          </a:p>
          <a:p>
            <a:pPr>
              <a:lnSpc>
                <a:spcPct val="90000"/>
              </a:lnSpc>
            </a:pPr>
            <a:r>
              <a:rPr lang="en-US" altLang="en-US" b="1" i="1">
                <a:solidFill>
                  <a:srgbClr val="CC0000"/>
                </a:solidFill>
              </a:rPr>
              <a:t>To compare orders of growth, look at the leading term.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b="1" i="1">
              <a:solidFill>
                <a:srgbClr val="CC0000"/>
              </a:solidFill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0F7A018-AD54-F194-FBA4-082CA258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3" y="1200150"/>
            <a:ext cx="7567612" cy="102552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</a:t>
            </a:r>
            <a:r>
              <a:rPr kumimoji="1" lang="en-US" altLang="en-US" sz="2600" b="1">
                <a:solidFill>
                  <a:srgbClr val="FF3300"/>
                </a:solidFill>
              </a:rPr>
              <a:t>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6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600" b="1" i="1">
                <a:solidFill>
                  <a:srgbClr val="CC0000"/>
                </a:solidFill>
              </a:rPr>
              <a:t>n </a:t>
            </a:r>
            <a:r>
              <a:rPr kumimoji="1" lang="en-US" altLang="en-US" sz="26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600" b="1" i="1">
                <a:solidFill>
                  <a:srgbClr val="CC0000"/>
                </a:solidFill>
              </a:rPr>
              <a:t>  n</a:t>
            </a:r>
            <a:r>
              <a:rPr kumimoji="1" lang="en-US" altLang="en-US" sz="26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600">
                <a:solidFill>
                  <a:srgbClr val="CC0000"/>
                </a:solidFill>
              </a:rPr>
              <a:t>,    </a:t>
            </a:r>
            <a:r>
              <a:rPr kumimoji="1" lang="en-US" altLang="en-US" sz="2600" b="1">
                <a:solidFill>
                  <a:schemeClr val="hlink"/>
                </a:solidFill>
              </a:rPr>
              <a:t>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690C184-62C9-FED3-9F93-D8BFDB508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 Between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, </a:t>
            </a:r>
            <a:r>
              <a:rPr lang="en-US" altLang="en-US" i="1"/>
              <a:t>O,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endParaRPr lang="en-US" altLang="en-US"/>
          </a:p>
        </p:txBody>
      </p:sp>
      <p:pic>
        <p:nvPicPr>
          <p:cNvPr id="27651" name="Picture 3" descr="graph_thet">
            <a:extLst>
              <a:ext uri="{FF2B5EF4-FFF2-40B4-BE49-F238E27FC236}">
                <a16:creationId xmlns:a16="http://schemas.microsoft.com/office/drawing/2014/main" id="{D690B697-8803-2785-E0AC-2648730BF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 descr="graph_O">
            <a:extLst>
              <a:ext uri="{FF2B5EF4-FFF2-40B4-BE49-F238E27FC236}">
                <a16:creationId xmlns:a16="http://schemas.microsoft.com/office/drawing/2014/main" id="{8D5349FA-8C86-03D1-8C8E-D3ED761E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 descr="graph_Omega">
            <a:extLst>
              <a:ext uri="{FF2B5EF4-FFF2-40B4-BE49-F238E27FC236}">
                <a16:creationId xmlns:a16="http://schemas.microsoft.com/office/drawing/2014/main" id="{616701F4-D755-E0B0-C190-BB5BCAF2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CE8EAD5-C6F8-7392-EBAD-18B1D2449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 Between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,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r>
              <a:rPr lang="en-US" altLang="en-US"/>
              <a:t>, </a:t>
            </a:r>
            <a:r>
              <a:rPr lang="en-US" altLang="en-US" i="1"/>
              <a:t>O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FBC8511-D607-2E7F-99C2-C33943BEA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897188"/>
            <a:ext cx="8458200" cy="28575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en-US" altLang="en-US" sz="3000">
                <a:sym typeface="Symbol" panose="05050102010706020507" pitchFamily="18" charset="2"/>
              </a:rPr>
              <a:t>I.e., 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 = </a:t>
            </a:r>
            <a:r>
              <a:rPr lang="en-US" altLang="en-US" sz="3000" i="1">
                <a:sym typeface="Symbol" panose="05050102010706020507" pitchFamily="18" charset="2"/>
              </a:rPr>
              <a:t>O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 </a:t>
            </a:r>
            <a:r>
              <a:rPr lang="en-US" altLang="en-US" sz="3000">
                <a:latin typeface="Symbol" panose="05050102010706020507" pitchFamily="18" charset="2"/>
              </a:rPr>
              <a:t>Ç</a:t>
            </a:r>
            <a:r>
              <a:rPr lang="en-US" altLang="en-US" sz="3000"/>
              <a:t> </a:t>
            </a:r>
            <a:r>
              <a:rPr lang="en-US" altLang="en-US" sz="3000"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</a:t>
            </a:r>
          </a:p>
          <a:p>
            <a:pPr algn="just">
              <a:spcBef>
                <a:spcPct val="100000"/>
              </a:spcBef>
            </a:pPr>
            <a:r>
              <a:rPr lang="en-US" altLang="en-US" sz="3000"/>
              <a:t>In practice, asymptotically tight bounds are obtained from asymptotic upper and lower bounds.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2083B9B8-A263-768B-3E48-2CF8EE7F3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192213"/>
            <a:ext cx="7632700" cy="14287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 b="1" u="sng">
                <a:solidFill>
                  <a:schemeClr val="hlink"/>
                </a:solidFill>
              </a:rPr>
              <a:t>Theorem :</a:t>
            </a:r>
            <a:r>
              <a:rPr lang="en-US" altLang="en-US" sz="2900"/>
              <a:t>  For any two functions </a:t>
            </a:r>
            <a:r>
              <a:rPr lang="en-US" altLang="en-US" sz="2900" i="1"/>
              <a:t>g</a:t>
            </a:r>
            <a:r>
              <a:rPr lang="en-US" altLang="en-US" sz="2900"/>
              <a:t>(</a:t>
            </a:r>
            <a:r>
              <a:rPr lang="en-US" altLang="en-US" sz="2900" i="1"/>
              <a:t>n</a:t>
            </a:r>
            <a:r>
              <a:rPr lang="en-US" altLang="en-US" sz="2900"/>
              <a:t>) and </a:t>
            </a:r>
            <a:r>
              <a:rPr lang="en-US" altLang="en-US" sz="2900" i="1"/>
              <a:t>f</a:t>
            </a:r>
            <a:r>
              <a:rPr lang="en-US" altLang="en-US" sz="2900"/>
              <a:t>(</a:t>
            </a:r>
            <a:r>
              <a:rPr lang="en-US" altLang="en-US" sz="2900" i="1"/>
              <a:t>n</a:t>
            </a:r>
            <a:r>
              <a:rPr lang="en-US" altLang="en-US" sz="2900"/>
              <a:t>), </a:t>
            </a:r>
            <a:br>
              <a:rPr lang="en-US" altLang="en-US" sz="2900"/>
            </a:br>
            <a:r>
              <a:rPr lang="en-US" altLang="en-US" sz="2900"/>
              <a:t>           </a:t>
            </a:r>
            <a:r>
              <a:rPr lang="en-US" altLang="en-US" sz="2900" b="1" i="1">
                <a:solidFill>
                  <a:schemeClr val="hlink"/>
                </a:solidFill>
              </a:rPr>
              <a:t>f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n</a:t>
            </a:r>
            <a:r>
              <a:rPr lang="en-US" altLang="en-US" sz="2900" b="1">
                <a:solidFill>
                  <a:schemeClr val="hlink"/>
                </a:solidFill>
              </a:rPr>
              <a:t>) = </a:t>
            </a:r>
            <a:r>
              <a:rPr lang="en-US" altLang="en-US" sz="2900" b="1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g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n</a:t>
            </a:r>
            <a:r>
              <a:rPr lang="en-US" altLang="en-US" sz="2900" b="1">
                <a:solidFill>
                  <a:schemeClr val="hlink"/>
                </a:solidFill>
              </a:rPr>
              <a:t>))</a:t>
            </a:r>
            <a:r>
              <a:rPr lang="en-US" altLang="en-US" sz="2900">
                <a:solidFill>
                  <a:schemeClr val="hlink"/>
                </a:solidFill>
              </a:rPr>
              <a:t> iff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900" b="1" i="1">
                <a:solidFill>
                  <a:srgbClr val="CC0000"/>
                </a:solidFill>
              </a:rPr>
              <a:t>	f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 =</a:t>
            </a:r>
            <a:r>
              <a:rPr lang="en-US" altLang="en-US" sz="2900" b="1">
                <a:solidFill>
                  <a:srgbClr val="CC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900" b="1" i="1">
                <a:solidFill>
                  <a:srgbClr val="CC0000"/>
                </a:solidFill>
                <a:sym typeface="Symbol" panose="05050102010706020507" pitchFamily="18" charset="2"/>
              </a:rPr>
              <a:t>O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g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)) and </a:t>
            </a:r>
            <a:r>
              <a:rPr lang="en-US" altLang="en-US" sz="2900" b="1" i="1">
                <a:solidFill>
                  <a:srgbClr val="CC0000"/>
                </a:solidFill>
              </a:rPr>
              <a:t>f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 = </a:t>
            </a:r>
            <a:r>
              <a:rPr lang="en-US" altLang="en-US" sz="2900" b="1">
                <a:solidFill>
                  <a:srgbClr val="CC0000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g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))</a:t>
            </a:r>
            <a:r>
              <a:rPr lang="en-US" altLang="en-US" sz="2900"/>
              <a:t>.</a:t>
            </a:r>
            <a:endParaRPr lang="en-US" altLang="en-US" sz="29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74D7FC1-95B2-F089-E8B8-2E12D517E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Times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4624139-F598-A1F7-37D1-3E8000C2D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1173163"/>
            <a:ext cx="7772400" cy="48625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/>
              <a:t>“Running time is </a:t>
            </a:r>
            <a:r>
              <a:rPr lang="en-US" altLang="en-US" sz="2800" i="1"/>
              <a:t>O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))” </a:t>
            </a:r>
            <a:r>
              <a:rPr lang="en-US" altLang="en-US" sz="2800">
                <a:latin typeface="Symbol" panose="05050102010706020507" pitchFamily="18" charset="2"/>
              </a:rPr>
              <a:t>Þ</a:t>
            </a:r>
            <a:r>
              <a:rPr lang="en-US" altLang="en-US" sz="2800"/>
              <a:t> Worst case is </a:t>
            </a:r>
            <a:r>
              <a:rPr lang="en-US" altLang="en-US" sz="2800" i="1"/>
              <a:t>O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/>
              <a:t>“Running time is </a:t>
            </a:r>
            <a:r>
              <a:rPr lang="en-US" altLang="en-US" sz="2800">
                <a:latin typeface="Symbol" panose="05050102010706020507" pitchFamily="18" charset="2"/>
              </a:rPr>
              <a:t>W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))” </a:t>
            </a:r>
            <a:r>
              <a:rPr lang="en-US" altLang="en-US" sz="2800">
                <a:latin typeface="Symbol" panose="05050102010706020507" pitchFamily="18" charset="2"/>
              </a:rPr>
              <a:t>Þ</a:t>
            </a:r>
            <a:r>
              <a:rPr lang="en-US" altLang="en-US" sz="2800"/>
              <a:t> Best case is </a:t>
            </a:r>
            <a:r>
              <a:rPr lang="en-US" altLang="en-US" sz="2800">
                <a:latin typeface="Symbol" panose="05050102010706020507" pitchFamily="18" charset="2"/>
              </a:rPr>
              <a:t>W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</a:t>
            </a:r>
            <a:r>
              <a:rPr lang="en-US" altLang="en-US" sz="2800" i="1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B6792B0-F8B3-9273-3F44-F8304A522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 of Functions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F6DAB93-C49C-D593-705C-A70A27CB6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08088"/>
            <a:ext cx="7772400" cy="46894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             f </a:t>
            </a:r>
            <a:r>
              <a:rPr lang="en-US" altLang="en-US">
                <a:sym typeface="Symbol" panose="05050102010706020507" pitchFamily="18" charset="2"/>
              </a:rPr>
              <a:t></a:t>
            </a:r>
            <a:r>
              <a:rPr lang="en-US" altLang="en-US"/>
              <a:t> </a:t>
            </a:r>
            <a:r>
              <a:rPr lang="en-US" altLang="en-US" i="1"/>
              <a:t>g  </a:t>
            </a:r>
            <a:r>
              <a:rPr lang="en-US" altLang="en-US">
                <a:sym typeface="Symbol" panose="05050102010706020507" pitchFamily="18" charset="2"/>
              </a:rPr>
              <a:t>  </a:t>
            </a:r>
            <a:r>
              <a:rPr lang="en-US" altLang="en-US" i="1"/>
              <a:t>a </a:t>
            </a:r>
            <a:r>
              <a:rPr lang="en-US" altLang="en-US">
                <a:sym typeface="Symbol" panose="05050102010706020507" pitchFamily="18" charset="2"/>
              </a:rPr>
              <a:t></a:t>
            </a:r>
            <a:r>
              <a:rPr lang="en-US" altLang="en-US" i="1"/>
              <a:t> b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en-US" sz="2000" i="1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O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>
                <a:sym typeface="Symbol" panose="05050102010706020507" pitchFamily="18" charset="2"/>
              </a:rPr>
              <a:t></a:t>
            </a:r>
            <a:r>
              <a:rPr lang="en-US" altLang="en-US" i="1">
                <a:sym typeface="Symbol" panose="05050102010706020507" pitchFamily="18" charset="2"/>
              </a:rPr>
              <a:t>   </a:t>
            </a:r>
            <a:r>
              <a:rPr lang="en-US" altLang="en-US" i="1"/>
              <a:t>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>
                <a:sym typeface="Symbol" panose="05050102010706020507" pitchFamily="18" charset="2"/>
              </a:rPr>
              <a:t>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>
                <a:sym typeface="Symbol" panose="05050102010706020507" pitchFamily="18" charset="2"/>
              </a:rPr>
              <a:t></a:t>
            </a:r>
            <a:r>
              <a:rPr lang="en-US" altLang="en-US" i="1">
                <a:sym typeface="Symbol" panose="05050102010706020507" pitchFamily="18" charset="2"/>
              </a:rPr>
              <a:t>  </a:t>
            </a:r>
            <a:r>
              <a:rPr lang="en-US" altLang="en-US" i="1"/>
              <a:t>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>
                <a:sym typeface="Symbol" panose="05050102010706020507" pitchFamily="18" charset="2"/>
              </a:rPr>
              <a:t>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=  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o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/>
              <a:t>&lt;</a:t>
            </a:r>
            <a:r>
              <a:rPr lang="en-US" altLang="en-US" i="1"/>
              <a:t>  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 i="1">
                <a:latin typeface="Symbol" panose="05050102010706020507" pitchFamily="18" charset="2"/>
                <a:sym typeface="Symbol" panose="05050102010706020507" pitchFamily="18" charset="2"/>
              </a:rPr>
              <a:t>w 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/>
              <a:t>&gt;</a:t>
            </a:r>
            <a:r>
              <a:rPr lang="en-US" altLang="en-US" i="1"/>
              <a:t>  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EF84471-1D52-CC4D-EEB9-147396EB8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B367F15-6196-F290-3ABA-A1AF400EE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7772400" cy="5426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rgbClr val="CC0000"/>
                </a:solidFill>
              </a:rPr>
              <a:t>Transitivity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800" i="1">
                <a:solidFill>
                  <a:schemeClr val="hlink"/>
                </a:solidFill>
              </a:rPr>
              <a:t>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80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rgbClr val="CC0000"/>
                </a:solidFill>
              </a:rPr>
              <a:t>Reflexivity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	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chemeClr val="hlink"/>
                </a:solidFill>
              </a:rPr>
              <a:t>    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chemeClr val="hlink"/>
                </a:solidFill>
              </a:rPr>
              <a:t>   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0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804A716-7E14-D2A8-EC28-C6F4878D2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E55562A-6486-E47C-2B42-A4D3AD17B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7772400" cy="5426075"/>
          </a:xfrm>
        </p:spPr>
        <p:txBody>
          <a:bodyPr/>
          <a:lstStyle/>
          <a:p>
            <a:r>
              <a:rPr lang="en-US" altLang="en-US" b="1">
                <a:solidFill>
                  <a:srgbClr val="CC0000"/>
                </a:solidFill>
              </a:rPr>
              <a:t>Symmetry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	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>
              <a:solidFill>
                <a:schemeClr val="hlink"/>
              </a:solidFill>
            </a:endParaRPr>
          </a:p>
          <a:p>
            <a:r>
              <a:rPr lang="en-US" altLang="en-US" b="1">
                <a:solidFill>
                  <a:srgbClr val="CC0000"/>
                </a:solidFill>
              </a:rPr>
              <a:t>Complementarity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     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     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 </a:t>
            </a:r>
            <a:r>
              <a:rPr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>
                <a:solidFill>
                  <a:schemeClr val="hlink"/>
                </a:solidFill>
              </a:rPr>
              <a:t>((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3839EB82-691B-0755-67D4-551C93E42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Growth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361C4-0F90-37AF-AD14-1B6441C0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Find the </a:t>
            </a:r>
            <a:r>
              <a:rPr lang="en-IN" b="1" u="sng" dirty="0"/>
              <a:t>big oh </a:t>
            </a:r>
            <a:r>
              <a:rPr lang="en-IN" dirty="0"/>
              <a:t>for the following functions 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f(n) = 3n + 5</a:t>
            </a:r>
          </a:p>
          <a:p>
            <a:pPr>
              <a:defRPr/>
            </a:pPr>
            <a:r>
              <a:rPr lang="en-IN" dirty="0"/>
              <a:t>f(n) = 27n</a:t>
            </a:r>
            <a:r>
              <a:rPr lang="en-IN" baseline="30000" dirty="0"/>
              <a:t>2</a:t>
            </a:r>
            <a:r>
              <a:rPr lang="en-IN" dirty="0"/>
              <a:t> + 16n + 25</a:t>
            </a:r>
          </a:p>
          <a:p>
            <a:pPr>
              <a:defRPr/>
            </a:pPr>
            <a:r>
              <a:rPr lang="en-IN" dirty="0"/>
              <a:t>f(n) = 3n</a:t>
            </a:r>
            <a:r>
              <a:rPr lang="en-IN" baseline="30000" dirty="0"/>
              <a:t>3</a:t>
            </a:r>
            <a:r>
              <a:rPr lang="en-IN" dirty="0"/>
              <a:t> + 4n</a:t>
            </a:r>
          </a:p>
          <a:p>
            <a:pPr>
              <a:defRPr/>
            </a:pPr>
            <a:r>
              <a:rPr lang="en-IN" dirty="0"/>
              <a:t>f(n) = 2</a:t>
            </a:r>
            <a:r>
              <a:rPr lang="en-IN" baseline="30000" dirty="0"/>
              <a:t>n</a:t>
            </a:r>
            <a:r>
              <a:rPr lang="en-IN" dirty="0"/>
              <a:t> + 6n</a:t>
            </a:r>
            <a:r>
              <a:rPr lang="en-IN" baseline="30000" dirty="0"/>
              <a:t>2</a:t>
            </a:r>
            <a:r>
              <a:rPr lang="en-IN" dirty="0"/>
              <a:t> + 3n</a:t>
            </a:r>
          </a:p>
          <a:p>
            <a:pPr>
              <a:defRPr/>
            </a:pPr>
            <a:r>
              <a:rPr lang="en-IN" dirty="0"/>
              <a:t>f(n) = 5*2</a:t>
            </a:r>
            <a:r>
              <a:rPr lang="en-IN" baseline="30000" dirty="0"/>
              <a:t>n</a:t>
            </a:r>
            <a:r>
              <a:rPr lang="en-IN" dirty="0"/>
              <a:t> + 3n +5</a:t>
            </a:r>
          </a:p>
          <a:p>
            <a:pPr>
              <a:defRPr/>
            </a:pPr>
            <a:r>
              <a:rPr lang="en-IN" dirty="0"/>
              <a:t> f(n) = 3*2</a:t>
            </a:r>
            <a:r>
              <a:rPr lang="en-IN" baseline="30000" dirty="0"/>
              <a:t>n</a:t>
            </a:r>
            <a:r>
              <a:rPr lang="en-IN" dirty="0"/>
              <a:t> + 4n</a:t>
            </a:r>
            <a:r>
              <a:rPr lang="en-IN" baseline="30000" dirty="0"/>
              <a:t>2</a:t>
            </a:r>
            <a:r>
              <a:rPr lang="en-IN" dirty="0"/>
              <a:t> + 5n + 3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A1CD96F-1A8C-738E-672B-1327BA8C0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4C89DB56-418F-941A-0B0F-D95F9EA0C8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 O(1)</a:t>
            </a:r>
          </a:p>
          <a:p>
            <a:r>
              <a:rPr lang="en-IN" altLang="en-US"/>
              <a:t>27n</a:t>
            </a:r>
            <a:r>
              <a:rPr lang="en-IN" altLang="en-US" baseline="30000"/>
              <a:t>2</a:t>
            </a:r>
            <a:r>
              <a:rPr lang="en-IN" altLang="en-US"/>
              <a:t> + 16n + 25 ≠ O(n)</a:t>
            </a:r>
          </a:p>
          <a:p>
            <a:r>
              <a:rPr lang="en-IN" altLang="en-US"/>
              <a:t>5n</a:t>
            </a:r>
            <a:r>
              <a:rPr lang="en-IN" altLang="en-US" baseline="30000"/>
              <a:t>3</a:t>
            </a:r>
            <a:r>
              <a:rPr lang="en-IN" altLang="en-US"/>
              <a:t> + n</a:t>
            </a:r>
            <a:r>
              <a:rPr lang="en-IN" altLang="en-US" baseline="30000"/>
              <a:t>2</a:t>
            </a:r>
            <a:r>
              <a:rPr lang="en-IN" altLang="en-US"/>
              <a:t> + 3n + 2 ≠ O(n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7B80DFE0-E805-4CCE-4316-AB0DCAD13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8650"/>
            <a:ext cx="9142413" cy="419100"/>
          </a:xfrm>
        </p:spPr>
        <p:txBody>
          <a:bodyPr/>
          <a:lstStyle/>
          <a:p>
            <a:r>
              <a:rPr lang="en-IN" altLang="en-US" sz="2800"/>
              <a:t>Find the </a:t>
            </a:r>
            <a:r>
              <a:rPr lang="en-IN" altLang="en-US" sz="2800" b="1"/>
              <a:t>big Omega </a:t>
            </a:r>
            <a:r>
              <a:rPr lang="en-IN" altLang="en-US" sz="2800"/>
              <a:t>for the following functions 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43CE74FD-FEE9-1036-A96A-50E025442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f(n) = 27n</a:t>
            </a:r>
            <a:r>
              <a:rPr lang="en-IN" altLang="en-US" baseline="30000"/>
              <a:t>2</a:t>
            </a:r>
            <a:r>
              <a:rPr lang="en-IN" altLang="en-US"/>
              <a:t> + 16n</a:t>
            </a:r>
          </a:p>
          <a:p>
            <a:r>
              <a:rPr lang="en-IN" altLang="en-US"/>
              <a:t>f(n) = 4n</a:t>
            </a:r>
            <a:r>
              <a:rPr lang="en-IN" altLang="en-US" baseline="30000"/>
              <a:t>3</a:t>
            </a:r>
            <a:r>
              <a:rPr lang="en-IN" altLang="en-US"/>
              <a:t> + 2n + 3</a:t>
            </a:r>
          </a:p>
          <a:p>
            <a:r>
              <a:rPr lang="en-IN" altLang="en-US"/>
              <a:t>f(n) = 2</a:t>
            </a:r>
            <a:r>
              <a:rPr lang="en-IN" altLang="en-US" baseline="30000"/>
              <a:t>n</a:t>
            </a:r>
            <a:r>
              <a:rPr lang="en-IN" altLang="en-US"/>
              <a:t> + 6n</a:t>
            </a:r>
            <a:r>
              <a:rPr lang="en-IN" altLang="en-US" baseline="30000"/>
              <a:t>2</a:t>
            </a:r>
            <a:r>
              <a:rPr lang="en-IN" altLang="en-US"/>
              <a:t> +3n </a:t>
            </a:r>
          </a:p>
          <a:p>
            <a:r>
              <a:rPr lang="en-IN" altLang="en-US"/>
              <a:t>f(n) = 5*2</a:t>
            </a:r>
            <a:r>
              <a:rPr lang="en-IN" altLang="en-US" baseline="30000"/>
              <a:t>n</a:t>
            </a:r>
            <a:r>
              <a:rPr lang="en-IN" altLang="en-US"/>
              <a:t> + 3n +5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244C01CE-983C-05E4-FDA5-4F5670E897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  <a:p>
            <a:r>
              <a:rPr lang="en-IN" altLang="en-US"/>
              <a:t>5n</a:t>
            </a:r>
            <a:r>
              <a:rPr lang="en-IN" altLang="en-US" baseline="30000"/>
              <a:t>2</a:t>
            </a:r>
            <a:r>
              <a:rPr lang="en-IN" altLang="en-US"/>
              <a:t> + 4n +2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3</a:t>
            </a:r>
            <a:r>
              <a:rPr lang="en-IN" altLang="en-US"/>
              <a:t>)</a:t>
            </a:r>
          </a:p>
          <a:p>
            <a:r>
              <a:rPr lang="en-IN" altLang="en-US"/>
              <a:t>3n</a:t>
            </a:r>
            <a:r>
              <a:rPr lang="en-IN" altLang="en-US" baseline="30000"/>
              <a:t>3</a:t>
            </a:r>
            <a:r>
              <a:rPr lang="en-IN" altLang="en-US"/>
              <a:t>+ 5n</a:t>
            </a:r>
            <a:r>
              <a:rPr lang="en-IN" altLang="en-US" baseline="30000"/>
              <a:t>2</a:t>
            </a:r>
            <a:r>
              <a:rPr lang="en-IN" altLang="en-US"/>
              <a:t> +2n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4</a:t>
            </a:r>
            <a:r>
              <a:rPr lang="en-IN" altLang="en-US"/>
              <a:t>)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  <p:sp>
        <p:nvSpPr>
          <p:cNvPr id="41987" name="Title 1">
            <a:extLst>
              <a:ext uri="{FF2B5EF4-FFF2-40B4-BE49-F238E27FC236}">
                <a16:creationId xmlns:a16="http://schemas.microsoft.com/office/drawing/2014/main" id="{9229DE83-4C40-FAAC-51A5-CA5B539DE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B9016F17-59A2-E937-8F53-1ADBF6E0D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800"/>
              <a:t>Find the </a:t>
            </a:r>
            <a:r>
              <a:rPr lang="en-IN" altLang="en-US" sz="2800" b="1"/>
              <a:t>Theta</a:t>
            </a:r>
            <a:r>
              <a:rPr lang="en-IN" altLang="en-US" sz="2800"/>
              <a:t>for the following functions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42D26BCF-5731-3967-40B3-D7F7CB811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f(n) = 27n</a:t>
            </a:r>
            <a:r>
              <a:rPr lang="en-IN" altLang="en-US" baseline="30000"/>
              <a:t>2</a:t>
            </a:r>
            <a:r>
              <a:rPr lang="en-IN" altLang="en-US"/>
              <a:t> + 16n</a:t>
            </a:r>
          </a:p>
          <a:p>
            <a:r>
              <a:rPr lang="en-IN" altLang="en-US"/>
              <a:t>f(n) = 4n</a:t>
            </a:r>
            <a:r>
              <a:rPr lang="en-IN" altLang="en-US" baseline="30000"/>
              <a:t>3</a:t>
            </a:r>
            <a:r>
              <a:rPr lang="en-IN" altLang="en-US"/>
              <a:t> + 2n + 3</a:t>
            </a:r>
          </a:p>
          <a:p>
            <a:r>
              <a:rPr lang="en-IN" altLang="en-US"/>
              <a:t>f(n) = 2</a:t>
            </a:r>
            <a:r>
              <a:rPr lang="en-IN" altLang="en-US" baseline="30000"/>
              <a:t>n</a:t>
            </a:r>
            <a:r>
              <a:rPr lang="en-IN" altLang="en-US"/>
              <a:t> + 6n</a:t>
            </a:r>
            <a:r>
              <a:rPr lang="en-IN" altLang="en-US" baseline="30000"/>
              <a:t>2</a:t>
            </a:r>
            <a:r>
              <a:rPr lang="en-IN" altLang="en-US"/>
              <a:t>  +3n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3DE2265F-F7D3-E1EC-F3F6-489C4102F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C9ADB41A-ED4F-6768-09E9-DC6F66456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(1)</a:t>
            </a:r>
          </a:p>
          <a:p>
            <a:r>
              <a:rPr lang="en-IN" altLang="en-US"/>
              <a:t>10n</a:t>
            </a:r>
            <a:r>
              <a:rPr lang="en-IN" altLang="en-US" baseline="30000"/>
              <a:t>2</a:t>
            </a:r>
            <a:r>
              <a:rPr lang="en-IN" altLang="en-US"/>
              <a:t>+ 7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(n</a:t>
            </a:r>
            <a:r>
              <a:rPr lang="en-IN" altLang="en-US" baseline="30000"/>
              <a:t>3</a:t>
            </a:r>
            <a:r>
              <a:rPr lang="en-IN" altLang="en-US"/>
              <a:t>)</a:t>
            </a:r>
          </a:p>
          <a:p>
            <a:r>
              <a:rPr lang="en-IN" altLang="en-US"/>
              <a:t>5n+8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AAE4B47-A419-9E55-C53F-BB40ADC91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i="1"/>
              <a:t>Related Contents </a:t>
            </a:r>
            <a:endParaRPr lang="en-IN" altLang="en-US" sz="2800" i="1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3F7F0C4-11C5-1927-9C00-4849C5083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813" y="1219200"/>
            <a:ext cx="8842375" cy="4876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IN" altLang="en-US" sz="2400" b="1" i="1" u="sng">
                <a:solidFill>
                  <a:srgbClr val="444444"/>
                </a:solidFill>
                <a:latin typeface="var(--font-headings, &quot;PT Serif&quot;"/>
              </a:rPr>
              <a:t>Basics of Asymptotic Notations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IN" altLang="en-US" sz="2400"/>
              <a:t>https://cexpertvision.com/2023/06/23/basics-of-asymptotic-notations/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4">
            <a:extLst>
              <a:ext uri="{FF2B5EF4-FFF2-40B4-BE49-F238E27FC236}">
                <a16:creationId xmlns:a16="http://schemas.microsoft.com/office/drawing/2014/main" id="{F5CE2EE4-34B6-7638-6EDD-C5EC82478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1758950"/>
            <a:ext cx="7029450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Mathematical Model of Computation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2"/>
              </a:rPr>
              <a:t>https://youtu.be/JEnXJPlXhng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Basics of Asymptotic Notations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3"/>
              </a:rPr>
              <a:t>https://youtu.be/OQZySiRblPo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6083" name="TextBox 6">
            <a:extLst>
              <a:ext uri="{FF2B5EF4-FFF2-40B4-BE49-F238E27FC236}">
                <a16:creationId xmlns:a16="http://schemas.microsoft.com/office/drawing/2014/main" id="{9387F584-C2C9-1A54-7632-55CE5BB82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684213"/>
            <a:ext cx="6916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Video Lecture of the topic can be found at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False"/>
  <p:tag name="EMBEDFONTS" val="False"/>
  <p:tag name="USEBOLDAMS" val="False"/>
  <p:tag name="DEFAULTDISPLAYSOURCE" val="\documentclass{slides}\pagestyle{empty}&#10;\begin{document}&#10;\end{document}&#10;"/>
  <p:tag name="TEX2PS" val="latex $(base).tex; dvips -D $(res) -E -o $(base).ps $(base).dvi"/>
  <p:tag name="TEX2PSBATCH" val="latex --interaction=nonstopmode $(base).tex; dvips -D $(res) -E -o $(base).ps $(base).dvi"/>
  <p:tag name="DEFAULTWIDTH" val="324"/>
  <p:tag name="DEFAULTHEIGHT" val="370"/>
  <p:tag name="DEFAULTMAGNIFICATION" val="2"/>
  <p:tag name="DEFAULTFONTSIZE" val="10"/>
</p:tagLst>
</file>

<file path=ppt/theme/theme1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comp12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mp12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12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8">
        <a:dk1>
          <a:srgbClr val="000000"/>
        </a:dk1>
        <a:lt1>
          <a:srgbClr val="FFFFCC"/>
        </a:lt1>
        <a:dk2>
          <a:srgbClr val="0000FF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9">
        <a:dk1>
          <a:srgbClr val="080808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60606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Designs\comp122.pot</Template>
  <TotalTime>14534</TotalTime>
  <Words>1887</Words>
  <Application>Microsoft Office PowerPoint</Application>
  <PresentationFormat>On-screen Show (4:3)</PresentationFormat>
  <Paragraphs>191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Times New Roman</vt:lpstr>
      <vt:lpstr>Arial</vt:lpstr>
      <vt:lpstr>Wingdings</vt:lpstr>
      <vt:lpstr>Symbol</vt:lpstr>
      <vt:lpstr>var(--font-headings, "PT Serif"</vt:lpstr>
      <vt:lpstr>Rockwell</vt:lpstr>
      <vt:lpstr>Calibri</vt:lpstr>
      <vt:lpstr>Mangal</vt:lpstr>
      <vt:lpstr>comp122</vt:lpstr>
      <vt:lpstr>Asymptotic Notations  </vt:lpstr>
      <vt:lpstr>Mathematical Model of Computation </vt:lpstr>
      <vt:lpstr>Mathematical Model of Computation</vt:lpstr>
      <vt:lpstr>Computing running time in Model</vt:lpstr>
      <vt:lpstr>PowerPoint Presentation</vt:lpstr>
      <vt:lpstr>PowerPoint Presentation</vt:lpstr>
      <vt:lpstr>  Asymptotic Notations  </vt:lpstr>
      <vt:lpstr>Asymptotic Complexity</vt:lpstr>
      <vt:lpstr>Asymptotic Notation</vt:lpstr>
      <vt:lpstr>O-notation</vt:lpstr>
      <vt:lpstr>Examples</vt:lpstr>
      <vt:lpstr> -notation</vt:lpstr>
      <vt:lpstr>-notation</vt:lpstr>
      <vt:lpstr>-notation</vt:lpstr>
      <vt:lpstr>Example</vt:lpstr>
      <vt:lpstr>Relations Between Q, O, W</vt:lpstr>
      <vt:lpstr>Relations Between Q, W, O</vt:lpstr>
      <vt:lpstr>Running Times</vt:lpstr>
      <vt:lpstr>Comparison of Functions</vt:lpstr>
      <vt:lpstr>Properties</vt:lpstr>
      <vt:lpstr>Properties</vt:lpstr>
      <vt:lpstr>Growth of a function</vt:lpstr>
      <vt:lpstr>Incorrect bounds </vt:lpstr>
      <vt:lpstr>Find the big Omega for the following functions  </vt:lpstr>
      <vt:lpstr>Incorrect bounds </vt:lpstr>
      <vt:lpstr>Find the Thetafor the following functions</vt:lpstr>
      <vt:lpstr>Incorrect bounds </vt:lpstr>
      <vt:lpstr>Related Contents </vt:lpstr>
      <vt:lpstr>PowerPoint Presentation</vt:lpstr>
    </vt:vector>
  </TitlesOfParts>
  <Company>University of North Carolina at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Notation</dc:title>
  <dc:creator>ASHISH SETH</dc:creator>
  <cp:lastModifiedBy>Ashish Seth</cp:lastModifiedBy>
  <cp:revision>358</cp:revision>
  <cp:lastPrinted>1999-01-11T01:54:57Z</cp:lastPrinted>
  <dcterms:created xsi:type="dcterms:W3CDTF">1998-03-12T18:53:32Z</dcterms:created>
  <dcterms:modified xsi:type="dcterms:W3CDTF">2024-10-09T18:03:22Z</dcterms:modified>
</cp:coreProperties>
</file>