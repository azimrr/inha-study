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22"/>
  </p:notesMasterIdLst>
  <p:handoutMasterIdLst>
    <p:handoutMasterId r:id="rId23"/>
  </p:handoutMasterIdLst>
  <p:sldIdLst>
    <p:sldId id="467" r:id="rId2"/>
    <p:sldId id="445" r:id="rId3"/>
    <p:sldId id="446" r:id="rId4"/>
    <p:sldId id="466" r:id="rId5"/>
    <p:sldId id="447" r:id="rId6"/>
    <p:sldId id="448" r:id="rId7"/>
    <p:sldId id="463" r:id="rId8"/>
    <p:sldId id="451" r:id="rId9"/>
    <p:sldId id="460" r:id="rId10"/>
    <p:sldId id="455" r:id="rId11"/>
    <p:sldId id="456" r:id="rId12"/>
    <p:sldId id="458" r:id="rId13"/>
    <p:sldId id="452" r:id="rId14"/>
    <p:sldId id="454" r:id="rId15"/>
    <p:sldId id="459" r:id="rId16"/>
    <p:sldId id="457" r:id="rId17"/>
    <p:sldId id="462" r:id="rId18"/>
    <p:sldId id="464" r:id="rId19"/>
    <p:sldId id="468" r:id="rId20"/>
    <p:sldId id="465" r:id="rId2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2059" autoAdjust="0"/>
    <p:restoredTop sz="91103" autoAdjust="0"/>
  </p:normalViewPr>
  <p:slideViewPr>
    <p:cSldViewPr>
      <p:cViewPr varScale="1">
        <p:scale>
          <a:sx n="75" d="100"/>
          <a:sy n="75" d="100"/>
        </p:scale>
        <p:origin x="108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1944" y="-7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>
            <a:extLst>
              <a:ext uri="{FF2B5EF4-FFF2-40B4-BE49-F238E27FC236}">
                <a16:creationId xmlns:a16="http://schemas.microsoft.com/office/drawing/2014/main" id="{CFD5A245-C8FB-3E46-A7A8-D3687C05DF5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5139" tIns="49472" rIns="95139" bIns="49472" numCol="1" anchor="ctr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7094C66A-4E28-9A28-7D91-7934BE9ECF0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5139" tIns="49472" rIns="95139" bIns="49472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/>
            </a:lvl1pPr>
          </a:lstStyle>
          <a:p>
            <a:pPr>
              <a:defRPr/>
            </a:pPr>
            <a:fld id="{FADC167E-FF56-4E9B-9FB3-6633954F3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9FCEBE6B-FC50-8695-4972-D9E4B2A29D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1D563647-6992-17A1-5AE3-53625B4D234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98055B5-B4EE-6CEC-9434-F85911F156C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7D204760-78B3-414F-6025-FC29F3C50BE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8610E63D-D27E-3D9A-885E-68C13AB376F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84B3B0CB-DAE5-CF48-50EF-5BA3A336E3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/>
            </a:lvl1pPr>
          </a:lstStyle>
          <a:p>
            <a:pPr>
              <a:defRPr/>
            </a:pPr>
            <a:fld id="{90494BEC-076A-47D5-A238-3CED11378C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2411C72-9A92-4F46-5982-67555E66FC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E50C3AFA-E61B-3126-9539-4F94ACF2E0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D9E95782-9100-74E9-9439-CABC779AE9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E30E106-1507-41AC-9777-04A1C8F56C5D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33C153AB-A76B-E6A7-B000-99CE0AA6D2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15782E3B-DB9E-301F-F6B1-BA12DE6831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AE7F47AB-B115-3060-43B8-54F989A39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9844860-B0A9-402E-8E05-1940DD3B86AB}" type="slidenum">
              <a:rPr kumimoji="0" lang="en-US" altLang="en-US" sz="1300" smtClean="0"/>
              <a:pPr>
                <a:spcBef>
                  <a:spcPct val="0"/>
                </a:spcBef>
              </a:pPr>
              <a:t>8</a:t>
            </a:fld>
            <a:endParaRPr kumimoji="0"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A3E563EF-475E-11FC-9D57-DB9C0592F4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B1A11A52-9E27-FCDE-B952-ECCA24863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B253D0D2-2EAF-D0B8-F068-1C41AA696E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EDB4838-435A-47AF-82CA-B8BDFDE2B8E3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8">
            <a:extLst>
              <a:ext uri="{FF2B5EF4-FFF2-40B4-BE49-F238E27FC236}">
                <a16:creationId xmlns:a16="http://schemas.microsoft.com/office/drawing/2014/main" id="{76A2C72D-2409-1482-519F-5FFCAE20405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90600"/>
            <a:ext cx="822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3" name="Line 9">
            <a:extLst>
              <a:ext uri="{FF2B5EF4-FFF2-40B4-BE49-F238E27FC236}">
                <a16:creationId xmlns:a16="http://schemas.microsoft.com/office/drawing/2014/main" id="{EF787A13-535E-3E52-C9EC-CD62BA3DD3F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14400"/>
            <a:ext cx="822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D9F364A1-E8DB-81FF-B65C-336C2840FE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29200" y="4038600"/>
            <a:ext cx="4114800" cy="4132263"/>
          </a:xfrm>
          <a:prstGeom prst="diamond">
            <a:avLst/>
          </a:prstGeom>
          <a:solidFill>
            <a:srgbClr val="00FFFF">
              <a:alpha val="50195"/>
            </a:srgbClr>
          </a:solidFill>
          <a:ln>
            <a:noFill/>
          </a:ln>
          <a:effectLst/>
        </p:spPr>
        <p:txBody>
          <a:bodyPr wrap="none" t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defRPr/>
            </a:pPr>
            <a:r>
              <a:rPr lang="en-US" altLang="en-US" sz="4400" u="sng">
                <a:solidFill>
                  <a:srgbClr val="A50021"/>
                </a:solidFill>
                <a:latin typeface="Garamond" panose="02020404030301010803" pitchFamily="18" charset="0"/>
              </a:rPr>
              <a:t>TECH</a:t>
            </a:r>
            <a:r>
              <a:rPr lang="en-US" altLang="en-US" sz="4800" u="sng">
                <a:solidFill>
                  <a:srgbClr val="A50021"/>
                </a:solidFill>
                <a:latin typeface="Garamond" panose="02020404030301010803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ctr">
              <a:spcBef>
                <a:spcPct val="20000"/>
              </a:spcBef>
              <a:defRPr/>
            </a:pPr>
            <a:r>
              <a:rPr lang="en-US" altLang="en-US" sz="2800">
                <a:solidFill>
                  <a:srgbClr val="006666"/>
                </a:solidFill>
                <a:latin typeface="Garamond" panose="02020404030301010803" pitchFamily="18" charset="0"/>
              </a:rPr>
              <a:t>Computer Science</a:t>
            </a:r>
            <a:endParaRPr lang="en-US" altLang="en-US" sz="1800">
              <a:solidFill>
                <a:srgbClr val="006666"/>
              </a:solidFill>
              <a:latin typeface="Garamond" panose="02020404030301010803" pitchFamily="18" charset="0"/>
            </a:endParaRPr>
          </a:p>
        </p:txBody>
      </p:sp>
      <p:sp>
        <p:nvSpPr>
          <p:cNvPr id="49166" name="Rectangle 14"/>
          <p:cNvSpPr>
            <a:spLocks noGrp="1" noChangeArrowheads="1"/>
          </p:cNvSpPr>
          <p:nvPr>
            <p:ph type="ctrTitle" sz="quarter"/>
          </p:nvPr>
        </p:nvSpPr>
        <p:spPr>
          <a:xfrm>
            <a:off x="381000" y="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916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81000" y="1066800"/>
            <a:ext cx="8229600" cy="5638800"/>
          </a:xfrm>
        </p:spPr>
        <p:txBody>
          <a:bodyPr/>
          <a:lstStyle>
            <a:lvl1pPr marL="282575" indent="-282575">
              <a:defRPr/>
            </a:lvl1pPr>
            <a:lvl2pPr marL="800100" lvl="1" indent="-403225">
              <a:defRPr/>
            </a:lvl2pPr>
            <a:lvl3pPr marL="1200150" lvl="2" indent="-285750">
              <a:defRPr/>
            </a:lvl3pPr>
            <a:lvl4pPr marL="1598613" lvl="3" indent="-222250">
              <a:defRPr/>
            </a:lvl4pPr>
            <a:lvl5pPr lvl="4" indent="-280988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>
                <a:sym typeface="MT Extra" pitchFamily="18" charset="2"/>
              </a:rPr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9944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9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583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0513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4700" y="990600"/>
            <a:ext cx="40513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03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241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16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705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230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2755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19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228600"/>
            <a:ext cx="20637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0388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03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>
            <a:extLst>
              <a:ext uri="{FF2B5EF4-FFF2-40B4-BE49-F238E27FC236}">
                <a16:creationId xmlns:a16="http://schemas.microsoft.com/office/drawing/2014/main" id="{4E5B3872-D46D-DD9C-BE03-15B4C5503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ACE80857-DBAA-FE13-BF8B-E746D75B2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90600"/>
            <a:ext cx="82550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>
                <a:sym typeface="MT Extra" panose="05050102010205020202" pitchFamily="18" charset="2"/>
              </a:rPr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Line 10">
            <a:extLst>
              <a:ext uri="{FF2B5EF4-FFF2-40B4-BE49-F238E27FC236}">
                <a16:creationId xmlns:a16="http://schemas.microsoft.com/office/drawing/2014/main" id="{73B9645F-377E-FB2B-1B92-F1E09A89B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990600"/>
            <a:ext cx="822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1029" name="Line 11">
            <a:extLst>
              <a:ext uri="{FF2B5EF4-FFF2-40B4-BE49-F238E27FC236}">
                <a16:creationId xmlns:a16="http://schemas.microsoft.com/office/drawing/2014/main" id="{5CF1041E-2261-C5D9-D3B0-9DEC00319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914400"/>
            <a:ext cx="822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Q"/>
        <a:defRPr kumimoji="1" sz="2400" b="1">
          <a:solidFill>
            <a:schemeClr val="tx1"/>
          </a:solidFill>
          <a:latin typeface="+mn-lt"/>
          <a:sym typeface="MT Extra" panose="05050102010205020202" pitchFamily="18" charset="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MT Extra" panose="05050102010205020202" pitchFamily="18" charset="2"/>
        <a:buChar char="f"/>
        <a:defRPr kumimoji="1"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zDq-WQALy0" TargetMode="External"/><Relationship Id="rId7" Type="http://schemas.openxmlformats.org/officeDocument/2006/relationships/hyperlink" Target="https://youtu.be/gCP06CTpEaE" TargetMode="External"/><Relationship Id="rId2" Type="http://schemas.openxmlformats.org/officeDocument/2006/relationships/hyperlink" Target="https://www.youtube.com/watch?v=RH0p7DYyMn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expertvision.com/2020/10/18/comparison-based-sorting-ca/" TargetMode="External"/><Relationship Id="rId5" Type="http://schemas.openxmlformats.org/officeDocument/2006/relationships/hyperlink" Target="https://www.youtube.com/watch?v=x1dJx89Elf0" TargetMode="External"/><Relationship Id="rId4" Type="http://schemas.openxmlformats.org/officeDocument/2006/relationships/hyperlink" Target="https://youtu.be/HEZdrU8ZPI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4">
            <a:extLst>
              <a:ext uri="{FF2B5EF4-FFF2-40B4-BE49-F238E27FC236}">
                <a16:creationId xmlns:a16="http://schemas.microsoft.com/office/drawing/2014/main" id="{EB6C79D3-F675-7BAB-0B56-F15F4D279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276475"/>
            <a:ext cx="4572000" cy="1200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IN" altLang="en-US" sz="2400" b="1"/>
              <a:t>MERGE SORT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IN" altLang="en-US" sz="2400" b="1"/>
              <a:t>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IN" altLang="en-US" sz="2400" b="1"/>
              <a:t>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3939B62-0F23-0D27-28CB-5E3CDBDCD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4406900" cy="685800"/>
          </a:xfrm>
          <a:solidFill>
            <a:schemeClr val="accent2"/>
          </a:solidFill>
        </p:spPr>
        <p:txBody>
          <a:bodyPr/>
          <a:lstStyle/>
          <a:p>
            <a:br>
              <a:rPr lang="en-US" altLang="en-US" sz="2800">
                <a:sym typeface="Symbol" panose="05050102010706020507" pitchFamily="18" charset="2"/>
              </a:rPr>
            </a:br>
            <a:r>
              <a:rPr lang="en-US" altLang="en-US" sz="2800">
                <a:sym typeface="Symbol" panose="05050102010706020507" pitchFamily="18" charset="2"/>
              </a:rPr>
              <a:t>Divide and Conquer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673FA65-2F40-E29C-93B5-05C38EBDFC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It is often easier to </a:t>
            </a:r>
            <a:r>
              <a:rPr lang="en-US" altLang="en-US" i="1">
                <a:sym typeface="Symbol" panose="05050102010706020507" pitchFamily="18" charset="2"/>
              </a:rPr>
              <a:t>solve several small instances</a:t>
            </a:r>
            <a:r>
              <a:rPr lang="en-US" altLang="en-US">
                <a:sym typeface="Symbol" panose="05050102010706020507" pitchFamily="18" charset="2"/>
              </a:rPr>
              <a:t> of a problem than one large one.</a:t>
            </a:r>
          </a:p>
          <a:p>
            <a:pPr lvl="2">
              <a:lnSpc>
                <a:spcPct val="90000"/>
              </a:lnSpc>
            </a:pPr>
            <a:r>
              <a:rPr lang="en-US" altLang="en-US" i="1">
                <a:sym typeface="Symbol" panose="05050102010706020507" pitchFamily="18" charset="2"/>
              </a:rPr>
              <a:t>divide</a:t>
            </a:r>
            <a:r>
              <a:rPr lang="en-US" altLang="en-US">
                <a:sym typeface="Symbol" panose="05050102010706020507" pitchFamily="18" charset="2"/>
              </a:rPr>
              <a:t> the problem into smaller instances of the same problem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solve (</a:t>
            </a:r>
            <a:r>
              <a:rPr lang="en-US" altLang="en-US" i="1">
                <a:sym typeface="Symbol" panose="05050102010706020507" pitchFamily="18" charset="2"/>
              </a:rPr>
              <a:t>conquer</a:t>
            </a:r>
            <a:r>
              <a:rPr lang="en-US" altLang="en-US">
                <a:sym typeface="Symbol" panose="05050102010706020507" pitchFamily="18" charset="2"/>
              </a:rPr>
              <a:t>) the smaller instances recursively</a:t>
            </a:r>
          </a:p>
          <a:p>
            <a:pPr lvl="2">
              <a:lnSpc>
                <a:spcPct val="90000"/>
              </a:lnSpc>
            </a:pPr>
            <a:r>
              <a:rPr lang="en-US" altLang="en-US" i="1">
                <a:sym typeface="Symbol" panose="05050102010706020507" pitchFamily="18" charset="2"/>
              </a:rPr>
              <a:t>combine</a:t>
            </a:r>
            <a:r>
              <a:rPr lang="en-US" altLang="en-US">
                <a:sym typeface="Symbol" panose="05050102010706020507" pitchFamily="18" charset="2"/>
              </a:rPr>
              <a:t> the solutions to obtain the solution for original input</a:t>
            </a:r>
          </a:p>
          <a:p>
            <a:pPr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Solve(I)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n = size(I)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if (n &lt;= smallsize)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solution = directlySolve(I);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else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divide I into I1, …, Ik.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for each i in {1, …, k}</a:t>
            </a:r>
          </a:p>
          <a:p>
            <a:pPr lvl="3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Si = solve(Ii);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solution = combine(S1, …, Sk);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return solution;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 descr="X:\nakul1\7image13.jpg">
            <a:extLst>
              <a:ext uri="{FF2B5EF4-FFF2-40B4-BE49-F238E27FC236}">
                <a16:creationId xmlns:a16="http://schemas.microsoft.com/office/drawing/2014/main" id="{4E877A81-64BD-CCDF-917B-ED912321C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2" r="10185" b="13889"/>
          <a:stretch>
            <a:fillRect/>
          </a:stretch>
        </p:blipFill>
        <p:spPr bwMode="auto">
          <a:xfrm>
            <a:off x="827088" y="1268413"/>
            <a:ext cx="8001000" cy="55118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2">
            <a:extLst>
              <a:ext uri="{FF2B5EF4-FFF2-40B4-BE49-F238E27FC236}">
                <a16:creationId xmlns:a16="http://schemas.microsoft.com/office/drawing/2014/main" id="{68E8DDE4-7752-F57C-E57F-01214652E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392113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altLang="en-US" sz="2400">
                <a:sym typeface="Symbol" panose="05050102010706020507" pitchFamily="18" charset="2"/>
              </a:rPr>
              <a:t>Mergesort : Using Divide and Conquer 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611EBB3-A955-C95E-1DCD-7A53103FB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32138" y="836613"/>
            <a:ext cx="3455987" cy="576262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0" indent="0" algn="ctr">
              <a:buFontTx/>
              <a:buNone/>
              <a:defRPr/>
            </a:pPr>
            <a:r>
              <a:rPr lang="en-US" altLang="en-US" dirty="0" err="1"/>
              <a:t>Mergesort</a:t>
            </a:r>
            <a:r>
              <a:rPr lang="en-US" altLang="en-US" dirty="0"/>
              <a:t> 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4" descr="X:\nakul1\7image13.jpg">
            <a:extLst>
              <a:ext uri="{FF2B5EF4-FFF2-40B4-BE49-F238E27FC236}">
                <a16:creationId xmlns:a16="http://schemas.microsoft.com/office/drawing/2014/main" id="{8B1FDA43-F5D2-F134-F405-D3EFCE6F3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2" r="10185" b="13889"/>
          <a:stretch>
            <a:fillRect/>
          </a:stretch>
        </p:blipFill>
        <p:spPr bwMode="auto">
          <a:xfrm>
            <a:off x="6800850" y="112713"/>
            <a:ext cx="225583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2">
            <a:extLst>
              <a:ext uri="{FF2B5EF4-FFF2-40B4-BE49-F238E27FC236}">
                <a16:creationId xmlns:a16="http://schemas.microsoft.com/office/drawing/2014/main" id="{A2E63D19-3E6D-A1BE-0C4F-5CBF1E595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06688" y="96838"/>
            <a:ext cx="3975100" cy="320675"/>
          </a:xfrm>
          <a:solidFill>
            <a:schemeClr val="accent1"/>
          </a:solidFill>
        </p:spPr>
        <p:txBody>
          <a:bodyPr/>
          <a:lstStyle/>
          <a:p>
            <a:r>
              <a:rPr lang="en-US" altLang="en-US" sz="1600">
                <a:sym typeface="Symbol" panose="05050102010706020507" pitchFamily="18" charset="2"/>
              </a:rPr>
              <a:t>Using Divide and Conquer: Mergesort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6929FE75-BD1E-AD2A-F5E3-AB4814A4D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81363" y="515938"/>
            <a:ext cx="2463800" cy="427037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altLang="en-US" sz="2000" dirty="0" err="1"/>
              <a:t>Mergesort</a:t>
            </a:r>
            <a:r>
              <a:rPr lang="en-US" altLang="en-US" sz="2000" dirty="0"/>
              <a:t> Strategy</a:t>
            </a:r>
          </a:p>
        </p:txBody>
      </p:sp>
      <p:grpSp>
        <p:nvGrpSpPr>
          <p:cNvPr id="8197" name="Group 30">
            <a:extLst>
              <a:ext uri="{FF2B5EF4-FFF2-40B4-BE49-F238E27FC236}">
                <a16:creationId xmlns:a16="http://schemas.microsoft.com/office/drawing/2014/main" id="{9C8FE1E7-53BB-BFA3-1996-DD2278BF8E79}"/>
              </a:ext>
            </a:extLst>
          </p:cNvPr>
          <p:cNvGrpSpPr>
            <a:grpSpLocks/>
          </p:cNvGrpSpPr>
          <p:nvPr/>
        </p:nvGrpSpPr>
        <p:grpSpPr bwMode="auto">
          <a:xfrm>
            <a:off x="282575" y="1409700"/>
            <a:ext cx="6337300" cy="1927225"/>
            <a:chOff x="381000" y="1600200"/>
            <a:chExt cx="6336704" cy="192631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1B34E3-8C4F-2E15-8500-C14F4A15DA51}"/>
                </a:ext>
              </a:extLst>
            </p:cNvPr>
            <p:cNvSpPr/>
            <p:nvPr/>
          </p:nvSpPr>
          <p:spPr bwMode="auto">
            <a:xfrm>
              <a:off x="381000" y="2656974"/>
              <a:ext cx="1382583" cy="141221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B38D4B2-7089-0C23-C7CE-4347C251A35B}"/>
                </a:ext>
              </a:extLst>
            </p:cNvPr>
            <p:cNvSpPr/>
            <p:nvPr/>
          </p:nvSpPr>
          <p:spPr bwMode="auto">
            <a:xfrm>
              <a:off x="5298612" y="2652214"/>
              <a:ext cx="1384170" cy="1412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IN"/>
            </a:p>
          </p:txBody>
        </p:sp>
        <p:grpSp>
          <p:nvGrpSpPr>
            <p:cNvPr id="8226" name="Group 33">
              <a:extLst>
                <a:ext uri="{FF2B5EF4-FFF2-40B4-BE49-F238E27FC236}">
                  <a16:creationId xmlns:a16="http://schemas.microsoft.com/office/drawing/2014/main" id="{0AE71A1E-C8F3-6990-A2DF-4CD53D0BFA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" y="1600200"/>
              <a:ext cx="6336704" cy="1926312"/>
              <a:chOff x="381000" y="1538827"/>
              <a:chExt cx="6336704" cy="1926312"/>
            </a:xfrm>
          </p:grpSpPr>
          <p:sp>
            <p:nvSpPr>
              <p:cNvPr id="8227" name="Rectangle 34">
                <a:extLst>
                  <a:ext uri="{FF2B5EF4-FFF2-40B4-BE49-F238E27FC236}">
                    <a16:creationId xmlns:a16="http://schemas.microsoft.com/office/drawing/2014/main" id="{A1797305-6FC0-CB65-8217-9510F4058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" y="2060848"/>
                <a:ext cx="3077194" cy="142136"/>
              </a:xfrm>
              <a:prstGeom prst="rect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Font typeface="Wingdings" panose="05000000000000000000" pitchFamily="2" charset="2"/>
                  <a:buChar char="Q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Font typeface="MT Extra" panose="05050102010205020202" pitchFamily="18" charset="2"/>
                  <a:buChar char="f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–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–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–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–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IN" altLang="en-US" sz="240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52E9E0-36D0-791B-E4CA-F80CFA56AB9F}"/>
                  </a:ext>
                </a:extLst>
              </p:cNvPr>
              <p:cNvSpPr/>
              <p:nvPr/>
            </p:nvSpPr>
            <p:spPr bwMode="auto">
              <a:xfrm>
                <a:off x="3611259" y="2062454"/>
                <a:ext cx="3106445" cy="14280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IN"/>
              </a:p>
            </p:txBody>
          </p:sp>
          <p:grpSp>
            <p:nvGrpSpPr>
              <p:cNvPr id="8229" name="Group 36">
                <a:extLst>
                  <a:ext uri="{FF2B5EF4-FFF2-40B4-BE49-F238E27FC236}">
                    <a16:creationId xmlns:a16="http://schemas.microsoft.com/office/drawing/2014/main" id="{03E8097C-5CE6-7F88-4164-C56E2A7030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1000" y="1538827"/>
                <a:ext cx="6336704" cy="1926312"/>
                <a:chOff x="381000" y="1574696"/>
                <a:chExt cx="6336704" cy="1926312"/>
              </a:xfrm>
            </p:grpSpPr>
            <p:sp>
              <p:nvSpPr>
                <p:cNvPr id="8230" name="Rectangle 37">
                  <a:extLst>
                    <a:ext uri="{FF2B5EF4-FFF2-40B4-BE49-F238E27FC236}">
                      <a16:creationId xmlns:a16="http://schemas.microsoft.com/office/drawing/2014/main" id="{A0CCC406-86AE-A552-CBB1-3E109BFEDD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1000" y="1574696"/>
                  <a:ext cx="6336704" cy="144016"/>
                </a:xfrm>
                <a:prstGeom prst="rect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736C3F4C-F2B0-B678-C2B8-B8412905E511}"/>
                    </a:ext>
                  </a:extLst>
                </p:cNvPr>
                <p:cNvSpPr/>
                <p:nvPr/>
              </p:nvSpPr>
              <p:spPr bwMode="auto">
                <a:xfrm>
                  <a:off x="2076291" y="2652098"/>
                  <a:ext cx="1382583" cy="141220"/>
                </a:xfrm>
                <a:prstGeom prst="rect">
                  <a:avLst/>
                </a:prstGeom>
                <a:solidFill>
                  <a:schemeClr val="accent6">
                    <a:lumMod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IN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FDB77F86-0E0B-26F6-0D4A-B2D711099D23}"/>
                    </a:ext>
                  </a:extLst>
                </p:cNvPr>
                <p:cNvSpPr/>
                <p:nvPr/>
              </p:nvSpPr>
              <p:spPr bwMode="auto">
                <a:xfrm>
                  <a:off x="3652530" y="2652098"/>
                  <a:ext cx="1382582" cy="141220"/>
                </a:xfrm>
                <a:prstGeom prst="rect">
                  <a:avLst/>
                </a:prstGeom>
                <a:solidFill>
                  <a:schemeClr val="accent6">
                    <a:lumMod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IN"/>
                </a:p>
              </p:txBody>
            </p:sp>
            <p:sp>
              <p:nvSpPr>
                <p:cNvPr id="8233" name="Rectangle 40">
                  <a:extLst>
                    <a:ext uri="{FF2B5EF4-FFF2-40B4-BE49-F238E27FC236}">
                      <a16:creationId xmlns:a16="http://schemas.microsoft.com/office/drawing/2014/main" id="{E264A1D8-23DA-A68D-3F49-D452ABB769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6030" y="3141412"/>
                  <a:ext cx="441040" cy="319942"/>
                </a:xfrm>
                <a:prstGeom prst="rect">
                  <a:avLst/>
                </a:prstGeom>
                <a:solidFill>
                  <a:srgbClr val="66CCFF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8234" name="Rectangle 41">
                  <a:extLst>
                    <a:ext uri="{FF2B5EF4-FFF2-40B4-BE49-F238E27FC236}">
                      <a16:creationId xmlns:a16="http://schemas.microsoft.com/office/drawing/2014/main" id="{45C06CF1-B43C-F0FB-8D6F-249E9DF751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5561" y="3141412"/>
                  <a:ext cx="441040" cy="319942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8235" name="Rectangle 42">
                  <a:extLst>
                    <a:ext uri="{FF2B5EF4-FFF2-40B4-BE49-F238E27FC236}">
                      <a16:creationId xmlns:a16="http://schemas.microsoft.com/office/drawing/2014/main" id="{31CDB56E-08A3-E1E5-3EA9-4DFB18C9D1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94872" y="3161760"/>
                  <a:ext cx="441040" cy="319942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8236" name="Rectangle 43">
                  <a:extLst>
                    <a:ext uri="{FF2B5EF4-FFF2-40B4-BE49-F238E27FC236}">
                      <a16:creationId xmlns:a16="http://schemas.microsoft.com/office/drawing/2014/main" id="{B4B3C6CB-5138-B509-5743-1814B7CEC6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3370" y="3181066"/>
                  <a:ext cx="441040" cy="319942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8237" name="Rectangle 44">
                  <a:extLst>
                    <a:ext uri="{FF2B5EF4-FFF2-40B4-BE49-F238E27FC236}">
                      <a16:creationId xmlns:a16="http://schemas.microsoft.com/office/drawing/2014/main" id="{2B4B4E13-7B51-B68F-08C8-A98517370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49378" y="3181066"/>
                  <a:ext cx="441040" cy="319942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8238" name="Rectangle 45">
                  <a:extLst>
                    <a:ext uri="{FF2B5EF4-FFF2-40B4-BE49-F238E27FC236}">
                      <a16:creationId xmlns:a16="http://schemas.microsoft.com/office/drawing/2014/main" id="{A2496D94-8BC0-8619-5111-80C0301D57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654" y="3171275"/>
                  <a:ext cx="441040" cy="319942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8239" name="Rectangle 46">
                  <a:extLst>
                    <a:ext uri="{FF2B5EF4-FFF2-40B4-BE49-F238E27FC236}">
                      <a16:creationId xmlns:a16="http://schemas.microsoft.com/office/drawing/2014/main" id="{47372757-CD8B-F606-575D-DFF1AC645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49616" y="3181066"/>
                  <a:ext cx="441040" cy="319942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8240" name="Rectangle 47">
                  <a:extLst>
                    <a:ext uri="{FF2B5EF4-FFF2-40B4-BE49-F238E27FC236}">
                      <a16:creationId xmlns:a16="http://schemas.microsoft.com/office/drawing/2014/main" id="{9D41016C-C4B2-A1DA-5C18-ACE2DF5A50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4330" y="3180818"/>
                  <a:ext cx="441040" cy="319942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cxnSp>
              <p:nvCxnSpPr>
                <p:cNvPr id="8241" name="Straight Arrow Connector 48">
                  <a:extLst>
                    <a:ext uri="{FF2B5EF4-FFF2-40B4-BE49-F238E27FC236}">
                      <a16:creationId xmlns:a16="http://schemas.microsoft.com/office/drawing/2014/main" id="{57D5F0DB-2FAA-7D1D-1A9A-B31EDEE5E9F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549352" y="1844824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242" name="Straight Arrow Connector 49">
                  <a:extLst>
                    <a:ext uri="{FF2B5EF4-FFF2-40B4-BE49-F238E27FC236}">
                      <a16:creationId xmlns:a16="http://schemas.microsoft.com/office/drawing/2014/main" id="{D3F55158-D43F-3E2E-44DA-D6E4BA843E3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919597" y="2435427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243" name="Straight Arrow Connector 50">
                  <a:extLst>
                    <a:ext uri="{FF2B5EF4-FFF2-40B4-BE49-F238E27FC236}">
                      <a16:creationId xmlns:a16="http://schemas.microsoft.com/office/drawing/2014/main" id="{AF9785DA-9ED7-FACB-EB7F-F3F40672508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157923" y="2427383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244" name="Straight Arrow Connector 51">
                  <a:extLst>
                    <a:ext uri="{FF2B5EF4-FFF2-40B4-BE49-F238E27FC236}">
                      <a16:creationId xmlns:a16="http://schemas.microsoft.com/office/drawing/2014/main" id="{FEFC4972-1E9F-E240-4F31-A109EC9EC6A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15616" y="2925388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245" name="Straight Arrow Connector 52">
                  <a:extLst>
                    <a:ext uri="{FF2B5EF4-FFF2-40B4-BE49-F238E27FC236}">
                      <a16:creationId xmlns:a16="http://schemas.microsoft.com/office/drawing/2014/main" id="{40D286E6-6BA7-BC8C-ED6D-5E4F80134C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818080" y="2945736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246" name="Straight Arrow Connector 53">
                  <a:extLst>
                    <a:ext uri="{FF2B5EF4-FFF2-40B4-BE49-F238E27FC236}">
                      <a16:creationId xmlns:a16="http://schemas.microsoft.com/office/drawing/2014/main" id="{4E0409E7-A7FB-D56B-1F92-4F522B05E75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427984" y="2924944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247" name="Straight Arrow Connector 54">
                  <a:extLst>
                    <a:ext uri="{FF2B5EF4-FFF2-40B4-BE49-F238E27FC236}">
                      <a16:creationId xmlns:a16="http://schemas.microsoft.com/office/drawing/2014/main" id="{5095BEBE-582C-3E51-2557-6F346777946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6012160" y="2916900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grpSp>
        <p:nvGrpSpPr>
          <p:cNvPr id="8198" name="Group 7174">
            <a:extLst>
              <a:ext uri="{FF2B5EF4-FFF2-40B4-BE49-F238E27FC236}">
                <a16:creationId xmlns:a16="http://schemas.microsoft.com/office/drawing/2014/main" id="{077EAD9C-D081-7A3D-068B-5EE0C82A7B08}"/>
              </a:ext>
            </a:extLst>
          </p:cNvPr>
          <p:cNvGrpSpPr>
            <a:grpSpLocks/>
          </p:cNvGrpSpPr>
          <p:nvPr/>
        </p:nvGrpSpPr>
        <p:grpSpPr bwMode="auto">
          <a:xfrm>
            <a:off x="2282825" y="4613275"/>
            <a:ext cx="6337300" cy="1925638"/>
            <a:chOff x="1680880" y="4184522"/>
            <a:chExt cx="6336704" cy="1926312"/>
          </a:xfrm>
        </p:grpSpPr>
        <p:grpSp>
          <p:nvGrpSpPr>
            <p:cNvPr id="8199" name="Group 29">
              <a:extLst>
                <a:ext uri="{FF2B5EF4-FFF2-40B4-BE49-F238E27FC236}">
                  <a16:creationId xmlns:a16="http://schemas.microsoft.com/office/drawing/2014/main" id="{9A8752D9-4AA0-BBE1-E2E2-DBE559A091C5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680880" y="4184522"/>
              <a:ext cx="6336704" cy="1926312"/>
              <a:chOff x="381000" y="1600200"/>
              <a:chExt cx="6336704" cy="192631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DEDF691-B026-F551-5DEC-8D2FCC848898}"/>
                  </a:ext>
                </a:extLst>
              </p:cNvPr>
              <p:cNvSpPr/>
              <p:nvPr/>
            </p:nvSpPr>
            <p:spPr bwMode="auto">
              <a:xfrm>
                <a:off x="387349" y="2649905"/>
                <a:ext cx="1382582" cy="142925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IN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62F30F9-298A-B14D-D161-FFEF71035B71}"/>
                  </a:ext>
                </a:extLst>
              </p:cNvPr>
              <p:cNvSpPr/>
              <p:nvPr/>
            </p:nvSpPr>
            <p:spPr bwMode="auto">
              <a:xfrm>
                <a:off x="5298612" y="2651493"/>
                <a:ext cx="1384170" cy="141337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IN"/>
              </a:p>
            </p:txBody>
          </p:sp>
          <p:grpSp>
            <p:nvGrpSpPr>
              <p:cNvPr id="8209" name="Group 28">
                <a:extLst>
                  <a:ext uri="{FF2B5EF4-FFF2-40B4-BE49-F238E27FC236}">
                    <a16:creationId xmlns:a16="http://schemas.microsoft.com/office/drawing/2014/main" id="{9AD1280C-9AE6-04CC-BC70-5F9050055B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1000" y="1600200"/>
                <a:ext cx="6336704" cy="1926312"/>
                <a:chOff x="381000" y="1538827"/>
                <a:chExt cx="6336704" cy="1926312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571FF498-6748-DF18-21B9-40DBB285B69C}"/>
                    </a:ext>
                  </a:extLst>
                </p:cNvPr>
                <p:cNvSpPr/>
                <p:nvPr/>
              </p:nvSpPr>
              <p:spPr bwMode="auto">
                <a:xfrm>
                  <a:off x="387349" y="2061298"/>
                  <a:ext cx="3077873" cy="14133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IN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2B8D648D-328E-3F94-7132-97492231CB5F}"/>
                    </a:ext>
                  </a:extLst>
                </p:cNvPr>
                <p:cNvSpPr/>
                <p:nvPr/>
              </p:nvSpPr>
              <p:spPr bwMode="auto">
                <a:xfrm>
                  <a:off x="3617608" y="2062885"/>
                  <a:ext cx="3106446" cy="14133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IN"/>
                </a:p>
              </p:txBody>
            </p:sp>
            <p:grpSp>
              <p:nvGrpSpPr>
                <p:cNvPr id="8212" name="Group 27">
                  <a:extLst>
                    <a:ext uri="{FF2B5EF4-FFF2-40B4-BE49-F238E27FC236}">
                      <a16:creationId xmlns:a16="http://schemas.microsoft.com/office/drawing/2014/main" id="{D50F8A5A-B97F-AE83-D146-8B285C83FFD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1000" y="1538827"/>
                  <a:ext cx="6336704" cy="1926312"/>
                  <a:chOff x="381000" y="1574696"/>
                  <a:chExt cx="6336704" cy="1926312"/>
                </a:xfrm>
              </p:grpSpPr>
              <p:sp>
                <p:nvSpPr>
                  <p:cNvPr id="8213" name="Rectangle 2">
                    <a:extLst>
                      <a:ext uri="{FF2B5EF4-FFF2-40B4-BE49-F238E27FC236}">
                        <a16:creationId xmlns:a16="http://schemas.microsoft.com/office/drawing/2014/main" id="{BDAE9BD4-59C5-7279-24BD-3483F6B119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1000" y="1574696"/>
                    <a:ext cx="6336704" cy="14401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1EBD3D80-6797-7455-A4BF-88BE7BD0FD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8989" y="2645046"/>
                    <a:ext cx="1382582" cy="142925"/>
                  </a:xfrm>
                  <a:prstGeom prst="rect">
                    <a:avLst/>
                  </a:prstGeom>
                  <a:solidFill>
                    <a:schemeClr val="accent6">
                      <a:lumMod val="50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lIns="90000" tIns="46800" rIns="90000" bIns="46800" anchor="ctr"/>
                  <a:lstStyle/>
                  <a:p>
                    <a:pPr>
                      <a:defRPr/>
                    </a:pPr>
                    <a:endParaRPr lang="en-IN"/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B67350EF-AD16-E01B-A7C8-B800E884DB8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65228" y="2645046"/>
                    <a:ext cx="1382583" cy="142925"/>
                  </a:xfrm>
                  <a:prstGeom prst="rect">
                    <a:avLst/>
                  </a:prstGeom>
                  <a:solidFill>
                    <a:schemeClr val="accent6">
                      <a:lumMod val="50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lIns="90000" tIns="46800" rIns="90000" bIns="46800" anchor="ctr"/>
                  <a:lstStyle/>
                  <a:p>
                    <a:pPr>
                      <a:defRPr/>
                    </a:pPr>
                    <a:endParaRPr lang="en-IN"/>
                  </a:p>
                </p:txBody>
              </p:sp>
              <p:sp>
                <p:nvSpPr>
                  <p:cNvPr id="8216" name="Rectangle 9">
                    <a:extLst>
                      <a:ext uri="{FF2B5EF4-FFF2-40B4-BE49-F238E27FC236}">
                        <a16:creationId xmlns:a16="http://schemas.microsoft.com/office/drawing/2014/main" id="{0801C14D-3BE2-F33E-93F6-F1B84E727D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6030" y="3141412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8217" name="Rectangle 11">
                    <a:extLst>
                      <a:ext uri="{FF2B5EF4-FFF2-40B4-BE49-F238E27FC236}">
                        <a16:creationId xmlns:a16="http://schemas.microsoft.com/office/drawing/2014/main" id="{FBB9D676-B3E8-8FC8-94CF-E0B52CEC8D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85561" y="3141412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8218" name="Rectangle 13">
                    <a:extLst>
                      <a:ext uri="{FF2B5EF4-FFF2-40B4-BE49-F238E27FC236}">
                        <a16:creationId xmlns:a16="http://schemas.microsoft.com/office/drawing/2014/main" id="{03496F14-17A6-AD9F-8AB1-0113645816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4872" y="3161760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8219" name="Rectangle 14">
                    <a:extLst>
                      <a:ext uri="{FF2B5EF4-FFF2-40B4-BE49-F238E27FC236}">
                        <a16:creationId xmlns:a16="http://schemas.microsoft.com/office/drawing/2014/main" id="{EFF8DCC0-EF13-88E7-70C5-5CA47D0AD5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93370" y="3181066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8220" name="Rectangle 15">
                    <a:extLst>
                      <a:ext uri="{FF2B5EF4-FFF2-40B4-BE49-F238E27FC236}">
                        <a16:creationId xmlns:a16="http://schemas.microsoft.com/office/drawing/2014/main" id="{8331C3AE-7D46-7471-AF46-A6BA95F07C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49378" y="3181066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8221" name="Rectangle 16">
                    <a:extLst>
                      <a:ext uri="{FF2B5EF4-FFF2-40B4-BE49-F238E27FC236}">
                        <a16:creationId xmlns:a16="http://schemas.microsoft.com/office/drawing/2014/main" id="{696C5788-E7E4-FF9D-1E53-418EB38802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7654" y="3171275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8222" name="Rectangle 17">
                    <a:extLst>
                      <a:ext uri="{FF2B5EF4-FFF2-40B4-BE49-F238E27FC236}">
                        <a16:creationId xmlns:a16="http://schemas.microsoft.com/office/drawing/2014/main" id="{93E59741-5D5E-E9CB-42B8-A42763FAB2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9616" y="3181066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8223" name="Rectangle 18">
                    <a:extLst>
                      <a:ext uri="{FF2B5EF4-FFF2-40B4-BE49-F238E27FC236}">
                        <a16:creationId xmlns:a16="http://schemas.microsoft.com/office/drawing/2014/main" id="{A2A5DBF3-8AC3-9F34-8D28-2DB5663578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4330" y="3180818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</p:grpSp>
          </p:grpSp>
        </p:grpSp>
        <p:cxnSp>
          <p:nvCxnSpPr>
            <p:cNvPr id="8200" name="Straight Arrow Connector 57">
              <a:extLst>
                <a:ext uri="{FF2B5EF4-FFF2-40B4-BE49-F238E27FC236}">
                  <a16:creationId xmlns:a16="http://schemas.microsoft.com/office/drawing/2014/main" id="{AEA2C389-0A07-DFCC-2375-02B5DBE999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68488" y="4509120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01" name="Straight Arrow Connector 61">
              <a:extLst>
                <a:ext uri="{FF2B5EF4-FFF2-40B4-BE49-F238E27FC236}">
                  <a16:creationId xmlns:a16="http://schemas.microsoft.com/office/drawing/2014/main" id="{488D1B47-B887-D97A-58C1-DC4A6D3164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75856" y="5013176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02" name="Straight Arrow Connector 62">
              <a:extLst>
                <a:ext uri="{FF2B5EF4-FFF2-40B4-BE49-F238E27FC236}">
                  <a16:creationId xmlns:a16="http://schemas.microsoft.com/office/drawing/2014/main" id="{6B529C53-2782-02F3-ADD4-81134AF5A3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95936" y="4509120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03" name="Straight Arrow Connector 7167">
              <a:extLst>
                <a:ext uri="{FF2B5EF4-FFF2-40B4-BE49-F238E27FC236}">
                  <a16:creationId xmlns:a16="http://schemas.microsoft.com/office/drawing/2014/main" id="{6A5208F7-BF55-7267-9B87-3C178CDB91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08304" y="4509120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04" name="Straight Arrow Connector 7168">
              <a:extLst>
                <a:ext uri="{FF2B5EF4-FFF2-40B4-BE49-F238E27FC236}">
                  <a16:creationId xmlns:a16="http://schemas.microsoft.com/office/drawing/2014/main" id="{35930EAB-B4DD-1339-CECD-CEABEE82C5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80112" y="4509120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05" name="Straight Arrow Connector 7172">
              <a:extLst>
                <a:ext uri="{FF2B5EF4-FFF2-40B4-BE49-F238E27FC236}">
                  <a16:creationId xmlns:a16="http://schemas.microsoft.com/office/drawing/2014/main" id="{3D9FC53A-C426-883C-180C-872E63B1E2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16216" y="5013176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06" name="Straight Arrow Connector 7173">
              <a:extLst>
                <a:ext uri="{FF2B5EF4-FFF2-40B4-BE49-F238E27FC236}">
                  <a16:creationId xmlns:a16="http://schemas.microsoft.com/office/drawing/2014/main" id="{82F1EDAA-1FB9-AEF3-FF09-A0FBB1834E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60032" y="5589240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D6B648E-FD41-1827-D372-7467F8D98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altLang="en-US"/>
              <a:t>Algorithm: Mergesort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251E519-8760-FEE5-3499-200CBA5E0B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882900"/>
            <a:ext cx="5040312" cy="37465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  <a:defRPr/>
            </a:pPr>
            <a:r>
              <a:rPr lang="en-US" altLang="en-US" sz="2400" b="1" u="sng" dirty="0"/>
              <a:t>Pseudocode for </a:t>
            </a:r>
            <a:r>
              <a:rPr lang="en-US" altLang="en-US" sz="2400" b="1" u="sng" dirty="0" err="1"/>
              <a:t>MergeSort</a:t>
            </a:r>
            <a:endParaRPr lang="en-US" altLang="en-US" sz="2400" b="1" u="sng" dirty="0"/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br>
              <a:rPr lang="en-US" altLang="en-US" dirty="0"/>
            </a:br>
            <a:r>
              <a:rPr lang="en-US" altLang="en-US" dirty="0"/>
              <a:t>MERGESORT(</a:t>
            </a:r>
            <a:r>
              <a:rPr lang="en-US" altLang="en-US" i="1" dirty="0"/>
              <a:t>A</a:t>
            </a:r>
            <a:r>
              <a:rPr lang="en-US" altLang="en-US" dirty="0"/>
              <a:t>, </a:t>
            </a:r>
            <a:r>
              <a:rPr lang="en-US" altLang="en-US" i="1" dirty="0"/>
              <a:t>p, r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b="1" dirty="0"/>
              <a:t>if  </a:t>
            </a:r>
            <a:r>
              <a:rPr lang="en-US" altLang="en-US" i="1" dirty="0"/>
              <a:t>p</a:t>
            </a:r>
            <a:r>
              <a:rPr lang="en-US" altLang="en-US" dirty="0"/>
              <a:t>&lt; </a:t>
            </a:r>
            <a:r>
              <a:rPr lang="en-US" altLang="en-US" i="1" dirty="0"/>
              <a:t>r</a:t>
            </a:r>
            <a:br>
              <a:rPr lang="en-US" altLang="en-US" dirty="0"/>
            </a:br>
            <a:r>
              <a:rPr lang="en-US" altLang="en-US" dirty="0"/>
              <a:t>    </a:t>
            </a:r>
            <a:r>
              <a:rPr lang="en-US" altLang="en-US" b="1" dirty="0"/>
              <a:t>then </a:t>
            </a:r>
            <a:r>
              <a:rPr lang="en-US" altLang="en-US" i="1" dirty="0"/>
              <a:t>q</a:t>
            </a:r>
            <a:r>
              <a:rPr lang="en-US" altLang="en-US" dirty="0"/>
              <a:t>← floor[(</a:t>
            </a:r>
            <a:r>
              <a:rPr lang="en-US" altLang="en-US" dirty="0" err="1"/>
              <a:t>p+r</a:t>
            </a:r>
            <a:r>
              <a:rPr lang="en-US" altLang="en-US" dirty="0"/>
              <a:t>)/2]</a:t>
            </a: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r>
              <a:rPr lang="en-US" altLang="en-US" dirty="0"/>
              <a:t>	MERGESORT(</a:t>
            </a:r>
            <a:r>
              <a:rPr lang="en-US" altLang="en-US" i="1" dirty="0"/>
              <a:t>A</a:t>
            </a:r>
            <a:r>
              <a:rPr lang="en-US" altLang="en-US" dirty="0"/>
              <a:t>, </a:t>
            </a:r>
            <a:r>
              <a:rPr lang="en-US" altLang="en-US" i="1" dirty="0"/>
              <a:t>p, q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	MERGESORT(</a:t>
            </a:r>
            <a:r>
              <a:rPr lang="en-US" altLang="en-US" i="1" dirty="0"/>
              <a:t>A</a:t>
            </a:r>
            <a:r>
              <a:rPr lang="en-US" altLang="en-US" dirty="0"/>
              <a:t>,</a:t>
            </a:r>
            <a:r>
              <a:rPr lang="en-US" altLang="en-US" i="1" dirty="0"/>
              <a:t> q+1, r</a:t>
            </a:r>
            <a:r>
              <a:rPr lang="en-US" altLang="en-US" dirty="0"/>
              <a:t>)</a:t>
            </a: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r>
              <a:rPr lang="en-US" altLang="en-US" dirty="0"/>
              <a:t>       MERGE(</a:t>
            </a:r>
            <a:r>
              <a:rPr lang="en-US" altLang="en-US" dirty="0" err="1"/>
              <a:t>A,p,q,r</a:t>
            </a:r>
            <a:r>
              <a:rPr lang="en-US" altLang="en-US" dirty="0"/>
              <a:t>)</a:t>
            </a: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37659C-82E7-D56C-FFB6-BDC739C404A3}"/>
              </a:ext>
            </a:extLst>
          </p:cNvPr>
          <p:cNvSpPr txBox="1"/>
          <p:nvPr/>
        </p:nvSpPr>
        <p:spPr>
          <a:xfrm>
            <a:off x="381000" y="1268413"/>
            <a:ext cx="8318500" cy="1422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marL="450850" lvl="1" indent="-355600" algn="just">
              <a:lnSpc>
                <a:spcPct val="90000"/>
              </a:lnSpc>
              <a:defRPr/>
            </a:pPr>
            <a:r>
              <a:rPr lang="en-US" altLang="en-US" b="1" dirty="0"/>
              <a:t>Input</a:t>
            </a:r>
            <a:r>
              <a:rPr lang="en-US" altLang="en-US" dirty="0"/>
              <a:t>: Array A and indexes first (p) and last (r). </a:t>
            </a:r>
          </a:p>
          <a:p>
            <a:pPr marL="95250" lvl="1" algn="just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en-US" dirty="0"/>
          </a:p>
          <a:p>
            <a:pPr marL="450850" lvl="1" indent="-355600" algn="just">
              <a:lnSpc>
                <a:spcPct val="90000"/>
              </a:lnSpc>
              <a:defRPr/>
            </a:pPr>
            <a:r>
              <a:rPr lang="en-US" altLang="en-US" b="1" dirty="0"/>
              <a:t>Output</a:t>
            </a:r>
            <a:r>
              <a:rPr lang="en-US" altLang="en-US" dirty="0"/>
              <a:t>: A[first], …, A[last] is sorted rearrangement of the same elements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E9F75A7-97EB-1BF5-E86F-753520A47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700" y="404813"/>
            <a:ext cx="8229600" cy="396875"/>
          </a:xfrm>
          <a:solidFill>
            <a:schemeClr val="accent1"/>
          </a:solidFill>
        </p:spPr>
        <p:txBody>
          <a:bodyPr/>
          <a:lstStyle/>
          <a:p>
            <a:r>
              <a:rPr lang="en-US" altLang="en-US" sz="2000"/>
              <a:t>MERGE</a:t>
            </a:r>
            <a:r>
              <a:rPr lang="en-US" altLang="en-US" sz="2000" b="0"/>
              <a:t>(A,p,q,r)  - Merging Sorted Sequences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D82184C-7AB6-887F-431E-0CB155C5E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9275" y="2841625"/>
            <a:ext cx="7918450" cy="2303463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r>
              <a:rPr lang="en-US" altLang="en-US" dirty="0"/>
              <a:t>Strategy: </a:t>
            </a:r>
          </a:p>
          <a:p>
            <a:pPr lvl="1">
              <a:defRPr/>
            </a:pPr>
            <a:r>
              <a:rPr lang="en-US" altLang="en-US" dirty="0"/>
              <a:t>determine the first item in C: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altLang="en-US" b="0" dirty="0"/>
              <a:t>It is the minimum between the first items of A and B.</a:t>
            </a:r>
          </a:p>
          <a:p>
            <a:pPr lvl="1">
              <a:buFont typeface="Wingdings" panose="05000000000000000000" pitchFamily="2" charset="2"/>
              <a:buChar char="ü"/>
              <a:defRPr/>
            </a:pPr>
            <a:r>
              <a:rPr lang="en-US" altLang="en-US" b="0" dirty="0"/>
              <a:t>Suppose it is the first items of A. Then, rest of C consisting of merging rest of A with B.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4A9E6-7F34-FD73-B389-AB74ABD250B1}"/>
              </a:ext>
            </a:extLst>
          </p:cNvPr>
          <p:cNvSpPr txBox="1"/>
          <p:nvPr/>
        </p:nvSpPr>
        <p:spPr>
          <a:xfrm>
            <a:off x="549275" y="1412875"/>
            <a:ext cx="7918450" cy="10779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altLang="en-US" b="1" dirty="0"/>
              <a:t>Problem: </a:t>
            </a: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/>
              <a:t>Given two sequences A and B sorted in nondecreasing order, </a:t>
            </a:r>
          </a:p>
          <a:p>
            <a:pPr marL="800100" lvl="1" indent="-342900">
              <a:buFont typeface="Wingdings" panose="05000000000000000000" pitchFamily="2" charset="2"/>
              <a:buChar char="Ø"/>
              <a:defRPr/>
            </a:pPr>
            <a:r>
              <a:rPr lang="en-US" altLang="en-US" sz="2000" b="1" dirty="0"/>
              <a:t>merge them to create one sorted sequence C</a:t>
            </a:r>
          </a:p>
        </p:txBody>
      </p:sp>
      <p:sp>
        <p:nvSpPr>
          <p:cNvPr id="10245" name="TextBox 3">
            <a:extLst>
              <a:ext uri="{FF2B5EF4-FFF2-40B4-BE49-F238E27FC236}">
                <a16:creationId xmlns:a16="http://schemas.microsoft.com/office/drawing/2014/main" id="{D81D9A4B-15CC-44A2-8ECA-AA76D6F26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383213"/>
            <a:ext cx="7289800" cy="12001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/>
              <a:t>Example: A (12, 34, 38, 78) 		B( 2, 56, 87, 90, 98)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/>
              <a:t>	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/>
              <a:t>		C(2, 12, 34, 38, 56, 78, 87, 90, 98)</a:t>
            </a:r>
            <a:endParaRPr kumimoji="0" lang="en-I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>
            <a:extLst>
              <a:ext uri="{FF2B5EF4-FFF2-40B4-BE49-F238E27FC236}">
                <a16:creationId xmlns:a16="http://schemas.microsoft.com/office/drawing/2014/main" id="{CBE275DC-5015-D34A-462E-05D5EC77B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3" y="114300"/>
            <a:ext cx="9144000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67" name="Group 1">
            <a:extLst>
              <a:ext uri="{FF2B5EF4-FFF2-40B4-BE49-F238E27FC236}">
                <a16:creationId xmlns:a16="http://schemas.microsoft.com/office/drawing/2014/main" id="{FD2D8BFA-145C-E2A1-2ADB-CFFBFD3A32A0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549275"/>
            <a:ext cx="7808913" cy="1584325"/>
            <a:chOff x="381000" y="1600200"/>
            <a:chExt cx="6336704" cy="192631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B3BCAA2-7772-C758-F741-41CE5F5CB96E}"/>
                </a:ext>
              </a:extLst>
            </p:cNvPr>
            <p:cNvSpPr/>
            <p:nvPr/>
          </p:nvSpPr>
          <p:spPr bwMode="auto">
            <a:xfrm>
              <a:off x="381000" y="2656005"/>
              <a:ext cx="1382249" cy="14283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D81708B-A8DF-6578-7873-4E746BD810F9}"/>
                </a:ext>
              </a:extLst>
            </p:cNvPr>
            <p:cNvSpPr/>
            <p:nvPr/>
          </p:nvSpPr>
          <p:spPr bwMode="auto">
            <a:xfrm>
              <a:off x="5299385" y="2652145"/>
              <a:ext cx="1382249" cy="14090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en-IN"/>
            </a:p>
          </p:txBody>
        </p:sp>
        <p:grpSp>
          <p:nvGrpSpPr>
            <p:cNvPr id="11297" name="Group 4">
              <a:extLst>
                <a:ext uri="{FF2B5EF4-FFF2-40B4-BE49-F238E27FC236}">
                  <a16:creationId xmlns:a16="http://schemas.microsoft.com/office/drawing/2014/main" id="{25F215D4-1ECC-CEDF-3C65-932D35154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" y="1600200"/>
              <a:ext cx="6336704" cy="1926312"/>
              <a:chOff x="381000" y="1538827"/>
              <a:chExt cx="6336704" cy="1926312"/>
            </a:xfrm>
          </p:grpSpPr>
          <p:sp>
            <p:nvSpPr>
              <p:cNvPr id="11298" name="Rectangle 5">
                <a:extLst>
                  <a:ext uri="{FF2B5EF4-FFF2-40B4-BE49-F238E27FC236}">
                    <a16:creationId xmlns:a16="http://schemas.microsoft.com/office/drawing/2014/main" id="{988C356D-B453-323D-003C-501FF2B48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" y="2060848"/>
                <a:ext cx="3077194" cy="142136"/>
              </a:xfrm>
              <a:prstGeom prst="rect">
                <a:avLst/>
              </a:prstGeom>
              <a:solidFill>
                <a:schemeClr val="accent2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0000"/>
                  </a:buClr>
                  <a:buFont typeface="Wingdings" panose="05000000000000000000" pitchFamily="2" charset="2"/>
                  <a:buChar char="Q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sym typeface="MT Extra" panose="05050102010205020202" pitchFamily="18" charset="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0000"/>
                  </a:buClr>
                  <a:buFont typeface="MT Extra" panose="05050102010205020202" pitchFamily="18" charset="2"/>
                  <a:buChar char="f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0000"/>
                  </a:buClr>
                  <a:buChar char="–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–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–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–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00"/>
                  </a:buClr>
                  <a:buChar char="–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0" lang="en-IN" altLang="en-US" sz="240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00F25E4-9FAE-A82D-D51E-EEA327A3A422}"/>
                  </a:ext>
                </a:extLst>
              </p:cNvPr>
              <p:cNvSpPr/>
              <p:nvPr/>
            </p:nvSpPr>
            <p:spPr bwMode="auto">
              <a:xfrm>
                <a:off x="3611830" y="2061904"/>
                <a:ext cx="3105874" cy="14283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IN"/>
              </a:p>
            </p:txBody>
          </p:sp>
          <p:grpSp>
            <p:nvGrpSpPr>
              <p:cNvPr id="11300" name="Group 7">
                <a:extLst>
                  <a:ext uri="{FF2B5EF4-FFF2-40B4-BE49-F238E27FC236}">
                    <a16:creationId xmlns:a16="http://schemas.microsoft.com/office/drawing/2014/main" id="{86E2CE44-EA3E-7B8A-C130-A67140AA89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1000" y="1538827"/>
                <a:ext cx="6336704" cy="1926312"/>
                <a:chOff x="381000" y="1574696"/>
                <a:chExt cx="6336704" cy="1926312"/>
              </a:xfrm>
            </p:grpSpPr>
            <p:sp>
              <p:nvSpPr>
                <p:cNvPr id="11301" name="Rectangle 8">
                  <a:extLst>
                    <a:ext uri="{FF2B5EF4-FFF2-40B4-BE49-F238E27FC236}">
                      <a16:creationId xmlns:a16="http://schemas.microsoft.com/office/drawing/2014/main" id="{8196B910-2FFA-CEFD-BBC2-739191EF5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1000" y="1574696"/>
                  <a:ext cx="6336704" cy="144016"/>
                </a:xfrm>
                <a:prstGeom prst="rect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8A30336-5C6F-E0FA-A528-0E0EDF8242ED}"/>
                    </a:ext>
                  </a:extLst>
                </p:cNvPr>
                <p:cNvSpPr/>
                <p:nvPr/>
              </p:nvSpPr>
              <p:spPr bwMode="auto">
                <a:xfrm>
                  <a:off x="2074996" y="2651732"/>
                  <a:ext cx="1383537" cy="140903"/>
                </a:xfrm>
                <a:prstGeom prst="rect">
                  <a:avLst/>
                </a:prstGeom>
                <a:solidFill>
                  <a:schemeClr val="accent6">
                    <a:lumMod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IN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A74E12A-3AFF-DA80-ECE6-7A19FF1B1293}"/>
                    </a:ext>
                  </a:extLst>
                </p:cNvPr>
                <p:cNvSpPr/>
                <p:nvPr/>
              </p:nvSpPr>
              <p:spPr bwMode="auto">
                <a:xfrm>
                  <a:off x="3653053" y="2651732"/>
                  <a:ext cx="1382249" cy="140903"/>
                </a:xfrm>
                <a:prstGeom prst="rect">
                  <a:avLst/>
                </a:prstGeom>
                <a:solidFill>
                  <a:schemeClr val="accent6">
                    <a:lumMod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IN"/>
                </a:p>
              </p:txBody>
            </p:sp>
            <p:sp>
              <p:nvSpPr>
                <p:cNvPr id="11304" name="Rectangle 11">
                  <a:extLst>
                    <a:ext uri="{FF2B5EF4-FFF2-40B4-BE49-F238E27FC236}">
                      <a16:creationId xmlns:a16="http://schemas.microsoft.com/office/drawing/2014/main" id="{829F6CD7-3347-11CA-AE24-98B4AAA508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3835" y="3207820"/>
                  <a:ext cx="211743" cy="292940"/>
                </a:xfrm>
                <a:prstGeom prst="rect">
                  <a:avLst/>
                </a:prstGeom>
                <a:solidFill>
                  <a:srgbClr val="66CCFF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11305" name="Rectangle 12">
                  <a:extLst>
                    <a:ext uri="{FF2B5EF4-FFF2-40B4-BE49-F238E27FC236}">
                      <a16:creationId xmlns:a16="http://schemas.microsoft.com/office/drawing/2014/main" id="{037D4226-F2B0-D432-F0D8-E4E98D7784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6131" y="3205476"/>
                  <a:ext cx="211743" cy="276225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11306" name="Rectangle 13">
                  <a:extLst>
                    <a:ext uri="{FF2B5EF4-FFF2-40B4-BE49-F238E27FC236}">
                      <a16:creationId xmlns:a16="http://schemas.microsoft.com/office/drawing/2014/main" id="{E7A44A33-DFE0-1749-510C-41DE62A85B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6130" y="3161759"/>
                  <a:ext cx="219782" cy="292940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11307" name="Rectangle 14">
                  <a:extLst>
                    <a:ext uri="{FF2B5EF4-FFF2-40B4-BE49-F238E27FC236}">
                      <a16:creationId xmlns:a16="http://schemas.microsoft.com/office/drawing/2014/main" id="{EED3DD47-B7B0-F3C4-5E29-1841371C60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2193" y="3181067"/>
                  <a:ext cx="322217" cy="319693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11308" name="Rectangle 15">
                  <a:extLst>
                    <a:ext uri="{FF2B5EF4-FFF2-40B4-BE49-F238E27FC236}">
                      <a16:creationId xmlns:a16="http://schemas.microsoft.com/office/drawing/2014/main" id="{C5CBDAA8-07C7-7488-F74F-6D3CAB1B63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49378" y="3181067"/>
                  <a:ext cx="146031" cy="292940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11309" name="Rectangle 16">
                  <a:extLst>
                    <a:ext uri="{FF2B5EF4-FFF2-40B4-BE49-F238E27FC236}">
                      <a16:creationId xmlns:a16="http://schemas.microsoft.com/office/drawing/2014/main" id="{3DEE95D4-6C8A-CD2A-354F-7C9A24C88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654" y="3171275"/>
                  <a:ext cx="441040" cy="319942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11310" name="Rectangle 17">
                  <a:extLst>
                    <a:ext uri="{FF2B5EF4-FFF2-40B4-BE49-F238E27FC236}">
                      <a16:creationId xmlns:a16="http://schemas.microsoft.com/office/drawing/2014/main" id="{0A90477E-3BB9-F087-0128-B5D861FCDF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49616" y="3181066"/>
                  <a:ext cx="441040" cy="319942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sp>
              <p:nvSpPr>
                <p:cNvPr id="11311" name="Rectangle 18">
                  <a:extLst>
                    <a:ext uri="{FF2B5EF4-FFF2-40B4-BE49-F238E27FC236}">
                      <a16:creationId xmlns:a16="http://schemas.microsoft.com/office/drawing/2014/main" id="{43BCBDB2-8AC0-3389-85BA-2C29308F4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4330" y="3180818"/>
                  <a:ext cx="441040" cy="319942"/>
                </a:xfrm>
                <a:prstGeom prst="rect">
                  <a:avLst/>
                </a:prstGeom>
                <a:solidFill>
                  <a:srgbClr val="00B0F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0000"/>
                    </a:buClr>
                    <a:buFont typeface="Wingdings" panose="05000000000000000000" pitchFamily="2" charset="2"/>
                    <a:buChar char="Q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sym typeface="MT Extra" panose="05050102010205020202" pitchFamily="18" charset="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0000"/>
                    </a:buClr>
                    <a:buFont typeface="MT Extra" panose="05050102010205020202" pitchFamily="18" charset="2"/>
                    <a:buChar char="f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0000"/>
                    </a:buClr>
                    <a:buChar char="•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0000"/>
                    </a:buClr>
                    <a:buChar char="–"/>
                    <a:defRPr kumimoji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IN" altLang="en-US" sz="2400"/>
                </a:p>
              </p:txBody>
            </p:sp>
            <p:cxnSp>
              <p:nvCxnSpPr>
                <p:cNvPr id="11312" name="Straight Arrow Connector 19">
                  <a:extLst>
                    <a:ext uri="{FF2B5EF4-FFF2-40B4-BE49-F238E27FC236}">
                      <a16:creationId xmlns:a16="http://schemas.microsoft.com/office/drawing/2014/main" id="{8F4455E8-C5F9-9136-2D24-FC41B24D269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549352" y="1844824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313" name="Straight Arrow Connector 20">
                  <a:extLst>
                    <a:ext uri="{FF2B5EF4-FFF2-40B4-BE49-F238E27FC236}">
                      <a16:creationId xmlns:a16="http://schemas.microsoft.com/office/drawing/2014/main" id="{5472171E-26C0-38DD-5E3F-2FD5BA94693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919597" y="2435427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314" name="Straight Arrow Connector 21">
                  <a:extLst>
                    <a:ext uri="{FF2B5EF4-FFF2-40B4-BE49-F238E27FC236}">
                      <a16:creationId xmlns:a16="http://schemas.microsoft.com/office/drawing/2014/main" id="{DD339039-586C-B643-5651-0F4C3D8EEF0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157923" y="2427383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315" name="Straight Arrow Connector 22">
                  <a:extLst>
                    <a:ext uri="{FF2B5EF4-FFF2-40B4-BE49-F238E27FC236}">
                      <a16:creationId xmlns:a16="http://schemas.microsoft.com/office/drawing/2014/main" id="{F44E18BD-596D-1E38-3F49-CBA13E1EB37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15616" y="2925388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316" name="Straight Arrow Connector 23">
                  <a:extLst>
                    <a:ext uri="{FF2B5EF4-FFF2-40B4-BE49-F238E27FC236}">
                      <a16:creationId xmlns:a16="http://schemas.microsoft.com/office/drawing/2014/main" id="{27E621EE-162B-FD5B-86B9-4B002F77C9A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818080" y="2945736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317" name="Straight Arrow Connector 24">
                  <a:extLst>
                    <a:ext uri="{FF2B5EF4-FFF2-40B4-BE49-F238E27FC236}">
                      <a16:creationId xmlns:a16="http://schemas.microsoft.com/office/drawing/2014/main" id="{FCFDC4C1-A39B-1C0C-E037-6D97EF4986D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427984" y="2924944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1318" name="Straight Arrow Connector 25">
                  <a:extLst>
                    <a:ext uri="{FF2B5EF4-FFF2-40B4-BE49-F238E27FC236}">
                      <a16:creationId xmlns:a16="http://schemas.microsoft.com/office/drawing/2014/main" id="{6776DC1E-C34A-1D66-5E40-6BBCC64444F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6012160" y="2916900"/>
                  <a:ext cx="0" cy="21602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sp>
        <p:nvSpPr>
          <p:cNvPr id="11268" name="TextBox 6">
            <a:extLst>
              <a:ext uri="{FF2B5EF4-FFF2-40B4-BE49-F238E27FC236}">
                <a16:creationId xmlns:a16="http://schemas.microsoft.com/office/drawing/2014/main" id="{020B288B-DE36-7639-6B06-5C5360AA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463" y="2316163"/>
            <a:ext cx="4433887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/>
              <a:t>MERGESORT(</a:t>
            </a:r>
            <a:r>
              <a:rPr kumimoji="0" lang="en-US" altLang="en-US" sz="2000" i="1"/>
              <a:t>A</a:t>
            </a:r>
            <a:r>
              <a:rPr kumimoji="0" lang="en-US" altLang="en-US" sz="2000"/>
              <a:t>, </a:t>
            </a:r>
            <a:r>
              <a:rPr kumimoji="0" lang="en-US" altLang="en-US" sz="2000" i="1"/>
              <a:t>p, r</a:t>
            </a:r>
            <a:r>
              <a:rPr kumimoji="0" lang="en-US" altLang="en-US" sz="2000"/>
              <a:t>)</a:t>
            </a:r>
            <a:br>
              <a:rPr kumimoji="0" lang="en-US" altLang="en-US" sz="2000"/>
            </a:br>
            <a:r>
              <a:rPr kumimoji="0" lang="en-US" altLang="en-US" sz="2000" b="1"/>
              <a:t>if  </a:t>
            </a:r>
            <a:r>
              <a:rPr kumimoji="0" lang="en-US" altLang="en-US" sz="2000" i="1"/>
              <a:t>p</a:t>
            </a:r>
            <a:r>
              <a:rPr kumimoji="0" lang="en-US" altLang="en-US" sz="2000"/>
              <a:t>&lt; </a:t>
            </a:r>
            <a:r>
              <a:rPr kumimoji="0" lang="en-US" altLang="en-US" sz="2000" i="1"/>
              <a:t>r</a:t>
            </a:r>
            <a:br>
              <a:rPr kumimoji="0" lang="en-US" altLang="en-US" sz="2000"/>
            </a:br>
            <a:r>
              <a:rPr kumimoji="0" lang="en-US" altLang="en-US" sz="2000"/>
              <a:t>    </a:t>
            </a:r>
            <a:r>
              <a:rPr kumimoji="0" lang="en-US" altLang="en-US" sz="2000" b="1"/>
              <a:t>then </a:t>
            </a:r>
            <a:r>
              <a:rPr kumimoji="0" lang="en-US" altLang="en-US" sz="2000" i="1"/>
              <a:t>q</a:t>
            </a:r>
            <a:r>
              <a:rPr kumimoji="0" lang="en-US" altLang="en-US" sz="2000"/>
              <a:t>← floor[(p+r)/2]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/>
              <a:t>	MERGESORT(</a:t>
            </a:r>
            <a:r>
              <a:rPr kumimoji="0" lang="en-US" altLang="en-US" sz="2000" i="1"/>
              <a:t>A</a:t>
            </a:r>
            <a:r>
              <a:rPr kumimoji="0" lang="en-US" altLang="en-US" sz="2000"/>
              <a:t>, </a:t>
            </a:r>
            <a:r>
              <a:rPr kumimoji="0" lang="en-US" altLang="en-US" sz="2000" i="1"/>
              <a:t>p, q</a:t>
            </a:r>
            <a:r>
              <a:rPr kumimoji="0" lang="en-US" altLang="en-US" sz="2000"/>
              <a:t>)</a:t>
            </a:r>
            <a:br>
              <a:rPr kumimoji="0" lang="en-US" altLang="en-US" sz="2000"/>
            </a:br>
            <a:r>
              <a:rPr kumimoji="0" lang="en-US" altLang="en-US" sz="2000"/>
              <a:t>	MERGESORT(</a:t>
            </a:r>
            <a:r>
              <a:rPr kumimoji="0" lang="en-US" altLang="en-US" sz="2000" i="1"/>
              <a:t>A</a:t>
            </a:r>
            <a:r>
              <a:rPr kumimoji="0" lang="en-US" altLang="en-US" sz="2000"/>
              <a:t>,</a:t>
            </a:r>
            <a:r>
              <a:rPr kumimoji="0" lang="en-US" altLang="en-US" sz="2000" i="1"/>
              <a:t> q+1, r</a:t>
            </a:r>
            <a:r>
              <a:rPr kumimoji="0" lang="en-US" altLang="en-US" sz="2000"/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/>
              <a:t>       MERGE(A,p,q,r)</a:t>
            </a:r>
          </a:p>
        </p:txBody>
      </p:sp>
      <p:grpSp>
        <p:nvGrpSpPr>
          <p:cNvPr id="11269" name="Group 26">
            <a:extLst>
              <a:ext uri="{FF2B5EF4-FFF2-40B4-BE49-F238E27FC236}">
                <a16:creationId xmlns:a16="http://schemas.microsoft.com/office/drawing/2014/main" id="{91B71E31-01E8-C074-49E2-0CD1D9BC014B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3860800"/>
            <a:ext cx="3862388" cy="2763838"/>
            <a:chOff x="1680880" y="4184522"/>
            <a:chExt cx="6336704" cy="1926312"/>
          </a:xfrm>
        </p:grpSpPr>
        <p:grpSp>
          <p:nvGrpSpPr>
            <p:cNvPr id="11270" name="Group 27">
              <a:extLst>
                <a:ext uri="{FF2B5EF4-FFF2-40B4-BE49-F238E27FC236}">
                  <a16:creationId xmlns:a16="http://schemas.microsoft.com/office/drawing/2014/main" id="{E11C965F-4D51-AB9F-9429-4BFDA71C40A9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680880" y="4184522"/>
              <a:ext cx="6336704" cy="1926312"/>
              <a:chOff x="381000" y="1600200"/>
              <a:chExt cx="6336704" cy="1926312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FF1B9D2-9F6D-3DEA-30A5-8337112BE847}"/>
                  </a:ext>
                </a:extLst>
              </p:cNvPr>
              <p:cNvSpPr/>
              <p:nvPr/>
            </p:nvSpPr>
            <p:spPr bwMode="auto">
              <a:xfrm>
                <a:off x="381000" y="2652425"/>
                <a:ext cx="1382980" cy="14162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IN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718B35F-E939-A0A6-4D32-29860842FC74}"/>
                  </a:ext>
                </a:extLst>
              </p:cNvPr>
              <p:cNvSpPr/>
              <p:nvPr/>
            </p:nvSpPr>
            <p:spPr bwMode="auto">
              <a:xfrm>
                <a:off x="5298261" y="2651318"/>
                <a:ext cx="1382980" cy="142731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IN"/>
              </a:p>
            </p:txBody>
          </p:sp>
          <p:grpSp>
            <p:nvGrpSpPr>
              <p:cNvPr id="11280" name="Group 37">
                <a:extLst>
                  <a:ext uri="{FF2B5EF4-FFF2-40B4-BE49-F238E27FC236}">
                    <a16:creationId xmlns:a16="http://schemas.microsoft.com/office/drawing/2014/main" id="{B62882F0-93F2-300A-46EB-E0B84D4C3C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1000" y="1600200"/>
                <a:ext cx="6336704" cy="1926312"/>
                <a:chOff x="381000" y="1538827"/>
                <a:chExt cx="6336704" cy="1926312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7652C9BD-0795-3AB1-6C60-74328CA95071}"/>
                    </a:ext>
                  </a:extLst>
                </p:cNvPr>
                <p:cNvSpPr/>
                <p:nvPr/>
              </p:nvSpPr>
              <p:spPr bwMode="auto">
                <a:xfrm>
                  <a:off x="381000" y="2056641"/>
                  <a:ext cx="3075893" cy="14162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IN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2300675-5120-493B-A71C-8403DF68C94E}"/>
                    </a:ext>
                  </a:extLst>
                </p:cNvPr>
                <p:cNvSpPr/>
                <p:nvPr/>
              </p:nvSpPr>
              <p:spPr bwMode="auto">
                <a:xfrm>
                  <a:off x="3610557" y="2058854"/>
                  <a:ext cx="3107147" cy="14162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IN"/>
                </a:p>
              </p:txBody>
            </p:sp>
            <p:grpSp>
              <p:nvGrpSpPr>
                <p:cNvPr id="11283" name="Group 40">
                  <a:extLst>
                    <a:ext uri="{FF2B5EF4-FFF2-40B4-BE49-F238E27FC236}">
                      <a16:creationId xmlns:a16="http://schemas.microsoft.com/office/drawing/2014/main" id="{ED97DD4D-883C-2200-FCD9-60607CBCAD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1000" y="1538827"/>
                  <a:ext cx="6336704" cy="1926312"/>
                  <a:chOff x="381000" y="1574696"/>
                  <a:chExt cx="6336704" cy="1926312"/>
                </a:xfrm>
              </p:grpSpPr>
              <p:sp>
                <p:nvSpPr>
                  <p:cNvPr id="11284" name="Rectangle 41">
                    <a:extLst>
                      <a:ext uri="{FF2B5EF4-FFF2-40B4-BE49-F238E27FC236}">
                        <a16:creationId xmlns:a16="http://schemas.microsoft.com/office/drawing/2014/main" id="{A13771CF-776D-3D7A-311F-47971085EB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1000" y="1574696"/>
                    <a:ext cx="6336704" cy="144016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D378B360-BFF0-D45F-A565-AA47F72946F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66100" y="2651262"/>
                    <a:ext cx="1380375" cy="142730"/>
                  </a:xfrm>
                  <a:prstGeom prst="rect">
                    <a:avLst/>
                  </a:prstGeom>
                  <a:solidFill>
                    <a:schemeClr val="accent6">
                      <a:lumMod val="50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lIns="90000" tIns="46800" rIns="90000" bIns="46800" anchor="ctr"/>
                  <a:lstStyle/>
                  <a:p>
                    <a:pPr>
                      <a:defRPr/>
                    </a:pPr>
                    <a:endParaRPr lang="en-IN"/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4D437202-CCFE-CCFF-76CC-E450E6BF104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52229" y="2651262"/>
                    <a:ext cx="1382980" cy="142730"/>
                  </a:xfrm>
                  <a:prstGeom prst="rect">
                    <a:avLst/>
                  </a:prstGeom>
                  <a:solidFill>
                    <a:schemeClr val="accent6">
                      <a:lumMod val="50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lIns="90000" tIns="46800" rIns="90000" bIns="46800" anchor="ctr"/>
                  <a:lstStyle/>
                  <a:p>
                    <a:pPr>
                      <a:defRPr/>
                    </a:pPr>
                    <a:endParaRPr lang="en-IN"/>
                  </a:p>
                </p:txBody>
              </p:sp>
              <p:sp>
                <p:nvSpPr>
                  <p:cNvPr id="11287" name="Rectangle 44">
                    <a:extLst>
                      <a:ext uri="{FF2B5EF4-FFF2-40B4-BE49-F238E27FC236}">
                        <a16:creationId xmlns:a16="http://schemas.microsoft.com/office/drawing/2014/main" id="{137CDEC2-D188-3EFE-8792-EB46658B64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6030" y="3141412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11288" name="Rectangle 45">
                    <a:extLst>
                      <a:ext uri="{FF2B5EF4-FFF2-40B4-BE49-F238E27FC236}">
                        <a16:creationId xmlns:a16="http://schemas.microsoft.com/office/drawing/2014/main" id="{7F09E7D4-5D65-C5A3-0BED-F4C4F0E730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85561" y="3141412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11289" name="Rectangle 46">
                    <a:extLst>
                      <a:ext uri="{FF2B5EF4-FFF2-40B4-BE49-F238E27FC236}">
                        <a16:creationId xmlns:a16="http://schemas.microsoft.com/office/drawing/2014/main" id="{5FCEEAEA-E158-D6C7-4C04-EAA0F3AE12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94872" y="3161760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11290" name="Rectangle 47">
                    <a:extLst>
                      <a:ext uri="{FF2B5EF4-FFF2-40B4-BE49-F238E27FC236}">
                        <a16:creationId xmlns:a16="http://schemas.microsoft.com/office/drawing/2014/main" id="{02B92963-3649-781C-46C3-6164E9F7D6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93370" y="3181066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11291" name="Rectangle 48">
                    <a:extLst>
                      <a:ext uri="{FF2B5EF4-FFF2-40B4-BE49-F238E27FC236}">
                        <a16:creationId xmlns:a16="http://schemas.microsoft.com/office/drawing/2014/main" id="{AFBAAFA1-C76E-0D3C-C201-60AFC55AFA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49378" y="3181066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11292" name="Rectangle 49">
                    <a:extLst>
                      <a:ext uri="{FF2B5EF4-FFF2-40B4-BE49-F238E27FC236}">
                        <a16:creationId xmlns:a16="http://schemas.microsoft.com/office/drawing/2014/main" id="{39C8F17B-5A41-7827-EDEF-83EB14F05D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7654" y="3171275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11293" name="Rectangle 50">
                    <a:extLst>
                      <a:ext uri="{FF2B5EF4-FFF2-40B4-BE49-F238E27FC236}">
                        <a16:creationId xmlns:a16="http://schemas.microsoft.com/office/drawing/2014/main" id="{0BD4D285-B0E8-E97B-BA79-3447932E80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49616" y="3181066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  <p:sp>
                <p:nvSpPr>
                  <p:cNvPr id="11294" name="Rectangle 51">
                    <a:extLst>
                      <a:ext uri="{FF2B5EF4-FFF2-40B4-BE49-F238E27FC236}">
                        <a16:creationId xmlns:a16="http://schemas.microsoft.com/office/drawing/2014/main" id="{CD21AFF4-C6E7-BD73-D07B-52D6F1C4F4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4330" y="3180818"/>
                    <a:ext cx="441040" cy="319942"/>
                  </a:xfrm>
                  <a:prstGeom prst="rect">
                    <a:avLst/>
                  </a:prstGeom>
                  <a:solidFill>
                    <a:srgbClr val="00B0F0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0000"/>
                      </a:buClr>
                      <a:buFont typeface="Wingdings" panose="05000000000000000000" pitchFamily="2" charset="2"/>
                      <a:buChar char="Q"/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MT Extra" panose="05050102010205020202" pitchFamily="18" charset="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0000"/>
                      </a:buClr>
                      <a:buFont typeface="MT Extra" panose="05050102010205020202" pitchFamily="18" charset="2"/>
                      <a:buChar char="f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•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Char char="–"/>
                      <a:defRPr kumimoji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0" lang="en-IN" altLang="en-US" sz="2400"/>
                  </a:p>
                </p:txBody>
              </p:sp>
            </p:grpSp>
          </p:grpSp>
        </p:grpSp>
        <p:cxnSp>
          <p:nvCxnSpPr>
            <p:cNvPr id="11271" name="Straight Arrow Connector 28">
              <a:extLst>
                <a:ext uri="{FF2B5EF4-FFF2-40B4-BE49-F238E27FC236}">
                  <a16:creationId xmlns:a16="http://schemas.microsoft.com/office/drawing/2014/main" id="{D6CB808C-1AC5-0519-6ABA-461CD02C5C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68488" y="4509120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72" name="Straight Arrow Connector 29">
              <a:extLst>
                <a:ext uri="{FF2B5EF4-FFF2-40B4-BE49-F238E27FC236}">
                  <a16:creationId xmlns:a16="http://schemas.microsoft.com/office/drawing/2014/main" id="{48355D5F-1396-9826-905E-D105693C24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75856" y="5013176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73" name="Straight Arrow Connector 30">
              <a:extLst>
                <a:ext uri="{FF2B5EF4-FFF2-40B4-BE49-F238E27FC236}">
                  <a16:creationId xmlns:a16="http://schemas.microsoft.com/office/drawing/2014/main" id="{D3B494CF-B5EF-11BE-AEC8-36CDCF6EF9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95936" y="4509120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74" name="Straight Arrow Connector 31">
              <a:extLst>
                <a:ext uri="{FF2B5EF4-FFF2-40B4-BE49-F238E27FC236}">
                  <a16:creationId xmlns:a16="http://schemas.microsoft.com/office/drawing/2014/main" id="{C72D2E7C-C0B6-F404-3F32-69B79413C5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08304" y="4509120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75" name="Straight Arrow Connector 32">
              <a:extLst>
                <a:ext uri="{FF2B5EF4-FFF2-40B4-BE49-F238E27FC236}">
                  <a16:creationId xmlns:a16="http://schemas.microsoft.com/office/drawing/2014/main" id="{2C6B5098-AADC-4DF8-5C09-07FD7A88D7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80112" y="4509120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76" name="Straight Arrow Connector 33">
              <a:extLst>
                <a:ext uri="{FF2B5EF4-FFF2-40B4-BE49-F238E27FC236}">
                  <a16:creationId xmlns:a16="http://schemas.microsoft.com/office/drawing/2014/main" id="{239A0AF7-9658-202D-052E-5D1B3B3E89D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16216" y="5013176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277" name="Straight Arrow Connector 34">
              <a:extLst>
                <a:ext uri="{FF2B5EF4-FFF2-40B4-BE49-F238E27FC236}">
                  <a16:creationId xmlns:a16="http://schemas.microsoft.com/office/drawing/2014/main" id="{E5198D11-9283-41C6-09F6-D75E1B5574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60032" y="5589240"/>
              <a:ext cx="0" cy="2880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312E07A4-172D-6472-78F1-A29C0664A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234950"/>
            <a:ext cx="4335462" cy="61214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IN" sz="3200" b="1" dirty="0"/>
              <a:t>Merge(</a:t>
            </a:r>
            <a:r>
              <a:rPr lang="en-IN" sz="3200" b="1" dirty="0" err="1"/>
              <a:t>A,p,q,r</a:t>
            </a:r>
            <a:r>
              <a:rPr lang="en-IN" sz="3200" b="1" dirty="0"/>
              <a:t>)</a:t>
            </a:r>
          </a:p>
          <a:p>
            <a:pPr marL="0" indent="0">
              <a:buFontTx/>
              <a:buNone/>
              <a:defRPr/>
            </a:pPr>
            <a:r>
              <a:rPr lang="en-IN" sz="3200" dirty="0"/>
              <a:t>{</a:t>
            </a:r>
          </a:p>
          <a:p>
            <a:pPr>
              <a:defRPr/>
            </a:pPr>
            <a:r>
              <a:rPr lang="en-IN" sz="3200" dirty="0"/>
              <a:t>n1=q – p + 1</a:t>
            </a:r>
          </a:p>
          <a:p>
            <a:pPr>
              <a:defRPr/>
            </a:pPr>
            <a:r>
              <a:rPr lang="en-IN" sz="3200" dirty="0"/>
              <a:t>n2=r - q</a:t>
            </a:r>
          </a:p>
          <a:p>
            <a:pPr>
              <a:defRPr/>
            </a:pPr>
            <a:r>
              <a:rPr lang="en-IN" sz="2400" dirty="0"/>
              <a:t>Let L[1..n1] &amp; R[1..n2] be new array</a:t>
            </a:r>
          </a:p>
          <a:p>
            <a:pPr>
              <a:defRPr/>
            </a:pPr>
            <a:r>
              <a:rPr lang="en-IN" sz="3200" dirty="0"/>
              <a:t>for ( i= 0 to n1-1 )</a:t>
            </a:r>
          </a:p>
          <a:p>
            <a:pPr>
              <a:defRPr/>
            </a:pPr>
            <a:r>
              <a:rPr lang="en-IN" sz="3200" dirty="0"/>
              <a:t>       L[i]= A[</a:t>
            </a:r>
            <a:r>
              <a:rPr lang="en-IN" sz="3200" dirty="0" err="1"/>
              <a:t>p+i</a:t>
            </a:r>
            <a:r>
              <a:rPr lang="en-IN" sz="3200" dirty="0"/>
              <a:t>]</a:t>
            </a:r>
          </a:p>
          <a:p>
            <a:pPr>
              <a:defRPr/>
            </a:pPr>
            <a:r>
              <a:rPr lang="en-IN" sz="3200" dirty="0"/>
              <a:t>for ( j= 0 to n2-1 )</a:t>
            </a:r>
          </a:p>
          <a:p>
            <a:pPr>
              <a:defRPr/>
            </a:pPr>
            <a:r>
              <a:rPr lang="en-IN" sz="3200" dirty="0"/>
              <a:t>       R[j]= A[(q+1)+j]</a:t>
            </a:r>
            <a:endParaRPr lang="en-IN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CDAECE-8B71-34B3-D2BE-39155C510ECA}"/>
              </a:ext>
            </a:extLst>
          </p:cNvPr>
          <p:cNvSpPr txBox="1">
            <a:spLocks/>
          </p:cNvSpPr>
          <p:nvPr/>
        </p:nvSpPr>
        <p:spPr bwMode="auto">
          <a:xfrm>
            <a:off x="4760913" y="476250"/>
            <a:ext cx="4335462" cy="6337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Q"/>
              <a:defRPr kumimoji="1" sz="2400" b="1">
                <a:solidFill>
                  <a:schemeClr val="tx1"/>
                </a:solidFill>
                <a:latin typeface="+mn-lt"/>
                <a:sym typeface="MT Extra" pitchFamily="18" charset="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T Extra" pitchFamily="18" charset="2"/>
              <a:buChar char="f"/>
              <a:defRPr kumimoji="1"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IN" sz="3200" dirty="0"/>
              <a:t>i=0, j=0</a:t>
            </a:r>
          </a:p>
          <a:p>
            <a:pPr>
              <a:defRPr/>
            </a:pPr>
            <a:r>
              <a:rPr lang="en-IN" sz="3200" dirty="0"/>
              <a:t>for ( k= p to r )</a:t>
            </a:r>
          </a:p>
          <a:p>
            <a:pPr>
              <a:defRPr/>
            </a:pPr>
            <a:r>
              <a:rPr lang="en-IN" sz="3200" dirty="0"/>
              <a:t>if (L[i]  &lt;= R[j])</a:t>
            </a:r>
          </a:p>
          <a:p>
            <a:pPr>
              <a:defRPr/>
            </a:pPr>
            <a:r>
              <a:rPr lang="en-IN" sz="3200" dirty="0"/>
              <a:t>        A[k] = L[i]</a:t>
            </a:r>
          </a:p>
          <a:p>
            <a:pPr>
              <a:defRPr/>
            </a:pPr>
            <a:r>
              <a:rPr lang="en-IN" sz="3200" dirty="0"/>
              <a:t>        i =i +1</a:t>
            </a:r>
          </a:p>
          <a:p>
            <a:pPr>
              <a:defRPr/>
            </a:pPr>
            <a:r>
              <a:rPr lang="en-IN" sz="3200" dirty="0"/>
              <a:t>else</a:t>
            </a:r>
          </a:p>
          <a:p>
            <a:pPr>
              <a:defRPr/>
            </a:pPr>
            <a:r>
              <a:rPr lang="en-IN" sz="3200" dirty="0"/>
              <a:t>        A[k] = R[j]</a:t>
            </a:r>
          </a:p>
          <a:p>
            <a:pPr>
              <a:defRPr/>
            </a:pPr>
            <a:r>
              <a:rPr lang="en-IN" sz="3200" dirty="0"/>
              <a:t>        j=j+1</a:t>
            </a:r>
          </a:p>
          <a:p>
            <a:pPr>
              <a:defRPr/>
            </a:pPr>
            <a:endParaRPr lang="en-IN" sz="3200" dirty="0"/>
          </a:p>
          <a:p>
            <a:pPr marL="0" indent="0">
              <a:buFontTx/>
              <a:buNone/>
              <a:defRPr/>
            </a:pPr>
            <a:r>
              <a:rPr lang="en-IN" sz="3200" dirty="0"/>
              <a:t>}</a:t>
            </a:r>
          </a:p>
          <a:p>
            <a:pPr>
              <a:defRPr/>
            </a:pPr>
            <a:endParaRPr lang="en-IN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B25D6AFA-D7FB-B8A9-53D6-FB2E4757A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234950"/>
            <a:ext cx="4335462" cy="6002338"/>
          </a:xfrm>
          <a:solidFill>
            <a:schemeClr val="accent3">
              <a:lumMod val="85000"/>
            </a:schemeClr>
          </a:solidFill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IN" sz="1800" b="1" dirty="0"/>
              <a:t>Merge(</a:t>
            </a:r>
            <a:r>
              <a:rPr lang="en-IN" sz="1800" b="1" dirty="0" err="1"/>
              <a:t>A,p,q,r</a:t>
            </a:r>
            <a:r>
              <a:rPr lang="en-IN" sz="1800" b="1" dirty="0"/>
              <a:t>)</a:t>
            </a:r>
          </a:p>
          <a:p>
            <a:pPr>
              <a:defRPr/>
            </a:pPr>
            <a:r>
              <a:rPr lang="en-IN" sz="1800" dirty="0"/>
              <a:t>{</a:t>
            </a:r>
          </a:p>
          <a:p>
            <a:pPr>
              <a:defRPr/>
            </a:pPr>
            <a:r>
              <a:rPr lang="en-IN" sz="1800" dirty="0"/>
              <a:t>n1=q – p + 1</a:t>
            </a:r>
          </a:p>
          <a:p>
            <a:pPr>
              <a:defRPr/>
            </a:pPr>
            <a:r>
              <a:rPr lang="en-IN" sz="1800" dirty="0"/>
              <a:t>n2=r - q</a:t>
            </a:r>
          </a:p>
          <a:p>
            <a:pPr>
              <a:defRPr/>
            </a:pPr>
            <a:r>
              <a:rPr lang="en-IN" sz="1400" dirty="0"/>
              <a:t>Let L[1..n1] &amp; R[1..n2] be new array</a:t>
            </a:r>
          </a:p>
          <a:p>
            <a:pPr>
              <a:defRPr/>
            </a:pPr>
            <a:r>
              <a:rPr lang="en-IN" sz="1800" dirty="0"/>
              <a:t>for ( i= 0 to n1-1 )</a:t>
            </a:r>
          </a:p>
          <a:p>
            <a:pPr>
              <a:defRPr/>
            </a:pPr>
            <a:r>
              <a:rPr lang="en-IN" sz="1800" dirty="0"/>
              <a:t>       L[i]= A[</a:t>
            </a:r>
            <a:r>
              <a:rPr lang="en-IN" sz="1800" dirty="0" err="1"/>
              <a:t>p+i</a:t>
            </a:r>
            <a:r>
              <a:rPr lang="en-IN" sz="1800" dirty="0"/>
              <a:t>]</a:t>
            </a:r>
          </a:p>
          <a:p>
            <a:pPr>
              <a:defRPr/>
            </a:pPr>
            <a:r>
              <a:rPr lang="en-IN" sz="1800" dirty="0"/>
              <a:t>for ( j= 0 to n2-1 )</a:t>
            </a:r>
          </a:p>
          <a:p>
            <a:pPr>
              <a:defRPr/>
            </a:pPr>
            <a:r>
              <a:rPr lang="en-IN" sz="1800" dirty="0"/>
              <a:t>       R[j]= A[q+1+j]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810D5F-D78C-1F60-FE39-ACBA7D240673}"/>
              </a:ext>
            </a:extLst>
          </p:cNvPr>
          <p:cNvSpPr txBox="1">
            <a:spLocks/>
          </p:cNvSpPr>
          <p:nvPr/>
        </p:nvSpPr>
        <p:spPr bwMode="auto">
          <a:xfrm>
            <a:off x="223838" y="3284538"/>
            <a:ext cx="2835275" cy="28797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Q"/>
              <a:defRPr kumimoji="1" sz="2400" b="1">
                <a:solidFill>
                  <a:schemeClr val="tx1"/>
                </a:solidFill>
                <a:latin typeface="+mn-lt"/>
                <a:sym typeface="MT Extra" pitchFamily="18" charset="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T Extra" pitchFamily="18" charset="2"/>
              <a:buChar char="f"/>
              <a:defRPr kumimoji="1"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IN" sz="1800" dirty="0"/>
              <a:t>i=0, j=0</a:t>
            </a:r>
          </a:p>
          <a:p>
            <a:pPr>
              <a:defRPr/>
            </a:pPr>
            <a:r>
              <a:rPr lang="en-IN" sz="1800" dirty="0"/>
              <a:t>for ( k= p to r )</a:t>
            </a:r>
          </a:p>
          <a:p>
            <a:pPr>
              <a:defRPr/>
            </a:pPr>
            <a:r>
              <a:rPr lang="en-IN" sz="1800" dirty="0"/>
              <a:t>if (L[i]  &lt;= R[j])</a:t>
            </a:r>
          </a:p>
          <a:p>
            <a:pPr>
              <a:defRPr/>
            </a:pPr>
            <a:r>
              <a:rPr lang="en-IN" sz="1800" dirty="0"/>
              <a:t>        A[k] = L[i]</a:t>
            </a:r>
          </a:p>
          <a:p>
            <a:pPr>
              <a:defRPr/>
            </a:pPr>
            <a:r>
              <a:rPr lang="en-IN" sz="1800" dirty="0"/>
              <a:t>        i =i +1</a:t>
            </a:r>
          </a:p>
          <a:p>
            <a:pPr>
              <a:defRPr/>
            </a:pPr>
            <a:r>
              <a:rPr lang="en-IN" sz="1800" dirty="0"/>
              <a:t>else</a:t>
            </a:r>
          </a:p>
          <a:p>
            <a:pPr>
              <a:defRPr/>
            </a:pPr>
            <a:r>
              <a:rPr lang="en-IN" sz="1800" dirty="0"/>
              <a:t>        A[k] = R[j]</a:t>
            </a:r>
          </a:p>
          <a:p>
            <a:pPr>
              <a:defRPr/>
            </a:pPr>
            <a:r>
              <a:rPr lang="en-IN" sz="1800" dirty="0"/>
              <a:t>        j=j+1</a:t>
            </a:r>
          </a:p>
          <a:p>
            <a:pPr>
              <a:defRPr/>
            </a:pPr>
            <a:r>
              <a:rPr lang="en-IN" sz="1800" dirty="0"/>
              <a:t>}</a:t>
            </a:r>
          </a:p>
          <a:p>
            <a:pPr>
              <a:defRPr/>
            </a:pPr>
            <a:endParaRPr lang="en-IN" sz="1600" dirty="0"/>
          </a:p>
          <a:p>
            <a:pPr>
              <a:defRPr/>
            </a:pPr>
            <a:endParaRPr lang="en-IN" sz="1600" dirty="0"/>
          </a:p>
          <a:p>
            <a:pPr>
              <a:defRPr/>
            </a:pPr>
            <a:endParaRPr lang="en-IN" sz="1600" dirty="0"/>
          </a:p>
          <a:p>
            <a:pPr>
              <a:defRPr/>
            </a:pPr>
            <a:endParaRPr lang="en-IN" sz="1600" dirty="0"/>
          </a:p>
          <a:p>
            <a:pPr marL="0" indent="0">
              <a:buFontTx/>
              <a:buNone/>
              <a:defRPr/>
            </a:pPr>
            <a:endParaRPr lang="en-IN" sz="1600" dirty="0"/>
          </a:p>
        </p:txBody>
      </p:sp>
      <p:sp>
        <p:nvSpPr>
          <p:cNvPr id="16388" name="Rectangle 1">
            <a:extLst>
              <a:ext uri="{FF2B5EF4-FFF2-40B4-BE49-F238E27FC236}">
                <a16:creationId xmlns:a16="http://schemas.microsoft.com/office/drawing/2014/main" id="{B3DD18FD-218E-52F0-35A3-33BD60FF9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1700213"/>
            <a:ext cx="4572000" cy="208756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en-US" sz="2400" b="1" dirty="0"/>
              <a:t>MERGESORT(</a:t>
            </a:r>
            <a:r>
              <a:rPr kumimoji="0" lang="en-US" altLang="en-US" sz="2400" b="1" i="1" dirty="0"/>
              <a:t>A</a:t>
            </a:r>
            <a:r>
              <a:rPr kumimoji="0" lang="en-US" altLang="en-US" sz="2400" b="1" dirty="0"/>
              <a:t>, </a:t>
            </a:r>
            <a:r>
              <a:rPr kumimoji="0" lang="en-US" altLang="en-US" sz="2400" b="1" i="1" dirty="0"/>
              <a:t>p, r</a:t>
            </a:r>
            <a:r>
              <a:rPr kumimoji="0" lang="en-US" altLang="en-US" sz="2400" b="1" dirty="0"/>
              <a:t>)</a:t>
            </a:r>
            <a:br>
              <a:rPr kumimoji="0" lang="en-US" altLang="en-US" sz="2400" dirty="0"/>
            </a:br>
            <a:r>
              <a:rPr kumimoji="0" lang="en-US" altLang="en-US" sz="2400" b="1" dirty="0"/>
              <a:t>if  </a:t>
            </a:r>
            <a:r>
              <a:rPr kumimoji="0" lang="en-US" altLang="en-US" sz="2400" i="1" dirty="0"/>
              <a:t>p</a:t>
            </a:r>
            <a:r>
              <a:rPr kumimoji="0" lang="en-US" altLang="en-US" sz="2400" dirty="0"/>
              <a:t>&lt; </a:t>
            </a:r>
            <a:r>
              <a:rPr kumimoji="0" lang="en-US" altLang="en-US" sz="2400" i="1" dirty="0"/>
              <a:t>r</a:t>
            </a:r>
            <a:br>
              <a:rPr kumimoji="0" lang="en-US" altLang="en-US" sz="2400" dirty="0"/>
            </a:br>
            <a:r>
              <a:rPr kumimoji="0" lang="en-US" altLang="en-US" sz="2400" dirty="0"/>
              <a:t>    </a:t>
            </a:r>
            <a:r>
              <a:rPr kumimoji="0" lang="en-US" altLang="en-US" sz="2400" b="1" dirty="0"/>
              <a:t>then </a:t>
            </a:r>
            <a:r>
              <a:rPr kumimoji="0" lang="en-US" altLang="en-US" sz="2400" i="1" dirty="0"/>
              <a:t>q</a:t>
            </a:r>
            <a:r>
              <a:rPr kumimoji="0" lang="en-US" altLang="en-US" sz="2400" dirty="0"/>
              <a:t>← floor[(</a:t>
            </a:r>
            <a:r>
              <a:rPr kumimoji="0" lang="en-US" altLang="en-US" sz="2400" dirty="0" err="1"/>
              <a:t>p+r</a:t>
            </a:r>
            <a:r>
              <a:rPr kumimoji="0" lang="en-US" altLang="en-US" sz="2400" dirty="0"/>
              <a:t>)/2]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en-US" sz="2400" dirty="0"/>
              <a:t>	MERGESORT(</a:t>
            </a:r>
            <a:r>
              <a:rPr kumimoji="0" lang="en-US" altLang="en-US" sz="2400" i="1" dirty="0"/>
              <a:t>A</a:t>
            </a:r>
            <a:r>
              <a:rPr kumimoji="0" lang="en-US" altLang="en-US" sz="2400" dirty="0"/>
              <a:t>, </a:t>
            </a:r>
            <a:r>
              <a:rPr kumimoji="0" lang="en-US" altLang="en-US" sz="2400" i="1" dirty="0"/>
              <a:t>p, q</a:t>
            </a:r>
            <a:r>
              <a:rPr kumimoji="0" lang="en-US" altLang="en-US" sz="2400" dirty="0"/>
              <a:t>)</a:t>
            </a:r>
            <a:br>
              <a:rPr kumimoji="0" lang="en-US" altLang="en-US" sz="2400" dirty="0"/>
            </a:br>
            <a:r>
              <a:rPr kumimoji="0" lang="en-US" altLang="en-US" sz="2400" dirty="0"/>
              <a:t>	MERGESORT(</a:t>
            </a:r>
            <a:r>
              <a:rPr kumimoji="0" lang="en-US" altLang="en-US" sz="2400" i="1" dirty="0"/>
              <a:t>A</a:t>
            </a:r>
            <a:r>
              <a:rPr kumimoji="0" lang="en-US" altLang="en-US" sz="2400" dirty="0"/>
              <a:t>,</a:t>
            </a:r>
            <a:r>
              <a:rPr kumimoji="0" lang="en-US" altLang="en-US" sz="2400" i="1" dirty="0"/>
              <a:t> q+1, r</a:t>
            </a:r>
            <a:r>
              <a:rPr kumimoji="0" lang="en-US" altLang="en-US" sz="2400" dirty="0"/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en-US" sz="2400" dirty="0"/>
              <a:t>       MERGE(</a:t>
            </a:r>
            <a:r>
              <a:rPr kumimoji="0" lang="en-US" altLang="en-US" sz="2400" dirty="0" err="1"/>
              <a:t>A,p,q,r</a:t>
            </a:r>
            <a:r>
              <a:rPr kumimoji="0" lang="en-US" altLang="en-US" sz="2400" dirty="0"/>
              <a:t>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D9D2B6-4D57-E0C8-259B-E8DA490D2355}"/>
              </a:ext>
            </a:extLst>
          </p:cNvPr>
          <p:cNvSpPr txBox="1">
            <a:spLocks/>
          </p:cNvSpPr>
          <p:nvPr/>
        </p:nvSpPr>
        <p:spPr bwMode="auto">
          <a:xfrm>
            <a:off x="3132138" y="188913"/>
            <a:ext cx="5997575" cy="7921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Q"/>
              <a:defRPr kumimoji="1" sz="2400" b="1">
                <a:solidFill>
                  <a:schemeClr val="tx1"/>
                </a:solidFill>
                <a:latin typeface="+mn-lt"/>
                <a:sym typeface="MT Extra" pitchFamily="18" charset="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T Extra" pitchFamily="18" charset="2"/>
              <a:buChar char="f"/>
              <a:defRPr kumimoji="1"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  <a:defRPr/>
            </a:pPr>
            <a:r>
              <a:rPr lang="en-IN" sz="3200" b="1" dirty="0"/>
              <a:t>MERGE SORT ANALYSIS</a:t>
            </a:r>
          </a:p>
        </p:txBody>
      </p:sp>
      <p:sp>
        <p:nvSpPr>
          <p:cNvPr id="15366" name="TextBox 2">
            <a:extLst>
              <a:ext uri="{FF2B5EF4-FFF2-40B4-BE49-F238E27FC236}">
                <a16:creationId xmlns:a16="http://schemas.microsoft.com/office/drawing/2014/main" id="{89C5D367-A44C-86B7-8F02-68C54D004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724400"/>
            <a:ext cx="5903912" cy="10890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/>
              <a:t>Total Cost = Divide + conquer + merge</a:t>
            </a:r>
            <a:br>
              <a:rPr kumimoji="0" lang="en-US" altLang="en-US" sz="2400"/>
            </a:br>
            <a:r>
              <a:rPr kumimoji="0" lang="en-US" altLang="en-US" sz="2400"/>
              <a:t>          T(n) =     C1   + 2T(n/2)  + Cn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>
                <a:sym typeface="Symbol" panose="05050102010706020507" pitchFamily="18" charset="2"/>
              </a:rPr>
              <a:t>                   O</a:t>
            </a:r>
            <a:r>
              <a:rPr kumimoji="0" lang="en-US" altLang="en-US" sz="2400"/>
              <a:t>(n log 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621FE-DBD6-D9EB-0564-68BA4D8F8354}"/>
              </a:ext>
            </a:extLst>
          </p:cNvPr>
          <p:cNvSpPr txBox="1"/>
          <p:nvPr/>
        </p:nvSpPr>
        <p:spPr>
          <a:xfrm>
            <a:off x="2916238" y="2924175"/>
            <a:ext cx="1295400" cy="461963"/>
          </a:xfrm>
          <a:prstGeom prst="rect">
            <a:avLst/>
          </a:prstGeom>
          <a:solidFill>
            <a:schemeClr val="accent3">
              <a:lumMod val="6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ym typeface="Wingdings" panose="05000000000000000000" pitchFamily="2" charset="2"/>
              </a:rPr>
              <a:t>O(n)</a:t>
            </a:r>
            <a:endParaRPr lang="en-IN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C22FA29B-36A2-2415-A820-CB9866E86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32138" y="115888"/>
            <a:ext cx="2663825" cy="341312"/>
          </a:xfrm>
          <a:solidFill>
            <a:schemeClr val="accent1"/>
          </a:solidFill>
        </p:spPr>
        <p:txBody>
          <a:bodyPr/>
          <a:lstStyle/>
          <a:p>
            <a:r>
              <a:rPr lang="en-IN" altLang="en-US" sz="2000"/>
              <a:t>Space Complexity </a:t>
            </a:r>
            <a:endParaRPr lang="en-IN" alt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73204-24E2-DE0A-E999-C55C3372C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563" y="1477963"/>
            <a:ext cx="5253037" cy="1951037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IN" sz="2400" u="sng" dirty="0"/>
              <a:t>Memory Requirement </a:t>
            </a:r>
          </a:p>
          <a:p>
            <a:pPr>
              <a:defRPr/>
            </a:pPr>
            <a:r>
              <a:rPr lang="en-IN" sz="2000" b="1" dirty="0"/>
              <a:t>Each merge-sort consumes  = O (log n)</a:t>
            </a:r>
          </a:p>
          <a:p>
            <a:pPr>
              <a:defRPr/>
            </a:pPr>
            <a:r>
              <a:rPr lang="en-IN" sz="2000" b="1" dirty="0"/>
              <a:t>Merge Consumes = O(n)</a:t>
            </a:r>
          </a:p>
          <a:p>
            <a:pPr marL="0" indent="0">
              <a:buFontTx/>
              <a:buNone/>
              <a:defRPr/>
            </a:pPr>
            <a:endParaRPr lang="en-IN" sz="2000" b="1" dirty="0"/>
          </a:p>
          <a:p>
            <a:pPr marL="0" indent="0">
              <a:buFontTx/>
              <a:buNone/>
              <a:defRPr/>
            </a:pPr>
            <a:r>
              <a:rPr lang="en-IN" sz="2000" b="1" dirty="0"/>
              <a:t>  Total space </a:t>
            </a:r>
            <a:r>
              <a:rPr lang="en-IN" sz="2000" b="1" dirty="0" err="1"/>
              <a:t>rqmnts</a:t>
            </a:r>
            <a:r>
              <a:rPr lang="en-IN" sz="2000" b="1" dirty="0"/>
              <a:t> =  O (log n) + O(n) = O(n)</a:t>
            </a:r>
            <a:endParaRPr lang="en-IN" sz="2400" b="1" dirty="0"/>
          </a:p>
          <a:p>
            <a:pPr>
              <a:defRPr/>
            </a:pPr>
            <a:endParaRPr lang="en-IN" dirty="0"/>
          </a:p>
          <a:p>
            <a:pPr>
              <a:defRPr/>
            </a:pPr>
            <a:endParaRPr lang="en-IN" dirty="0"/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CE0894DC-2351-1429-ABF7-90859223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2950" y="1341438"/>
            <a:ext cx="3240088" cy="1420812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en-US" sz="1600" b="1" dirty="0"/>
              <a:t>MERGESORT(</a:t>
            </a:r>
            <a:r>
              <a:rPr kumimoji="0" lang="en-US" altLang="en-US" sz="1600" b="1" i="1" dirty="0"/>
              <a:t>A</a:t>
            </a:r>
            <a:r>
              <a:rPr kumimoji="0" lang="en-US" altLang="en-US" sz="1600" b="1" dirty="0"/>
              <a:t>, </a:t>
            </a:r>
            <a:r>
              <a:rPr kumimoji="0" lang="en-US" altLang="en-US" sz="1600" b="1" i="1" dirty="0"/>
              <a:t>p, r</a:t>
            </a:r>
            <a:r>
              <a:rPr kumimoji="0" lang="en-US" altLang="en-US" sz="1600" b="1" dirty="0"/>
              <a:t>)</a:t>
            </a:r>
            <a:br>
              <a:rPr kumimoji="0" lang="en-US" altLang="en-US" sz="1600" dirty="0"/>
            </a:br>
            <a:r>
              <a:rPr kumimoji="0" lang="en-US" altLang="en-US" sz="1600" b="1" dirty="0"/>
              <a:t>if  </a:t>
            </a:r>
            <a:r>
              <a:rPr kumimoji="0" lang="en-US" altLang="en-US" sz="1600" i="1" dirty="0"/>
              <a:t>p</a:t>
            </a:r>
            <a:r>
              <a:rPr kumimoji="0" lang="en-US" altLang="en-US" sz="1600" dirty="0"/>
              <a:t>&lt; </a:t>
            </a:r>
            <a:r>
              <a:rPr kumimoji="0" lang="en-US" altLang="en-US" sz="1600" i="1" dirty="0"/>
              <a:t>r</a:t>
            </a:r>
            <a:br>
              <a:rPr kumimoji="0" lang="en-US" altLang="en-US" sz="1600" dirty="0"/>
            </a:br>
            <a:r>
              <a:rPr kumimoji="0" lang="en-US" altLang="en-US" sz="1600" dirty="0"/>
              <a:t>    </a:t>
            </a:r>
            <a:r>
              <a:rPr kumimoji="0" lang="en-US" altLang="en-US" sz="1600" b="1" dirty="0"/>
              <a:t>then </a:t>
            </a:r>
            <a:r>
              <a:rPr kumimoji="0" lang="en-US" altLang="en-US" sz="1600" i="1" dirty="0"/>
              <a:t>q</a:t>
            </a:r>
            <a:r>
              <a:rPr kumimoji="0" lang="en-US" altLang="en-US" sz="1600" dirty="0"/>
              <a:t>← floor[(</a:t>
            </a:r>
            <a:r>
              <a:rPr kumimoji="0" lang="en-US" altLang="en-US" sz="1600" dirty="0" err="1"/>
              <a:t>p+r</a:t>
            </a:r>
            <a:r>
              <a:rPr kumimoji="0" lang="en-US" altLang="en-US" sz="1600" dirty="0"/>
              <a:t>)/2]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en-US" sz="1600" dirty="0"/>
              <a:t>	MERGESORT(</a:t>
            </a:r>
            <a:r>
              <a:rPr kumimoji="0" lang="en-US" altLang="en-US" sz="1600" i="1" dirty="0"/>
              <a:t>A</a:t>
            </a:r>
            <a:r>
              <a:rPr kumimoji="0" lang="en-US" altLang="en-US" sz="1600" dirty="0"/>
              <a:t>, </a:t>
            </a:r>
            <a:r>
              <a:rPr kumimoji="0" lang="en-US" altLang="en-US" sz="1600" i="1" dirty="0"/>
              <a:t>p, q</a:t>
            </a:r>
            <a:r>
              <a:rPr kumimoji="0" lang="en-US" altLang="en-US" sz="1600" dirty="0"/>
              <a:t>)</a:t>
            </a:r>
            <a:br>
              <a:rPr kumimoji="0" lang="en-US" altLang="en-US" sz="1600" dirty="0"/>
            </a:br>
            <a:r>
              <a:rPr kumimoji="0" lang="en-US" altLang="en-US" sz="1600" dirty="0"/>
              <a:t>	MERGESORT(</a:t>
            </a:r>
            <a:r>
              <a:rPr kumimoji="0" lang="en-US" altLang="en-US" sz="1600" i="1" dirty="0"/>
              <a:t>A</a:t>
            </a:r>
            <a:r>
              <a:rPr kumimoji="0" lang="en-US" altLang="en-US" sz="1600" dirty="0"/>
              <a:t>,</a:t>
            </a:r>
            <a:r>
              <a:rPr kumimoji="0" lang="en-US" altLang="en-US" sz="1600" i="1" dirty="0"/>
              <a:t> q+1, r</a:t>
            </a:r>
            <a:r>
              <a:rPr kumimoji="0" lang="en-US" altLang="en-US" sz="1600" dirty="0"/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en-US" sz="1600" dirty="0"/>
              <a:t>       MERGE(</a:t>
            </a:r>
            <a:r>
              <a:rPr kumimoji="0" lang="en-US" altLang="en-US" sz="1600" dirty="0" err="1"/>
              <a:t>A,p,q,r</a:t>
            </a:r>
            <a:r>
              <a:rPr kumimoji="0" lang="en-US" altLang="en-US" sz="16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C4BAE-B217-A0B1-C3C5-F6A48C3E97FB}"/>
              </a:ext>
            </a:extLst>
          </p:cNvPr>
          <p:cNvSpPr txBox="1"/>
          <p:nvPr/>
        </p:nvSpPr>
        <p:spPr>
          <a:xfrm>
            <a:off x="173038" y="571500"/>
            <a:ext cx="7837487" cy="76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IN" sz="2000" dirty="0"/>
              <a:t>Calculation of stack size :</a:t>
            </a:r>
          </a:p>
          <a:p>
            <a:pPr>
              <a:defRPr/>
            </a:pPr>
            <a:r>
              <a:rPr lang="en-IN" dirty="0"/>
              <a:t>In general, </a:t>
            </a:r>
            <a:r>
              <a:rPr lang="en-IN" b="1" u="sng" dirty="0"/>
              <a:t>stack size will be levels in a tree</a:t>
            </a:r>
            <a:r>
              <a:rPr lang="en-IN" dirty="0"/>
              <a:t>, which is (log n),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05E699-2AE4-DF64-3007-DFB66573B2E4}"/>
              </a:ext>
            </a:extLst>
          </p:cNvPr>
          <p:cNvSpPr txBox="1"/>
          <p:nvPr/>
        </p:nvSpPr>
        <p:spPr>
          <a:xfrm>
            <a:off x="306388" y="3754438"/>
            <a:ext cx="8785225" cy="10144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IN" sz="2000" dirty="0"/>
              <a:t>This is also called </a:t>
            </a:r>
            <a:r>
              <a:rPr lang="en-IN" sz="2000" u="sng" dirty="0"/>
              <a:t>out-of-space</a:t>
            </a:r>
            <a:r>
              <a:rPr lang="en-IN" sz="2000" dirty="0"/>
              <a:t> / </a:t>
            </a:r>
            <a:r>
              <a:rPr lang="en-IN" sz="2000" u="sng" dirty="0"/>
              <a:t>out-place </a:t>
            </a:r>
            <a:r>
              <a:rPr lang="en-IN" sz="2000" dirty="0"/>
              <a:t>algorithms as its needs extra array to do partial processing. </a:t>
            </a:r>
          </a:p>
          <a:p>
            <a:pPr>
              <a:defRPr/>
            </a:pPr>
            <a:r>
              <a:rPr lang="en-IN" sz="2000" dirty="0"/>
              <a:t>Extra space used by an algorithm depends on the input size.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D9E51-2FA1-03CB-0E61-7CAC8510FDBC}"/>
              </a:ext>
            </a:extLst>
          </p:cNvPr>
          <p:cNvSpPr txBox="1"/>
          <p:nvPr/>
        </p:nvSpPr>
        <p:spPr>
          <a:xfrm>
            <a:off x="436563" y="5157788"/>
            <a:ext cx="8469312" cy="1384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IN" sz="2000" dirty="0"/>
              <a:t>It requires ‘n’ extra cells to copy elements from two sorted arrays into one, therefore each merge procedure requires O(n) memory. Since this memory is </a:t>
            </a:r>
            <a:r>
              <a:rPr lang="en-IN" sz="2000" b="1" dirty="0"/>
              <a:t>reused</a:t>
            </a:r>
            <a:r>
              <a:rPr lang="en-IN" sz="2000" dirty="0"/>
              <a:t> ‘log n’ times. </a:t>
            </a:r>
          </a:p>
          <a:p>
            <a:pPr lvl="1">
              <a:defRPr/>
            </a:pPr>
            <a:r>
              <a:rPr lang="en-IN" dirty="0"/>
              <a:t>The </a:t>
            </a:r>
            <a:r>
              <a:rPr lang="en-IN" u="sng" dirty="0"/>
              <a:t>effective memory requiremen</a:t>
            </a:r>
            <a:r>
              <a:rPr lang="en-IN" dirty="0"/>
              <a:t>t is </a:t>
            </a:r>
            <a:r>
              <a:rPr lang="en-IN" b="1" dirty="0"/>
              <a:t>O(n)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9AF15951-BEF2-F283-0171-7EB8AF66F8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76250"/>
            <a:ext cx="3614738" cy="398463"/>
          </a:xfrm>
          <a:solidFill>
            <a:schemeClr val="accent1"/>
          </a:solidFill>
        </p:spPr>
        <p:txBody>
          <a:bodyPr/>
          <a:lstStyle/>
          <a:p>
            <a:r>
              <a:rPr lang="en-IN" altLang="en-US" sz="280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F3271-ABAB-7B48-5B0F-3715DBFE2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388" y="188913"/>
            <a:ext cx="4391025" cy="2636837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IN" sz="2400" dirty="0"/>
              <a:t>MERGESORT(A, p, r)</a:t>
            </a:r>
            <a:br>
              <a:rPr lang="en-IN" sz="2400" dirty="0"/>
            </a:br>
            <a:r>
              <a:rPr lang="en-IN" sz="2400" dirty="0"/>
              <a:t>if  p&lt; r</a:t>
            </a:r>
            <a:br>
              <a:rPr lang="en-IN" sz="2400" dirty="0"/>
            </a:br>
            <a:r>
              <a:rPr lang="en-IN" sz="2400" dirty="0"/>
              <a:t>    then q← floor[(</a:t>
            </a:r>
            <a:r>
              <a:rPr lang="en-IN" sz="2400" dirty="0" err="1"/>
              <a:t>p+r</a:t>
            </a:r>
            <a:r>
              <a:rPr lang="en-IN" sz="2400" dirty="0"/>
              <a:t>)/2]</a:t>
            </a:r>
          </a:p>
          <a:p>
            <a:pPr marL="0" indent="0">
              <a:buFontTx/>
              <a:buNone/>
              <a:defRPr/>
            </a:pPr>
            <a:r>
              <a:rPr lang="en-IN" sz="2400" dirty="0"/>
              <a:t>	MERGESORT(A, p, q)</a:t>
            </a:r>
            <a:br>
              <a:rPr lang="en-IN" sz="2400" dirty="0"/>
            </a:br>
            <a:r>
              <a:rPr lang="en-IN" sz="2400" dirty="0"/>
              <a:t>	MERGESORT(A, q+1, r)</a:t>
            </a:r>
          </a:p>
          <a:p>
            <a:pPr marL="0" indent="0">
              <a:buFontTx/>
              <a:buNone/>
              <a:defRPr/>
            </a:pPr>
            <a:r>
              <a:rPr lang="en-IN" sz="2400" dirty="0"/>
              <a:t>       MERGE(</a:t>
            </a:r>
            <a:r>
              <a:rPr lang="en-IN" sz="2400" dirty="0" err="1"/>
              <a:t>A,p,q,r</a:t>
            </a:r>
            <a:r>
              <a:rPr lang="en-IN" sz="2400" dirty="0"/>
              <a:t>)</a:t>
            </a:r>
          </a:p>
          <a:p>
            <a:pPr marL="0" indent="0">
              <a:buFontTx/>
              <a:buNone/>
              <a:defRPr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C3FC82-36EA-3084-FB50-919F2F140F7C}"/>
              </a:ext>
            </a:extLst>
          </p:cNvPr>
          <p:cNvSpPr txBox="1"/>
          <p:nvPr/>
        </p:nvSpPr>
        <p:spPr>
          <a:xfrm>
            <a:off x="755650" y="3154363"/>
            <a:ext cx="7488238" cy="1200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IN" dirty="0"/>
              <a:t>T(n) = O(1) + T(n/2) + T(n/2) + O(n) </a:t>
            </a:r>
          </a:p>
          <a:p>
            <a:pPr>
              <a:defRPr/>
            </a:pPr>
            <a:r>
              <a:rPr lang="en-IN" dirty="0"/>
              <a:t>           = (n) + 2 T(n/2)  [By masters theorem]</a:t>
            </a:r>
          </a:p>
          <a:p>
            <a:pPr>
              <a:defRPr/>
            </a:pPr>
            <a:r>
              <a:rPr lang="en-IN" dirty="0"/>
              <a:t>	=  </a:t>
            </a:r>
            <a:r>
              <a:rPr lang="el-GR" dirty="0">
                <a:latin typeface="Sylfaen" panose="010A0502050306030303" pitchFamily="18" charset="0"/>
              </a:rPr>
              <a:t>Θ</a:t>
            </a:r>
            <a:r>
              <a:rPr lang="en-IN" dirty="0"/>
              <a:t>( n log 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3D23E-F77F-DBCD-7433-9BC0017A25AF}"/>
              </a:ext>
            </a:extLst>
          </p:cNvPr>
          <p:cNvSpPr txBox="1"/>
          <p:nvPr/>
        </p:nvSpPr>
        <p:spPr>
          <a:xfrm>
            <a:off x="333375" y="1811338"/>
            <a:ext cx="4027488" cy="10144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IN" sz="2000" dirty="0"/>
              <a:t>Divide n Conquer Notation</a:t>
            </a:r>
          </a:p>
          <a:p>
            <a:pPr algn="ctr">
              <a:defRPr/>
            </a:pPr>
            <a:endParaRPr lang="en-IN" sz="2000" dirty="0"/>
          </a:p>
          <a:p>
            <a:pPr algn="ctr">
              <a:defRPr/>
            </a:pPr>
            <a:r>
              <a:rPr lang="en-IN" sz="2000" dirty="0"/>
              <a:t> [ </a:t>
            </a:r>
            <a:r>
              <a:rPr lang="en-IN" sz="1800" b="1" dirty="0"/>
              <a:t>T(n)= Divide + Recursion+ Merge</a:t>
            </a:r>
            <a:r>
              <a:rPr lang="en-IN" sz="2000" dirty="0"/>
              <a:t>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5749-0C14-17E0-9262-6B421C56E787}"/>
              </a:ext>
            </a:extLst>
          </p:cNvPr>
          <p:cNvSpPr txBox="1"/>
          <p:nvPr/>
        </p:nvSpPr>
        <p:spPr>
          <a:xfrm>
            <a:off x="363538" y="4868863"/>
            <a:ext cx="8416925" cy="369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IN" sz="1800" b="1" dirty="0"/>
              <a:t>There is no worst scenario as it works same for ascending or descending order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8BDFD11-2916-80DE-9593-D4ADB7C8D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Calculate the cost :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14E1CF27-56CA-FFCB-6066-42DCDFAB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30288"/>
            <a:ext cx="8255000" cy="95885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IN" b="1" dirty="0"/>
              <a:t>Given n elements, merge them using merge procedure to get one sorted list of  n elements</a:t>
            </a:r>
            <a:r>
              <a:rPr lang="en-IN" dirty="0"/>
              <a:t>.</a:t>
            </a:r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3B37E3A-840A-7EED-292F-747320E2C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Calculate the cost :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D52711A1-0938-FB43-4E04-A58E9384A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2349500"/>
            <a:ext cx="8255000" cy="3144838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r>
              <a:rPr lang="en-IN" dirty="0"/>
              <a:t>Each merge procedure time to merge  two sorted list into one and moving to next higher level  = O(n)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dirty="0"/>
              <a:t>Total levels to reach to the one sorted list = log n</a:t>
            </a:r>
          </a:p>
          <a:p>
            <a:pPr>
              <a:defRPr/>
            </a:pPr>
            <a:endParaRPr lang="en-IN" dirty="0"/>
          </a:p>
          <a:p>
            <a:pPr marL="0" indent="0">
              <a:buFontTx/>
              <a:buNone/>
              <a:defRPr/>
            </a:pPr>
            <a:r>
              <a:rPr lang="en-IN" b="1" dirty="0">
                <a:sym typeface="Wingdings" panose="05000000000000000000" pitchFamily="2" charset="2"/>
              </a:rPr>
              <a:t> </a:t>
            </a:r>
            <a:r>
              <a:rPr lang="en-IN" b="1" dirty="0"/>
              <a:t>Total time = O(n) * log n = O (n log 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CC201-08ED-5BC9-B889-92B445BD57BF}"/>
              </a:ext>
            </a:extLst>
          </p:cNvPr>
          <p:cNvSpPr txBox="1"/>
          <p:nvPr/>
        </p:nvSpPr>
        <p:spPr>
          <a:xfrm>
            <a:off x="381000" y="1139825"/>
            <a:ext cx="8229600" cy="830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>
              <a:defRPr/>
            </a:pPr>
            <a:r>
              <a:rPr lang="en-IN" b="1" dirty="0"/>
              <a:t>Given n elements, merge them using merge procedure to get one sorted list of  n elements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A5E7F-72FD-561F-3830-C40E0CA62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692150"/>
            <a:ext cx="8255000" cy="1503363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0" indent="0" algn="ctr">
              <a:buFontTx/>
              <a:buNone/>
              <a:defRPr/>
            </a:pPr>
            <a:r>
              <a:rPr lang="en-IN" sz="2400" b="1" dirty="0"/>
              <a:t>Given “log n” sorted list each of size “n/log n” </a:t>
            </a:r>
          </a:p>
          <a:p>
            <a:pPr marL="0" indent="0" algn="just">
              <a:buFontTx/>
              <a:buNone/>
              <a:defRPr/>
            </a:pPr>
            <a:endParaRPr lang="en-IN" sz="2400" b="1" dirty="0"/>
          </a:p>
          <a:p>
            <a:pPr marL="0" indent="0" algn="ctr">
              <a:buFontTx/>
              <a:buNone/>
              <a:defRPr/>
            </a:pPr>
            <a:r>
              <a:rPr lang="en-IN" sz="2000" b="1" dirty="0"/>
              <a:t>what is the total time required to merge them into single sorted list</a:t>
            </a:r>
          </a:p>
          <a:p>
            <a:pPr>
              <a:defRPr/>
            </a:pPr>
            <a:endParaRPr lang="en-IN" dirty="0"/>
          </a:p>
          <a:p>
            <a:pPr marL="0" indent="0">
              <a:buFontTx/>
              <a:buNone/>
              <a:defRPr/>
            </a:pPr>
            <a:endParaRPr lang="en-IN" dirty="0"/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9660797-B12B-7CF7-F2DB-597B9BF40ACC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1557338"/>
          <a:ext cx="8763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6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3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</a:rPr>
                        <a:t>N elements each of size 1 will take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n*1 = O(n)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/>
                          </a:solidFill>
                        </a:rPr>
                        <a:t>(log n) elements each of size  n/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</a:rPr>
                        <a:t>logn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</a:rPr>
                        <a:t> will take </a:t>
                      </a:r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(log n)* n/(log n) = O(n)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/>
                        <a:t>For n elements, number of levels will be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log n </a:t>
                      </a:r>
                    </a:p>
                    <a:p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/>
                        <a:t>For (log n) elements, number of levels will be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log (log n) </a:t>
                      </a:r>
                    </a:p>
                    <a:p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22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IN" sz="1800" b="0" dirty="0"/>
                        <a:t>Total Cost </a:t>
                      </a:r>
                    </a:p>
                    <a:p>
                      <a:pPr>
                        <a:defRPr/>
                      </a:pPr>
                      <a:r>
                        <a:rPr lang="en-IN" sz="1800" b="0" dirty="0"/>
                        <a:t>= cost of merge at each level * total levels</a:t>
                      </a:r>
                    </a:p>
                    <a:p>
                      <a:pPr>
                        <a:defRPr/>
                      </a:pPr>
                      <a:r>
                        <a:rPr lang="en-IN" sz="1800" b="0" dirty="0"/>
                        <a:t>= </a:t>
                      </a:r>
                      <a:r>
                        <a:rPr lang="en-IN" sz="1800" b="1" dirty="0"/>
                        <a:t>O(n) * log n = O ( n log n)</a:t>
                      </a:r>
                      <a:endParaRPr lang="en-IN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IN" sz="1800" b="0" dirty="0"/>
                        <a:t>Total Cost </a:t>
                      </a:r>
                    </a:p>
                    <a:p>
                      <a:pPr>
                        <a:defRPr/>
                      </a:pPr>
                      <a:r>
                        <a:rPr lang="en-IN" sz="1800" b="0" dirty="0"/>
                        <a:t>= cost of merge at each level * total levels</a:t>
                      </a:r>
                    </a:p>
                    <a:p>
                      <a:pPr>
                        <a:defRPr/>
                      </a:pPr>
                      <a:r>
                        <a:rPr lang="en-IN" sz="1800" b="0" dirty="0"/>
                        <a:t>= </a:t>
                      </a:r>
                      <a:r>
                        <a:rPr lang="en-IN" sz="1800" b="1" dirty="0"/>
                        <a:t>O(n) * log (log n) = O ( n log (log n))</a:t>
                      </a:r>
                      <a:endParaRPr lang="en-IN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EB5924-8420-1513-EB1E-BE7308939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88913"/>
            <a:ext cx="8255000" cy="936625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0" indent="0" algn="ctr">
              <a:buFontTx/>
              <a:buNone/>
              <a:defRPr/>
            </a:pPr>
            <a:r>
              <a:rPr lang="en-IN" sz="2400" b="1" dirty="0"/>
              <a:t>Given “log n” sorted list each of size “n/log n” </a:t>
            </a:r>
          </a:p>
          <a:p>
            <a:pPr marL="0" indent="0" algn="ctr">
              <a:buFontTx/>
              <a:buNone/>
              <a:defRPr/>
            </a:pPr>
            <a:r>
              <a:rPr lang="en-IN" sz="2000" b="1" dirty="0"/>
              <a:t>what is the total time required to merge them into single sorted list</a:t>
            </a:r>
          </a:p>
          <a:p>
            <a:pPr>
              <a:defRPr/>
            </a:pPr>
            <a:endParaRPr lang="en-IN" dirty="0"/>
          </a:p>
          <a:p>
            <a:pPr marL="0" indent="0">
              <a:buFontTx/>
              <a:buNone/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4E7D3D54-9486-B6A9-8420-EEF6D617D0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8888" y="549275"/>
            <a:ext cx="6872287" cy="1285875"/>
          </a:xfrm>
          <a:solidFill>
            <a:schemeClr val="accent2"/>
          </a:solidFill>
        </p:spPr>
        <p:txBody>
          <a:bodyPr/>
          <a:lstStyle/>
          <a:p>
            <a:pPr marL="0" indent="0" algn="ctr">
              <a:buFontTx/>
              <a:buNone/>
            </a:pPr>
            <a:r>
              <a:rPr lang="en-IN" altLang="en-US" b="1"/>
              <a:t>“n” strings each of length “n” are given.</a:t>
            </a:r>
          </a:p>
          <a:p>
            <a:pPr marL="0" indent="0" algn="ctr">
              <a:buFontTx/>
              <a:buNone/>
            </a:pPr>
            <a:endParaRPr lang="en-IN" altLang="en-US" sz="2000" b="1"/>
          </a:p>
          <a:p>
            <a:pPr marL="0" indent="0" algn="ctr">
              <a:buFontTx/>
              <a:buNone/>
            </a:pPr>
            <a:r>
              <a:rPr lang="en-IN" altLang="en-US" sz="2000" b="1"/>
              <a:t>-What will be the time taken to sort them ?</a:t>
            </a:r>
          </a:p>
          <a:p>
            <a:pPr marL="0" indent="0">
              <a:buFontTx/>
              <a:buNone/>
            </a:pPr>
            <a:endParaRPr lang="en-IN" altLang="en-US"/>
          </a:p>
          <a:p>
            <a:pPr marL="0" indent="0">
              <a:buFontTx/>
              <a:buNone/>
            </a:pPr>
            <a:endParaRPr lang="en-I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825A13BB-67C3-D5B8-4EAB-2A84773DB1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557338"/>
            <a:ext cx="8255000" cy="158432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IN" altLang="en-US" dirty="0"/>
              <a:t>Cost of merging n elements(size 1) = O(n)</a:t>
            </a:r>
          </a:p>
          <a:p>
            <a:pPr marL="0" indent="0">
              <a:buFontTx/>
              <a:buNone/>
              <a:defRPr/>
            </a:pPr>
            <a:r>
              <a:rPr lang="en-IN" altLang="en-US" dirty="0"/>
              <a:t>Hence, cost of merging n strings, each of size n </a:t>
            </a:r>
          </a:p>
          <a:p>
            <a:pPr marL="0" indent="0">
              <a:buFontTx/>
              <a:buNone/>
              <a:defRPr/>
            </a:pPr>
            <a:r>
              <a:rPr lang="en-IN" altLang="en-US" dirty="0"/>
              <a:t>                                             =O(n) * O (n) = O(n</a:t>
            </a:r>
            <a:r>
              <a:rPr lang="en-IN" altLang="en-US" baseline="30000" dirty="0"/>
              <a:t>2</a:t>
            </a:r>
            <a:r>
              <a:rPr lang="en-IN" altLang="en-US" dirty="0"/>
              <a:t>)</a:t>
            </a:r>
          </a:p>
          <a:p>
            <a:pPr marL="0" indent="0">
              <a:buFontTx/>
              <a:buNone/>
              <a:defRPr/>
            </a:pPr>
            <a:endParaRPr lang="en-IN" altLang="en-US" dirty="0"/>
          </a:p>
          <a:p>
            <a:pPr marL="0" indent="0">
              <a:buFontTx/>
              <a:buNone/>
              <a:defRPr/>
            </a:pPr>
            <a:endParaRPr lang="en-I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9D8D9-73BE-CCBA-81A0-756A7594E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28600"/>
            <a:ext cx="6872287" cy="10398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+mn-lt"/>
                <a:sym typeface="MT Extra" panose="05050102010205020202" pitchFamily="18" charset="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  <a:defRPr/>
            </a:pPr>
            <a:r>
              <a:rPr lang="en-IN" altLang="en-US" b="1" kern="0" dirty="0"/>
              <a:t>“n” strings each of length “n” are given.</a:t>
            </a:r>
          </a:p>
          <a:p>
            <a:pPr marL="0" indent="0" algn="ctr">
              <a:buFontTx/>
              <a:buNone/>
              <a:defRPr/>
            </a:pPr>
            <a:r>
              <a:rPr lang="en-IN" altLang="en-US" sz="2000" b="1" kern="0" dirty="0"/>
              <a:t>-What will be the time taken to sort them ?</a:t>
            </a:r>
          </a:p>
        </p:txBody>
      </p:sp>
      <p:sp>
        <p:nvSpPr>
          <p:cNvPr id="24580" name="TextBox 4">
            <a:extLst>
              <a:ext uri="{FF2B5EF4-FFF2-40B4-BE49-F238E27FC236}">
                <a16:creationId xmlns:a16="http://schemas.microsoft.com/office/drawing/2014/main" id="{B79E261F-A851-B607-3DF8-22A433856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500438"/>
            <a:ext cx="7200900" cy="120015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IN" altLang="en-US" sz="2400"/>
              <a:t>Total levels = (log n)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IN" altLang="en-US" sz="2000" i="1"/>
              <a:t>therefore</a:t>
            </a:r>
            <a:r>
              <a:rPr kumimoji="0" lang="en-IN" altLang="en-US" sz="2400"/>
              <a:t>,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IN" altLang="en-US" sz="2400"/>
              <a:t>	Total Cost T(n) =   O(n</a:t>
            </a:r>
            <a:r>
              <a:rPr kumimoji="0" lang="en-IN" altLang="en-US" sz="2400" baseline="30000"/>
              <a:t>2</a:t>
            </a:r>
            <a:r>
              <a:rPr kumimoji="0" lang="en-IN" altLang="en-US" sz="2400"/>
              <a:t>)  * log n  = </a:t>
            </a:r>
            <a:r>
              <a:rPr kumimoji="0" lang="en-IN" altLang="en-US" sz="2400" b="1"/>
              <a:t>O(n</a:t>
            </a:r>
            <a:r>
              <a:rPr kumimoji="0" lang="en-IN" altLang="en-US" sz="2400" b="1" baseline="30000"/>
              <a:t>2</a:t>
            </a:r>
            <a:r>
              <a:rPr kumimoji="0" lang="en-IN" altLang="en-US" sz="2400" b="1"/>
              <a:t>logn)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50821-C218-783E-9085-8E8969D61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549275"/>
            <a:ext cx="8255000" cy="2663825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marL="0" indent="0" algn="ctr">
              <a:buFontTx/>
              <a:buNone/>
              <a:defRPr/>
            </a:pPr>
            <a:r>
              <a:rPr lang="en-IN" dirty="0"/>
              <a:t>Assume that size k problem could be independently solved ( instead of 1) </a:t>
            </a:r>
          </a:p>
          <a:p>
            <a:pPr marL="0" indent="0" algn="ctr">
              <a:buFontTx/>
              <a:buNone/>
              <a:defRPr/>
            </a:pPr>
            <a:r>
              <a:rPr lang="en-IN" dirty="0"/>
              <a:t> </a:t>
            </a:r>
          </a:p>
          <a:p>
            <a:pPr marL="0" indent="0" algn="ctr">
              <a:buFontTx/>
              <a:buNone/>
              <a:defRPr/>
            </a:pPr>
            <a:r>
              <a:rPr lang="en-IN" dirty="0"/>
              <a:t> n numbers (k&lt;n) to be sorted </a:t>
            </a:r>
          </a:p>
          <a:p>
            <a:pPr marL="0" indent="0" algn="ctr">
              <a:buFontTx/>
              <a:buNone/>
              <a:defRPr/>
            </a:pPr>
            <a:r>
              <a:rPr lang="en-IN" dirty="0"/>
              <a:t>Compute the running time of Merge sort ?</a:t>
            </a:r>
          </a:p>
          <a:p>
            <a:pPr algn="just"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8D5C1-1870-736E-AF3D-6FF42194B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3" y="2492375"/>
            <a:ext cx="8255000" cy="330358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just">
              <a:defRPr/>
            </a:pPr>
            <a:r>
              <a:rPr lang="en-IN" dirty="0"/>
              <a:t>Number of elements of size k to be merged  (n/k)</a:t>
            </a:r>
          </a:p>
          <a:p>
            <a:pPr algn="just">
              <a:defRPr/>
            </a:pPr>
            <a:r>
              <a:rPr lang="en-IN" dirty="0"/>
              <a:t>Cost of merging k elements of size (n/k) = O (n)</a:t>
            </a:r>
          </a:p>
          <a:p>
            <a:pPr algn="just">
              <a:defRPr/>
            </a:pPr>
            <a:r>
              <a:rPr lang="en-IN" dirty="0"/>
              <a:t>Total numbers of levels = log (n/k)</a:t>
            </a:r>
          </a:p>
          <a:p>
            <a:pPr algn="just">
              <a:defRPr/>
            </a:pPr>
            <a:endParaRPr lang="en-IN" dirty="0"/>
          </a:p>
          <a:p>
            <a:pPr marL="0" indent="0" algn="just">
              <a:buFontTx/>
              <a:buNone/>
              <a:defRPr/>
            </a:pPr>
            <a:r>
              <a:rPr lang="en-IN" dirty="0">
                <a:sym typeface="Wingdings" panose="05000000000000000000" pitchFamily="2" charset="2"/>
              </a:rPr>
              <a:t> </a:t>
            </a:r>
            <a:r>
              <a:rPr lang="en-IN" dirty="0"/>
              <a:t>Total cost = O (n ) * log (n/k)</a:t>
            </a:r>
          </a:p>
          <a:p>
            <a:pPr marL="0" indent="0" algn="just">
              <a:buFontTx/>
              <a:buNone/>
              <a:defRPr/>
            </a:pPr>
            <a:r>
              <a:rPr lang="en-IN" dirty="0"/>
              <a:t>		  = </a:t>
            </a:r>
            <a:r>
              <a:rPr lang="en-IN" b="1" dirty="0"/>
              <a:t>O( n log (n/k))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FF2B4F-B3AA-D3A2-71B2-1A6EB388C074}"/>
              </a:ext>
            </a:extLst>
          </p:cNvPr>
          <p:cNvSpPr txBox="1">
            <a:spLocks/>
          </p:cNvSpPr>
          <p:nvPr/>
        </p:nvSpPr>
        <p:spPr bwMode="auto">
          <a:xfrm>
            <a:off x="395288" y="549275"/>
            <a:ext cx="8255000" cy="15732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+mn-lt"/>
                <a:sym typeface="MT Extra" panose="05050102010205020202" pitchFamily="18" charset="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  <a:defRPr/>
            </a:pPr>
            <a:r>
              <a:rPr lang="en-IN" kern="0" dirty="0"/>
              <a:t>Assume that size k problem could be independently solved ( instead of 1)  </a:t>
            </a:r>
          </a:p>
          <a:p>
            <a:pPr marL="0" indent="0" algn="ctr">
              <a:buFontTx/>
              <a:buNone/>
              <a:defRPr/>
            </a:pPr>
            <a:r>
              <a:rPr lang="en-IN" kern="0" dirty="0"/>
              <a:t>Compute the running time of Merge sort ?</a:t>
            </a:r>
          </a:p>
          <a:p>
            <a:pPr algn="just">
              <a:defRPr/>
            </a:pPr>
            <a:endParaRPr lang="en-IN" kern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23BDC0-1D11-7AD6-87BE-074FB543CACE}"/>
              </a:ext>
            </a:extLst>
          </p:cNvPr>
          <p:cNvSpPr txBox="1"/>
          <p:nvPr/>
        </p:nvSpPr>
        <p:spPr>
          <a:xfrm>
            <a:off x="403225" y="1881188"/>
            <a:ext cx="7561263" cy="3908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</a:rPr>
              <a:t> 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kern="0" dirty="0">
                <a:solidFill>
                  <a:srgbClr val="000000"/>
                </a:solidFill>
                <a:latin typeface="Rockwell" panose="02060603020205020403" pitchFamily="18" charset="0"/>
                <a:ea typeface="Times New Roman" panose="02020603050405020304" pitchFamily="18" charset="0"/>
              </a:rPr>
              <a:t>Merge Sort Algorithm</a:t>
            </a:r>
            <a:endParaRPr lang="en-IN" sz="3600" b="1" kern="0" dirty="0">
              <a:solidFill>
                <a:srgbClr val="365F91"/>
              </a:solidFill>
              <a:latin typeface="Cambria" panose="020405030504060302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u="sng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hlinkClick r:id="rId2"/>
              </a:rPr>
              <a:t>https://www.youtube.com/watch?v=RH0p7DYyMn4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</a:rPr>
              <a:t> 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kern="0" dirty="0">
                <a:solidFill>
                  <a:srgbClr val="000000"/>
                </a:solidFill>
                <a:latin typeface="Rockwell" panose="02060603020205020403" pitchFamily="18" charset="0"/>
                <a:ea typeface="Times New Roman" panose="02020603050405020304" pitchFamily="18" charset="0"/>
              </a:rPr>
              <a:t>Merge Procedure illustrative Example</a:t>
            </a:r>
            <a:endParaRPr lang="en-IN" sz="3600" b="1" kern="0" dirty="0">
              <a:solidFill>
                <a:srgbClr val="365F91"/>
              </a:solidFill>
              <a:latin typeface="Cambria" panose="020405030504060302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u="sng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hlinkClick r:id="rId3"/>
              </a:rPr>
              <a:t>https://www.youtube.com/watch?v=WzDq-WQALy0</a:t>
            </a:r>
            <a:endParaRPr lang="en-IN" sz="2000" u="sng" dirty="0">
              <a:solidFill>
                <a:srgbClr val="000000"/>
              </a:solidFill>
              <a:latin typeface="Rockwell" panose="02060603020205020403" pitchFamily="18" charset="0"/>
              <a:ea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IN" sz="2000" u="sng" dirty="0">
              <a:solidFill>
                <a:srgbClr val="000000"/>
              </a:solidFill>
              <a:latin typeface="Rockwell" panose="02060603020205020403" pitchFamily="18" charset="0"/>
              <a:ea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kern="0" dirty="0">
                <a:solidFill>
                  <a:srgbClr val="000000"/>
                </a:solidFill>
                <a:latin typeface="Rockwell" panose="02060603020205020403" pitchFamily="18" charset="0"/>
              </a:rPr>
              <a:t>Understanding Space Complexity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kern="0" dirty="0">
                <a:solidFill>
                  <a:srgbClr val="000000"/>
                </a:solidFill>
                <a:latin typeface="Rockwell" panose="02060603020205020403" pitchFamily="18" charset="0"/>
                <a:hlinkClick r:id="rId4"/>
              </a:rPr>
              <a:t>https://youtu.be/HEZdrU8ZPIk</a:t>
            </a:r>
            <a:endParaRPr lang="en-IN" sz="2000" kern="0" dirty="0">
              <a:solidFill>
                <a:srgbClr val="000000"/>
              </a:solidFill>
              <a:latin typeface="Rockwell" panose="02060603020205020403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kern="0" dirty="0">
                <a:solidFill>
                  <a:srgbClr val="000000"/>
                </a:solidFill>
                <a:latin typeface="Rockwell" panose="02060603020205020403" pitchFamily="18" charset="0"/>
                <a:ea typeface="Times New Roman" panose="02020603050405020304" pitchFamily="18" charset="0"/>
              </a:rPr>
              <a:t>Merge Sort Complexity Analysis</a:t>
            </a:r>
            <a:endParaRPr lang="en-IN" sz="3600" b="1" kern="0" dirty="0">
              <a:solidFill>
                <a:srgbClr val="365F91"/>
              </a:solidFill>
              <a:latin typeface="Cambria" panose="020405030504060302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u="sng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hlinkClick r:id="rId5"/>
              </a:rPr>
              <a:t>https://www.youtube.com/watch?v=x1dJx89Elf0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27651" name="TextBox 3">
            <a:extLst>
              <a:ext uri="{FF2B5EF4-FFF2-40B4-BE49-F238E27FC236}">
                <a16:creationId xmlns:a16="http://schemas.microsoft.com/office/drawing/2014/main" id="{F06C82EF-53C8-682C-2D6D-8B1362552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4813"/>
            <a:ext cx="63357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/>
              <a:t>Video Lecture of the topic can be found at</a:t>
            </a:r>
          </a:p>
        </p:txBody>
      </p:sp>
      <p:sp>
        <p:nvSpPr>
          <p:cNvPr id="27652" name="TextBox 2">
            <a:extLst>
              <a:ext uri="{FF2B5EF4-FFF2-40B4-BE49-F238E27FC236}">
                <a16:creationId xmlns:a16="http://schemas.microsoft.com/office/drawing/2014/main" id="{31135AE0-34B7-26EF-AFDC-DFEFE3F84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5988050"/>
            <a:ext cx="8763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IN" altLang="en-US" sz="1600" b="1">
                <a:latin typeface="Tahoma" panose="020B0604030504040204" pitchFamily="34" charset="0"/>
                <a:hlinkClick r:id="rId6"/>
              </a:rPr>
              <a:t>https://cexpertvision.com/2020/10/18/comparison-based-sorting-ca/</a:t>
            </a:r>
            <a:endParaRPr kumimoji="0" lang="en-IN" altLang="en-US" sz="1600" b="1">
              <a:latin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1EBFA-C0F6-DA14-A487-32EA4B7A3AB5}"/>
              </a:ext>
            </a:extLst>
          </p:cNvPr>
          <p:cNvSpPr txBox="1"/>
          <p:nvPr/>
        </p:nvSpPr>
        <p:spPr>
          <a:xfrm>
            <a:off x="395288" y="1173163"/>
            <a:ext cx="8137525" cy="984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kern="0" dirty="0">
                <a:solidFill>
                  <a:srgbClr val="000000"/>
                </a:solidFill>
                <a:latin typeface="Rockwell" panose="02060603020205020403" pitchFamily="18" charset="0"/>
              </a:rPr>
              <a:t>Quick Sort Analysis for various partitioning scenarios </a:t>
            </a:r>
          </a:p>
          <a:p>
            <a:pPr>
              <a:spcAft>
                <a:spcPts val="0"/>
              </a:spcAft>
              <a:defRPr/>
            </a:pPr>
            <a:r>
              <a:rPr lang="en-IN" sz="1800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hlinkClick r:id="rId7"/>
              </a:rPr>
              <a:t>https://youtu.be/gCP06CTpEaE  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spcAft>
                <a:spcPts val="0"/>
              </a:spcAft>
              <a:defRPr/>
            </a:pPr>
            <a:endParaRPr lang="en-IN" altLang="en-US" sz="2000" u="sng" dirty="0">
              <a:solidFill>
                <a:srgbClr val="000000"/>
              </a:solidFill>
              <a:latin typeface="Rockwell" panose="02060603020205020403" pitchFamily="18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CS364 CH04 Bz1">
  <a:themeElements>
    <a:clrScheme name="CS364 CH04 Bz1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S364 CH04 Bz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S364 CH04 Bz1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364 CH04 Bz1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364 CH04 Bz1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D:\Bz\IOs\AJob\Tech\CS364 Computer Architecture\CS364 CH04 Bz1.ppt</Template>
  <TotalTime>23547</TotalTime>
  <Words>1763</Words>
  <Application>Microsoft Office PowerPoint</Application>
  <PresentationFormat>On-screen Show (4:3)</PresentationFormat>
  <Paragraphs>187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Times New Roman</vt:lpstr>
      <vt:lpstr>Arial</vt:lpstr>
      <vt:lpstr>MT Extra</vt:lpstr>
      <vt:lpstr>Wingdings</vt:lpstr>
      <vt:lpstr>Garamond</vt:lpstr>
      <vt:lpstr>Symbol</vt:lpstr>
      <vt:lpstr>Sylfaen</vt:lpstr>
      <vt:lpstr>Rockwell</vt:lpstr>
      <vt:lpstr>Calibri</vt:lpstr>
      <vt:lpstr>Mangal</vt:lpstr>
      <vt:lpstr>Cambria</vt:lpstr>
      <vt:lpstr>Tahoma</vt:lpstr>
      <vt:lpstr>CS364 CH04 Bz1</vt:lpstr>
      <vt:lpstr>PowerPoint Presentation</vt:lpstr>
      <vt:lpstr> Divide and Conquer</vt:lpstr>
      <vt:lpstr>Mergesort : Using Divide and Conquer </vt:lpstr>
      <vt:lpstr>Using Divide and Conquer: Mergesort</vt:lpstr>
      <vt:lpstr>Algorithm: Mergesort</vt:lpstr>
      <vt:lpstr>MERGE(A,p,q,r)  - Merging Sorted Sequences</vt:lpstr>
      <vt:lpstr>PowerPoint Presentation</vt:lpstr>
      <vt:lpstr>PowerPoint Presentation</vt:lpstr>
      <vt:lpstr>PowerPoint Presentation</vt:lpstr>
      <vt:lpstr>Space Complexity </vt:lpstr>
      <vt:lpstr>Time Complexity</vt:lpstr>
      <vt:lpstr>Calculate the cost :</vt:lpstr>
      <vt:lpstr>Calculate the cost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CS520 Advanced Analysis of Algorithms and Complexity</dc:title>
  <dc:creator>Adrian &amp; Wendy</dc:creator>
  <cp:lastModifiedBy>Ashish Seth</cp:lastModifiedBy>
  <cp:revision>625</cp:revision>
  <cp:lastPrinted>1999-12-17T13:56:08Z</cp:lastPrinted>
  <dcterms:created xsi:type="dcterms:W3CDTF">1998-09-21T10:37:54Z</dcterms:created>
  <dcterms:modified xsi:type="dcterms:W3CDTF">2024-10-09T18:07:05Z</dcterms:modified>
</cp:coreProperties>
</file>