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18"/>
  </p:notesMasterIdLst>
  <p:handoutMasterIdLst>
    <p:handoutMasterId r:id="rId19"/>
  </p:handoutMasterIdLst>
  <p:sldIdLst>
    <p:sldId id="408" r:id="rId2"/>
    <p:sldId id="409" r:id="rId3"/>
    <p:sldId id="410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403" r:id="rId13"/>
    <p:sldId id="404" r:id="rId14"/>
    <p:sldId id="406" r:id="rId15"/>
    <p:sldId id="405" r:id="rId16"/>
    <p:sldId id="411" r:id="rId1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3482" autoAdjust="0"/>
    <p:restoredTop sz="81699" autoAdjust="0"/>
  </p:normalViewPr>
  <p:slideViewPr>
    <p:cSldViewPr>
      <p:cViewPr varScale="1">
        <p:scale>
          <a:sx n="67" d="100"/>
          <a:sy n="67" d="100"/>
        </p:scale>
        <p:origin x="241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1950" y="-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AC0C1E36-6C83-9332-1F12-B3BE1B25D0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ctr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A1A5D223-3AC8-3623-B384-506E83286A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0" name="Rectangle 4">
            <a:extLst>
              <a:ext uri="{FF2B5EF4-FFF2-40B4-BE49-F238E27FC236}">
                <a16:creationId xmlns:a16="http://schemas.microsoft.com/office/drawing/2014/main" id="{A5C494E3-5A6C-20D7-03FE-67BA991C98A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9830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>
            <a:extLst>
              <a:ext uri="{FF2B5EF4-FFF2-40B4-BE49-F238E27FC236}">
                <a16:creationId xmlns:a16="http://schemas.microsoft.com/office/drawing/2014/main" id="{276A46AF-960B-2C14-FE17-E1021BFA4D8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5139" tIns="49472" rIns="95139" bIns="4947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6F604BED-0A46-4D27-8AB5-B02443E65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A2586CEC-1021-4A5F-152F-5866289730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9087E7F-2B76-11B8-A9BB-345431BE6B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7A621E4-0AF7-1189-A54F-D4E861E3D1F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0578B78-9C79-566E-9F00-5BF23622E96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61066F5D-432D-1F4F-A6E7-8B2F763236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5E49C680-202E-2452-E81D-A8E8CD137A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BB5A933B-BAE8-4501-8557-18D08EB4BC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BB5AF151-656D-EE09-36F5-323B47BFD1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3ECC3-F255-A983-E3BF-7B189FD1A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IN" sz="1300" b="1" dirty="0">
                <a:latin typeface="+mn-lt"/>
              </a:rPr>
              <a:t>Abstraction</a:t>
            </a:r>
            <a:r>
              <a:rPr lang="en-IN" sz="1300" dirty="0">
                <a:latin typeface="+mn-lt"/>
              </a:rPr>
              <a:t> is the method of hiding the unwanted information. Whereas </a:t>
            </a:r>
            <a:r>
              <a:rPr lang="en-IN" sz="1300" b="1" dirty="0">
                <a:latin typeface="+mn-lt"/>
              </a:rPr>
              <a:t>encapsulation</a:t>
            </a:r>
            <a:r>
              <a:rPr lang="en-IN" sz="1300" dirty="0">
                <a:latin typeface="+mn-lt"/>
              </a:rPr>
              <a:t> is a method to hide the data </a:t>
            </a:r>
            <a:r>
              <a:rPr lang="en-IN" sz="1300" b="1" dirty="0">
                <a:latin typeface="+mn-lt"/>
              </a:rPr>
              <a:t>in a</a:t>
            </a:r>
            <a:r>
              <a:rPr lang="en-IN" sz="1300" dirty="0">
                <a:latin typeface="+mn-lt"/>
              </a:rPr>
              <a:t> single entity or unit along </a:t>
            </a:r>
            <a:r>
              <a:rPr lang="en-IN" sz="1300" b="1" dirty="0">
                <a:latin typeface="+mn-lt"/>
              </a:rPr>
              <a:t>with a</a:t>
            </a:r>
            <a:r>
              <a:rPr lang="en-IN" sz="1300" dirty="0">
                <a:latin typeface="+mn-lt"/>
              </a:rPr>
              <a:t> method to protect information from outside. ... Whereas </a:t>
            </a:r>
            <a:r>
              <a:rPr lang="en-IN" sz="1300" b="1" dirty="0">
                <a:latin typeface="+mn-lt"/>
              </a:rPr>
              <a:t>encapsulation</a:t>
            </a:r>
            <a:r>
              <a:rPr lang="en-IN" sz="1300" dirty="0">
                <a:latin typeface="+mn-lt"/>
              </a:rPr>
              <a:t> can be implemented using by access modifier i.e. private, protected and public.</a:t>
            </a:r>
            <a:endParaRPr lang="en-IN" dirty="0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A910AD5F-C46A-07CE-8668-5C49BE0CC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35996B1-BDA7-4F0C-833C-00E3D222B59A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5A933B-BAE8-4501-8557-18D08EB4BCA9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484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A48A736C-2E53-001D-1871-C840DE7EF7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8D4DA80E-031F-8F92-CA1F-AB7DFF7C3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009F2D3B-7864-5529-25D5-B7E8759DE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3976FBF-7434-49DB-A202-3AF99798D911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81DED13-DE19-C125-6682-6692B78548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19E1E475-F8B9-2B87-9AE4-FDB6EB72C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E5FB5A70-49F1-67A8-0511-C01DB6610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294A2F-1526-4635-9925-D7B33554F092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8">
            <a:extLst>
              <a:ext uri="{FF2B5EF4-FFF2-40B4-BE49-F238E27FC236}">
                <a16:creationId xmlns:a16="http://schemas.microsoft.com/office/drawing/2014/main" id="{419818EE-98E9-9AEF-E84F-2EC7F22A137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3" name="Line 9">
            <a:extLst>
              <a:ext uri="{FF2B5EF4-FFF2-40B4-BE49-F238E27FC236}">
                <a16:creationId xmlns:a16="http://schemas.microsoft.com/office/drawing/2014/main" id="{8F2C5A13-F8A7-3E94-D0C9-9F517BAB93B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79D9E01F-6489-B1E5-F9BE-97F13A1AA7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029200" y="4038600"/>
            <a:ext cx="4114800" cy="4132263"/>
          </a:xfrm>
          <a:prstGeom prst="diamond">
            <a:avLst/>
          </a:prstGeom>
          <a:solidFill>
            <a:srgbClr val="00FFFF">
              <a:alpha val="50195"/>
            </a:srgbClr>
          </a:solidFill>
          <a:ln>
            <a:noFill/>
          </a:ln>
          <a:effectLst/>
        </p:spPr>
        <p:txBody>
          <a:bodyPr wrap="none" t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20000"/>
              </a:spcBef>
              <a:defRPr/>
            </a:pPr>
            <a:r>
              <a:rPr lang="en-US" altLang="en-US" sz="4400" u="sng">
                <a:solidFill>
                  <a:srgbClr val="A50021"/>
                </a:solidFill>
                <a:latin typeface="Garamond" panose="02020404030301010803" pitchFamily="18" charset="0"/>
              </a:rPr>
              <a:t>TECH</a:t>
            </a:r>
            <a:r>
              <a:rPr lang="en-US" altLang="en-US" sz="4800" u="sng">
                <a:solidFill>
                  <a:srgbClr val="A50021"/>
                </a:solidFill>
                <a:latin typeface="Garamond" panose="02020404030301010803" pitchFamily="18" charset="0"/>
              </a:rPr>
              <a:t> </a:t>
            </a:r>
            <a:endParaRPr lang="en-US" altLang="en-US" sz="180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en-US" sz="2800">
                <a:solidFill>
                  <a:srgbClr val="006666"/>
                </a:solidFill>
                <a:latin typeface="Garamond" panose="02020404030301010803" pitchFamily="18" charset="0"/>
              </a:rPr>
              <a:t>Computer Science</a:t>
            </a:r>
            <a:endParaRPr lang="en-US" altLang="en-US" sz="1800">
              <a:solidFill>
                <a:srgbClr val="006666"/>
              </a:solidFill>
              <a:latin typeface="Garamond" panose="02020404030301010803" pitchFamily="18" charset="0"/>
            </a:endParaRPr>
          </a:p>
        </p:txBody>
      </p:sp>
      <p:sp>
        <p:nvSpPr>
          <p:cNvPr id="49166" name="Rectangle 14"/>
          <p:cNvSpPr>
            <a:spLocks noGrp="1" noChangeArrowheads="1"/>
          </p:cNvSpPr>
          <p:nvPr>
            <p:ph type="ctrTitle" sz="quarter"/>
          </p:nvPr>
        </p:nvSpPr>
        <p:spPr>
          <a:xfrm>
            <a:off x="381000" y="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916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81000" y="1066800"/>
            <a:ext cx="8229600" cy="5638800"/>
          </a:xfrm>
        </p:spPr>
        <p:txBody>
          <a:bodyPr/>
          <a:lstStyle>
            <a:lvl1pPr marL="282575" indent="-282575">
              <a:defRPr/>
            </a:lvl1pPr>
            <a:lvl2pPr marL="800100" lvl="1" indent="-403225">
              <a:defRPr/>
            </a:lvl2pPr>
            <a:lvl3pPr marL="1200150" lvl="2" indent="-285750">
              <a:defRPr/>
            </a:lvl3pPr>
            <a:lvl4pPr marL="1598613" lvl="3" indent="-222250">
              <a:defRPr/>
            </a:lvl4pPr>
            <a:lvl5pPr lvl="4" indent="-280988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>
                <a:sym typeface="MT Extra" pitchFamily="18" charset="2"/>
              </a:rPr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602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58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053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4700" y="990600"/>
            <a:ext cx="4051300" cy="5638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60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558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22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67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2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285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68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228600"/>
            <a:ext cx="20637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0388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61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9C0EEA9A-653B-AF20-0D19-B70A38E10D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468F36FD-9668-1576-7B50-86F84187C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990600"/>
            <a:ext cx="82550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>
                <a:sym typeface="MT Extra" panose="05050102010205020202" pitchFamily="18" charset="2"/>
              </a:rPr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1AE0B769-8FAE-9803-EA2A-62B4CB89C4F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90600"/>
            <a:ext cx="8229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  <p:sp>
        <p:nvSpPr>
          <p:cNvPr id="1029" name="Line 11">
            <a:extLst>
              <a:ext uri="{FF2B5EF4-FFF2-40B4-BE49-F238E27FC236}">
                <a16:creationId xmlns:a16="http://schemas.microsoft.com/office/drawing/2014/main" id="{FD786030-13B7-1807-CDCC-D428BE2F0FC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81000" y="9144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Q"/>
        <a:defRPr kumimoji="1" sz="2400" b="1">
          <a:solidFill>
            <a:schemeClr val="tx1"/>
          </a:solidFill>
          <a:latin typeface="+mn-lt"/>
          <a:sym typeface="MT Extra" panose="05050102010205020202" pitchFamily="18" charset="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MT Extra" panose="05050102010205020202" pitchFamily="18" charset="2"/>
        <a:buChar char="f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–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5EA971DF-4188-0B03-0F36-6799466438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4F3E06F-23FC-94F0-DFA6-96741ED2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013075"/>
            <a:ext cx="792003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3200" b="1"/>
              <a:t>Data Abstraction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3200" b="1"/>
              <a:t>&amp;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3200" b="1"/>
              <a:t>Basic Data Structures</a:t>
            </a:r>
            <a:endParaRPr kumimoji="0" lang="en-IN" altLang="en-US" sz="32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56668A-7868-DB1D-8C61-45C838E1F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153400" cy="320040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An </a:t>
            </a:r>
            <a:r>
              <a:rPr lang="en-US" b="1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ADT</a:t>
            </a: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describes a set of objects sharing the same properties and behaviors 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dirty="0">
                <a:latin typeface="Verdana" pitchFamily="34" charset="0"/>
                <a:ea typeface="Verdana" pitchFamily="34" charset="0"/>
              </a:rPr>
              <a:t>The properties of an ADT are its data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The behaviors of an ADT are its operations or functions</a:t>
            </a:r>
          </a:p>
          <a:p>
            <a:pPr marL="301943" lvl="1" indent="0"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Thus, an ADT couples its data and operations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OOP emphasizes data abstraction</a:t>
            </a:r>
          </a:p>
          <a:p>
            <a:pPr marL="301943" lvl="1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642EEF-77A7-B338-7733-3735EE99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423863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600" dirty="0">
                <a:latin typeface="Verdana" pitchFamily="34" charset="0"/>
                <a:ea typeface="Verdana" pitchFamily="34" charset="0"/>
                <a:cs typeface="Verdana" pitchFamily="34" charset="0"/>
              </a:rPr>
              <a:t>Abstract Data Type (ADT)</a:t>
            </a:r>
          </a:p>
        </p:txBody>
      </p:sp>
      <p:sp>
        <p:nvSpPr>
          <p:cNvPr id="6148" name="Slide Number Placeholder 5">
            <a:extLst>
              <a:ext uri="{FF2B5EF4-FFF2-40B4-BE49-F238E27FC236}">
                <a16:creationId xmlns:a16="http://schemas.microsoft.com/office/drawing/2014/main" id="{3F874AF8-54E8-2E03-BAE6-0C39265235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75033A1-7C18-48F0-BE5D-C8681FAD77D8}" type="slidenum">
              <a:rPr kumimoji="0" lang="en-US" altLang="en-US" sz="240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en-US" sz="2400"/>
          </a:p>
        </p:txBody>
      </p:sp>
      <p:sp>
        <p:nvSpPr>
          <p:cNvPr id="6149" name="Rectangle 4">
            <a:extLst>
              <a:ext uri="{FF2B5EF4-FFF2-40B4-BE49-F238E27FC236}">
                <a16:creationId xmlns:a16="http://schemas.microsoft.com/office/drawing/2014/main" id="{67395957-7681-3395-20CD-3BA89428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5362575"/>
            <a:ext cx="8686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 b="1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Abstraction: hide implementation details.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40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data structure is the physical implementation of an ADT.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>
            <a:extLst>
              <a:ext uri="{FF2B5EF4-FFF2-40B4-BE49-F238E27FC236}">
                <a16:creationId xmlns:a16="http://schemas.microsoft.com/office/drawing/2014/main" id="{D8173748-A472-C796-72AC-5B04E49C4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6632"/>
            <a:ext cx="8507288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00"/>
              </a:buClr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Q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sym typeface="MT Extra" panose="05050102010205020202" pitchFamily="18" charset="2"/>
              </a:defRPr>
            </a:lvl2pPr>
            <a:lvl3pPr marL="1143000" indent="-228600">
              <a:spcBef>
                <a:spcPct val="20000"/>
              </a:spcBef>
              <a:buClr>
                <a:srgbClr val="FF0000"/>
              </a:buClr>
              <a:buFont typeface="MT Extra" panose="05050102010205020202" pitchFamily="18" charset="2"/>
              <a:buChar char="f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F0000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Logical vs. Physical Form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items have both a logical and a physical form.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Logical form: 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definition of the data item within an ADT. 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en-IN" sz="2000" b="1" dirty="0"/>
              <a:t>Abstract Data Type (ADT):</a:t>
            </a:r>
            <a:r>
              <a:rPr lang="en-IN" sz="2000" dirty="0"/>
              <a:t> This is a logical, conceptual model. It defines </a:t>
            </a:r>
            <a:r>
              <a:rPr lang="en-IN" sz="2000" b="1" dirty="0"/>
              <a:t>what</a:t>
            </a:r>
            <a:r>
              <a:rPr lang="en-IN" sz="2000" dirty="0"/>
              <a:t> data is handled and </a:t>
            </a:r>
            <a:r>
              <a:rPr lang="en-IN" sz="2000" b="1" dirty="0"/>
              <a:t>what</a:t>
            </a:r>
            <a:r>
              <a:rPr lang="en-IN" sz="2000" dirty="0"/>
              <a:t> operations can be performed (such as push, pop, or insert), but it hides </a:t>
            </a:r>
            <a:r>
              <a:rPr lang="en-IN" sz="2000" i="1" dirty="0"/>
              <a:t>how</a:t>
            </a:r>
            <a:r>
              <a:rPr lang="en-IN" sz="2000" dirty="0"/>
              <a:t> those operations are achieved. </a:t>
            </a: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b="1" dirty="0">
                <a:solidFill>
                  <a:srgbClr val="1717A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Physical form: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implementation of the data item within a data structure. 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>
              <a:spcBef>
                <a:spcPct val="0"/>
              </a:spcBef>
              <a:buClrTx/>
              <a:buNone/>
            </a:pPr>
            <a:r>
              <a:rPr lang="en-IN" sz="2000" b="1" dirty="0"/>
              <a:t>Data Structure:</a:t>
            </a:r>
            <a:r>
              <a:rPr lang="en-IN" sz="2000" dirty="0"/>
              <a:t> This is the physical, programmatic realization in memory. It defines </a:t>
            </a:r>
            <a:r>
              <a:rPr lang="en-IN" sz="2000" b="1" dirty="0"/>
              <a:t>how</a:t>
            </a:r>
            <a:r>
              <a:rPr lang="en-IN" sz="2000" dirty="0"/>
              <a:t> the data is stored and manipulated using arrays, pointers, or linked nodes</a:t>
            </a:r>
          </a:p>
          <a:p>
            <a:pPr algn="just">
              <a:spcBef>
                <a:spcPct val="0"/>
              </a:spcBef>
              <a:buClrTx/>
              <a:buFontTx/>
              <a:buNone/>
            </a:pPr>
            <a:endParaRPr kumimoji="0" lang="en-US" alt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195" name="Picture 2">
            <a:extLst>
              <a:ext uri="{FF2B5EF4-FFF2-40B4-BE49-F238E27FC236}">
                <a16:creationId xmlns:a16="http://schemas.microsoft.com/office/drawing/2014/main" id="{38239ED8-377E-9E63-1131-E84D8146B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64" y="5113196"/>
            <a:ext cx="3475856" cy="1737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F935B2F-20A3-9225-77E0-E00C6F9FFD7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0"/>
              <a:t>Data Abstraction and Basic Data Structures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4C2BBA1-15BC-C9E9-09DB-CF6D1ADAABB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Improving efficiency by building better</a:t>
            </a:r>
          </a:p>
          <a:p>
            <a:pPr lvl="1"/>
            <a:r>
              <a:rPr lang="en-US" altLang="en-US"/>
              <a:t>Data Structure</a:t>
            </a:r>
          </a:p>
          <a:p>
            <a:r>
              <a:rPr lang="en-US" altLang="en-US"/>
              <a:t>Object IN</a:t>
            </a:r>
          </a:p>
          <a:p>
            <a:pPr lvl="1"/>
            <a:r>
              <a:rPr lang="en-US" altLang="en-US"/>
              <a:t>Abstract Data Type </a:t>
            </a:r>
          </a:p>
          <a:p>
            <a:pPr lvl="2"/>
            <a:r>
              <a:rPr lang="en-US" altLang="en-US"/>
              <a:t>Specification</a:t>
            </a:r>
          </a:p>
          <a:p>
            <a:pPr lvl="2"/>
            <a:r>
              <a:rPr lang="en-US" altLang="en-US"/>
              <a:t>Design</a:t>
            </a:r>
          </a:p>
          <a:p>
            <a:pPr lvl="1"/>
            <a:r>
              <a:rPr lang="en-US" altLang="en-US"/>
              <a:t>Architecture [Structure, Function]</a:t>
            </a:r>
          </a:p>
          <a:p>
            <a:r>
              <a:rPr lang="en-US" altLang="en-US"/>
              <a:t>Abstract Data Types</a:t>
            </a:r>
          </a:p>
          <a:p>
            <a:pPr lvl="1"/>
            <a:r>
              <a:rPr lang="en-US" altLang="en-US"/>
              <a:t>Lists, Trees</a:t>
            </a:r>
          </a:p>
          <a:p>
            <a:pPr lvl="1"/>
            <a:r>
              <a:rPr lang="en-US" altLang="en-US"/>
              <a:t>Stacks, Queues</a:t>
            </a:r>
          </a:p>
          <a:p>
            <a:pPr lvl="1"/>
            <a:r>
              <a:rPr lang="en-US" altLang="en-US"/>
              <a:t>Priority Queue, Union-Find</a:t>
            </a:r>
          </a:p>
          <a:p>
            <a:pPr lvl="1"/>
            <a:r>
              <a:rPr lang="en-US" altLang="en-US"/>
              <a:t>Dictionary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E42487-7080-97C9-2EC4-861F618A5ED2}"/>
              </a:ext>
            </a:extLst>
          </p:cNvPr>
          <p:cNvSpPr/>
          <p:nvPr/>
        </p:nvSpPr>
        <p:spPr bwMode="auto">
          <a:xfrm>
            <a:off x="5651500" y="5157788"/>
            <a:ext cx="2736850" cy="12239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en-IN" dirty="0"/>
              <a:t> </a:t>
            </a:r>
            <a:r>
              <a:rPr lang="en-IN" sz="3200" dirty="0"/>
              <a:t>ADT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662D111-ADDD-5125-374D-87DD037C1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 Data type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5EC1FAD-82EE-B950-90F1-994947452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/>
              <a:t>i is an instance of type T,   i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T</a:t>
            </a:r>
          </a:p>
          <a:p>
            <a:pPr lvl="1"/>
            <a:r>
              <a:rPr lang="en-US" altLang="en-US"/>
              <a:t>e is an element of set S,   e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S</a:t>
            </a:r>
          </a:p>
          <a:p>
            <a:pPr lvl="1"/>
            <a:r>
              <a:rPr lang="en-US" altLang="en-US"/>
              <a:t>o is an object of class C,   o </a:t>
            </a:r>
            <a:r>
              <a:rPr lang="en-US" altLang="en-US">
                <a:sym typeface="Symbol" panose="05050102010706020507" pitchFamily="18" charset="2"/>
              </a:rPr>
              <a:t></a:t>
            </a:r>
            <a:r>
              <a:rPr lang="en-US" altLang="en-US"/>
              <a:t> C</a:t>
            </a:r>
          </a:p>
          <a:p>
            <a:pPr lvl="1"/>
            <a:endParaRPr lang="en-US" altLang="en-US"/>
          </a:p>
          <a:p>
            <a:r>
              <a:rPr lang="en-US" altLang="en-US"/>
              <a:t>Abstract Data Type</a:t>
            </a:r>
          </a:p>
          <a:p>
            <a:pPr lvl="1"/>
            <a:r>
              <a:rPr lang="en-US" altLang="en-US" i="1"/>
              <a:t>Structures</a:t>
            </a:r>
            <a:r>
              <a:rPr lang="en-US" altLang="en-US"/>
              <a:t>: data structure declarations</a:t>
            </a:r>
          </a:p>
          <a:p>
            <a:pPr lvl="1"/>
            <a:r>
              <a:rPr lang="en-US" altLang="en-US" i="1"/>
              <a:t>Functions</a:t>
            </a:r>
            <a:r>
              <a:rPr lang="en-US" altLang="en-US"/>
              <a:t>: operation definitions</a:t>
            </a:r>
          </a:p>
          <a:p>
            <a:pPr lvl="1"/>
            <a:endParaRPr lang="en-US" altLang="en-US"/>
          </a:p>
          <a:p>
            <a:r>
              <a:rPr lang="en-US" altLang="en-US"/>
              <a:t>An ADT is identified as a Class </a:t>
            </a:r>
          </a:p>
          <a:p>
            <a:pPr lvl="1"/>
            <a:r>
              <a:rPr lang="en-US" altLang="en-US"/>
              <a:t>in languages such as C++ and Java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5EEAEA8-83E4-54DD-4D75-16FB1C4AE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ADT Specification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614BE61-5682-400A-E586-4A94E6472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30288"/>
            <a:ext cx="8255000" cy="563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The specification of an ADT describe how the operations (functions, procedures, or methods) behave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in terms of Inputs and Outputs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 specification of an operation consists of: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Calling prototype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Preconditions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Postconditions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calling prototype includes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name of the operation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parameters and their types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return value and its types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preconditions are statements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assumed to be true when the operation is called.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postconditions are statements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assumed to be true when the operation returns.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87899CC-A629-A2B9-0F89-C5AF2900AF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Operations for ADT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1761634-A960-783B-EBEF-31C01BC94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i="1"/>
              <a:t>Constructors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create a new object and return a reference to it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Access functions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return information about an object, but do not modify it</a:t>
            </a:r>
          </a:p>
          <a:p>
            <a:pPr>
              <a:lnSpc>
                <a:spcPct val="90000"/>
              </a:lnSpc>
            </a:pPr>
            <a:r>
              <a:rPr lang="en-US" altLang="en-US" i="1"/>
              <a:t>Manipulation procedures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modify an object, but do not return information</a:t>
            </a:r>
          </a:p>
          <a:p>
            <a:pPr>
              <a:lnSpc>
                <a:spcPct val="90000"/>
              </a:lnSpc>
            </a:pPr>
            <a:r>
              <a:rPr lang="en-US" altLang="en-US" b="1"/>
              <a:t>State</a:t>
            </a:r>
            <a:r>
              <a:rPr lang="en-US" altLang="en-US"/>
              <a:t> of an object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current values of its data</a:t>
            </a:r>
          </a:p>
          <a:p>
            <a:pPr>
              <a:lnSpc>
                <a:spcPct val="90000"/>
              </a:lnSpc>
            </a:pPr>
            <a:r>
              <a:rPr lang="en-US" altLang="en-US"/>
              <a:t>Recursive ADT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if any of its access functions returns the same class as the ADT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34FB74-8373-D9A6-7CA7-2085380A0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ADT Design e.g. Lists 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2CF15C9-C8C8-8702-8D4B-708255BCA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altLang="en-US"/>
              <a:t>Every computable function can be computed using </a:t>
            </a:r>
            <a:br>
              <a:rPr lang="en-US" altLang="en-US"/>
            </a:br>
            <a:r>
              <a:rPr lang="en-US" altLang="en-US" i="1"/>
              <a:t>Lists</a:t>
            </a:r>
            <a:r>
              <a:rPr lang="en-US" altLang="en-US"/>
              <a:t> as the only data structure!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IntList cons(int newElement, IntList oldList)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Precondition: None.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Postconditions: If x = cons(newElement, oldList) then</a:t>
            </a:r>
            <a:br>
              <a:rPr lang="en-US" altLang="en-US"/>
            </a:br>
            <a:r>
              <a:rPr lang="en-US" altLang="en-US"/>
              <a:t>1. x refers to a newly created object;</a:t>
            </a:r>
            <a:br>
              <a:rPr lang="en-US" altLang="en-US"/>
            </a:br>
            <a:r>
              <a:rPr lang="en-US" altLang="en-US"/>
              <a:t>2. x != nil;</a:t>
            </a:r>
            <a:br>
              <a:rPr lang="en-US" altLang="en-US"/>
            </a:br>
            <a:r>
              <a:rPr lang="en-US" altLang="en-US"/>
              <a:t>3. first(x) = newElement;</a:t>
            </a:r>
            <a:br>
              <a:rPr lang="en-US" altLang="en-US"/>
            </a:br>
            <a:r>
              <a:rPr lang="en-US" altLang="en-US"/>
              <a:t>4. rest(x) = oldList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 first(IntList aList)  // access function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Precondition: aList != nil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IntList rest(IntList aList)  // access function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Precondition: aList != nil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IntList nil   //constant denoting the empty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F196A33-7B74-9F9F-3185-FBAE6433FE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Binary Tree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C4DFC64-76A7-834A-8B48-BC3E575737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binary tree T is a set of elements, called nodes, </a:t>
            </a:r>
            <a:br>
              <a:rPr lang="en-US" altLang="en-US"/>
            </a:br>
            <a:r>
              <a:rPr lang="en-US" altLang="en-US"/>
              <a:t>that is empty or satisfies:</a:t>
            </a:r>
          </a:p>
          <a:p>
            <a:pPr lvl="1"/>
            <a:r>
              <a:rPr lang="en-US" altLang="en-US"/>
              <a:t>1. There is a distinguished node r called the root</a:t>
            </a:r>
          </a:p>
          <a:p>
            <a:pPr lvl="1"/>
            <a:r>
              <a:rPr lang="en-US" altLang="en-US"/>
              <a:t>2. The remaining nodes are divided into two disjoint subsets, L and R, each of which is a binary tree. </a:t>
            </a:r>
            <a:br>
              <a:rPr lang="en-US" altLang="en-US"/>
            </a:br>
            <a:r>
              <a:rPr lang="en-US" altLang="en-US"/>
              <a:t>L is called the left subtree of T and R is called the right subtree of T.</a:t>
            </a:r>
          </a:p>
          <a:p>
            <a:r>
              <a:rPr lang="en-US" altLang="en-US"/>
              <a:t>There are at most 2</a:t>
            </a:r>
            <a:r>
              <a:rPr lang="en-US" altLang="en-US" baseline="30000"/>
              <a:t>d</a:t>
            </a:r>
            <a:r>
              <a:rPr lang="en-US" altLang="en-US"/>
              <a:t> nodes at depth d of a binary tree.</a:t>
            </a:r>
          </a:p>
          <a:p>
            <a:r>
              <a:rPr lang="en-US" altLang="en-US"/>
              <a:t>A binary tree with n nodes has height at least Ceiling[lg(n+1)] – 1. </a:t>
            </a:r>
          </a:p>
          <a:p>
            <a:r>
              <a:rPr lang="en-US" altLang="en-US"/>
              <a:t>A binary tree with height h has at most 2</a:t>
            </a:r>
            <a:r>
              <a:rPr lang="en-US" altLang="en-US" baseline="30000"/>
              <a:t>h+1</a:t>
            </a:r>
            <a:r>
              <a:rPr lang="en-US" altLang="en-US"/>
              <a:t> –1 nodes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43ACB79-B37A-A639-3337-DE2A5C64F6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Stacks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A780447-0DE9-B8B6-4896-A5BED66E0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stack is a linear structure in which insertions and deletions are always make at one end, called the top.</a:t>
            </a:r>
          </a:p>
          <a:p>
            <a:pPr marL="0" indent="0">
              <a:buFontTx/>
              <a:buNone/>
              <a:defRPr/>
            </a:pPr>
            <a:r>
              <a:rPr lang="en-US" dirty="0"/>
              <a:t> </a:t>
            </a:r>
          </a:p>
          <a:p>
            <a:pPr>
              <a:defRPr/>
            </a:pPr>
            <a:r>
              <a:rPr lang="en-US" dirty="0"/>
              <a:t>This updating policy is call last in, first out (LIFO)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497306E-F68E-23FE-773F-47B893B2F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Queue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3DB53E6-0FD2-EC33-7D0D-161B5E8E7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queue is a linear structure in which </a:t>
            </a:r>
          </a:p>
          <a:p>
            <a:pPr lvl="1"/>
            <a:r>
              <a:rPr lang="en-US" altLang="en-US"/>
              <a:t>all insertions are done at one end, called the rear or back, and </a:t>
            </a:r>
          </a:p>
          <a:p>
            <a:pPr lvl="1"/>
            <a:r>
              <a:rPr lang="en-US" altLang="en-US"/>
              <a:t>all deletions are done at the other end, called the front.</a:t>
            </a:r>
          </a:p>
          <a:p>
            <a:pPr lvl="1"/>
            <a:endParaRPr lang="en-US" altLang="en-US"/>
          </a:p>
          <a:p>
            <a:r>
              <a:rPr lang="en-US" altLang="en-US"/>
              <a:t>This updating policy is called first in, first out (FIFO)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988CEBB-84A2-A555-2F40-A4F6785C5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Priority Queue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7E48AC8-C34A-34CF-2B2A-2068B3B67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priority queue is a structure with some aspects of FIFO queue but</a:t>
            </a:r>
          </a:p>
          <a:p>
            <a:pPr lvl="1"/>
            <a:r>
              <a:rPr lang="en-US" altLang="en-US"/>
              <a:t>in which element order is related to each element’s priority,</a:t>
            </a:r>
          </a:p>
          <a:p>
            <a:pPr lvl="1"/>
            <a:r>
              <a:rPr lang="en-US" altLang="en-US"/>
              <a:t>rather than its chronological arrival time.</a:t>
            </a:r>
          </a:p>
          <a:p>
            <a:r>
              <a:rPr lang="en-US" altLang="en-US"/>
              <a:t>As each element is inserted into a priority queue, conceptually it is inserted </a:t>
            </a:r>
            <a:r>
              <a:rPr lang="en-US" altLang="en-US" i="1"/>
              <a:t>in order of</a:t>
            </a:r>
            <a:r>
              <a:rPr lang="en-US" altLang="en-US"/>
              <a:t> its priority</a:t>
            </a:r>
          </a:p>
          <a:p>
            <a:r>
              <a:rPr lang="en-US" altLang="en-US"/>
              <a:t>The one element that can be inspected and removed is the most </a:t>
            </a:r>
            <a:r>
              <a:rPr lang="en-US" altLang="en-US" i="1"/>
              <a:t>important element</a:t>
            </a:r>
            <a:r>
              <a:rPr lang="en-US" altLang="en-US"/>
              <a:t> currently in the priority queue. </a:t>
            </a:r>
          </a:p>
          <a:p>
            <a:pPr lvl="1"/>
            <a:r>
              <a:rPr lang="en-US" altLang="en-US"/>
              <a:t>a cost viewpoint: the smallest priority</a:t>
            </a:r>
          </a:p>
          <a:p>
            <a:pPr lvl="1"/>
            <a:r>
              <a:rPr lang="en-US" altLang="en-US"/>
              <a:t>a profit viewpoint: the largest priority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01D99C1-8C63-3DE7-6A81-17ABBD174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115888"/>
            <a:ext cx="8229600" cy="685800"/>
          </a:xfrm>
        </p:spPr>
        <p:txBody>
          <a:bodyPr/>
          <a:lstStyle/>
          <a:p>
            <a:r>
              <a:rPr lang="en-US" altLang="en-US"/>
              <a:t>Union-Find ADT for Disjoint Sets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385957-2861-35F2-74E3-81961FEAB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836613"/>
            <a:ext cx="8785225" cy="56388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Through a </a:t>
            </a:r>
            <a:r>
              <a:rPr lang="en-US" altLang="en-US" i="1" dirty="0"/>
              <a:t>Union</a:t>
            </a:r>
            <a:r>
              <a:rPr lang="en-US" altLang="en-US" dirty="0"/>
              <a:t> operation, two (disjoint) sets can be combined. </a:t>
            </a:r>
          </a:p>
          <a:p>
            <a:pPr lvl="1">
              <a:defRPr/>
            </a:pPr>
            <a:r>
              <a:rPr lang="en-US" altLang="en-US" dirty="0"/>
              <a:t>(to insure the disjoint property of all existing sets, the original two sets are removed and the new set is added)</a:t>
            </a:r>
          </a:p>
          <a:p>
            <a:pPr lvl="1">
              <a:defRPr/>
            </a:pPr>
            <a:r>
              <a:rPr lang="en-US" altLang="en-US" dirty="0"/>
              <a:t>Let the set id of the original two set be, s and t, s != t</a:t>
            </a:r>
          </a:p>
          <a:p>
            <a:pPr lvl="1">
              <a:defRPr/>
            </a:pPr>
            <a:r>
              <a:rPr lang="en-US" altLang="en-US" dirty="0"/>
              <a:t>Then, new set has one unique set id that is either s or t.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Through a </a:t>
            </a:r>
            <a:r>
              <a:rPr lang="en-US" altLang="en-US" i="1" dirty="0"/>
              <a:t>Find</a:t>
            </a:r>
            <a:r>
              <a:rPr lang="en-US" altLang="en-US" dirty="0"/>
              <a:t> operation, the current </a:t>
            </a:r>
            <a:r>
              <a:rPr lang="en-US" altLang="en-US" i="1" dirty="0"/>
              <a:t>set id</a:t>
            </a:r>
            <a:r>
              <a:rPr lang="en-US" altLang="en-US" dirty="0"/>
              <a:t> of an element can be retrieved. 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Often elements are integers and</a:t>
            </a:r>
          </a:p>
          <a:p>
            <a:pPr lvl="1">
              <a:defRPr/>
            </a:pPr>
            <a:r>
              <a:rPr lang="en-US" altLang="en-US" dirty="0"/>
              <a:t>the set id is some particular element in the set, </a:t>
            </a:r>
            <a:br>
              <a:rPr lang="en-US" altLang="en-US" dirty="0"/>
            </a:br>
            <a:r>
              <a:rPr lang="en-US" altLang="en-US" dirty="0"/>
              <a:t>called the leader,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7EFE9C3-20A0-1F69-3B0B-3950D4CC2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463550"/>
          </a:xfrm>
        </p:spPr>
        <p:txBody>
          <a:bodyPr/>
          <a:lstStyle/>
          <a:p>
            <a:r>
              <a:rPr lang="en-US" altLang="en-US"/>
              <a:t>Union-Find ADT e.g.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89F0D5C-0087-4335-593D-EE1AF380E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58850"/>
            <a:ext cx="8255000" cy="5638800"/>
          </a:xfrm>
        </p:spPr>
        <p:txBody>
          <a:bodyPr/>
          <a:lstStyle/>
          <a:p>
            <a:r>
              <a:rPr lang="en-US" altLang="en-US"/>
              <a:t>UnionFind create(int n) </a:t>
            </a:r>
          </a:p>
          <a:p>
            <a:pPr lvl="1"/>
            <a:r>
              <a:rPr lang="en-US" altLang="en-US"/>
              <a:t>// create a set (called sets) of  n singleton disjoint sets {{1},{2},{3},…,{n}}</a:t>
            </a:r>
          </a:p>
          <a:p>
            <a:r>
              <a:rPr lang="en-US" altLang="en-US"/>
              <a:t>int find(UnionFind sets, e)</a:t>
            </a:r>
          </a:p>
          <a:p>
            <a:pPr lvl="1"/>
            <a:r>
              <a:rPr lang="en-US" altLang="en-US"/>
              <a:t>// return the set id for e</a:t>
            </a:r>
          </a:p>
          <a:p>
            <a:r>
              <a:rPr lang="en-US" altLang="en-US"/>
              <a:t>void makeSet(unionFind sets, int e) </a:t>
            </a:r>
          </a:p>
          <a:p>
            <a:pPr lvl="1"/>
            <a:r>
              <a:rPr lang="en-US" altLang="en-US"/>
              <a:t>//union one singleton set {e} (e not already in the sets) </a:t>
            </a:r>
            <a:br>
              <a:rPr lang="en-US" altLang="en-US"/>
            </a:br>
            <a:r>
              <a:rPr lang="en-US" altLang="en-US"/>
              <a:t>into the exiting sets </a:t>
            </a:r>
          </a:p>
          <a:p>
            <a:r>
              <a:rPr lang="en-US" altLang="en-US"/>
              <a:t>void union(UnionFind sets, int s, int t)</a:t>
            </a:r>
          </a:p>
          <a:p>
            <a:pPr lvl="1"/>
            <a:r>
              <a:rPr lang="en-US" altLang="en-US"/>
              <a:t>// s and t are set ids, s != t</a:t>
            </a:r>
          </a:p>
          <a:p>
            <a:pPr lvl="1"/>
            <a:r>
              <a:rPr lang="en-US" altLang="en-US"/>
              <a:t>// a new set is created by union of set [s] and set [t]</a:t>
            </a:r>
          </a:p>
          <a:p>
            <a:pPr lvl="1"/>
            <a:r>
              <a:rPr lang="en-US" altLang="en-US"/>
              <a:t>// the new set id is either s or t, in some case min(s, 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5D0AF47-C214-4E7C-CD95-88096FDED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Dictionary ADT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06840B2-6940-8629-4B03-39C935656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981075"/>
            <a:ext cx="8255000" cy="5638800"/>
          </a:xfrm>
        </p:spPr>
        <p:txBody>
          <a:bodyPr/>
          <a:lstStyle/>
          <a:p>
            <a:r>
              <a:rPr lang="en-US" altLang="en-US"/>
              <a:t>A dictionary is a general associative storage structure.</a:t>
            </a:r>
          </a:p>
          <a:p>
            <a:r>
              <a:rPr lang="en-US" altLang="en-US"/>
              <a:t>Items in a dictionary </a:t>
            </a:r>
          </a:p>
          <a:p>
            <a:pPr lvl="1"/>
            <a:r>
              <a:rPr lang="en-US" altLang="en-US"/>
              <a:t>have an identifier, and</a:t>
            </a:r>
          </a:p>
          <a:p>
            <a:pPr lvl="1"/>
            <a:r>
              <a:rPr lang="en-US" altLang="en-US"/>
              <a:t>associated information that needs to be stored and retrieved.</a:t>
            </a:r>
          </a:p>
          <a:p>
            <a:pPr lvl="1"/>
            <a:r>
              <a:rPr lang="en-US" altLang="en-US"/>
              <a:t>no order implied for identifiers in a dictionary ADT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C2B7F-D635-5953-73B7-E11F52D8C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333375"/>
            <a:ext cx="8255000" cy="56388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dirty="0"/>
              <a:t>Video Lecture of the topic can be found at</a:t>
            </a:r>
          </a:p>
          <a:p>
            <a:pPr marL="0" indent="0">
              <a:buFontTx/>
              <a:buNone/>
              <a:defRPr/>
            </a:pPr>
            <a:endParaRPr lang="en-US" dirty="0"/>
          </a:p>
          <a:p>
            <a:pPr marL="0" indent="0">
              <a:lnSpc>
                <a:spcPct val="115000"/>
              </a:lnSpc>
              <a:spcBef>
                <a:spcPts val="2400"/>
              </a:spcBef>
              <a:buFontTx/>
              <a:buNone/>
              <a:defRPr/>
            </a:pPr>
            <a:r>
              <a:rPr lang="en-IN" sz="2000" b="1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Computer Algorithms - Abstract Data Types (ADT)</a:t>
            </a:r>
            <a:endParaRPr lang="en-IN" sz="2000" b="1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https://youtu.be/aHWNxF0c08U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 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Bef>
                <a:spcPts val="2400"/>
              </a:spcBef>
              <a:buFontTx/>
              <a:buNone/>
              <a:defRPr/>
            </a:pPr>
            <a:r>
              <a:rPr lang="en-IN" sz="2000" b="1" dirty="0">
                <a:solidFill>
                  <a:srgbClr val="000000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Basics for Analysing Computer Algorithms</a:t>
            </a:r>
            <a:endParaRPr lang="en-IN" sz="2000" b="1" dirty="0">
              <a:solidFill>
                <a:srgbClr val="365F91"/>
              </a:solidFill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FontTx/>
              <a:buNone/>
              <a:defRPr/>
            </a:pPr>
            <a:r>
              <a:rPr lang="en-IN" sz="2000" dirty="0">
                <a:solidFill>
                  <a:srgbClr val="000000"/>
                </a:solidFill>
                <a:latin typeface="Rockwell" panose="02060603020205020403" pitchFamily="18" charset="0"/>
                <a:ea typeface="Calibri" panose="020F0502020204030204" pitchFamily="34" charset="0"/>
                <a:cs typeface="Mangal" panose="02040503050203030202" pitchFamily="18" charset="0"/>
              </a:rPr>
              <a:t>https://youtu.be/n1ArVTvMJtE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CS364 CH04 Bz1">
  <a:themeElements>
    <a:clrScheme name="CS364 CH04 Bz1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CS364 CH04 Bz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S364 CH04 Bz1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364 CH04 Bz1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364 CH04 Bz1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D:\Bz\IOs\AJob\Tech\CS364 Computer Architecture\CS364 CH04 Bz1.ppt</Template>
  <TotalTime>18710</TotalTime>
  <Words>1250</Words>
  <Application>Microsoft Office PowerPoint</Application>
  <PresentationFormat>On-screen Show (4:3)</PresentationFormat>
  <Paragraphs>151</Paragraphs>
  <Slides>16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Calibri</vt:lpstr>
      <vt:lpstr>Cambria</vt:lpstr>
      <vt:lpstr>Garamond</vt:lpstr>
      <vt:lpstr>MT Extra</vt:lpstr>
      <vt:lpstr>Rockwell</vt:lpstr>
      <vt:lpstr>Symbol</vt:lpstr>
      <vt:lpstr>Times New Roman</vt:lpstr>
      <vt:lpstr>Verdana</vt:lpstr>
      <vt:lpstr>Wingdings</vt:lpstr>
      <vt:lpstr>CS364 CH04 Bz1</vt:lpstr>
      <vt:lpstr>PowerPoint Presentation</vt:lpstr>
      <vt:lpstr>Abstract Data Type (ADT)</vt:lpstr>
      <vt:lpstr>PowerPoint Presentation</vt:lpstr>
      <vt:lpstr>Data Abstraction and Basic Data Structures</vt:lpstr>
      <vt:lpstr>Abstract Data type</vt:lpstr>
      <vt:lpstr>ADT Specification</vt:lpstr>
      <vt:lpstr>Operations for ADT</vt:lpstr>
      <vt:lpstr>ADT Design e.g. Lists </vt:lpstr>
      <vt:lpstr>Binary Tree</vt:lpstr>
      <vt:lpstr>Stacks</vt:lpstr>
      <vt:lpstr>Queue</vt:lpstr>
      <vt:lpstr>Priority Queue</vt:lpstr>
      <vt:lpstr>Union-Find ADT for Disjoint Sets</vt:lpstr>
      <vt:lpstr>Union-Find ADT e.g.</vt:lpstr>
      <vt:lpstr>Dictionary ADT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CS520 Advanced Analysis of Algorithms and Complexity</dc:title>
  <dc:creator>Adrian &amp; Wendy</dc:creator>
  <cp:lastModifiedBy>ASHISH SETH</cp:lastModifiedBy>
  <cp:revision>356</cp:revision>
  <cp:lastPrinted>1999-12-17T13:56:08Z</cp:lastPrinted>
  <dcterms:created xsi:type="dcterms:W3CDTF">1998-09-21T10:37:54Z</dcterms:created>
  <dcterms:modified xsi:type="dcterms:W3CDTF">2026-09-12T05:30:30Z</dcterms:modified>
</cp:coreProperties>
</file>