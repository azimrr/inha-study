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71" r:id="rId4"/>
    <p:sldId id="272" r:id="rId5"/>
    <p:sldId id="273" r:id="rId6"/>
    <p:sldId id="274" r:id="rId7"/>
    <p:sldId id="281" r:id="rId8"/>
    <p:sldId id="257" r:id="rId9"/>
    <p:sldId id="258" r:id="rId10"/>
    <p:sldId id="283" r:id="rId11"/>
    <p:sldId id="291" r:id="rId12"/>
    <p:sldId id="292" r:id="rId13"/>
    <p:sldId id="285" r:id="rId14"/>
    <p:sldId id="295" r:id="rId15"/>
    <p:sldId id="293" r:id="rId16"/>
    <p:sldId id="287" r:id="rId17"/>
    <p:sldId id="296" r:id="rId18"/>
    <p:sldId id="294" r:id="rId19"/>
    <p:sldId id="286" r:id="rId20"/>
    <p:sldId id="29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9" autoAdjust="0"/>
    <p:restoredTop sz="94662" autoAdjust="0"/>
  </p:normalViewPr>
  <p:slideViewPr>
    <p:cSldViewPr>
      <p:cViewPr varScale="1">
        <p:scale>
          <a:sx n="70" d="100"/>
          <a:sy n="70" d="100"/>
        </p:scale>
        <p:origin x="2021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88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6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322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22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52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25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64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270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0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90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B3183-D892-451C-915B-B6C139414B3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26106-2A88-42E5-8905-7A3644AA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425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0MutN9u-Ik" TargetMode="External"/><Relationship Id="rId2" Type="http://schemas.openxmlformats.org/officeDocument/2006/relationships/hyperlink" Target="https://www.youtube.com/watch?v=ad1KFYHZyM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vVRo_WagRLQ" TargetMode="External"/><Relationship Id="rId5" Type="http://schemas.openxmlformats.org/officeDocument/2006/relationships/hyperlink" Target="https://youtu.be/MjlQo2vRAnI" TargetMode="External"/><Relationship Id="rId4" Type="http://schemas.openxmlformats.org/officeDocument/2006/relationships/hyperlink" Target="https://youtu.be/1qEjtfR0g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7744" y="836712"/>
            <a:ext cx="4464496" cy="965969"/>
          </a:xfrm>
          <a:solidFill>
            <a:srgbClr val="FFC000"/>
          </a:solidFill>
        </p:spPr>
        <p:txBody>
          <a:bodyPr/>
          <a:lstStyle/>
          <a:p>
            <a:r>
              <a:rPr lang="en-IN" dirty="0"/>
              <a:t>RB Tree Deletion</a:t>
            </a:r>
          </a:p>
        </p:txBody>
      </p:sp>
    </p:spTree>
    <p:extLst>
      <p:ext uri="{BB962C8B-B14F-4D97-AF65-F5344CB8AC3E}">
        <p14:creationId xmlns:p14="http://schemas.microsoft.com/office/powerpoint/2010/main" val="195545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9792" y="620688"/>
            <a:ext cx="3600400" cy="1324744"/>
          </a:xfrm>
          <a:solidFill>
            <a:srgbClr val="FFC000"/>
          </a:solidFill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Node Deletion</a:t>
            </a:r>
          </a:p>
          <a:p>
            <a:pPr marL="0" indent="0" algn="ctr">
              <a:buNone/>
            </a:pP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Binary Search Tree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7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512" y="152400"/>
            <a:ext cx="5184576" cy="533400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Deletion from Binary Search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08720"/>
            <a:ext cx="6355432" cy="43595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Case 1: Deleting a Node that has No Children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8305800" cy="280035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D8C0A-A821-864F-7074-67C905584257}"/>
              </a:ext>
            </a:extLst>
          </p:cNvPr>
          <p:cNvSpPr txBox="1"/>
          <p:nvPr/>
        </p:nvSpPr>
        <p:spPr>
          <a:xfrm>
            <a:off x="683568" y="4941168"/>
            <a:ext cx="792088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we have to delete node 78,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can simply remove this node without any issue.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is the simplest case of deletion</a:t>
            </a:r>
            <a:endParaRPr lang="en-IN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6BE7D7-47B3-8E69-9434-152DBDED72D8}"/>
              </a:ext>
            </a:extLst>
          </p:cNvPr>
          <p:cNvCxnSpPr>
            <a:cxnSpLocks/>
          </p:cNvCxnSpPr>
          <p:nvPr/>
        </p:nvCxnSpPr>
        <p:spPr>
          <a:xfrm flipH="1">
            <a:off x="1475656" y="1988840"/>
            <a:ext cx="576064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382D76-5EFF-511F-282E-5D23AF127962}"/>
              </a:ext>
            </a:extLst>
          </p:cNvPr>
          <p:cNvCxnSpPr>
            <a:cxnSpLocks/>
          </p:cNvCxnSpPr>
          <p:nvPr/>
        </p:nvCxnSpPr>
        <p:spPr>
          <a:xfrm flipH="1">
            <a:off x="6512024" y="3140968"/>
            <a:ext cx="576064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4FD724-8BDD-C4C4-7B57-D57B762DA874}"/>
              </a:ext>
            </a:extLst>
          </p:cNvPr>
          <p:cNvCxnSpPr>
            <a:cxnSpLocks/>
          </p:cNvCxnSpPr>
          <p:nvPr/>
        </p:nvCxnSpPr>
        <p:spPr>
          <a:xfrm flipH="1">
            <a:off x="3965675" y="2564904"/>
            <a:ext cx="318293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02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818" y="150145"/>
            <a:ext cx="8333622" cy="136815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Case 2:  </a:t>
            </a:r>
            <a:r>
              <a:rPr lang="en-US" b="1" dirty="0">
                <a:solidFill>
                  <a:srgbClr val="FF0000"/>
                </a:solidFill>
              </a:rPr>
              <a:t>Deleting a Node with One Child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node’s child is set as the child of the node’s parent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other words, replace the node with its child. 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62" y="2492896"/>
            <a:ext cx="8229600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6555AE-9551-3490-C7E6-1BAF95A4E0DA}"/>
              </a:ext>
            </a:extLst>
          </p:cNvPr>
          <p:cNvSpPr txBox="1"/>
          <p:nvPr/>
        </p:nvSpPr>
        <p:spPr>
          <a:xfrm>
            <a:off x="334662" y="5273913"/>
            <a:ext cx="8519864" cy="13234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if the node is the left child of its parent, the node’s child becomes the left child of the node’s parent.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if the node is the right child of its parent, the node’s child becomes the right child of the node’s parent.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637C4-5B95-7B3C-BE3B-00D69AA0EEFF}"/>
              </a:ext>
            </a:extLst>
          </p:cNvPr>
          <p:cNvSpPr txBox="1"/>
          <p:nvPr/>
        </p:nvSpPr>
        <p:spPr>
          <a:xfrm>
            <a:off x="3131840" y="1716013"/>
            <a:ext cx="2736304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Deletion of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node 54 </a:t>
            </a:r>
            <a:endParaRPr lang="en-IN" sz="2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DB18EC-EADC-7E86-D0F8-CBDD7764320E}"/>
              </a:ext>
            </a:extLst>
          </p:cNvPr>
          <p:cNvCxnSpPr/>
          <p:nvPr/>
        </p:nvCxnSpPr>
        <p:spPr>
          <a:xfrm>
            <a:off x="971600" y="2780928"/>
            <a:ext cx="432048" cy="1440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D3E96D-7E75-BC77-629D-7536F705A364}"/>
              </a:ext>
            </a:extLst>
          </p:cNvPr>
          <p:cNvCxnSpPr/>
          <p:nvPr/>
        </p:nvCxnSpPr>
        <p:spPr>
          <a:xfrm>
            <a:off x="3491880" y="3356992"/>
            <a:ext cx="432048" cy="1440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6B1679-8F9C-B51F-2AF5-F6BE8412BCAA}"/>
              </a:ext>
            </a:extLst>
          </p:cNvPr>
          <p:cNvCxnSpPr/>
          <p:nvPr/>
        </p:nvCxnSpPr>
        <p:spPr>
          <a:xfrm>
            <a:off x="5004048" y="4077072"/>
            <a:ext cx="432048" cy="1440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866051-0031-F56B-BCD8-707DD2CACBEC}"/>
              </a:ext>
            </a:extLst>
          </p:cNvPr>
          <p:cNvCxnSpPr/>
          <p:nvPr/>
        </p:nvCxnSpPr>
        <p:spPr>
          <a:xfrm>
            <a:off x="7020272" y="4047447"/>
            <a:ext cx="432048" cy="1440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729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228600"/>
            <a:ext cx="6408712" cy="464096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Case 3: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Deleting a Node with Two Children</a:t>
            </a:r>
          </a:p>
          <a:p>
            <a:pPr marL="0" indent="0" algn="ctr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22" y="2852936"/>
            <a:ext cx="7351484" cy="2306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F295F8-BD6D-FBD5-C70A-691402F26109}"/>
              </a:ext>
            </a:extLst>
          </p:cNvPr>
          <p:cNvSpPr txBox="1"/>
          <p:nvPr/>
        </p:nvSpPr>
        <p:spPr>
          <a:xfrm>
            <a:off x="1043608" y="983378"/>
            <a:ext cx="5688632" cy="9541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Replace the node’s value with its </a:t>
            </a:r>
          </a:p>
          <a:p>
            <a:pPr marL="0" indent="0" algn="just">
              <a:buNone/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in-order predecessor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(largest value in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left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sub-tree) or </a:t>
            </a:r>
          </a:p>
          <a:p>
            <a:pPr marL="0" indent="0" algn="just">
              <a:buNone/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in-order successor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(smallest value in the right sub-tree).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7D9F3F-2131-C65A-F8DA-B8538DBA91DD}"/>
              </a:ext>
            </a:extLst>
          </p:cNvPr>
          <p:cNvSpPr txBox="1"/>
          <p:nvPr/>
        </p:nvSpPr>
        <p:spPr>
          <a:xfrm>
            <a:off x="323528" y="5522100"/>
            <a:ext cx="441676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Using  in-order predecessor in the above case.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6EEED-CD34-7E7D-3903-60C8829D027D}"/>
              </a:ext>
            </a:extLst>
          </p:cNvPr>
          <p:cNvSpPr txBox="1"/>
          <p:nvPr/>
        </p:nvSpPr>
        <p:spPr>
          <a:xfrm>
            <a:off x="2014030" y="2116228"/>
            <a:ext cx="407013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deletion of node with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value 56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E2B10C-A140-11E9-74D4-DA63D9BE54A2}"/>
              </a:ext>
            </a:extLst>
          </p:cNvPr>
          <p:cNvCxnSpPr>
            <a:cxnSpLocks/>
          </p:cNvCxnSpPr>
          <p:nvPr/>
        </p:nvCxnSpPr>
        <p:spPr>
          <a:xfrm flipH="1">
            <a:off x="1907704" y="3284984"/>
            <a:ext cx="106326" cy="2880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269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33496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Algorithm for Deletion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0"/>
            <a:ext cx="8610600" cy="5791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362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7"/>
            <a:ext cx="3483496" cy="334963"/>
          </a:xfrm>
          <a:solidFill>
            <a:schemeClr val="accent6"/>
          </a:solidFill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Example-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BST Deletion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876300"/>
            <a:ext cx="5029200" cy="51054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105882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916832"/>
            <a:ext cx="4824536" cy="452721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Case 3(1) </a:t>
            </a:r>
            <a:r>
              <a:rPr lang="en-IN" sz="1600" dirty="0"/>
              <a:t>If root node is DB, =&gt; remove DB [</a:t>
            </a:r>
            <a:r>
              <a:rPr lang="en-IN" sz="1600" b="1" dirty="0">
                <a:solidFill>
                  <a:srgbClr val="FF0000"/>
                </a:solidFill>
              </a:rPr>
              <a:t>Terminal]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>
                <a:sym typeface="Wingdings" pitchFamily="2" charset="2"/>
              </a:rPr>
              <a:t>Case 3(2)</a:t>
            </a:r>
            <a:r>
              <a:rPr lang="en-IN" sz="1600" dirty="0">
                <a:sym typeface="Wingdings" pitchFamily="2" charset="2"/>
              </a:rPr>
              <a:t> – If </a:t>
            </a:r>
            <a:r>
              <a:rPr lang="en-IN" sz="1600" b="1" dirty="0">
                <a:sym typeface="Wingdings" pitchFamily="2" charset="2"/>
              </a:rPr>
              <a:t>DB</a:t>
            </a:r>
            <a:r>
              <a:rPr lang="en-IN" sz="1600" dirty="0">
                <a:sym typeface="Wingdings" pitchFamily="2" charset="2"/>
              </a:rPr>
              <a:t> sibling is 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r>
              <a:rPr lang="en-IN" sz="1600" dirty="0">
                <a:sym typeface="Wingdings" pitchFamily="2" charset="2"/>
              </a:rPr>
              <a:t> (also has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 parent)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swap </a:t>
            </a:r>
            <a:r>
              <a:rPr lang="en-IN" sz="1600" dirty="0" err="1">
                <a:sym typeface="Wingdings" pitchFamily="2" charset="2"/>
              </a:rPr>
              <a:t>colors</a:t>
            </a:r>
            <a:r>
              <a:rPr lang="en-IN" sz="1600" dirty="0">
                <a:sym typeface="Wingdings" pitchFamily="2" charset="2"/>
              </a:rPr>
              <a:t> of  PARENT and its SIBLING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rotate PARENT in DB direction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reapply cases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Case </a:t>
            </a:r>
            <a:r>
              <a:rPr lang="en-IN" sz="1600" b="1" dirty="0">
                <a:sym typeface="Wingdings" pitchFamily="2" charset="2"/>
              </a:rPr>
              <a:t>3(3)</a:t>
            </a:r>
            <a:r>
              <a:rPr lang="en-IN" sz="1600" dirty="0">
                <a:sym typeface="Wingdings" pitchFamily="2" charset="2"/>
              </a:rPr>
              <a:t> </a:t>
            </a:r>
            <a:r>
              <a:rPr lang="en-IN" sz="1600" dirty="0"/>
              <a:t>- If </a:t>
            </a:r>
            <a:r>
              <a:rPr lang="en-IN" sz="1600" b="1" dirty="0"/>
              <a:t>DB’</a:t>
            </a:r>
            <a:r>
              <a:rPr lang="en-IN" sz="1600" dirty="0"/>
              <a:t>s sibling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/>
              <a:t> and both of its children are </a:t>
            </a:r>
            <a:r>
              <a:rPr lang="en-IN" sz="1600" b="1" dirty="0">
                <a:sym typeface="Wingdings" pitchFamily="2" charset="2"/>
              </a:rPr>
              <a:t>BLACK </a:t>
            </a:r>
          </a:p>
          <a:p>
            <a:pPr marL="0" indent="0">
              <a:buNone/>
            </a:pPr>
            <a:r>
              <a:rPr lang="en-IN" sz="1600" dirty="0">
                <a:sym typeface="Wingdings" panose="05000000000000000000" pitchFamily="2" charset="2"/>
              </a:rPr>
              <a:t></a:t>
            </a:r>
            <a:r>
              <a:rPr lang="en-IN" sz="1600" dirty="0"/>
              <a:t>Remove DB (node)</a:t>
            </a:r>
          </a:p>
          <a:p>
            <a:pPr marL="0" indent="0">
              <a:buNone/>
            </a:pPr>
            <a:r>
              <a:rPr lang="en-IN" sz="1600" dirty="0"/>
              <a:t>= =&gt; Add extra black to its parent </a:t>
            </a:r>
          </a:p>
          <a:p>
            <a:pPr marL="0" indent="0">
              <a:buNone/>
            </a:pPr>
            <a:r>
              <a:rPr lang="en-IN" sz="1600" dirty="0"/>
              <a:t>  =====&gt; if parent is RED, then make it BLACK</a:t>
            </a:r>
          </a:p>
          <a:p>
            <a:pPr marL="0" indent="0">
              <a:buNone/>
            </a:pPr>
            <a:r>
              <a:rPr lang="en-IN" sz="1600" dirty="0"/>
              <a:t>  ======&gt; if parent is BLACK, then make it double BLACK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  Make sibling RED 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If </a:t>
            </a:r>
            <a:r>
              <a:rPr lang="en-IN" sz="1600" dirty="0" err="1">
                <a:sym typeface="Wingdings" pitchFamily="2" charset="2"/>
              </a:rPr>
              <a:t>stillDB</a:t>
            </a:r>
            <a:r>
              <a:rPr lang="en-IN" sz="1600" dirty="0">
                <a:sym typeface="Wingdings" pitchFamily="2" charset="2"/>
              </a:rPr>
              <a:t> exists, apply other cases.</a:t>
            </a:r>
          </a:p>
          <a:p>
            <a:pPr marL="0" indent="0">
              <a:buNone/>
            </a:pPr>
            <a:endParaRPr lang="en-IN" sz="1600" dirty="0">
              <a:sym typeface="Wingdings" pitchFamily="2" charset="2"/>
            </a:endParaRPr>
          </a:p>
          <a:p>
            <a:pPr marL="0" indent="0">
              <a:buNone/>
            </a:pPr>
            <a:endParaRPr lang="en-IN" sz="1400" dirty="0">
              <a:sym typeface="Wingdings" pitchFamily="2" charset="2"/>
            </a:endParaRPr>
          </a:p>
          <a:p>
            <a:pPr marL="0" indent="0">
              <a:buNone/>
            </a:pPr>
            <a:endParaRPr lang="en-IN" sz="1400" dirty="0"/>
          </a:p>
          <a:p>
            <a:pPr>
              <a:buFont typeface="Symbol"/>
              <a:buChar char="Þ"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2" name="Rectangle 1"/>
          <p:cNvSpPr/>
          <p:nvPr/>
        </p:nvSpPr>
        <p:spPr>
          <a:xfrm>
            <a:off x="4788024" y="1916832"/>
            <a:ext cx="4248472" cy="35394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>
                <a:sym typeface="Wingdings" pitchFamily="2" charset="2"/>
              </a:rPr>
              <a:t>Case 3(4) </a:t>
            </a:r>
            <a:r>
              <a:rPr lang="en-IN" sz="1600" dirty="0">
                <a:sym typeface="Wingdings" pitchFamily="2" charset="2"/>
              </a:rPr>
              <a:t>– DB’s sibling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, check sibling child's who is far from DB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 but near child to DB is 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endParaRPr lang="en-IN" sz="1600" b="1" dirty="0">
              <a:solidFill>
                <a:srgbClr val="FF0000"/>
              </a:solidFill>
            </a:endParaRPr>
          </a:p>
          <a:p>
            <a:pPr>
              <a:buFont typeface="Wingdings"/>
              <a:buChar char="è"/>
            </a:pPr>
            <a:r>
              <a:rPr lang="en-IN" sz="1600" dirty="0">
                <a:sym typeface="Wingdings" pitchFamily="2" charset="2"/>
              </a:rPr>
              <a:t>Swap </a:t>
            </a:r>
            <a:r>
              <a:rPr lang="en-IN" sz="1600" dirty="0" err="1">
                <a:sym typeface="Wingdings" pitchFamily="2" charset="2"/>
              </a:rPr>
              <a:t>color</a:t>
            </a:r>
            <a:r>
              <a:rPr lang="en-IN" sz="1600" dirty="0">
                <a:sym typeface="Wingdings" pitchFamily="2" charset="2"/>
              </a:rPr>
              <a:t> of DB’s sibling &amp; siblings child who is near to DB</a:t>
            </a:r>
          </a:p>
          <a:p>
            <a:pPr>
              <a:buFont typeface="Wingdings"/>
              <a:buChar char="è"/>
            </a:pPr>
            <a:r>
              <a:rPr lang="en-IN" sz="1600" dirty="0">
                <a:sym typeface="Wingdings" pitchFamily="2" charset="2"/>
              </a:rPr>
              <a:t>Rotate sibling in opposite direction to DB</a:t>
            </a:r>
          </a:p>
          <a:p>
            <a:pPr>
              <a:buFont typeface="Wingdings"/>
              <a:buChar char="è"/>
            </a:pPr>
            <a:r>
              <a:rPr lang="en-IN" sz="1600" dirty="0">
                <a:sym typeface="Wingdings" pitchFamily="2" charset="2"/>
              </a:rPr>
              <a:t>Apply case 6</a:t>
            </a:r>
          </a:p>
          <a:p>
            <a:endParaRPr lang="en-IN" sz="1600" dirty="0">
              <a:sym typeface="Wingdings" pitchFamily="2" charset="2"/>
            </a:endParaRPr>
          </a:p>
          <a:p>
            <a:r>
              <a:rPr lang="en-IN" sz="1600" b="1" dirty="0">
                <a:sym typeface="Wingdings" pitchFamily="2" charset="2"/>
              </a:rPr>
              <a:t>Case 3(5)</a:t>
            </a:r>
            <a:r>
              <a:rPr lang="en-IN" sz="1600" dirty="0">
                <a:sym typeface="Wingdings" pitchFamily="2" charset="2"/>
              </a:rPr>
              <a:t> – DB’s sibling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 and far child is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 RED  </a:t>
            </a:r>
            <a:r>
              <a:rPr lang="en-IN" sz="1600" dirty="0">
                <a:sym typeface="Wingdings" pitchFamily="2" charset="2"/>
              </a:rPr>
              <a:t>[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Terminal</a:t>
            </a:r>
            <a:r>
              <a:rPr lang="en-IN" sz="1600" dirty="0">
                <a:sym typeface="Wingdings" pitchFamily="2" charset="2"/>
              </a:rPr>
              <a:t>]</a:t>
            </a:r>
          </a:p>
          <a:p>
            <a:pPr>
              <a:buFont typeface="Wingdings"/>
              <a:buChar char="è"/>
            </a:pPr>
            <a:r>
              <a:rPr lang="en-IN" sz="1600" dirty="0"/>
              <a:t>Swap </a:t>
            </a:r>
            <a:r>
              <a:rPr lang="en-IN" sz="1600" dirty="0" err="1"/>
              <a:t>color</a:t>
            </a:r>
            <a:r>
              <a:rPr lang="en-IN" sz="1600" dirty="0"/>
              <a:t> of PARENT &amp; SIBLING</a:t>
            </a:r>
          </a:p>
          <a:p>
            <a:pPr>
              <a:buFont typeface="Wingdings"/>
              <a:buChar char="è"/>
            </a:pPr>
            <a:r>
              <a:rPr lang="en-IN" sz="1600" dirty="0"/>
              <a:t>Rotate PARENT in DB’s direction</a:t>
            </a:r>
          </a:p>
          <a:p>
            <a:pPr>
              <a:buFont typeface="Wingdings"/>
              <a:buChar char="è"/>
            </a:pPr>
            <a:r>
              <a:rPr lang="en-IN" sz="1600" dirty="0"/>
              <a:t>Remove DB</a:t>
            </a:r>
          </a:p>
          <a:p>
            <a:pPr>
              <a:buFont typeface="Wingdings"/>
              <a:buChar char="è"/>
            </a:pPr>
            <a:r>
              <a:rPr lang="en-IN" sz="1600" dirty="0"/>
              <a:t>Change </a:t>
            </a:r>
            <a:r>
              <a:rPr lang="en-IN" sz="1600" dirty="0" err="1"/>
              <a:t>color</a:t>
            </a:r>
            <a:r>
              <a:rPr lang="en-IN" sz="1600" dirty="0"/>
              <a:t> of RED child(far) to BLACK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504" y="144220"/>
            <a:ext cx="8784976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dirty="0"/>
              <a:t>Step  1 - Perform BST deletion</a:t>
            </a:r>
          </a:p>
          <a:p>
            <a:r>
              <a:rPr lang="en-IN" sz="1600" b="1" dirty="0"/>
              <a:t>Step 2 </a:t>
            </a:r>
          </a:p>
          <a:p>
            <a:r>
              <a:rPr lang="en-IN" sz="1600" b="1" dirty="0"/>
              <a:t>Case 1</a:t>
            </a:r>
            <a:r>
              <a:rPr lang="en-IN" sz="1600" dirty="0"/>
              <a:t>-If node to be deleted is </a:t>
            </a:r>
            <a:r>
              <a:rPr lang="en-IN" sz="1600" b="1" dirty="0">
                <a:solidFill>
                  <a:srgbClr val="FF0000"/>
                </a:solidFill>
              </a:rPr>
              <a:t>RED</a:t>
            </a:r>
            <a:r>
              <a:rPr lang="en-IN" sz="1600" dirty="0"/>
              <a:t> =&gt; just delete it  [</a:t>
            </a:r>
            <a:r>
              <a:rPr lang="en-IN" sz="1600" b="1" dirty="0">
                <a:solidFill>
                  <a:srgbClr val="FF0000"/>
                </a:solidFill>
              </a:rPr>
              <a:t>Terminal]</a:t>
            </a:r>
          </a:p>
          <a:p>
            <a:r>
              <a:rPr lang="en-IN" sz="1600" b="1" dirty="0"/>
              <a:t>Case 2</a:t>
            </a:r>
            <a:r>
              <a:rPr lang="en-IN" sz="1600" dirty="0"/>
              <a:t>-If</a:t>
            </a:r>
            <a:r>
              <a:rPr lang="en-IN" sz="1600" b="1" dirty="0"/>
              <a:t> </a:t>
            </a:r>
            <a:r>
              <a:rPr lang="en-IN" sz="1600" dirty="0"/>
              <a:t>node to be deleted is </a:t>
            </a:r>
            <a:r>
              <a:rPr lang="en-IN" sz="1600" b="1" dirty="0"/>
              <a:t>BLACK</a:t>
            </a:r>
            <a:r>
              <a:rPr lang="en-IN" sz="1600" dirty="0"/>
              <a:t> but has </a:t>
            </a:r>
            <a:r>
              <a:rPr lang="en-IN" sz="1600" b="1" dirty="0">
                <a:solidFill>
                  <a:srgbClr val="FF0000"/>
                </a:solidFill>
              </a:rPr>
              <a:t>RED</a:t>
            </a:r>
            <a:r>
              <a:rPr lang="en-IN" sz="1600" dirty="0"/>
              <a:t> child </a:t>
            </a:r>
          </a:p>
          <a:p>
            <a:r>
              <a:rPr lang="en-IN" sz="1600" dirty="0"/>
              <a:t>				=&gt; Replace node with child  and </a:t>
            </a:r>
            <a:r>
              <a:rPr lang="en-IN" sz="1600" dirty="0" err="1"/>
              <a:t>color</a:t>
            </a:r>
            <a:r>
              <a:rPr lang="en-IN" sz="1600" dirty="0"/>
              <a:t> it with BLACK</a:t>
            </a:r>
          </a:p>
          <a:p>
            <a:r>
              <a:rPr lang="en-IN" sz="1600" dirty="0"/>
              <a:t>Or if the Node to be deleted is </a:t>
            </a:r>
            <a:r>
              <a:rPr lang="en-IN" sz="1600" b="1" dirty="0"/>
              <a:t>BLACK</a:t>
            </a:r>
            <a:r>
              <a:rPr lang="en-IN" sz="1600" dirty="0"/>
              <a:t> &amp; has </a:t>
            </a:r>
            <a:r>
              <a:rPr lang="en-IN" sz="1600" b="1" dirty="0">
                <a:solidFill>
                  <a:srgbClr val="FF0000"/>
                </a:solidFill>
              </a:rPr>
              <a:t>RED</a:t>
            </a:r>
            <a:r>
              <a:rPr lang="en-IN" sz="1600" dirty="0"/>
              <a:t> parent =&gt; swap the </a:t>
            </a:r>
            <a:r>
              <a:rPr lang="en-IN" sz="1600" dirty="0" err="1"/>
              <a:t>color</a:t>
            </a:r>
            <a:r>
              <a:rPr lang="en-IN" sz="1600" dirty="0"/>
              <a:t> of Parent &amp; Sibling (terminal)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80" y="6474822"/>
            <a:ext cx="6264696" cy="3385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/>
              <a:t>[if  node to be deleted is black ,  it  will  be replaced by Double Black DB]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E4826-4446-0573-92BF-34A5D835FA31}"/>
              </a:ext>
            </a:extLst>
          </p:cNvPr>
          <p:cNvSpPr txBox="1"/>
          <p:nvPr/>
        </p:nvSpPr>
        <p:spPr>
          <a:xfrm>
            <a:off x="3635896" y="179348"/>
            <a:ext cx="1872208" cy="3693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r>
              <a:rPr lang="en-IN" sz="1800" b="1" dirty="0"/>
              <a:t>RB Tree Deletion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8107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b="1" dirty="0"/>
              <a:t>RB tree </a:t>
            </a:r>
            <a:r>
              <a:rPr lang="en-IN" b="1" dirty="0"/>
              <a:t>Deletion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692696"/>
            <a:ext cx="75608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Construct a tree as follows </a:t>
            </a:r>
          </a:p>
          <a:p>
            <a:r>
              <a:rPr lang="en-IN" sz="2400" b="1" dirty="0"/>
              <a:t>49, 28, 58, 14, 30, 52, 67, 63, 75, 79</a:t>
            </a:r>
          </a:p>
          <a:p>
            <a:endParaRPr lang="en-IN" sz="2400" b="1" dirty="0"/>
          </a:p>
          <a:p>
            <a:r>
              <a:rPr lang="en-IN" sz="2400" b="1" dirty="0"/>
              <a:t>		Perform the following deletion</a:t>
            </a:r>
          </a:p>
          <a:p>
            <a:r>
              <a:rPr lang="en-IN" sz="2400" b="1" dirty="0"/>
              <a:t>	         </a:t>
            </a:r>
            <a:r>
              <a:rPr lang="en-IN" sz="3600" b="1" dirty="0"/>
              <a:t>52, 28, 79, 75, 49, 30, 14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21011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b="1" dirty="0"/>
              <a:t>RB tree </a:t>
            </a:r>
            <a:r>
              <a:rPr lang="en-IN" b="1" dirty="0"/>
              <a:t>Deletion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692696"/>
            <a:ext cx="75608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Construct a tree as follows </a:t>
            </a:r>
          </a:p>
          <a:p>
            <a:r>
              <a:rPr lang="en-IN" sz="2400" b="1" dirty="0"/>
              <a:t>49, 28, 58, 14, 30, 52, 67, 63, 75, 79</a:t>
            </a:r>
          </a:p>
          <a:p>
            <a:endParaRPr lang="en-IN" sz="2400" b="1" dirty="0"/>
          </a:p>
          <a:p>
            <a:r>
              <a:rPr lang="en-IN" sz="2400" b="1" dirty="0"/>
              <a:t>		Perform the following deletion</a:t>
            </a:r>
          </a:p>
          <a:p>
            <a:r>
              <a:rPr lang="en-IN" sz="2400" b="1" dirty="0"/>
              <a:t>	         </a:t>
            </a:r>
            <a:r>
              <a:rPr lang="en-IN" sz="3600" b="1" dirty="0"/>
              <a:t>52, 28, 79, 75, 49, 30, 14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3E37A-78EC-157A-A141-4056F072E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924944"/>
            <a:ext cx="74961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20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612576" y="120427"/>
            <a:ext cx="59766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		Perform the following deletion</a:t>
            </a:r>
          </a:p>
          <a:p>
            <a:r>
              <a:rPr lang="en-IN" sz="1400" b="1" dirty="0"/>
              <a:t>	         </a:t>
            </a:r>
            <a:r>
              <a:rPr lang="en-IN" sz="2000" b="1" dirty="0"/>
              <a:t>52, 28, 79, 75, 49, 30, 14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3E37A-78EC-157A-A141-4056F072E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" y="917056"/>
            <a:ext cx="4364635" cy="222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04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959F-7B48-F407-2907-C1613FC6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EBE640-A75C-63C6-E79D-B414319DF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7" y="1828418"/>
            <a:ext cx="2720156" cy="15283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14DD8-027D-6B78-D725-7E653B410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792" y="71623"/>
            <a:ext cx="3168352" cy="223224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800" b="1" dirty="0"/>
              <a:t>Case 3(1) </a:t>
            </a:r>
            <a:r>
              <a:rPr lang="en-IN" sz="800" dirty="0"/>
              <a:t>If root node is DB, =&gt; remove DB [</a:t>
            </a:r>
            <a:r>
              <a:rPr lang="en-IN" sz="800" b="1" dirty="0">
                <a:solidFill>
                  <a:srgbClr val="FF0000"/>
                </a:solidFill>
              </a:rPr>
              <a:t>Terminal]</a:t>
            </a:r>
          </a:p>
          <a:p>
            <a:pPr marL="0" indent="0">
              <a:buNone/>
            </a:pPr>
            <a:endParaRPr lang="en-IN" sz="800" b="1" dirty="0"/>
          </a:p>
          <a:p>
            <a:pPr marL="0" indent="0">
              <a:buNone/>
            </a:pPr>
            <a:r>
              <a:rPr lang="en-IN" sz="800" b="1" dirty="0">
                <a:sym typeface="Wingdings" pitchFamily="2" charset="2"/>
              </a:rPr>
              <a:t>Case 3(2)</a:t>
            </a:r>
            <a:r>
              <a:rPr lang="en-IN" sz="800" dirty="0">
                <a:sym typeface="Wingdings" pitchFamily="2" charset="2"/>
              </a:rPr>
              <a:t> – If </a:t>
            </a:r>
            <a:r>
              <a:rPr lang="en-IN" sz="800" b="1" dirty="0">
                <a:sym typeface="Wingdings" pitchFamily="2" charset="2"/>
              </a:rPr>
              <a:t>DB</a:t>
            </a:r>
            <a:r>
              <a:rPr lang="en-IN" sz="800" dirty="0">
                <a:sym typeface="Wingdings" pitchFamily="2" charset="2"/>
              </a:rPr>
              <a:t> sibling is </a:t>
            </a:r>
            <a:r>
              <a:rPr lang="en-IN" sz="8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r>
              <a:rPr lang="en-IN" sz="800" dirty="0">
                <a:sym typeface="Wingdings" pitchFamily="2" charset="2"/>
              </a:rPr>
              <a:t> (also has </a:t>
            </a:r>
            <a:r>
              <a:rPr lang="en-IN" sz="800" b="1" dirty="0">
                <a:sym typeface="Wingdings" pitchFamily="2" charset="2"/>
              </a:rPr>
              <a:t>BLACK</a:t>
            </a:r>
            <a:r>
              <a:rPr lang="en-IN" sz="800" dirty="0">
                <a:sym typeface="Wingdings" pitchFamily="2" charset="2"/>
              </a:rPr>
              <a:t> parent)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swap </a:t>
            </a:r>
            <a:r>
              <a:rPr lang="en-IN" sz="800" dirty="0" err="1">
                <a:sym typeface="Wingdings" pitchFamily="2" charset="2"/>
              </a:rPr>
              <a:t>colors</a:t>
            </a:r>
            <a:r>
              <a:rPr lang="en-IN" sz="800" dirty="0">
                <a:sym typeface="Wingdings" pitchFamily="2" charset="2"/>
              </a:rPr>
              <a:t> of  PARENT and its SIBLING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rotate PARENT in DB direction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reapply cases</a:t>
            </a:r>
          </a:p>
          <a:p>
            <a:pPr marL="0" indent="0">
              <a:buNone/>
            </a:pPr>
            <a:endParaRPr lang="en-IN" sz="800" b="1" dirty="0"/>
          </a:p>
          <a:p>
            <a:pPr marL="0" indent="0">
              <a:buNone/>
            </a:pPr>
            <a:r>
              <a:rPr lang="en-IN" sz="800" b="1" dirty="0"/>
              <a:t>Case </a:t>
            </a:r>
            <a:r>
              <a:rPr lang="en-IN" sz="800" b="1" dirty="0">
                <a:sym typeface="Wingdings" pitchFamily="2" charset="2"/>
              </a:rPr>
              <a:t>3(3)</a:t>
            </a:r>
            <a:r>
              <a:rPr lang="en-IN" sz="800" dirty="0">
                <a:sym typeface="Wingdings" pitchFamily="2" charset="2"/>
              </a:rPr>
              <a:t> </a:t>
            </a:r>
            <a:r>
              <a:rPr lang="en-IN" sz="800" dirty="0"/>
              <a:t>- If </a:t>
            </a:r>
            <a:r>
              <a:rPr lang="en-IN" sz="800" b="1" dirty="0"/>
              <a:t>DB’</a:t>
            </a:r>
            <a:r>
              <a:rPr lang="en-IN" sz="800" dirty="0"/>
              <a:t>s sibling is </a:t>
            </a:r>
            <a:r>
              <a:rPr lang="en-IN" sz="800" b="1" dirty="0">
                <a:sym typeface="Wingdings" pitchFamily="2" charset="2"/>
              </a:rPr>
              <a:t>BLACK</a:t>
            </a:r>
            <a:r>
              <a:rPr lang="en-IN" sz="800" dirty="0"/>
              <a:t> and both of its children are </a:t>
            </a:r>
            <a:r>
              <a:rPr lang="en-IN" sz="800" b="1" dirty="0">
                <a:sym typeface="Wingdings" pitchFamily="2" charset="2"/>
              </a:rPr>
              <a:t>BLACK </a:t>
            </a:r>
          </a:p>
          <a:p>
            <a:pPr marL="0" indent="0">
              <a:buNone/>
            </a:pPr>
            <a:r>
              <a:rPr lang="en-IN" sz="800" dirty="0">
                <a:sym typeface="Wingdings" panose="05000000000000000000" pitchFamily="2" charset="2"/>
              </a:rPr>
              <a:t></a:t>
            </a:r>
            <a:r>
              <a:rPr lang="en-IN" sz="800" dirty="0"/>
              <a:t>Remove DB</a:t>
            </a:r>
          </a:p>
          <a:p>
            <a:pPr marL="0" indent="0">
              <a:buNone/>
            </a:pPr>
            <a:r>
              <a:rPr lang="en-IN" sz="800" dirty="0"/>
              <a:t>= =&gt; Add extra black to its parent </a:t>
            </a:r>
          </a:p>
          <a:p>
            <a:pPr marL="0" indent="0">
              <a:buNone/>
            </a:pPr>
            <a:r>
              <a:rPr lang="en-IN" sz="800" dirty="0"/>
              <a:t>  =====&gt; if parent is RED, then make it BLACK</a:t>
            </a:r>
          </a:p>
          <a:p>
            <a:pPr marL="0" indent="0">
              <a:buNone/>
            </a:pPr>
            <a:r>
              <a:rPr lang="en-IN" sz="800" dirty="0"/>
              <a:t>  ======&gt; if parent is BLACK, then make it double BLACK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  Make sibling RED 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If </a:t>
            </a:r>
            <a:r>
              <a:rPr lang="en-IN" sz="800" dirty="0" err="1">
                <a:sym typeface="Wingdings" pitchFamily="2" charset="2"/>
              </a:rPr>
              <a:t>stillDB</a:t>
            </a:r>
            <a:r>
              <a:rPr lang="en-IN" sz="800" dirty="0">
                <a:sym typeface="Wingdings" pitchFamily="2" charset="2"/>
              </a:rPr>
              <a:t> exists, apply other cases.</a:t>
            </a:r>
          </a:p>
          <a:p>
            <a:pPr marL="0" indent="0">
              <a:buNone/>
            </a:pPr>
            <a:endParaRPr lang="en-IN" sz="800" dirty="0">
              <a:sym typeface="Wingdings" pitchFamily="2" charset="2"/>
            </a:endParaRPr>
          </a:p>
          <a:p>
            <a:pPr marL="0" indent="0">
              <a:buNone/>
            </a:pPr>
            <a:endParaRPr lang="en-IN" sz="700" dirty="0">
              <a:sym typeface="Wingdings" pitchFamily="2" charset="2"/>
            </a:endParaRPr>
          </a:p>
          <a:p>
            <a:pPr marL="0" indent="0">
              <a:buNone/>
            </a:pPr>
            <a:endParaRPr lang="en-IN" sz="700" dirty="0"/>
          </a:p>
          <a:p>
            <a:pPr>
              <a:buFont typeface="Symbol"/>
              <a:buChar char="Þ"/>
            </a:pPr>
            <a:endParaRPr lang="en-IN" sz="700" dirty="0"/>
          </a:p>
          <a:p>
            <a:pPr marL="0" indent="0">
              <a:buNone/>
            </a:pPr>
            <a:endParaRPr lang="en-IN" sz="7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CC7738-8A6B-B460-5BA6-8E241967F981}"/>
              </a:ext>
            </a:extLst>
          </p:cNvPr>
          <p:cNvSpPr/>
          <p:nvPr/>
        </p:nvSpPr>
        <p:spPr>
          <a:xfrm>
            <a:off x="32639" y="28665"/>
            <a:ext cx="2808312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800" dirty="0"/>
              <a:t>Step  1 - Perform BST deletion</a:t>
            </a:r>
          </a:p>
          <a:p>
            <a:r>
              <a:rPr lang="en-IN" sz="800" b="1" dirty="0"/>
              <a:t>Step 2 </a:t>
            </a:r>
          </a:p>
          <a:p>
            <a:r>
              <a:rPr lang="en-IN" sz="800" b="1" dirty="0"/>
              <a:t>Case 1</a:t>
            </a:r>
            <a:r>
              <a:rPr lang="en-IN" sz="800" dirty="0"/>
              <a:t>-If node to be deleted is </a:t>
            </a:r>
            <a:r>
              <a:rPr lang="en-IN" sz="800" b="1" dirty="0">
                <a:solidFill>
                  <a:srgbClr val="FF0000"/>
                </a:solidFill>
              </a:rPr>
              <a:t>RED</a:t>
            </a:r>
            <a:r>
              <a:rPr lang="en-IN" sz="800" dirty="0"/>
              <a:t> =&gt; just delete it  [</a:t>
            </a:r>
            <a:r>
              <a:rPr lang="en-IN" sz="800" b="1" dirty="0">
                <a:solidFill>
                  <a:srgbClr val="FF0000"/>
                </a:solidFill>
              </a:rPr>
              <a:t>Terminal]</a:t>
            </a:r>
          </a:p>
          <a:p>
            <a:r>
              <a:rPr lang="en-IN" sz="800" b="1" dirty="0"/>
              <a:t>Case 2</a:t>
            </a:r>
            <a:r>
              <a:rPr lang="en-IN" sz="800" dirty="0"/>
              <a:t>-If</a:t>
            </a:r>
            <a:r>
              <a:rPr lang="en-IN" sz="800" b="1" dirty="0"/>
              <a:t> </a:t>
            </a:r>
            <a:r>
              <a:rPr lang="en-IN" sz="800" dirty="0"/>
              <a:t>node to be deleted is </a:t>
            </a:r>
            <a:r>
              <a:rPr lang="en-IN" sz="800" b="1" dirty="0"/>
              <a:t>BLACK</a:t>
            </a:r>
            <a:r>
              <a:rPr lang="en-IN" sz="800" dirty="0"/>
              <a:t> but has </a:t>
            </a:r>
            <a:r>
              <a:rPr lang="en-IN" sz="800" b="1" dirty="0">
                <a:solidFill>
                  <a:srgbClr val="FF0000"/>
                </a:solidFill>
              </a:rPr>
              <a:t>RED</a:t>
            </a:r>
            <a:r>
              <a:rPr lang="en-IN" sz="800" dirty="0"/>
              <a:t> child </a:t>
            </a:r>
          </a:p>
          <a:p>
            <a:r>
              <a:rPr lang="en-IN" sz="800" dirty="0"/>
              <a:t>   =&gt; Replace node with child  and </a:t>
            </a:r>
            <a:r>
              <a:rPr lang="en-IN" sz="800" dirty="0" err="1"/>
              <a:t>color</a:t>
            </a:r>
            <a:r>
              <a:rPr lang="en-IN" sz="800" dirty="0"/>
              <a:t> it with BLACK</a:t>
            </a:r>
          </a:p>
          <a:p>
            <a:endParaRPr lang="en-IN" sz="800" dirty="0"/>
          </a:p>
          <a:p>
            <a:r>
              <a:rPr lang="en-IN" sz="800" dirty="0"/>
              <a:t>Or if the Node to be deleted is </a:t>
            </a:r>
            <a:r>
              <a:rPr lang="en-IN" sz="800" b="1" dirty="0"/>
              <a:t>BLACK</a:t>
            </a:r>
            <a:r>
              <a:rPr lang="en-IN" sz="800" dirty="0"/>
              <a:t> &amp; has </a:t>
            </a:r>
            <a:r>
              <a:rPr lang="en-IN" sz="800" b="1" dirty="0">
                <a:solidFill>
                  <a:srgbClr val="FF0000"/>
                </a:solidFill>
              </a:rPr>
              <a:t>RED</a:t>
            </a:r>
            <a:r>
              <a:rPr lang="en-IN" sz="800" dirty="0"/>
              <a:t> parent =&gt; swap the </a:t>
            </a:r>
            <a:r>
              <a:rPr lang="en-IN" sz="800" dirty="0" err="1"/>
              <a:t>color</a:t>
            </a:r>
            <a:r>
              <a:rPr lang="en-IN" sz="800" dirty="0"/>
              <a:t> of Parent &amp; Sibling (terminal) </a:t>
            </a:r>
          </a:p>
          <a:p>
            <a:endParaRPr lang="en-IN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1BE6A-25E2-E699-FCA4-9F229D96FDE5}"/>
              </a:ext>
            </a:extLst>
          </p:cNvPr>
          <p:cNvSpPr txBox="1"/>
          <p:nvPr/>
        </p:nvSpPr>
        <p:spPr>
          <a:xfrm>
            <a:off x="583817" y="1159374"/>
            <a:ext cx="1872208" cy="3693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r>
              <a:rPr lang="en-IN" sz="1800" b="1" dirty="0"/>
              <a:t>RB Tree Deletion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9A89F4-61C0-42B7-41C8-B365D52C11C2}"/>
              </a:ext>
            </a:extLst>
          </p:cNvPr>
          <p:cNvSpPr txBox="1"/>
          <p:nvPr/>
        </p:nvSpPr>
        <p:spPr>
          <a:xfrm>
            <a:off x="281091" y="1571326"/>
            <a:ext cx="26592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52, 28, 79, 75, 49, 30, 14</a:t>
            </a:r>
            <a:endParaRPr lang="en-IN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AE31E4-31BA-C007-B1E1-E6811813C1B3}"/>
              </a:ext>
            </a:extLst>
          </p:cNvPr>
          <p:cNvSpPr/>
          <p:nvPr/>
        </p:nvSpPr>
        <p:spPr>
          <a:xfrm>
            <a:off x="5868144" y="44624"/>
            <a:ext cx="3168352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900" b="1" dirty="0">
                <a:sym typeface="Wingdings" pitchFamily="2" charset="2"/>
              </a:rPr>
              <a:t>Case 3(4) </a:t>
            </a:r>
            <a:r>
              <a:rPr lang="en-IN" sz="900" dirty="0">
                <a:sym typeface="Wingdings" pitchFamily="2" charset="2"/>
              </a:rPr>
              <a:t>– DB’s sibling is </a:t>
            </a:r>
            <a:r>
              <a:rPr lang="en-IN" sz="900" b="1" dirty="0">
                <a:sym typeface="Wingdings" pitchFamily="2" charset="2"/>
              </a:rPr>
              <a:t>BLACK</a:t>
            </a:r>
            <a:r>
              <a:rPr lang="en-IN" sz="900" dirty="0">
                <a:sym typeface="Wingdings" pitchFamily="2" charset="2"/>
              </a:rPr>
              <a:t>, check sibling child's who is far from DB is </a:t>
            </a:r>
            <a:r>
              <a:rPr lang="en-IN" sz="900" b="1" dirty="0">
                <a:sym typeface="Wingdings" pitchFamily="2" charset="2"/>
              </a:rPr>
              <a:t>BLACK</a:t>
            </a:r>
          </a:p>
          <a:p>
            <a:r>
              <a:rPr lang="en-IN" sz="900" dirty="0">
                <a:sym typeface="Wingdings" pitchFamily="2" charset="2"/>
              </a:rPr>
              <a:t> but near child to DB is </a:t>
            </a:r>
            <a:r>
              <a:rPr lang="en-IN" sz="9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endParaRPr lang="en-IN" sz="900" b="1" dirty="0">
              <a:solidFill>
                <a:srgbClr val="FF0000"/>
              </a:solidFill>
            </a:endParaRPr>
          </a:p>
          <a:p>
            <a:pPr>
              <a:buFont typeface="Wingdings"/>
              <a:buChar char="è"/>
            </a:pPr>
            <a:r>
              <a:rPr lang="en-IN" sz="900" dirty="0">
                <a:sym typeface="Wingdings" pitchFamily="2" charset="2"/>
              </a:rPr>
              <a:t>Swap </a:t>
            </a:r>
            <a:r>
              <a:rPr lang="en-IN" sz="900" dirty="0" err="1">
                <a:sym typeface="Wingdings" pitchFamily="2" charset="2"/>
              </a:rPr>
              <a:t>color</a:t>
            </a:r>
            <a:r>
              <a:rPr lang="en-IN" sz="900" dirty="0">
                <a:sym typeface="Wingdings" pitchFamily="2" charset="2"/>
              </a:rPr>
              <a:t> of DB’s sibling &amp; siblings child who is near to DB</a:t>
            </a:r>
          </a:p>
          <a:p>
            <a:pPr>
              <a:buFont typeface="Wingdings"/>
              <a:buChar char="è"/>
            </a:pPr>
            <a:r>
              <a:rPr lang="en-IN" sz="900" dirty="0">
                <a:sym typeface="Wingdings" pitchFamily="2" charset="2"/>
              </a:rPr>
              <a:t>Rotate sibling in opposite direction to DB</a:t>
            </a:r>
          </a:p>
          <a:p>
            <a:pPr>
              <a:buFont typeface="Wingdings"/>
              <a:buChar char="è"/>
            </a:pPr>
            <a:r>
              <a:rPr lang="en-IN" sz="900" dirty="0">
                <a:sym typeface="Wingdings" pitchFamily="2" charset="2"/>
              </a:rPr>
              <a:t>Apply case 3(5)</a:t>
            </a:r>
          </a:p>
          <a:p>
            <a:endParaRPr lang="en-IN" sz="900" dirty="0">
              <a:sym typeface="Wingdings" pitchFamily="2" charset="2"/>
            </a:endParaRPr>
          </a:p>
          <a:p>
            <a:r>
              <a:rPr lang="en-IN" sz="900" b="1" dirty="0">
                <a:sym typeface="Wingdings" pitchFamily="2" charset="2"/>
              </a:rPr>
              <a:t>Case 3(5)</a:t>
            </a:r>
            <a:r>
              <a:rPr lang="en-IN" sz="900" dirty="0">
                <a:sym typeface="Wingdings" pitchFamily="2" charset="2"/>
              </a:rPr>
              <a:t> – DB’s sibling is </a:t>
            </a:r>
            <a:r>
              <a:rPr lang="en-IN" sz="900" b="1" dirty="0">
                <a:sym typeface="Wingdings" pitchFamily="2" charset="2"/>
              </a:rPr>
              <a:t>BLACK</a:t>
            </a:r>
            <a:r>
              <a:rPr lang="en-IN" sz="900" dirty="0">
                <a:sym typeface="Wingdings" pitchFamily="2" charset="2"/>
              </a:rPr>
              <a:t> and far child is</a:t>
            </a:r>
            <a:r>
              <a:rPr lang="en-IN" sz="900" b="1" dirty="0">
                <a:solidFill>
                  <a:srgbClr val="FF0000"/>
                </a:solidFill>
                <a:sym typeface="Wingdings" pitchFamily="2" charset="2"/>
              </a:rPr>
              <a:t> RED  </a:t>
            </a:r>
            <a:r>
              <a:rPr lang="en-IN" sz="900" dirty="0">
                <a:sym typeface="Wingdings" pitchFamily="2" charset="2"/>
              </a:rPr>
              <a:t>[</a:t>
            </a:r>
            <a:r>
              <a:rPr lang="en-IN" sz="900" b="1" dirty="0">
                <a:solidFill>
                  <a:srgbClr val="FF0000"/>
                </a:solidFill>
                <a:sym typeface="Wingdings" pitchFamily="2" charset="2"/>
              </a:rPr>
              <a:t>Terminal</a:t>
            </a:r>
            <a:r>
              <a:rPr lang="en-IN" sz="900" dirty="0">
                <a:sym typeface="Wingdings" pitchFamily="2" charset="2"/>
              </a:rPr>
              <a:t>]</a:t>
            </a:r>
          </a:p>
          <a:p>
            <a:pPr>
              <a:buFont typeface="Wingdings"/>
              <a:buChar char="è"/>
            </a:pPr>
            <a:r>
              <a:rPr lang="en-IN" sz="900" dirty="0"/>
              <a:t>Swap </a:t>
            </a:r>
            <a:r>
              <a:rPr lang="en-IN" sz="900" dirty="0" err="1"/>
              <a:t>color</a:t>
            </a:r>
            <a:r>
              <a:rPr lang="en-IN" sz="900" dirty="0"/>
              <a:t> of PARENT &amp; SIBLING</a:t>
            </a:r>
          </a:p>
          <a:p>
            <a:pPr>
              <a:buFont typeface="Wingdings"/>
              <a:buChar char="è"/>
            </a:pPr>
            <a:r>
              <a:rPr lang="en-IN" sz="900" dirty="0"/>
              <a:t>Rotate PARENT in DB’s direction</a:t>
            </a:r>
          </a:p>
          <a:p>
            <a:pPr>
              <a:buFont typeface="Wingdings"/>
              <a:buChar char="è"/>
            </a:pPr>
            <a:r>
              <a:rPr lang="en-IN" sz="900" dirty="0"/>
              <a:t>Remove DB</a:t>
            </a:r>
          </a:p>
          <a:p>
            <a:pPr>
              <a:buFont typeface="Wingdings"/>
              <a:buChar char="è"/>
            </a:pPr>
            <a:r>
              <a:rPr lang="en-IN" sz="900" dirty="0"/>
              <a:t>Change </a:t>
            </a:r>
            <a:r>
              <a:rPr lang="en-IN" sz="900" dirty="0" err="1"/>
              <a:t>color</a:t>
            </a:r>
            <a:r>
              <a:rPr lang="en-IN" sz="900" dirty="0"/>
              <a:t> of RED child(far) to BLACK</a:t>
            </a:r>
          </a:p>
        </p:txBody>
      </p:sp>
    </p:spTree>
    <p:extLst>
      <p:ext uri="{BB962C8B-B14F-4D97-AF65-F5344CB8AC3E}">
        <p14:creationId xmlns:p14="http://schemas.microsoft.com/office/powerpoint/2010/main" val="263947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EC80B8-6543-9FB8-6140-2F1D366E0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9" y="607502"/>
            <a:ext cx="5174299" cy="3253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784CF2-B1FA-4446-9435-B56CE3D9F24A}"/>
              </a:ext>
            </a:extLst>
          </p:cNvPr>
          <p:cNvSpPr txBox="1"/>
          <p:nvPr/>
        </p:nvSpPr>
        <p:spPr>
          <a:xfrm flipH="1">
            <a:off x="-36512" y="11995"/>
            <a:ext cx="3456524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Delete  30, 45, 10, 12, 35</a:t>
            </a:r>
          </a:p>
        </p:txBody>
      </p:sp>
    </p:spTree>
    <p:extLst>
      <p:ext uri="{BB962C8B-B14F-4D97-AF65-F5344CB8AC3E}">
        <p14:creationId xmlns:p14="http://schemas.microsoft.com/office/powerpoint/2010/main" val="179982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8E04-286B-83F7-3F97-EF514419E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DEB730-4123-1714-39B1-14FDDDDBB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" y="2099892"/>
            <a:ext cx="2998449" cy="18853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360AE-26B6-1FC8-3716-2B1FCA42A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792" y="71623"/>
            <a:ext cx="3168352" cy="223224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800" b="1" dirty="0"/>
              <a:t>Case 3(1) </a:t>
            </a:r>
            <a:r>
              <a:rPr lang="en-IN" sz="800" dirty="0"/>
              <a:t>If root node is DB, =&gt; remove DB [</a:t>
            </a:r>
            <a:r>
              <a:rPr lang="en-IN" sz="800" b="1" dirty="0">
                <a:solidFill>
                  <a:srgbClr val="FF0000"/>
                </a:solidFill>
              </a:rPr>
              <a:t>Terminal]</a:t>
            </a:r>
          </a:p>
          <a:p>
            <a:pPr marL="0" indent="0">
              <a:buNone/>
            </a:pPr>
            <a:endParaRPr lang="en-IN" sz="800" b="1" dirty="0"/>
          </a:p>
          <a:p>
            <a:pPr marL="0" indent="0">
              <a:buNone/>
            </a:pPr>
            <a:r>
              <a:rPr lang="en-IN" sz="800" b="1" dirty="0">
                <a:sym typeface="Wingdings" pitchFamily="2" charset="2"/>
              </a:rPr>
              <a:t>Case 3(2)</a:t>
            </a:r>
            <a:r>
              <a:rPr lang="en-IN" sz="800" dirty="0">
                <a:sym typeface="Wingdings" pitchFamily="2" charset="2"/>
              </a:rPr>
              <a:t> – If </a:t>
            </a:r>
            <a:r>
              <a:rPr lang="en-IN" sz="800" b="1" dirty="0">
                <a:sym typeface="Wingdings" pitchFamily="2" charset="2"/>
              </a:rPr>
              <a:t>DB</a:t>
            </a:r>
            <a:r>
              <a:rPr lang="en-IN" sz="800" dirty="0">
                <a:sym typeface="Wingdings" pitchFamily="2" charset="2"/>
              </a:rPr>
              <a:t> sibling is </a:t>
            </a:r>
            <a:r>
              <a:rPr lang="en-IN" sz="8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r>
              <a:rPr lang="en-IN" sz="800" dirty="0">
                <a:sym typeface="Wingdings" pitchFamily="2" charset="2"/>
              </a:rPr>
              <a:t> (also has </a:t>
            </a:r>
            <a:r>
              <a:rPr lang="en-IN" sz="800" b="1" dirty="0">
                <a:sym typeface="Wingdings" pitchFamily="2" charset="2"/>
              </a:rPr>
              <a:t>BLACK</a:t>
            </a:r>
            <a:r>
              <a:rPr lang="en-IN" sz="800" dirty="0">
                <a:sym typeface="Wingdings" pitchFamily="2" charset="2"/>
              </a:rPr>
              <a:t> parent)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swap </a:t>
            </a:r>
            <a:r>
              <a:rPr lang="en-IN" sz="800" dirty="0" err="1">
                <a:sym typeface="Wingdings" pitchFamily="2" charset="2"/>
              </a:rPr>
              <a:t>colors</a:t>
            </a:r>
            <a:r>
              <a:rPr lang="en-IN" sz="800" dirty="0">
                <a:sym typeface="Wingdings" pitchFamily="2" charset="2"/>
              </a:rPr>
              <a:t> of  PARENT and its SIBLING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rotate PARENT in DB direction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reapply cases</a:t>
            </a:r>
          </a:p>
          <a:p>
            <a:pPr marL="0" indent="0">
              <a:buNone/>
            </a:pPr>
            <a:endParaRPr lang="en-IN" sz="800" b="1" dirty="0"/>
          </a:p>
          <a:p>
            <a:pPr marL="0" indent="0">
              <a:buNone/>
            </a:pPr>
            <a:r>
              <a:rPr lang="en-IN" sz="800" b="1" dirty="0"/>
              <a:t>Case </a:t>
            </a:r>
            <a:r>
              <a:rPr lang="en-IN" sz="800" b="1" dirty="0">
                <a:sym typeface="Wingdings" pitchFamily="2" charset="2"/>
              </a:rPr>
              <a:t>3(3)</a:t>
            </a:r>
            <a:r>
              <a:rPr lang="en-IN" sz="800" dirty="0">
                <a:sym typeface="Wingdings" pitchFamily="2" charset="2"/>
              </a:rPr>
              <a:t> </a:t>
            </a:r>
            <a:r>
              <a:rPr lang="en-IN" sz="800" dirty="0"/>
              <a:t>- If </a:t>
            </a:r>
            <a:r>
              <a:rPr lang="en-IN" sz="800" b="1" dirty="0"/>
              <a:t>DB’</a:t>
            </a:r>
            <a:r>
              <a:rPr lang="en-IN" sz="800" dirty="0"/>
              <a:t>s sibling is </a:t>
            </a:r>
            <a:r>
              <a:rPr lang="en-IN" sz="800" b="1" dirty="0">
                <a:sym typeface="Wingdings" pitchFamily="2" charset="2"/>
              </a:rPr>
              <a:t>BLACK</a:t>
            </a:r>
            <a:r>
              <a:rPr lang="en-IN" sz="800" dirty="0"/>
              <a:t> and both of its children are </a:t>
            </a:r>
            <a:r>
              <a:rPr lang="en-IN" sz="800" b="1" dirty="0">
                <a:sym typeface="Wingdings" pitchFamily="2" charset="2"/>
              </a:rPr>
              <a:t>BLACK </a:t>
            </a:r>
          </a:p>
          <a:p>
            <a:pPr marL="0" indent="0">
              <a:buNone/>
            </a:pPr>
            <a:r>
              <a:rPr lang="en-IN" sz="800" dirty="0">
                <a:sym typeface="Wingdings" panose="05000000000000000000" pitchFamily="2" charset="2"/>
              </a:rPr>
              <a:t></a:t>
            </a:r>
            <a:r>
              <a:rPr lang="en-IN" sz="800" dirty="0"/>
              <a:t>Remove DB</a:t>
            </a:r>
          </a:p>
          <a:p>
            <a:pPr marL="0" indent="0">
              <a:buNone/>
            </a:pPr>
            <a:r>
              <a:rPr lang="en-IN" sz="800" dirty="0"/>
              <a:t>= =&gt; Add extra black to its parent </a:t>
            </a:r>
          </a:p>
          <a:p>
            <a:pPr marL="0" indent="0">
              <a:buNone/>
            </a:pPr>
            <a:r>
              <a:rPr lang="en-IN" sz="800" dirty="0"/>
              <a:t>  =====&gt; if parent is RED, then make it BLACK</a:t>
            </a:r>
          </a:p>
          <a:p>
            <a:pPr marL="0" indent="0">
              <a:buNone/>
            </a:pPr>
            <a:r>
              <a:rPr lang="en-IN" sz="800" dirty="0"/>
              <a:t>  ======&gt; if parent is BLACK, then make it double BLACK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  Make sibling RED 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If </a:t>
            </a:r>
            <a:r>
              <a:rPr lang="en-IN" sz="800" dirty="0" err="1">
                <a:sym typeface="Wingdings" pitchFamily="2" charset="2"/>
              </a:rPr>
              <a:t>stillDB</a:t>
            </a:r>
            <a:r>
              <a:rPr lang="en-IN" sz="800" dirty="0">
                <a:sym typeface="Wingdings" pitchFamily="2" charset="2"/>
              </a:rPr>
              <a:t> exists, apply other cases.</a:t>
            </a:r>
          </a:p>
          <a:p>
            <a:pPr marL="0" indent="0">
              <a:buNone/>
            </a:pPr>
            <a:endParaRPr lang="en-IN" sz="800" dirty="0">
              <a:sym typeface="Wingdings" pitchFamily="2" charset="2"/>
            </a:endParaRPr>
          </a:p>
          <a:p>
            <a:pPr marL="0" indent="0">
              <a:buNone/>
            </a:pPr>
            <a:endParaRPr lang="en-IN" sz="700" dirty="0">
              <a:sym typeface="Wingdings" pitchFamily="2" charset="2"/>
            </a:endParaRPr>
          </a:p>
          <a:p>
            <a:pPr marL="0" indent="0">
              <a:buNone/>
            </a:pPr>
            <a:endParaRPr lang="en-IN" sz="700" dirty="0"/>
          </a:p>
          <a:p>
            <a:pPr>
              <a:buFont typeface="Symbol"/>
              <a:buChar char="Þ"/>
            </a:pPr>
            <a:endParaRPr lang="en-IN" sz="700" dirty="0"/>
          </a:p>
          <a:p>
            <a:pPr marL="0" indent="0">
              <a:buNone/>
            </a:pPr>
            <a:endParaRPr lang="en-IN" sz="7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513053-91E4-FB17-5A39-B9F45AFF649C}"/>
              </a:ext>
            </a:extLst>
          </p:cNvPr>
          <p:cNvSpPr/>
          <p:nvPr/>
        </p:nvSpPr>
        <p:spPr>
          <a:xfrm>
            <a:off x="32639" y="28665"/>
            <a:ext cx="2808312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800" dirty="0"/>
              <a:t>Step  1 - Perform BST deletion</a:t>
            </a:r>
          </a:p>
          <a:p>
            <a:r>
              <a:rPr lang="en-IN" sz="800" b="1" dirty="0"/>
              <a:t>Step 2 </a:t>
            </a:r>
          </a:p>
          <a:p>
            <a:r>
              <a:rPr lang="en-IN" sz="800" b="1" dirty="0"/>
              <a:t>Case 1</a:t>
            </a:r>
            <a:r>
              <a:rPr lang="en-IN" sz="800" dirty="0"/>
              <a:t>-If node to be deleted is </a:t>
            </a:r>
            <a:r>
              <a:rPr lang="en-IN" sz="800" b="1" dirty="0">
                <a:solidFill>
                  <a:srgbClr val="FF0000"/>
                </a:solidFill>
              </a:rPr>
              <a:t>RED</a:t>
            </a:r>
            <a:r>
              <a:rPr lang="en-IN" sz="800" dirty="0"/>
              <a:t> =&gt; just delete it  [</a:t>
            </a:r>
            <a:r>
              <a:rPr lang="en-IN" sz="800" b="1" dirty="0">
                <a:solidFill>
                  <a:srgbClr val="FF0000"/>
                </a:solidFill>
              </a:rPr>
              <a:t>Terminal]</a:t>
            </a:r>
          </a:p>
          <a:p>
            <a:r>
              <a:rPr lang="en-IN" sz="800" b="1" dirty="0"/>
              <a:t>Case 2</a:t>
            </a:r>
            <a:r>
              <a:rPr lang="en-IN" sz="800" dirty="0"/>
              <a:t>-If</a:t>
            </a:r>
            <a:r>
              <a:rPr lang="en-IN" sz="800" b="1" dirty="0"/>
              <a:t> </a:t>
            </a:r>
            <a:r>
              <a:rPr lang="en-IN" sz="800" dirty="0"/>
              <a:t>node to be deleted is </a:t>
            </a:r>
            <a:r>
              <a:rPr lang="en-IN" sz="800" b="1" dirty="0"/>
              <a:t>BLACK</a:t>
            </a:r>
            <a:r>
              <a:rPr lang="en-IN" sz="800" dirty="0"/>
              <a:t> but has </a:t>
            </a:r>
            <a:r>
              <a:rPr lang="en-IN" sz="800" b="1" dirty="0">
                <a:solidFill>
                  <a:srgbClr val="FF0000"/>
                </a:solidFill>
              </a:rPr>
              <a:t>RED</a:t>
            </a:r>
            <a:r>
              <a:rPr lang="en-IN" sz="800" dirty="0"/>
              <a:t> child </a:t>
            </a:r>
          </a:p>
          <a:p>
            <a:r>
              <a:rPr lang="en-IN" sz="800" dirty="0"/>
              <a:t>   =&gt; Replace node with child  and </a:t>
            </a:r>
            <a:r>
              <a:rPr lang="en-IN" sz="800" dirty="0" err="1"/>
              <a:t>color</a:t>
            </a:r>
            <a:r>
              <a:rPr lang="en-IN" sz="800" dirty="0"/>
              <a:t> it with BLACK</a:t>
            </a:r>
          </a:p>
          <a:p>
            <a:r>
              <a:rPr lang="en-IN" sz="800" dirty="0"/>
              <a:t>Or if the Node to be deleted is </a:t>
            </a:r>
            <a:r>
              <a:rPr lang="en-IN" sz="800" b="1" dirty="0"/>
              <a:t>BLACK</a:t>
            </a:r>
            <a:r>
              <a:rPr lang="en-IN" sz="800" dirty="0"/>
              <a:t> &amp; has </a:t>
            </a:r>
            <a:r>
              <a:rPr lang="en-IN" sz="800" b="1" dirty="0">
                <a:solidFill>
                  <a:srgbClr val="FF0000"/>
                </a:solidFill>
              </a:rPr>
              <a:t>RED</a:t>
            </a:r>
            <a:r>
              <a:rPr lang="en-IN" sz="800" dirty="0"/>
              <a:t> parent =&gt; swap the </a:t>
            </a:r>
            <a:r>
              <a:rPr lang="en-IN" sz="800" dirty="0" err="1"/>
              <a:t>color</a:t>
            </a:r>
            <a:r>
              <a:rPr lang="en-IN" sz="800" dirty="0"/>
              <a:t> of Parent &amp; Sibling (terminal) </a:t>
            </a:r>
          </a:p>
          <a:p>
            <a:endParaRPr lang="en-IN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676019-7794-1C54-6C29-E88B5EFA05A3}"/>
              </a:ext>
            </a:extLst>
          </p:cNvPr>
          <p:cNvSpPr txBox="1"/>
          <p:nvPr/>
        </p:nvSpPr>
        <p:spPr>
          <a:xfrm>
            <a:off x="500691" y="1101423"/>
            <a:ext cx="1872208" cy="3693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r>
              <a:rPr lang="en-IN" sz="1800" b="1" dirty="0"/>
              <a:t>RB Tree Deletion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DEDDB2-7725-02A6-232D-220359084007}"/>
              </a:ext>
            </a:extLst>
          </p:cNvPr>
          <p:cNvSpPr/>
          <p:nvPr/>
        </p:nvSpPr>
        <p:spPr>
          <a:xfrm>
            <a:off x="5868144" y="44624"/>
            <a:ext cx="3168352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900" b="1" dirty="0">
                <a:sym typeface="Wingdings" pitchFamily="2" charset="2"/>
              </a:rPr>
              <a:t>Case 3(4) </a:t>
            </a:r>
            <a:r>
              <a:rPr lang="en-IN" sz="900" dirty="0">
                <a:sym typeface="Wingdings" pitchFamily="2" charset="2"/>
              </a:rPr>
              <a:t>– DB’s sibling is </a:t>
            </a:r>
            <a:r>
              <a:rPr lang="en-IN" sz="900" b="1" dirty="0">
                <a:sym typeface="Wingdings" pitchFamily="2" charset="2"/>
              </a:rPr>
              <a:t>BLACK</a:t>
            </a:r>
            <a:r>
              <a:rPr lang="en-IN" sz="900" dirty="0">
                <a:sym typeface="Wingdings" pitchFamily="2" charset="2"/>
              </a:rPr>
              <a:t>, check sibling child's who is far from DB is </a:t>
            </a:r>
            <a:r>
              <a:rPr lang="en-IN" sz="900" b="1" dirty="0">
                <a:sym typeface="Wingdings" pitchFamily="2" charset="2"/>
              </a:rPr>
              <a:t>BLACK</a:t>
            </a:r>
          </a:p>
          <a:p>
            <a:r>
              <a:rPr lang="en-IN" sz="900" dirty="0">
                <a:sym typeface="Wingdings" pitchFamily="2" charset="2"/>
              </a:rPr>
              <a:t> but near child to DB is </a:t>
            </a:r>
            <a:r>
              <a:rPr lang="en-IN" sz="9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endParaRPr lang="en-IN" sz="900" b="1" dirty="0">
              <a:solidFill>
                <a:srgbClr val="FF0000"/>
              </a:solidFill>
            </a:endParaRPr>
          </a:p>
          <a:p>
            <a:pPr>
              <a:buFont typeface="Wingdings"/>
              <a:buChar char="è"/>
            </a:pPr>
            <a:r>
              <a:rPr lang="en-IN" sz="900" dirty="0">
                <a:sym typeface="Wingdings" pitchFamily="2" charset="2"/>
              </a:rPr>
              <a:t>Swap </a:t>
            </a:r>
            <a:r>
              <a:rPr lang="en-IN" sz="900" dirty="0" err="1">
                <a:sym typeface="Wingdings" pitchFamily="2" charset="2"/>
              </a:rPr>
              <a:t>color</a:t>
            </a:r>
            <a:r>
              <a:rPr lang="en-IN" sz="900" dirty="0">
                <a:sym typeface="Wingdings" pitchFamily="2" charset="2"/>
              </a:rPr>
              <a:t> of DB’s sibling &amp; siblings child who is near to DB</a:t>
            </a:r>
          </a:p>
          <a:p>
            <a:pPr>
              <a:buFont typeface="Wingdings"/>
              <a:buChar char="è"/>
            </a:pPr>
            <a:r>
              <a:rPr lang="en-IN" sz="900" dirty="0">
                <a:sym typeface="Wingdings" pitchFamily="2" charset="2"/>
              </a:rPr>
              <a:t>Rotate sibling in opposite direction to DB</a:t>
            </a:r>
          </a:p>
          <a:p>
            <a:pPr>
              <a:buFont typeface="Wingdings"/>
              <a:buChar char="è"/>
            </a:pPr>
            <a:r>
              <a:rPr lang="en-IN" sz="900" dirty="0">
                <a:sym typeface="Wingdings" pitchFamily="2" charset="2"/>
              </a:rPr>
              <a:t>Apply case 3(5)</a:t>
            </a:r>
          </a:p>
          <a:p>
            <a:endParaRPr lang="en-IN" sz="900" dirty="0">
              <a:sym typeface="Wingdings" pitchFamily="2" charset="2"/>
            </a:endParaRPr>
          </a:p>
          <a:p>
            <a:r>
              <a:rPr lang="en-IN" sz="900" b="1" dirty="0">
                <a:sym typeface="Wingdings" pitchFamily="2" charset="2"/>
              </a:rPr>
              <a:t>Case 3(5)</a:t>
            </a:r>
            <a:r>
              <a:rPr lang="en-IN" sz="900" dirty="0">
                <a:sym typeface="Wingdings" pitchFamily="2" charset="2"/>
              </a:rPr>
              <a:t> – DB’s sibling is </a:t>
            </a:r>
            <a:r>
              <a:rPr lang="en-IN" sz="900" b="1" dirty="0">
                <a:sym typeface="Wingdings" pitchFamily="2" charset="2"/>
              </a:rPr>
              <a:t>BLACK</a:t>
            </a:r>
            <a:r>
              <a:rPr lang="en-IN" sz="900" dirty="0">
                <a:sym typeface="Wingdings" pitchFamily="2" charset="2"/>
              </a:rPr>
              <a:t> and far child is</a:t>
            </a:r>
            <a:r>
              <a:rPr lang="en-IN" sz="900" b="1" dirty="0">
                <a:solidFill>
                  <a:srgbClr val="FF0000"/>
                </a:solidFill>
                <a:sym typeface="Wingdings" pitchFamily="2" charset="2"/>
              </a:rPr>
              <a:t> RED  </a:t>
            </a:r>
            <a:r>
              <a:rPr lang="en-IN" sz="900" dirty="0">
                <a:sym typeface="Wingdings" pitchFamily="2" charset="2"/>
              </a:rPr>
              <a:t>[</a:t>
            </a:r>
            <a:r>
              <a:rPr lang="en-IN" sz="900" b="1" dirty="0">
                <a:solidFill>
                  <a:srgbClr val="FF0000"/>
                </a:solidFill>
                <a:sym typeface="Wingdings" pitchFamily="2" charset="2"/>
              </a:rPr>
              <a:t>Terminal</a:t>
            </a:r>
            <a:r>
              <a:rPr lang="en-IN" sz="900" dirty="0">
                <a:sym typeface="Wingdings" pitchFamily="2" charset="2"/>
              </a:rPr>
              <a:t>]</a:t>
            </a:r>
          </a:p>
          <a:p>
            <a:pPr>
              <a:buFont typeface="Wingdings"/>
              <a:buChar char="è"/>
            </a:pPr>
            <a:r>
              <a:rPr lang="en-IN" sz="900" dirty="0"/>
              <a:t>Swap </a:t>
            </a:r>
            <a:r>
              <a:rPr lang="en-IN" sz="900" dirty="0" err="1"/>
              <a:t>color</a:t>
            </a:r>
            <a:r>
              <a:rPr lang="en-IN" sz="900" dirty="0"/>
              <a:t> of PARENT &amp; SIBLING</a:t>
            </a:r>
          </a:p>
          <a:p>
            <a:pPr>
              <a:buFont typeface="Wingdings"/>
              <a:buChar char="è"/>
            </a:pPr>
            <a:r>
              <a:rPr lang="en-IN" sz="900" dirty="0"/>
              <a:t>Rotate PARENT in DB’s direction</a:t>
            </a:r>
          </a:p>
          <a:p>
            <a:pPr>
              <a:buFont typeface="Wingdings"/>
              <a:buChar char="è"/>
            </a:pPr>
            <a:r>
              <a:rPr lang="en-IN" sz="900" dirty="0"/>
              <a:t>Remove DB</a:t>
            </a:r>
          </a:p>
          <a:p>
            <a:pPr>
              <a:buFont typeface="Wingdings"/>
              <a:buChar char="è"/>
            </a:pPr>
            <a:r>
              <a:rPr lang="en-IN" sz="900" dirty="0"/>
              <a:t>Change </a:t>
            </a:r>
            <a:r>
              <a:rPr lang="en-IN" sz="900" dirty="0" err="1"/>
              <a:t>color</a:t>
            </a:r>
            <a:r>
              <a:rPr lang="en-IN" sz="900" dirty="0"/>
              <a:t> of RED child(far) to BLACK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52A60-2719-60F9-CFD2-A01BFB2B3BCE}"/>
              </a:ext>
            </a:extLst>
          </p:cNvPr>
          <p:cNvSpPr txBox="1"/>
          <p:nvPr/>
        </p:nvSpPr>
        <p:spPr>
          <a:xfrm flipH="1">
            <a:off x="140651" y="1690767"/>
            <a:ext cx="259228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Delete  30, 45, 10, 12, 35</a:t>
            </a:r>
          </a:p>
        </p:txBody>
      </p:sp>
    </p:spTree>
    <p:extLst>
      <p:ext uri="{BB962C8B-B14F-4D97-AF65-F5344CB8AC3E}">
        <p14:creationId xmlns:p14="http://schemas.microsoft.com/office/powerpoint/2010/main" val="2445565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1CC413-0DDA-A40E-2BF8-B2FE58B39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CFD31-8B24-4CAF-784B-FD0F6E722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916832"/>
            <a:ext cx="4824536" cy="452721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Case 3(1) </a:t>
            </a:r>
            <a:r>
              <a:rPr lang="en-IN" sz="1600" dirty="0"/>
              <a:t>If root node is DB, =&gt; remove DB [</a:t>
            </a:r>
            <a:r>
              <a:rPr lang="en-IN" sz="1600" b="1" dirty="0">
                <a:solidFill>
                  <a:srgbClr val="FF0000"/>
                </a:solidFill>
              </a:rPr>
              <a:t>Terminal]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>
                <a:sym typeface="Wingdings" pitchFamily="2" charset="2"/>
              </a:rPr>
              <a:t>Case 3(2)</a:t>
            </a:r>
            <a:r>
              <a:rPr lang="en-IN" sz="1600" dirty="0">
                <a:sym typeface="Wingdings" pitchFamily="2" charset="2"/>
              </a:rPr>
              <a:t> – If </a:t>
            </a:r>
            <a:r>
              <a:rPr lang="en-IN" sz="1600" b="1" dirty="0">
                <a:sym typeface="Wingdings" pitchFamily="2" charset="2"/>
              </a:rPr>
              <a:t>DB</a:t>
            </a:r>
            <a:r>
              <a:rPr lang="en-IN" sz="1600" dirty="0">
                <a:sym typeface="Wingdings" pitchFamily="2" charset="2"/>
              </a:rPr>
              <a:t> sibling is 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r>
              <a:rPr lang="en-IN" sz="1600" dirty="0">
                <a:sym typeface="Wingdings" pitchFamily="2" charset="2"/>
              </a:rPr>
              <a:t> (also has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 parent)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swap </a:t>
            </a:r>
            <a:r>
              <a:rPr lang="en-IN" sz="1600" dirty="0" err="1">
                <a:sym typeface="Wingdings" pitchFamily="2" charset="2"/>
              </a:rPr>
              <a:t>colors</a:t>
            </a:r>
            <a:r>
              <a:rPr lang="en-IN" sz="1600" dirty="0">
                <a:sym typeface="Wingdings" pitchFamily="2" charset="2"/>
              </a:rPr>
              <a:t> of  PARENT and its SIBLING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rotate PARENT in DB direction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reapply cases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Case </a:t>
            </a:r>
            <a:r>
              <a:rPr lang="en-IN" sz="1600" b="1" dirty="0">
                <a:sym typeface="Wingdings" pitchFamily="2" charset="2"/>
              </a:rPr>
              <a:t>3(3)</a:t>
            </a:r>
            <a:r>
              <a:rPr lang="en-IN" sz="1600" dirty="0">
                <a:sym typeface="Wingdings" pitchFamily="2" charset="2"/>
              </a:rPr>
              <a:t> </a:t>
            </a:r>
            <a:r>
              <a:rPr lang="en-IN" sz="1600" dirty="0"/>
              <a:t>- If </a:t>
            </a:r>
            <a:r>
              <a:rPr lang="en-IN" sz="1600" b="1" dirty="0"/>
              <a:t>DB’</a:t>
            </a:r>
            <a:r>
              <a:rPr lang="en-IN" sz="1600" dirty="0"/>
              <a:t>s sibling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/>
              <a:t> and both of its children are </a:t>
            </a:r>
            <a:r>
              <a:rPr lang="en-IN" sz="1600" b="1" dirty="0">
                <a:sym typeface="Wingdings" pitchFamily="2" charset="2"/>
              </a:rPr>
              <a:t>BLACK </a:t>
            </a:r>
          </a:p>
          <a:p>
            <a:pPr marL="0" indent="0">
              <a:buNone/>
            </a:pPr>
            <a:r>
              <a:rPr lang="en-IN" sz="1600" dirty="0">
                <a:sym typeface="Wingdings" panose="05000000000000000000" pitchFamily="2" charset="2"/>
              </a:rPr>
              <a:t></a:t>
            </a:r>
            <a:r>
              <a:rPr lang="en-IN" sz="1600" dirty="0"/>
              <a:t>Remove DB</a:t>
            </a:r>
          </a:p>
          <a:p>
            <a:pPr marL="0" indent="0">
              <a:buNone/>
            </a:pPr>
            <a:r>
              <a:rPr lang="en-IN" sz="1600" dirty="0"/>
              <a:t>= =&gt; Add extra black to its parent </a:t>
            </a:r>
          </a:p>
          <a:p>
            <a:pPr marL="0" indent="0">
              <a:buNone/>
            </a:pPr>
            <a:r>
              <a:rPr lang="en-IN" sz="1600" dirty="0"/>
              <a:t>  =====&gt; if parent is RED, then make it BLACK</a:t>
            </a:r>
          </a:p>
          <a:p>
            <a:pPr marL="0" indent="0">
              <a:buNone/>
            </a:pPr>
            <a:r>
              <a:rPr lang="en-IN" sz="1600" dirty="0"/>
              <a:t>  ======&gt; if parent is BLACK, then make it double BLACK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  Make sibling RED 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If </a:t>
            </a:r>
            <a:r>
              <a:rPr lang="en-IN" sz="1600" dirty="0" err="1">
                <a:sym typeface="Wingdings" pitchFamily="2" charset="2"/>
              </a:rPr>
              <a:t>stillDB</a:t>
            </a:r>
            <a:r>
              <a:rPr lang="en-IN" sz="1600" dirty="0">
                <a:sym typeface="Wingdings" pitchFamily="2" charset="2"/>
              </a:rPr>
              <a:t> exists, apply other cases.</a:t>
            </a:r>
          </a:p>
          <a:p>
            <a:pPr marL="0" indent="0">
              <a:buNone/>
            </a:pPr>
            <a:endParaRPr lang="en-IN" sz="1600" dirty="0">
              <a:sym typeface="Wingdings" pitchFamily="2" charset="2"/>
            </a:endParaRPr>
          </a:p>
          <a:p>
            <a:pPr marL="0" indent="0">
              <a:buNone/>
            </a:pPr>
            <a:endParaRPr lang="en-IN" sz="1400" dirty="0">
              <a:sym typeface="Wingdings" pitchFamily="2" charset="2"/>
            </a:endParaRPr>
          </a:p>
          <a:p>
            <a:pPr marL="0" indent="0">
              <a:buNone/>
            </a:pPr>
            <a:endParaRPr lang="en-IN" sz="1400" dirty="0"/>
          </a:p>
          <a:p>
            <a:pPr>
              <a:buFont typeface="Symbol"/>
              <a:buChar char="Þ"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B85A6D-AE00-0C05-9B52-385081096926}"/>
              </a:ext>
            </a:extLst>
          </p:cNvPr>
          <p:cNvSpPr/>
          <p:nvPr/>
        </p:nvSpPr>
        <p:spPr>
          <a:xfrm>
            <a:off x="107504" y="391016"/>
            <a:ext cx="8352928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dirty="0"/>
              <a:t>Step  1 - Perform BST deletion</a:t>
            </a:r>
          </a:p>
          <a:p>
            <a:r>
              <a:rPr lang="en-IN" sz="1600" b="1" dirty="0"/>
              <a:t>Step 2 </a:t>
            </a:r>
          </a:p>
          <a:p>
            <a:r>
              <a:rPr lang="en-IN" sz="1600" b="1" dirty="0"/>
              <a:t>Case 1</a:t>
            </a:r>
            <a:r>
              <a:rPr lang="en-IN" sz="1600" dirty="0"/>
              <a:t>-If node to be deleted is </a:t>
            </a:r>
            <a:r>
              <a:rPr lang="en-IN" sz="1600" b="1" dirty="0">
                <a:solidFill>
                  <a:srgbClr val="FF0000"/>
                </a:solidFill>
              </a:rPr>
              <a:t>RED</a:t>
            </a:r>
            <a:r>
              <a:rPr lang="en-IN" sz="1600" dirty="0"/>
              <a:t> =&gt; just delete it  [</a:t>
            </a:r>
            <a:r>
              <a:rPr lang="en-IN" sz="1600" b="1" dirty="0">
                <a:solidFill>
                  <a:srgbClr val="FF0000"/>
                </a:solidFill>
              </a:rPr>
              <a:t>Terminal]</a:t>
            </a:r>
          </a:p>
          <a:p>
            <a:r>
              <a:rPr lang="en-IN" sz="1600" b="1" dirty="0"/>
              <a:t>Case 2</a:t>
            </a:r>
            <a:r>
              <a:rPr lang="en-IN" sz="1600" dirty="0"/>
              <a:t>-If</a:t>
            </a:r>
            <a:r>
              <a:rPr lang="en-IN" sz="1600" b="1" dirty="0"/>
              <a:t> </a:t>
            </a:r>
            <a:r>
              <a:rPr lang="en-IN" sz="1600" dirty="0"/>
              <a:t>node to be deleted is </a:t>
            </a:r>
            <a:r>
              <a:rPr lang="en-IN" sz="1600" b="1" dirty="0"/>
              <a:t>BLACK</a:t>
            </a:r>
            <a:r>
              <a:rPr lang="en-IN" sz="1600" dirty="0"/>
              <a:t> but has </a:t>
            </a:r>
            <a:r>
              <a:rPr lang="en-IN" sz="1600" b="1" dirty="0">
                <a:solidFill>
                  <a:srgbClr val="FF0000"/>
                </a:solidFill>
              </a:rPr>
              <a:t>RED</a:t>
            </a:r>
            <a:r>
              <a:rPr lang="en-IN" sz="1600" dirty="0"/>
              <a:t> child </a:t>
            </a:r>
          </a:p>
          <a:p>
            <a:r>
              <a:rPr lang="en-IN" sz="1600" dirty="0"/>
              <a:t>   =&gt; Replace node with child  and </a:t>
            </a:r>
            <a:r>
              <a:rPr lang="en-IN" sz="1600" dirty="0" err="1"/>
              <a:t>color</a:t>
            </a:r>
            <a:r>
              <a:rPr lang="en-IN" sz="1600" dirty="0"/>
              <a:t> it with BLACK</a:t>
            </a:r>
          </a:p>
          <a:p>
            <a:r>
              <a:rPr lang="en-IN" sz="1600" dirty="0"/>
              <a:t>Or if the Node to be deleted is </a:t>
            </a:r>
            <a:r>
              <a:rPr lang="en-IN" sz="1600" b="1" dirty="0"/>
              <a:t>BLACK</a:t>
            </a:r>
            <a:r>
              <a:rPr lang="en-IN" sz="1600" dirty="0"/>
              <a:t> &amp; has </a:t>
            </a:r>
            <a:r>
              <a:rPr lang="en-IN" sz="1600" b="1" dirty="0">
                <a:solidFill>
                  <a:srgbClr val="FF0000"/>
                </a:solidFill>
              </a:rPr>
              <a:t>RED</a:t>
            </a:r>
            <a:r>
              <a:rPr lang="en-IN" sz="1600" dirty="0"/>
              <a:t> parent =&gt; swap the </a:t>
            </a:r>
            <a:r>
              <a:rPr lang="en-IN" sz="1600" dirty="0" err="1"/>
              <a:t>color</a:t>
            </a:r>
            <a:r>
              <a:rPr lang="en-IN" sz="1600" dirty="0"/>
              <a:t> of Parent &amp; Sibling (terminal)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BCFAFD-CFD2-06BF-9370-BE4E085F2504}"/>
              </a:ext>
            </a:extLst>
          </p:cNvPr>
          <p:cNvSpPr/>
          <p:nvPr/>
        </p:nvSpPr>
        <p:spPr>
          <a:xfrm>
            <a:off x="1691680" y="6474822"/>
            <a:ext cx="6264696" cy="3385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/>
              <a:t>[if  node to be deleted is black ,  it  will  be replaced by Double Black DB]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A9C9D-950C-02EC-7202-F32A9764D10F}"/>
              </a:ext>
            </a:extLst>
          </p:cNvPr>
          <p:cNvSpPr txBox="1"/>
          <p:nvPr/>
        </p:nvSpPr>
        <p:spPr>
          <a:xfrm>
            <a:off x="33250" y="40771"/>
            <a:ext cx="1872208" cy="3693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r>
              <a:rPr lang="en-IN" sz="1800" b="1" dirty="0"/>
              <a:t>RB Tree Deletion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8F64A5-ED23-0B63-EA9C-7B9E309B1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40771"/>
            <a:ext cx="3240498" cy="19480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22656D-7391-48B3-2BA1-7CD12A18D8DB}"/>
              </a:ext>
            </a:extLst>
          </p:cNvPr>
          <p:cNvSpPr txBox="1"/>
          <p:nvPr/>
        </p:nvSpPr>
        <p:spPr>
          <a:xfrm flipH="1">
            <a:off x="2769554" y="123681"/>
            <a:ext cx="3456524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Delete  30, 45, 10, 12, 35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F1690F-DAFE-F008-FF1B-D1C49CA067C9}"/>
              </a:ext>
            </a:extLst>
          </p:cNvPr>
          <p:cNvSpPr/>
          <p:nvPr/>
        </p:nvSpPr>
        <p:spPr>
          <a:xfrm>
            <a:off x="4788024" y="1916832"/>
            <a:ext cx="4248472" cy="35394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>
                <a:sym typeface="Wingdings" pitchFamily="2" charset="2"/>
              </a:rPr>
              <a:t>Case 3(4) </a:t>
            </a:r>
            <a:r>
              <a:rPr lang="en-IN" sz="1600" dirty="0">
                <a:sym typeface="Wingdings" pitchFamily="2" charset="2"/>
              </a:rPr>
              <a:t>– DB’s sibling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, check sibling child's who is far from DB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 but near child to DB is 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endParaRPr lang="en-IN" sz="1600" b="1" dirty="0">
              <a:solidFill>
                <a:srgbClr val="FF0000"/>
              </a:solidFill>
            </a:endParaRPr>
          </a:p>
          <a:p>
            <a:pPr>
              <a:buFont typeface="Wingdings"/>
              <a:buChar char="è"/>
            </a:pPr>
            <a:r>
              <a:rPr lang="en-IN" sz="1600" dirty="0">
                <a:sym typeface="Wingdings" pitchFamily="2" charset="2"/>
              </a:rPr>
              <a:t>Swap </a:t>
            </a:r>
            <a:r>
              <a:rPr lang="en-IN" sz="1600" dirty="0" err="1">
                <a:sym typeface="Wingdings" pitchFamily="2" charset="2"/>
              </a:rPr>
              <a:t>color</a:t>
            </a:r>
            <a:r>
              <a:rPr lang="en-IN" sz="1600" dirty="0">
                <a:sym typeface="Wingdings" pitchFamily="2" charset="2"/>
              </a:rPr>
              <a:t> of DB’s sibling &amp; siblings child who is near to DB</a:t>
            </a:r>
          </a:p>
          <a:p>
            <a:pPr>
              <a:buFont typeface="Wingdings"/>
              <a:buChar char="è"/>
            </a:pPr>
            <a:r>
              <a:rPr lang="en-IN" sz="1600" dirty="0">
                <a:sym typeface="Wingdings" pitchFamily="2" charset="2"/>
              </a:rPr>
              <a:t>Rotate sibling in opposite direction to DB</a:t>
            </a:r>
          </a:p>
          <a:p>
            <a:pPr>
              <a:buFont typeface="Wingdings"/>
              <a:buChar char="è"/>
            </a:pPr>
            <a:r>
              <a:rPr lang="en-IN" sz="1600" dirty="0">
                <a:sym typeface="Wingdings" pitchFamily="2" charset="2"/>
              </a:rPr>
              <a:t>Apply case 6</a:t>
            </a:r>
          </a:p>
          <a:p>
            <a:endParaRPr lang="en-IN" sz="1600" dirty="0">
              <a:sym typeface="Wingdings" pitchFamily="2" charset="2"/>
            </a:endParaRPr>
          </a:p>
          <a:p>
            <a:r>
              <a:rPr lang="en-IN" sz="1600" b="1" dirty="0">
                <a:sym typeface="Wingdings" pitchFamily="2" charset="2"/>
              </a:rPr>
              <a:t>Case 3(5)</a:t>
            </a:r>
            <a:r>
              <a:rPr lang="en-IN" sz="1600" dirty="0">
                <a:sym typeface="Wingdings" pitchFamily="2" charset="2"/>
              </a:rPr>
              <a:t> – DB’s sibling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 and far child is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 RED  </a:t>
            </a:r>
            <a:r>
              <a:rPr lang="en-IN" sz="1600" dirty="0">
                <a:sym typeface="Wingdings" pitchFamily="2" charset="2"/>
              </a:rPr>
              <a:t>[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Terminal</a:t>
            </a:r>
            <a:r>
              <a:rPr lang="en-IN" sz="1600" dirty="0">
                <a:sym typeface="Wingdings" pitchFamily="2" charset="2"/>
              </a:rPr>
              <a:t>]</a:t>
            </a:r>
          </a:p>
          <a:p>
            <a:pPr>
              <a:buFont typeface="Wingdings"/>
              <a:buChar char="è"/>
            </a:pPr>
            <a:r>
              <a:rPr lang="en-IN" sz="1600" dirty="0"/>
              <a:t>Swap </a:t>
            </a:r>
            <a:r>
              <a:rPr lang="en-IN" sz="1600" dirty="0" err="1"/>
              <a:t>color</a:t>
            </a:r>
            <a:r>
              <a:rPr lang="en-IN" sz="1600" dirty="0"/>
              <a:t> of PARENT &amp; SIBLING</a:t>
            </a:r>
          </a:p>
          <a:p>
            <a:pPr>
              <a:buFont typeface="Wingdings"/>
              <a:buChar char="è"/>
            </a:pPr>
            <a:r>
              <a:rPr lang="en-IN" sz="1600" dirty="0"/>
              <a:t>Rotate PARENT in DB’s direction</a:t>
            </a:r>
          </a:p>
          <a:p>
            <a:pPr>
              <a:buFont typeface="Wingdings"/>
              <a:buChar char="è"/>
            </a:pPr>
            <a:r>
              <a:rPr lang="en-IN" sz="1600" dirty="0"/>
              <a:t>Remove DB</a:t>
            </a:r>
          </a:p>
          <a:p>
            <a:pPr>
              <a:buFont typeface="Wingdings"/>
              <a:buChar char="è"/>
            </a:pPr>
            <a:r>
              <a:rPr lang="en-IN" sz="1600" dirty="0"/>
              <a:t>Change </a:t>
            </a:r>
            <a:r>
              <a:rPr lang="en-IN" sz="1600" dirty="0" err="1"/>
              <a:t>color</a:t>
            </a:r>
            <a:r>
              <a:rPr lang="en-IN" sz="1600" dirty="0"/>
              <a:t> of RED child(far) to BLACK</a:t>
            </a:r>
          </a:p>
        </p:txBody>
      </p:sp>
    </p:spTree>
    <p:extLst>
      <p:ext uri="{BB962C8B-B14F-4D97-AF65-F5344CB8AC3E}">
        <p14:creationId xmlns:p14="http://schemas.microsoft.com/office/powerpoint/2010/main" val="198893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0E14-DDD6-C8D0-6A11-9E75258DD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40" y="548680"/>
            <a:ext cx="5976664" cy="288032"/>
          </a:xfrm>
        </p:spPr>
        <p:txBody>
          <a:bodyPr>
            <a:noAutofit/>
          </a:bodyPr>
          <a:lstStyle/>
          <a:p>
            <a:r>
              <a:rPr lang="en-IN" sz="4000" dirty="0"/>
              <a:t>Delete      </a:t>
            </a:r>
            <a:r>
              <a:rPr lang="en-IN" sz="4000" b="1" dirty="0"/>
              <a:t>9, 3, 4, 10, 13, 2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3EABB3-9DB6-D45B-C5ED-F996ED1AB0C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772816"/>
            <a:ext cx="5832648" cy="417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005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5462B-4573-4AA9-51CC-D36758B9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EF6CAF31-1C8C-A941-3B49-8737D36AB85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9" y="2060848"/>
            <a:ext cx="2952328" cy="17543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0E195-575C-82D2-D7A7-E2C6A80B2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792" y="71623"/>
            <a:ext cx="3168352" cy="223224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800" b="1" dirty="0"/>
              <a:t>Case 3(1) </a:t>
            </a:r>
            <a:r>
              <a:rPr lang="en-IN" sz="800" dirty="0"/>
              <a:t>If root node is DB, =&gt; remove DB [</a:t>
            </a:r>
            <a:r>
              <a:rPr lang="en-IN" sz="800" b="1" dirty="0">
                <a:solidFill>
                  <a:srgbClr val="FF0000"/>
                </a:solidFill>
              </a:rPr>
              <a:t>Terminal]</a:t>
            </a:r>
          </a:p>
          <a:p>
            <a:pPr marL="0" indent="0">
              <a:buNone/>
            </a:pPr>
            <a:endParaRPr lang="en-IN" sz="800" b="1" dirty="0"/>
          </a:p>
          <a:p>
            <a:pPr marL="0" indent="0">
              <a:buNone/>
            </a:pPr>
            <a:r>
              <a:rPr lang="en-IN" sz="800" b="1" dirty="0">
                <a:sym typeface="Wingdings" pitchFamily="2" charset="2"/>
              </a:rPr>
              <a:t>Case 3(2)</a:t>
            </a:r>
            <a:r>
              <a:rPr lang="en-IN" sz="800" dirty="0">
                <a:sym typeface="Wingdings" pitchFamily="2" charset="2"/>
              </a:rPr>
              <a:t> – If </a:t>
            </a:r>
            <a:r>
              <a:rPr lang="en-IN" sz="800" b="1" dirty="0">
                <a:sym typeface="Wingdings" pitchFamily="2" charset="2"/>
              </a:rPr>
              <a:t>DB</a:t>
            </a:r>
            <a:r>
              <a:rPr lang="en-IN" sz="800" dirty="0">
                <a:sym typeface="Wingdings" pitchFamily="2" charset="2"/>
              </a:rPr>
              <a:t> sibling is </a:t>
            </a:r>
            <a:r>
              <a:rPr lang="en-IN" sz="8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r>
              <a:rPr lang="en-IN" sz="800" dirty="0">
                <a:sym typeface="Wingdings" pitchFamily="2" charset="2"/>
              </a:rPr>
              <a:t> (also has </a:t>
            </a:r>
            <a:r>
              <a:rPr lang="en-IN" sz="800" b="1" dirty="0">
                <a:sym typeface="Wingdings" pitchFamily="2" charset="2"/>
              </a:rPr>
              <a:t>BLACK</a:t>
            </a:r>
            <a:r>
              <a:rPr lang="en-IN" sz="800" dirty="0">
                <a:sym typeface="Wingdings" pitchFamily="2" charset="2"/>
              </a:rPr>
              <a:t> parent)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swap </a:t>
            </a:r>
            <a:r>
              <a:rPr lang="en-IN" sz="800" dirty="0" err="1">
                <a:sym typeface="Wingdings" pitchFamily="2" charset="2"/>
              </a:rPr>
              <a:t>colors</a:t>
            </a:r>
            <a:r>
              <a:rPr lang="en-IN" sz="800" dirty="0">
                <a:sym typeface="Wingdings" pitchFamily="2" charset="2"/>
              </a:rPr>
              <a:t> of  PARENT and its SIBLING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rotate PARENT in DB direction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reapply cases</a:t>
            </a:r>
          </a:p>
          <a:p>
            <a:pPr marL="0" indent="0">
              <a:buNone/>
            </a:pPr>
            <a:endParaRPr lang="en-IN" sz="800" b="1" dirty="0"/>
          </a:p>
          <a:p>
            <a:pPr marL="0" indent="0">
              <a:buNone/>
            </a:pPr>
            <a:r>
              <a:rPr lang="en-IN" sz="800" b="1" dirty="0"/>
              <a:t>Case </a:t>
            </a:r>
            <a:r>
              <a:rPr lang="en-IN" sz="800" b="1" dirty="0">
                <a:sym typeface="Wingdings" pitchFamily="2" charset="2"/>
              </a:rPr>
              <a:t>3(3)</a:t>
            </a:r>
            <a:r>
              <a:rPr lang="en-IN" sz="800" dirty="0">
                <a:sym typeface="Wingdings" pitchFamily="2" charset="2"/>
              </a:rPr>
              <a:t> </a:t>
            </a:r>
            <a:r>
              <a:rPr lang="en-IN" sz="800" dirty="0"/>
              <a:t>- If </a:t>
            </a:r>
            <a:r>
              <a:rPr lang="en-IN" sz="800" b="1" dirty="0"/>
              <a:t>DB’</a:t>
            </a:r>
            <a:r>
              <a:rPr lang="en-IN" sz="800" dirty="0"/>
              <a:t>s sibling is </a:t>
            </a:r>
            <a:r>
              <a:rPr lang="en-IN" sz="800" b="1" dirty="0">
                <a:sym typeface="Wingdings" pitchFamily="2" charset="2"/>
              </a:rPr>
              <a:t>BLACK</a:t>
            </a:r>
            <a:r>
              <a:rPr lang="en-IN" sz="800" dirty="0"/>
              <a:t> and both of its children are </a:t>
            </a:r>
            <a:r>
              <a:rPr lang="en-IN" sz="800" b="1" dirty="0">
                <a:sym typeface="Wingdings" pitchFamily="2" charset="2"/>
              </a:rPr>
              <a:t>BLACK </a:t>
            </a:r>
          </a:p>
          <a:p>
            <a:pPr marL="0" indent="0">
              <a:buNone/>
            </a:pPr>
            <a:r>
              <a:rPr lang="en-IN" sz="800" dirty="0">
                <a:sym typeface="Wingdings" panose="05000000000000000000" pitchFamily="2" charset="2"/>
              </a:rPr>
              <a:t></a:t>
            </a:r>
            <a:r>
              <a:rPr lang="en-IN" sz="800" dirty="0"/>
              <a:t>Remove DB</a:t>
            </a:r>
          </a:p>
          <a:p>
            <a:pPr marL="0" indent="0">
              <a:buNone/>
            </a:pPr>
            <a:r>
              <a:rPr lang="en-IN" sz="800" dirty="0"/>
              <a:t>= =&gt; Add extra black to its parent </a:t>
            </a:r>
          </a:p>
          <a:p>
            <a:pPr marL="0" indent="0">
              <a:buNone/>
            </a:pPr>
            <a:r>
              <a:rPr lang="en-IN" sz="800" dirty="0"/>
              <a:t>  =====&gt; if parent is RED, then make it BLACK</a:t>
            </a:r>
          </a:p>
          <a:p>
            <a:pPr marL="0" indent="0">
              <a:buNone/>
            </a:pPr>
            <a:r>
              <a:rPr lang="en-IN" sz="800" dirty="0"/>
              <a:t>  ======&gt; if parent is BLACK, then make it double BLACK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  Make sibling RED </a:t>
            </a:r>
          </a:p>
          <a:p>
            <a:pPr marL="0" indent="0">
              <a:buNone/>
            </a:pPr>
            <a:r>
              <a:rPr lang="en-IN" sz="800" dirty="0">
                <a:sym typeface="Wingdings" pitchFamily="2" charset="2"/>
              </a:rPr>
              <a:t> If </a:t>
            </a:r>
            <a:r>
              <a:rPr lang="en-IN" sz="800" dirty="0" err="1">
                <a:sym typeface="Wingdings" pitchFamily="2" charset="2"/>
              </a:rPr>
              <a:t>stillDB</a:t>
            </a:r>
            <a:r>
              <a:rPr lang="en-IN" sz="800" dirty="0">
                <a:sym typeface="Wingdings" pitchFamily="2" charset="2"/>
              </a:rPr>
              <a:t> exists, apply other cases.</a:t>
            </a:r>
          </a:p>
          <a:p>
            <a:pPr marL="0" indent="0">
              <a:buNone/>
            </a:pPr>
            <a:endParaRPr lang="en-IN" sz="800" dirty="0">
              <a:sym typeface="Wingdings" pitchFamily="2" charset="2"/>
            </a:endParaRPr>
          </a:p>
          <a:p>
            <a:pPr marL="0" indent="0">
              <a:buNone/>
            </a:pPr>
            <a:endParaRPr lang="en-IN" sz="700" dirty="0">
              <a:sym typeface="Wingdings" pitchFamily="2" charset="2"/>
            </a:endParaRPr>
          </a:p>
          <a:p>
            <a:pPr marL="0" indent="0">
              <a:buNone/>
            </a:pPr>
            <a:endParaRPr lang="en-IN" sz="700" dirty="0"/>
          </a:p>
          <a:p>
            <a:pPr>
              <a:buFont typeface="Symbol"/>
              <a:buChar char="Þ"/>
            </a:pPr>
            <a:endParaRPr lang="en-IN" sz="700" dirty="0"/>
          </a:p>
          <a:p>
            <a:pPr marL="0" indent="0">
              <a:buNone/>
            </a:pPr>
            <a:endParaRPr lang="en-IN" sz="7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B833A7-BBC2-B8DB-C432-235F437E2BDC}"/>
              </a:ext>
            </a:extLst>
          </p:cNvPr>
          <p:cNvSpPr/>
          <p:nvPr/>
        </p:nvSpPr>
        <p:spPr>
          <a:xfrm>
            <a:off x="32639" y="28665"/>
            <a:ext cx="2808312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800" dirty="0"/>
              <a:t>Step  1 - Perform BST deletion</a:t>
            </a:r>
          </a:p>
          <a:p>
            <a:r>
              <a:rPr lang="en-IN" sz="800" b="1" dirty="0"/>
              <a:t>Step 2 </a:t>
            </a:r>
          </a:p>
          <a:p>
            <a:r>
              <a:rPr lang="en-IN" sz="800" b="1" dirty="0"/>
              <a:t>Case 1</a:t>
            </a:r>
            <a:r>
              <a:rPr lang="en-IN" sz="800" dirty="0"/>
              <a:t>-If node to be deleted is </a:t>
            </a:r>
            <a:r>
              <a:rPr lang="en-IN" sz="800" b="1" dirty="0">
                <a:solidFill>
                  <a:srgbClr val="FF0000"/>
                </a:solidFill>
              </a:rPr>
              <a:t>RED</a:t>
            </a:r>
            <a:r>
              <a:rPr lang="en-IN" sz="800" dirty="0"/>
              <a:t> =&gt; just delete it  [</a:t>
            </a:r>
            <a:r>
              <a:rPr lang="en-IN" sz="800" b="1" dirty="0">
                <a:solidFill>
                  <a:srgbClr val="FF0000"/>
                </a:solidFill>
              </a:rPr>
              <a:t>Terminal]</a:t>
            </a:r>
          </a:p>
          <a:p>
            <a:r>
              <a:rPr lang="en-IN" sz="800" b="1" dirty="0"/>
              <a:t>Case 2</a:t>
            </a:r>
            <a:r>
              <a:rPr lang="en-IN" sz="800" dirty="0"/>
              <a:t>-If</a:t>
            </a:r>
            <a:r>
              <a:rPr lang="en-IN" sz="800" b="1" dirty="0"/>
              <a:t> </a:t>
            </a:r>
            <a:r>
              <a:rPr lang="en-IN" sz="800" dirty="0"/>
              <a:t>node to be deleted is </a:t>
            </a:r>
            <a:r>
              <a:rPr lang="en-IN" sz="800" b="1" dirty="0"/>
              <a:t>BLACK</a:t>
            </a:r>
            <a:r>
              <a:rPr lang="en-IN" sz="800" dirty="0"/>
              <a:t> but has </a:t>
            </a:r>
            <a:r>
              <a:rPr lang="en-IN" sz="800" b="1" dirty="0">
                <a:solidFill>
                  <a:srgbClr val="FF0000"/>
                </a:solidFill>
              </a:rPr>
              <a:t>RED</a:t>
            </a:r>
            <a:r>
              <a:rPr lang="en-IN" sz="800" dirty="0"/>
              <a:t> child </a:t>
            </a:r>
          </a:p>
          <a:p>
            <a:r>
              <a:rPr lang="en-IN" sz="800" dirty="0"/>
              <a:t>   =&gt; Replace node with child  and </a:t>
            </a:r>
            <a:r>
              <a:rPr lang="en-IN" sz="800" dirty="0" err="1"/>
              <a:t>color</a:t>
            </a:r>
            <a:r>
              <a:rPr lang="en-IN" sz="800" dirty="0"/>
              <a:t> it with BLACK</a:t>
            </a:r>
          </a:p>
          <a:p>
            <a:r>
              <a:rPr lang="en-IN" sz="800" dirty="0"/>
              <a:t>Or if the Node to be deleted is </a:t>
            </a:r>
            <a:r>
              <a:rPr lang="en-IN" sz="800" b="1" dirty="0"/>
              <a:t>BLACK</a:t>
            </a:r>
            <a:r>
              <a:rPr lang="en-IN" sz="800" dirty="0"/>
              <a:t> &amp; has </a:t>
            </a:r>
            <a:r>
              <a:rPr lang="en-IN" sz="800" b="1" dirty="0">
                <a:solidFill>
                  <a:srgbClr val="FF0000"/>
                </a:solidFill>
              </a:rPr>
              <a:t>RED</a:t>
            </a:r>
            <a:r>
              <a:rPr lang="en-IN" sz="800" dirty="0"/>
              <a:t> parent =&gt; swap the </a:t>
            </a:r>
            <a:r>
              <a:rPr lang="en-IN" sz="800" dirty="0" err="1"/>
              <a:t>color</a:t>
            </a:r>
            <a:r>
              <a:rPr lang="en-IN" sz="800" dirty="0"/>
              <a:t> of Parent &amp; Sibling (terminal) </a:t>
            </a:r>
          </a:p>
          <a:p>
            <a:endParaRPr lang="en-IN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6EBC8-54C0-1EEE-B1DD-24F4B39733B3}"/>
              </a:ext>
            </a:extLst>
          </p:cNvPr>
          <p:cNvSpPr txBox="1"/>
          <p:nvPr/>
        </p:nvSpPr>
        <p:spPr>
          <a:xfrm>
            <a:off x="500691" y="1079896"/>
            <a:ext cx="1872208" cy="3693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r>
              <a:rPr lang="en-IN" sz="1800" b="1" dirty="0"/>
              <a:t>RB Tree Deletion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0F9089-938B-EC31-F5B5-C8B25E1AA376}"/>
              </a:ext>
            </a:extLst>
          </p:cNvPr>
          <p:cNvSpPr/>
          <p:nvPr/>
        </p:nvSpPr>
        <p:spPr>
          <a:xfrm>
            <a:off x="5868144" y="44624"/>
            <a:ext cx="3168352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900" b="1" dirty="0">
                <a:sym typeface="Wingdings" pitchFamily="2" charset="2"/>
              </a:rPr>
              <a:t>Case 3(4) </a:t>
            </a:r>
            <a:r>
              <a:rPr lang="en-IN" sz="900" dirty="0">
                <a:sym typeface="Wingdings" pitchFamily="2" charset="2"/>
              </a:rPr>
              <a:t>– DB’s sibling is </a:t>
            </a:r>
            <a:r>
              <a:rPr lang="en-IN" sz="900" b="1" dirty="0">
                <a:sym typeface="Wingdings" pitchFamily="2" charset="2"/>
              </a:rPr>
              <a:t>BLACK</a:t>
            </a:r>
            <a:r>
              <a:rPr lang="en-IN" sz="900" dirty="0">
                <a:sym typeface="Wingdings" pitchFamily="2" charset="2"/>
              </a:rPr>
              <a:t>, check sibling child's who is far from DB is </a:t>
            </a:r>
            <a:r>
              <a:rPr lang="en-IN" sz="900" b="1" dirty="0">
                <a:sym typeface="Wingdings" pitchFamily="2" charset="2"/>
              </a:rPr>
              <a:t>BLACK</a:t>
            </a:r>
          </a:p>
          <a:p>
            <a:r>
              <a:rPr lang="en-IN" sz="900" dirty="0">
                <a:sym typeface="Wingdings" pitchFamily="2" charset="2"/>
              </a:rPr>
              <a:t> but near child to DB is </a:t>
            </a:r>
            <a:r>
              <a:rPr lang="en-IN" sz="9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endParaRPr lang="en-IN" sz="900" b="1" dirty="0">
              <a:solidFill>
                <a:srgbClr val="FF0000"/>
              </a:solidFill>
            </a:endParaRPr>
          </a:p>
          <a:p>
            <a:pPr>
              <a:buFont typeface="Wingdings"/>
              <a:buChar char="è"/>
            </a:pPr>
            <a:r>
              <a:rPr lang="en-IN" sz="900" dirty="0">
                <a:sym typeface="Wingdings" pitchFamily="2" charset="2"/>
              </a:rPr>
              <a:t>Swap </a:t>
            </a:r>
            <a:r>
              <a:rPr lang="en-IN" sz="900" dirty="0" err="1">
                <a:sym typeface="Wingdings" pitchFamily="2" charset="2"/>
              </a:rPr>
              <a:t>color</a:t>
            </a:r>
            <a:r>
              <a:rPr lang="en-IN" sz="900" dirty="0">
                <a:sym typeface="Wingdings" pitchFamily="2" charset="2"/>
              </a:rPr>
              <a:t> of DB’s sibling &amp; siblings child who is near to DB</a:t>
            </a:r>
          </a:p>
          <a:p>
            <a:pPr>
              <a:buFont typeface="Wingdings"/>
              <a:buChar char="è"/>
            </a:pPr>
            <a:r>
              <a:rPr lang="en-IN" sz="900" dirty="0">
                <a:sym typeface="Wingdings" pitchFamily="2" charset="2"/>
              </a:rPr>
              <a:t>Rotate sibling in opposite direction to DB</a:t>
            </a:r>
          </a:p>
          <a:p>
            <a:pPr>
              <a:buFont typeface="Wingdings"/>
              <a:buChar char="è"/>
            </a:pPr>
            <a:r>
              <a:rPr lang="en-IN" sz="900" dirty="0">
                <a:sym typeface="Wingdings" pitchFamily="2" charset="2"/>
              </a:rPr>
              <a:t>Apply case 3(5)</a:t>
            </a:r>
          </a:p>
          <a:p>
            <a:endParaRPr lang="en-IN" sz="900" dirty="0">
              <a:sym typeface="Wingdings" pitchFamily="2" charset="2"/>
            </a:endParaRPr>
          </a:p>
          <a:p>
            <a:r>
              <a:rPr lang="en-IN" sz="900" b="1" dirty="0">
                <a:sym typeface="Wingdings" pitchFamily="2" charset="2"/>
              </a:rPr>
              <a:t>Case 3(5)</a:t>
            </a:r>
            <a:r>
              <a:rPr lang="en-IN" sz="900" dirty="0">
                <a:sym typeface="Wingdings" pitchFamily="2" charset="2"/>
              </a:rPr>
              <a:t> – DB’s sibling is </a:t>
            </a:r>
            <a:r>
              <a:rPr lang="en-IN" sz="900" b="1" dirty="0">
                <a:sym typeface="Wingdings" pitchFamily="2" charset="2"/>
              </a:rPr>
              <a:t>BLACK</a:t>
            </a:r>
            <a:r>
              <a:rPr lang="en-IN" sz="900" dirty="0">
                <a:sym typeface="Wingdings" pitchFamily="2" charset="2"/>
              </a:rPr>
              <a:t> and far child is</a:t>
            </a:r>
            <a:r>
              <a:rPr lang="en-IN" sz="900" b="1" dirty="0">
                <a:solidFill>
                  <a:srgbClr val="FF0000"/>
                </a:solidFill>
                <a:sym typeface="Wingdings" pitchFamily="2" charset="2"/>
              </a:rPr>
              <a:t> RED  </a:t>
            </a:r>
            <a:r>
              <a:rPr lang="en-IN" sz="900" dirty="0">
                <a:sym typeface="Wingdings" pitchFamily="2" charset="2"/>
              </a:rPr>
              <a:t>[</a:t>
            </a:r>
            <a:r>
              <a:rPr lang="en-IN" sz="900" b="1" dirty="0">
                <a:solidFill>
                  <a:srgbClr val="FF0000"/>
                </a:solidFill>
                <a:sym typeface="Wingdings" pitchFamily="2" charset="2"/>
              </a:rPr>
              <a:t>Terminal</a:t>
            </a:r>
            <a:r>
              <a:rPr lang="en-IN" sz="900" dirty="0">
                <a:sym typeface="Wingdings" pitchFamily="2" charset="2"/>
              </a:rPr>
              <a:t>]</a:t>
            </a:r>
          </a:p>
          <a:p>
            <a:pPr>
              <a:buFont typeface="Wingdings"/>
              <a:buChar char="è"/>
            </a:pPr>
            <a:r>
              <a:rPr lang="en-IN" sz="900" dirty="0"/>
              <a:t>Swap </a:t>
            </a:r>
            <a:r>
              <a:rPr lang="en-IN" sz="900" dirty="0" err="1"/>
              <a:t>color</a:t>
            </a:r>
            <a:r>
              <a:rPr lang="en-IN" sz="900" dirty="0"/>
              <a:t> of PARENT &amp; SIBLING</a:t>
            </a:r>
          </a:p>
          <a:p>
            <a:pPr>
              <a:buFont typeface="Wingdings"/>
              <a:buChar char="è"/>
            </a:pPr>
            <a:r>
              <a:rPr lang="en-IN" sz="900" dirty="0"/>
              <a:t>Rotate PARENT in DB’s direction</a:t>
            </a:r>
          </a:p>
          <a:p>
            <a:pPr>
              <a:buFont typeface="Wingdings"/>
              <a:buChar char="è"/>
            </a:pPr>
            <a:r>
              <a:rPr lang="en-IN" sz="900" dirty="0"/>
              <a:t>Remove DB</a:t>
            </a:r>
          </a:p>
          <a:p>
            <a:pPr>
              <a:buFont typeface="Wingdings"/>
              <a:buChar char="è"/>
            </a:pPr>
            <a:r>
              <a:rPr lang="en-IN" sz="900" dirty="0"/>
              <a:t>Change </a:t>
            </a:r>
            <a:r>
              <a:rPr lang="en-IN" sz="900" dirty="0" err="1"/>
              <a:t>color</a:t>
            </a:r>
            <a:r>
              <a:rPr lang="en-IN" sz="900" dirty="0"/>
              <a:t> of RED child(far) to BLACK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751F8-A1A3-2619-6E2C-9F129DAE8D72}"/>
              </a:ext>
            </a:extLst>
          </p:cNvPr>
          <p:cNvSpPr txBox="1"/>
          <p:nvPr/>
        </p:nvSpPr>
        <p:spPr>
          <a:xfrm flipH="1">
            <a:off x="107504" y="1532837"/>
            <a:ext cx="259228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Delete </a:t>
            </a:r>
            <a:r>
              <a:rPr lang="en-IN" sz="1800" b="1" dirty="0"/>
              <a:t>9, 3, 4, 10, 13, 2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2260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DAE676-BE35-DEE2-FB74-69846A52A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732BB-DBA8-1116-C601-6A19A0B1C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916832"/>
            <a:ext cx="4824536" cy="452721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Case 3(1) </a:t>
            </a:r>
            <a:r>
              <a:rPr lang="en-IN" sz="1600" dirty="0"/>
              <a:t>If root node is DB, =&gt; remove DB [</a:t>
            </a:r>
            <a:r>
              <a:rPr lang="en-IN" sz="1600" b="1" dirty="0">
                <a:solidFill>
                  <a:srgbClr val="FF0000"/>
                </a:solidFill>
              </a:rPr>
              <a:t>Terminal]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>
                <a:sym typeface="Wingdings" pitchFamily="2" charset="2"/>
              </a:rPr>
              <a:t>Case 3(2)</a:t>
            </a:r>
            <a:r>
              <a:rPr lang="en-IN" sz="1600" dirty="0">
                <a:sym typeface="Wingdings" pitchFamily="2" charset="2"/>
              </a:rPr>
              <a:t> – If </a:t>
            </a:r>
            <a:r>
              <a:rPr lang="en-IN" sz="1600" b="1" dirty="0">
                <a:sym typeface="Wingdings" pitchFamily="2" charset="2"/>
              </a:rPr>
              <a:t>DB</a:t>
            </a:r>
            <a:r>
              <a:rPr lang="en-IN" sz="1600" dirty="0">
                <a:sym typeface="Wingdings" pitchFamily="2" charset="2"/>
              </a:rPr>
              <a:t> sibling is 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r>
              <a:rPr lang="en-IN" sz="1600" dirty="0">
                <a:sym typeface="Wingdings" pitchFamily="2" charset="2"/>
              </a:rPr>
              <a:t> (also has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 parent)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swap </a:t>
            </a:r>
            <a:r>
              <a:rPr lang="en-IN" sz="1600" dirty="0" err="1">
                <a:sym typeface="Wingdings" pitchFamily="2" charset="2"/>
              </a:rPr>
              <a:t>colors</a:t>
            </a:r>
            <a:r>
              <a:rPr lang="en-IN" sz="1600" dirty="0">
                <a:sym typeface="Wingdings" pitchFamily="2" charset="2"/>
              </a:rPr>
              <a:t> of  PARENT and its SIBLING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rotate PARENT in DB direction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reapply cases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Case </a:t>
            </a:r>
            <a:r>
              <a:rPr lang="en-IN" sz="1600" b="1" dirty="0">
                <a:sym typeface="Wingdings" pitchFamily="2" charset="2"/>
              </a:rPr>
              <a:t>3(3)</a:t>
            </a:r>
            <a:r>
              <a:rPr lang="en-IN" sz="1600" dirty="0">
                <a:sym typeface="Wingdings" pitchFamily="2" charset="2"/>
              </a:rPr>
              <a:t> </a:t>
            </a:r>
            <a:r>
              <a:rPr lang="en-IN" sz="1600" dirty="0"/>
              <a:t>- If </a:t>
            </a:r>
            <a:r>
              <a:rPr lang="en-IN" sz="1600" b="1" dirty="0"/>
              <a:t>DB’</a:t>
            </a:r>
            <a:r>
              <a:rPr lang="en-IN" sz="1600" dirty="0"/>
              <a:t>s sibling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/>
              <a:t> and both of its children are </a:t>
            </a:r>
            <a:r>
              <a:rPr lang="en-IN" sz="1600" b="1" dirty="0">
                <a:sym typeface="Wingdings" pitchFamily="2" charset="2"/>
              </a:rPr>
              <a:t>BLACK </a:t>
            </a:r>
          </a:p>
          <a:p>
            <a:pPr marL="0" indent="0">
              <a:buNone/>
            </a:pPr>
            <a:r>
              <a:rPr lang="en-IN" sz="1600" dirty="0">
                <a:sym typeface="Wingdings" panose="05000000000000000000" pitchFamily="2" charset="2"/>
              </a:rPr>
              <a:t></a:t>
            </a:r>
            <a:r>
              <a:rPr lang="en-IN" sz="1600" dirty="0"/>
              <a:t>Remove DB</a:t>
            </a:r>
          </a:p>
          <a:p>
            <a:pPr marL="0" indent="0">
              <a:buNone/>
            </a:pPr>
            <a:r>
              <a:rPr lang="en-IN" sz="1600" dirty="0"/>
              <a:t>= =&gt; Add extra black to its parent </a:t>
            </a:r>
          </a:p>
          <a:p>
            <a:pPr marL="0" indent="0">
              <a:buNone/>
            </a:pPr>
            <a:r>
              <a:rPr lang="en-IN" sz="1600" dirty="0"/>
              <a:t>  =====&gt; if parent is RED, then make it BLACK</a:t>
            </a:r>
          </a:p>
          <a:p>
            <a:pPr marL="0" indent="0">
              <a:buNone/>
            </a:pPr>
            <a:r>
              <a:rPr lang="en-IN" sz="1600" dirty="0"/>
              <a:t>  ======&gt; if parent is BLACK, then make it double BLACK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  Make sibling RED </a:t>
            </a:r>
          </a:p>
          <a:p>
            <a:pPr marL="0" indent="0">
              <a:buNone/>
            </a:pPr>
            <a:r>
              <a:rPr lang="en-IN" sz="1600" dirty="0">
                <a:sym typeface="Wingdings" pitchFamily="2" charset="2"/>
              </a:rPr>
              <a:t> If </a:t>
            </a:r>
            <a:r>
              <a:rPr lang="en-IN" sz="1600" dirty="0" err="1">
                <a:sym typeface="Wingdings" pitchFamily="2" charset="2"/>
              </a:rPr>
              <a:t>stillDB</a:t>
            </a:r>
            <a:r>
              <a:rPr lang="en-IN" sz="1600" dirty="0">
                <a:sym typeface="Wingdings" pitchFamily="2" charset="2"/>
              </a:rPr>
              <a:t> exists, apply other cases.</a:t>
            </a:r>
          </a:p>
          <a:p>
            <a:pPr marL="0" indent="0">
              <a:buNone/>
            </a:pPr>
            <a:endParaRPr lang="en-IN" sz="1600" dirty="0">
              <a:sym typeface="Wingdings" pitchFamily="2" charset="2"/>
            </a:endParaRPr>
          </a:p>
          <a:p>
            <a:pPr marL="0" indent="0">
              <a:buNone/>
            </a:pPr>
            <a:endParaRPr lang="en-IN" sz="1400" dirty="0">
              <a:sym typeface="Wingdings" pitchFamily="2" charset="2"/>
            </a:endParaRPr>
          </a:p>
          <a:p>
            <a:pPr marL="0" indent="0">
              <a:buNone/>
            </a:pPr>
            <a:endParaRPr lang="en-IN" sz="1400" dirty="0"/>
          </a:p>
          <a:p>
            <a:pPr>
              <a:buFont typeface="Symbol"/>
              <a:buChar char="Þ"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64F82-73C1-443E-AEE9-7A5F31F75B60}"/>
              </a:ext>
            </a:extLst>
          </p:cNvPr>
          <p:cNvSpPr/>
          <p:nvPr/>
        </p:nvSpPr>
        <p:spPr>
          <a:xfrm>
            <a:off x="107504" y="391016"/>
            <a:ext cx="8352928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dirty="0"/>
              <a:t>Step  1 - Perform BST deletion</a:t>
            </a:r>
          </a:p>
          <a:p>
            <a:r>
              <a:rPr lang="en-IN" sz="1600" b="1" dirty="0"/>
              <a:t>Step 2 </a:t>
            </a:r>
          </a:p>
          <a:p>
            <a:r>
              <a:rPr lang="en-IN" sz="1600" b="1" dirty="0"/>
              <a:t>Case 1</a:t>
            </a:r>
            <a:r>
              <a:rPr lang="en-IN" sz="1600" dirty="0"/>
              <a:t>-If node to be deleted is </a:t>
            </a:r>
            <a:r>
              <a:rPr lang="en-IN" sz="1600" b="1" dirty="0">
                <a:solidFill>
                  <a:srgbClr val="FF0000"/>
                </a:solidFill>
              </a:rPr>
              <a:t>RED</a:t>
            </a:r>
            <a:r>
              <a:rPr lang="en-IN" sz="1600" dirty="0"/>
              <a:t> =&gt; just delete it  [</a:t>
            </a:r>
            <a:r>
              <a:rPr lang="en-IN" sz="1600" b="1" dirty="0">
                <a:solidFill>
                  <a:srgbClr val="FF0000"/>
                </a:solidFill>
              </a:rPr>
              <a:t>Terminal]</a:t>
            </a:r>
          </a:p>
          <a:p>
            <a:r>
              <a:rPr lang="en-IN" sz="1600" b="1" dirty="0"/>
              <a:t>Case 2</a:t>
            </a:r>
            <a:r>
              <a:rPr lang="en-IN" sz="1600" dirty="0"/>
              <a:t>-If</a:t>
            </a:r>
            <a:r>
              <a:rPr lang="en-IN" sz="1600" b="1" dirty="0"/>
              <a:t> </a:t>
            </a:r>
            <a:r>
              <a:rPr lang="en-IN" sz="1600" dirty="0"/>
              <a:t>node to be deleted is </a:t>
            </a:r>
            <a:r>
              <a:rPr lang="en-IN" sz="1600" b="1" dirty="0"/>
              <a:t>BLACK</a:t>
            </a:r>
            <a:r>
              <a:rPr lang="en-IN" sz="1600" dirty="0"/>
              <a:t> but has </a:t>
            </a:r>
            <a:r>
              <a:rPr lang="en-IN" sz="1600" b="1" dirty="0">
                <a:solidFill>
                  <a:srgbClr val="FF0000"/>
                </a:solidFill>
              </a:rPr>
              <a:t>RED</a:t>
            </a:r>
            <a:r>
              <a:rPr lang="en-IN" sz="1600" dirty="0"/>
              <a:t> child </a:t>
            </a:r>
          </a:p>
          <a:p>
            <a:r>
              <a:rPr lang="en-IN" sz="1600" dirty="0"/>
              <a:t>   =&gt; Replace node with child  and </a:t>
            </a:r>
            <a:r>
              <a:rPr lang="en-IN" sz="1600" dirty="0" err="1"/>
              <a:t>color</a:t>
            </a:r>
            <a:r>
              <a:rPr lang="en-IN" sz="1600" dirty="0"/>
              <a:t> it with BLACK</a:t>
            </a:r>
          </a:p>
          <a:p>
            <a:r>
              <a:rPr lang="en-IN" sz="1600" dirty="0"/>
              <a:t>Or if the Node to be deleted is </a:t>
            </a:r>
            <a:r>
              <a:rPr lang="en-IN" sz="1600" b="1" dirty="0"/>
              <a:t>BLACK</a:t>
            </a:r>
            <a:r>
              <a:rPr lang="en-IN" sz="1600" dirty="0"/>
              <a:t> &amp; has </a:t>
            </a:r>
            <a:r>
              <a:rPr lang="en-IN" sz="1600" b="1" dirty="0">
                <a:solidFill>
                  <a:srgbClr val="FF0000"/>
                </a:solidFill>
              </a:rPr>
              <a:t>RED</a:t>
            </a:r>
            <a:r>
              <a:rPr lang="en-IN" sz="1600" dirty="0"/>
              <a:t> parent =&gt; swap the </a:t>
            </a:r>
            <a:r>
              <a:rPr lang="en-IN" sz="1600" dirty="0" err="1"/>
              <a:t>color</a:t>
            </a:r>
            <a:r>
              <a:rPr lang="en-IN" sz="1600" dirty="0"/>
              <a:t> of Parent &amp; Sibling (terminal)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E568A-A1BD-E09C-0898-7CA2E43893AC}"/>
              </a:ext>
            </a:extLst>
          </p:cNvPr>
          <p:cNvSpPr/>
          <p:nvPr/>
        </p:nvSpPr>
        <p:spPr>
          <a:xfrm>
            <a:off x="1691680" y="6474822"/>
            <a:ext cx="6264696" cy="3385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/>
              <a:t>[if  node to be deleted is black ,  it  will  be replaced by Double Black DB]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B9110C-8CF0-8BD2-95F4-47CBCC0F057D}"/>
              </a:ext>
            </a:extLst>
          </p:cNvPr>
          <p:cNvSpPr txBox="1"/>
          <p:nvPr/>
        </p:nvSpPr>
        <p:spPr>
          <a:xfrm>
            <a:off x="33250" y="40771"/>
            <a:ext cx="1872208" cy="3693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r>
              <a:rPr lang="en-IN" sz="1800" b="1" dirty="0"/>
              <a:t>RB Tree Deletion</a:t>
            </a:r>
            <a:endParaRPr lang="en-IN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1A84B223-31B4-7DB5-3B37-548B690DBD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40772"/>
            <a:ext cx="3674654" cy="187316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0F2102D-4044-8E97-E6B4-9FE2853E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80" y="122071"/>
            <a:ext cx="4392488" cy="369332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IN" sz="2800" dirty="0"/>
              <a:t>Delete      </a:t>
            </a:r>
            <a:r>
              <a:rPr lang="en-IN" sz="2800" b="1" dirty="0"/>
              <a:t>9, 3, 4, 10, 13, 2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71D9C3-B503-3436-F5A4-5A02146ED888}"/>
              </a:ext>
            </a:extLst>
          </p:cNvPr>
          <p:cNvSpPr/>
          <p:nvPr/>
        </p:nvSpPr>
        <p:spPr>
          <a:xfrm>
            <a:off x="4788024" y="1916832"/>
            <a:ext cx="4248472" cy="35394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>
                <a:sym typeface="Wingdings" pitchFamily="2" charset="2"/>
              </a:rPr>
              <a:t>Case 3(4) </a:t>
            </a:r>
            <a:r>
              <a:rPr lang="en-IN" sz="1600" dirty="0">
                <a:sym typeface="Wingdings" pitchFamily="2" charset="2"/>
              </a:rPr>
              <a:t>– DB’s sibling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, check sibling child's who is far from DB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 but near child to DB is 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RED</a:t>
            </a:r>
            <a:endParaRPr lang="en-IN" sz="1600" b="1" dirty="0">
              <a:solidFill>
                <a:srgbClr val="FF0000"/>
              </a:solidFill>
            </a:endParaRPr>
          </a:p>
          <a:p>
            <a:pPr>
              <a:buFont typeface="Wingdings"/>
              <a:buChar char="è"/>
            </a:pPr>
            <a:r>
              <a:rPr lang="en-IN" sz="1600" dirty="0">
                <a:sym typeface="Wingdings" pitchFamily="2" charset="2"/>
              </a:rPr>
              <a:t>Swap </a:t>
            </a:r>
            <a:r>
              <a:rPr lang="en-IN" sz="1600" dirty="0" err="1">
                <a:sym typeface="Wingdings" pitchFamily="2" charset="2"/>
              </a:rPr>
              <a:t>color</a:t>
            </a:r>
            <a:r>
              <a:rPr lang="en-IN" sz="1600" dirty="0">
                <a:sym typeface="Wingdings" pitchFamily="2" charset="2"/>
              </a:rPr>
              <a:t> of DB’s sibling &amp; siblings child who is near to DB</a:t>
            </a:r>
          </a:p>
          <a:p>
            <a:pPr>
              <a:buFont typeface="Wingdings"/>
              <a:buChar char="è"/>
            </a:pPr>
            <a:r>
              <a:rPr lang="en-IN" sz="1600" dirty="0">
                <a:sym typeface="Wingdings" pitchFamily="2" charset="2"/>
              </a:rPr>
              <a:t>Rotate sibling in opposite direction to DB</a:t>
            </a:r>
          </a:p>
          <a:p>
            <a:pPr>
              <a:buFont typeface="Wingdings"/>
              <a:buChar char="è"/>
            </a:pPr>
            <a:r>
              <a:rPr lang="en-IN" sz="1600" dirty="0">
                <a:sym typeface="Wingdings" pitchFamily="2" charset="2"/>
              </a:rPr>
              <a:t>Apply case 6</a:t>
            </a:r>
          </a:p>
          <a:p>
            <a:endParaRPr lang="en-IN" sz="1600" dirty="0">
              <a:sym typeface="Wingdings" pitchFamily="2" charset="2"/>
            </a:endParaRPr>
          </a:p>
          <a:p>
            <a:r>
              <a:rPr lang="en-IN" sz="1600" b="1" dirty="0">
                <a:sym typeface="Wingdings" pitchFamily="2" charset="2"/>
              </a:rPr>
              <a:t>Case 3(5)</a:t>
            </a:r>
            <a:r>
              <a:rPr lang="en-IN" sz="1600" dirty="0">
                <a:sym typeface="Wingdings" pitchFamily="2" charset="2"/>
              </a:rPr>
              <a:t> – DB’s sibling is </a:t>
            </a:r>
            <a:r>
              <a:rPr lang="en-IN" sz="1600" b="1" dirty="0">
                <a:sym typeface="Wingdings" pitchFamily="2" charset="2"/>
              </a:rPr>
              <a:t>BLACK</a:t>
            </a:r>
            <a:r>
              <a:rPr lang="en-IN" sz="1600" dirty="0">
                <a:sym typeface="Wingdings" pitchFamily="2" charset="2"/>
              </a:rPr>
              <a:t> and far child is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 RED  </a:t>
            </a:r>
            <a:r>
              <a:rPr lang="en-IN" sz="1600" dirty="0">
                <a:sym typeface="Wingdings" pitchFamily="2" charset="2"/>
              </a:rPr>
              <a:t>[</a:t>
            </a:r>
            <a:r>
              <a:rPr lang="en-IN" sz="1600" b="1" dirty="0">
                <a:solidFill>
                  <a:srgbClr val="FF0000"/>
                </a:solidFill>
                <a:sym typeface="Wingdings" pitchFamily="2" charset="2"/>
              </a:rPr>
              <a:t>Terminal</a:t>
            </a:r>
            <a:r>
              <a:rPr lang="en-IN" sz="1600" dirty="0">
                <a:sym typeface="Wingdings" pitchFamily="2" charset="2"/>
              </a:rPr>
              <a:t>]</a:t>
            </a:r>
          </a:p>
          <a:p>
            <a:pPr>
              <a:buFont typeface="Wingdings"/>
              <a:buChar char="è"/>
            </a:pPr>
            <a:r>
              <a:rPr lang="en-IN" sz="1600" dirty="0"/>
              <a:t>Swap </a:t>
            </a:r>
            <a:r>
              <a:rPr lang="en-IN" sz="1600" dirty="0" err="1"/>
              <a:t>color</a:t>
            </a:r>
            <a:r>
              <a:rPr lang="en-IN" sz="1600" dirty="0"/>
              <a:t> of PARENT &amp; SIBLING</a:t>
            </a:r>
          </a:p>
          <a:p>
            <a:pPr>
              <a:buFont typeface="Wingdings"/>
              <a:buChar char="è"/>
            </a:pPr>
            <a:r>
              <a:rPr lang="en-IN" sz="1600" dirty="0"/>
              <a:t>Rotate PARENT in DB’s direction</a:t>
            </a:r>
          </a:p>
          <a:p>
            <a:pPr>
              <a:buFont typeface="Wingdings"/>
              <a:buChar char="è"/>
            </a:pPr>
            <a:r>
              <a:rPr lang="en-IN" sz="1600" dirty="0"/>
              <a:t>Remove DB</a:t>
            </a:r>
          </a:p>
          <a:p>
            <a:pPr>
              <a:buFont typeface="Wingdings"/>
              <a:buChar char="è"/>
            </a:pPr>
            <a:r>
              <a:rPr lang="en-IN" sz="1600" dirty="0"/>
              <a:t>Change </a:t>
            </a:r>
            <a:r>
              <a:rPr lang="en-IN" sz="1600" dirty="0" err="1"/>
              <a:t>color</a:t>
            </a:r>
            <a:r>
              <a:rPr lang="en-IN" sz="1600" dirty="0"/>
              <a:t> of RED child(far) to BLACK</a:t>
            </a:r>
          </a:p>
        </p:txBody>
      </p:sp>
    </p:spTree>
    <p:extLst>
      <p:ext uri="{BB962C8B-B14F-4D97-AF65-F5344CB8AC3E}">
        <p14:creationId xmlns:p14="http://schemas.microsoft.com/office/powerpoint/2010/main" val="1794237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d-black tree | TikZ example">
            <a:extLst>
              <a:ext uri="{FF2B5EF4-FFF2-40B4-BE49-F238E27FC236}">
                <a16:creationId xmlns:a16="http://schemas.microsoft.com/office/drawing/2014/main" id="{0A5274CC-8993-0BE0-E519-FA3AAB22D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476672"/>
            <a:ext cx="9014571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13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35C2B-2159-2827-1A04-F06115413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0804"/>
            <a:ext cx="8229600" cy="509535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IN" sz="1800" b="0" kern="0" dirty="0">
              <a:solidFill>
                <a:srgbClr val="000000"/>
              </a:solidFill>
              <a:effectLst/>
              <a:latin typeface="Rockwell" panose="02060603020205020403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kern="0" dirty="0">
                <a:solidFill>
                  <a:srgbClr val="000000"/>
                </a:solidFill>
                <a:latin typeface="Rockwell" panose="02060603020205020403" pitchFamily="18" charset="0"/>
                <a:cs typeface="Arial" panose="020B0604020202020204" pitchFamily="34" charset="0"/>
              </a:rPr>
              <a:t>How to Delete Node in Binary Search Tree (BST)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kern="0" dirty="0">
                <a:solidFill>
                  <a:srgbClr val="000000"/>
                </a:solidFill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2"/>
              </a:rPr>
              <a:t>https://www.youtube.com/watch?v=ad1KFYHZyMc</a:t>
            </a:r>
            <a:endParaRPr lang="en-IN" sz="1800" b="0" kern="0" dirty="0">
              <a:solidFill>
                <a:srgbClr val="000000"/>
              </a:solidFill>
              <a:effectLst/>
              <a:latin typeface="Rockwell" panose="02060603020205020403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N" sz="1800" kern="0" dirty="0">
              <a:solidFill>
                <a:srgbClr val="000000"/>
              </a:solidFill>
              <a:latin typeface="Rockwell" panose="02060603020205020403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800" b="0" kern="0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Red Black Tree and Insertion</a:t>
            </a:r>
            <a:r>
              <a:rPr lang="en-IN" sz="1800" kern="0" dirty="0">
                <a:solidFill>
                  <a:srgbClr val="000000"/>
                </a:solidFill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Operation</a:t>
            </a:r>
            <a:endParaRPr lang="en-IN" sz="1800" b="1" kern="0" dirty="0">
              <a:solidFill>
                <a:srgbClr val="365F91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800" u="sng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Mangal" panose="02040503050203030202" pitchFamily="18" charset="0"/>
                <a:hlinkClick r:id="rId3"/>
              </a:rPr>
              <a:t>https://www.youtube.com/watch?v=H0MutN9u-Ik</a:t>
            </a:r>
            <a:endParaRPr lang="en-IN" sz="1800" u="sng" dirty="0">
              <a:solidFill>
                <a:srgbClr val="000000"/>
              </a:solidFill>
              <a:effectLst/>
              <a:latin typeface="Rockwell" panose="02060603020205020403" pitchFamily="18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Understanding RB Tree Deletion cases with an Example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800" u="sng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https://youtu.be/1qEjtfR0gIo</a:t>
            </a:r>
            <a:endParaRPr lang="en-IN" sz="1800" u="sng" dirty="0">
              <a:solidFill>
                <a:srgbClr val="000000"/>
              </a:solidFill>
              <a:effectLst/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N" sz="1800" u="sng" dirty="0">
              <a:solidFill>
                <a:srgbClr val="000000"/>
              </a:solidFill>
              <a:effectLst/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RB Tree Deletion Example No.2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u="sng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https://youtu.be/MjlQo2vRAnI </a:t>
            </a:r>
            <a:endParaRPr lang="en-US" sz="1800" u="sng" dirty="0">
              <a:solidFill>
                <a:srgbClr val="000000"/>
              </a:solidFill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100" b="0" i="0" dirty="0">
              <a:solidFill>
                <a:srgbClr val="0D0D0D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100" b="0" i="0" dirty="0">
              <a:solidFill>
                <a:srgbClr val="0D0D0D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RB Tree Deletion Example No.3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u="sng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https://youtu.be/vVRo_WagRLQ</a:t>
            </a:r>
            <a:endParaRPr lang="en-US" sz="1800" u="sng" dirty="0">
              <a:solidFill>
                <a:srgbClr val="000000"/>
              </a:solidFill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u="sng" dirty="0">
              <a:solidFill>
                <a:srgbClr val="000000"/>
              </a:solidFill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N" sz="1800" u="sng" dirty="0">
              <a:solidFill>
                <a:srgbClr val="000000"/>
              </a:solidFill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BF2FF6-7A1B-D356-9180-E510C75760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61472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/>
              <a:t>Video Lecture of the topic can be found at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2181576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2184</Words>
  <Application>Microsoft Office PowerPoint</Application>
  <PresentationFormat>On-screen Show (4:3)</PresentationFormat>
  <Paragraphs>275</Paragraphs>
  <Slides>20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Cambria</vt:lpstr>
      <vt:lpstr>Roboto</vt:lpstr>
      <vt:lpstr>Rockwell</vt:lpstr>
      <vt:lpstr>Symbol</vt:lpstr>
      <vt:lpstr>Times New Roman</vt:lpstr>
      <vt:lpstr>Wingdings</vt:lpstr>
      <vt:lpstr>Office Theme</vt:lpstr>
      <vt:lpstr>RB Tree Deletion</vt:lpstr>
      <vt:lpstr>PowerPoint Presentation</vt:lpstr>
      <vt:lpstr>Deletion from Binary Search Tree</vt:lpstr>
      <vt:lpstr>PowerPoint Presentation</vt:lpstr>
      <vt:lpstr>PowerPoint Presentation</vt:lpstr>
      <vt:lpstr>Algorithm for Deletion</vt:lpstr>
      <vt:lpstr>Example- BST Deletion</vt:lpstr>
      <vt:lpstr>PowerPoint Presentation</vt:lpstr>
      <vt:lpstr>RB tree Deletion  </vt:lpstr>
      <vt:lpstr>RB tree Deletion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Delete      9, 3, 4, 10, 13, 2</vt:lpstr>
      <vt:lpstr>PowerPoint Presentation</vt:lpstr>
      <vt:lpstr>Delete      9, 3, 4, 10, 13, 2</vt:lpstr>
      <vt:lpstr>PowerPoint Presentation</vt:lpstr>
      <vt:lpstr>Video Lecture of the topic can be found 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 Tree Deletion</dc:title>
  <dc:creator>ASHISH SETH</dc:creator>
  <cp:lastModifiedBy>ASHISH SETH</cp:lastModifiedBy>
  <cp:revision>37</cp:revision>
  <dcterms:created xsi:type="dcterms:W3CDTF">2021-09-01T06:18:04Z</dcterms:created>
  <dcterms:modified xsi:type="dcterms:W3CDTF">2025-10-16T19:45:18Z</dcterms:modified>
</cp:coreProperties>
</file>