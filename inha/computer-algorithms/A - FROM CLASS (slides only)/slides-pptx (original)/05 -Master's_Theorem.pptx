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58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837" autoAdjust="0"/>
  </p:normalViewPr>
  <p:slideViewPr>
    <p:cSldViewPr>
      <p:cViewPr varScale="1">
        <p:scale>
          <a:sx n="53" d="100"/>
          <a:sy n="53" d="100"/>
        </p:scale>
        <p:origin x="231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87E4D-667C-4486-8780-7B4A42A4D1EB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927C3-E615-4BFF-8C03-DE170877A3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90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IN" b="1" dirty="0"/>
              <a:t>Time cannot be negative:</a:t>
            </a:r>
            <a:r>
              <a:rPr lang="en-IN" dirty="0"/>
              <a:t> An algorithm cannot take "negative time" or "undo" work. </a:t>
            </a:r>
          </a:p>
          <a:p>
            <a:pPr lvl="0"/>
            <a:r>
              <a:rPr lang="en-IN" b="1" dirty="0"/>
              <a:t>The Master Theorem constraint:</a:t>
            </a:r>
            <a:r>
              <a:rPr lang="en-IN" dirty="0"/>
              <a:t> You cannot apply the standard Master Theorem directly to such cases as it requires the driving function to be </a:t>
            </a:r>
            <a:r>
              <a:rPr lang="en-IN" b="1"/>
              <a:t>strictly positive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2927C3-E615-4BFF-8C03-DE170877A31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47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52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500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94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090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888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81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12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13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257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86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510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E8F51-8F93-4725-BAA8-A6EED91C642F}" type="datetimeFigureOut">
              <a:rPr lang="en-IN" smtClean="0"/>
              <a:t>20-09-2026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0C894-2825-47DD-B88C-0DE732374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71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7WLeosewi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Master’s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37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74042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507288" cy="45259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dirty="0"/>
              <a:t>The Master Theorem applies to recurrences of the following form: </a:t>
            </a:r>
          </a:p>
          <a:p>
            <a:pPr marL="0" indent="0" algn="ctr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 (n) = a T (n/b) +f(n)			[f(n)=</a:t>
            </a:r>
            <a:r>
              <a:rPr lang="el-GR" dirty="0"/>
              <a:t>ϴ</a:t>
            </a:r>
            <a:r>
              <a:rPr lang="en-IN" dirty="0"/>
              <a:t>( 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dirty="0" err="1"/>
              <a:t>log</a:t>
            </a:r>
            <a:r>
              <a:rPr lang="en-IN" baseline="30000" dirty="0" err="1"/>
              <a:t>p</a:t>
            </a:r>
            <a:r>
              <a:rPr lang="en-IN" dirty="0" err="1"/>
              <a:t>n</a:t>
            </a:r>
            <a:r>
              <a:rPr lang="en-IN" dirty="0"/>
              <a:t>)]</a:t>
            </a:r>
          </a:p>
          <a:p>
            <a:pPr marL="0" indent="0">
              <a:buNone/>
            </a:pPr>
            <a:r>
              <a:rPr lang="en-IN" dirty="0"/>
              <a:t>T (n) = a T (n-b) +f(n)			[f(n)=0( 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dirty="0"/>
              <a:t>)]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r>
              <a:rPr lang="en-IN" dirty="0"/>
              <a:t>a ≥ 1, b &gt; 1,k&gt;=0 are constants and p is real number</a:t>
            </a:r>
          </a:p>
        </p:txBody>
      </p:sp>
    </p:spTree>
    <p:extLst>
      <p:ext uri="{BB962C8B-B14F-4D97-AF65-F5344CB8AC3E}">
        <p14:creationId xmlns:p14="http://schemas.microsoft.com/office/powerpoint/2010/main" val="3578625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692696"/>
            <a:ext cx="8229600" cy="1152128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IN" dirty="0"/>
              <a:t>For Decreasing Recursive Functions</a:t>
            </a:r>
            <a:br>
              <a:rPr lang="en-IN" dirty="0"/>
            </a:br>
            <a:r>
              <a:rPr lang="en-IN" dirty="0">
                <a:highlight>
                  <a:srgbClr val="FFFF00"/>
                </a:highlight>
              </a:rPr>
              <a:t>T (n) = a T (n-b) +f(n)		[f(n)=0( </a:t>
            </a:r>
            <a:r>
              <a:rPr lang="en-IN" dirty="0" err="1">
                <a:highlight>
                  <a:srgbClr val="FFFF00"/>
                </a:highlight>
              </a:rPr>
              <a:t>n</a:t>
            </a:r>
            <a:r>
              <a:rPr lang="en-IN" baseline="30000" dirty="0" err="1">
                <a:highlight>
                  <a:srgbClr val="FFFF00"/>
                </a:highlight>
              </a:rPr>
              <a:t>k</a:t>
            </a:r>
            <a:r>
              <a:rPr lang="en-IN" dirty="0">
                <a:highlight>
                  <a:srgbClr val="FFFF00"/>
                </a:highlight>
              </a:rPr>
              <a:t>)]</a:t>
            </a:r>
            <a:br>
              <a:rPr lang="en-IN" dirty="0">
                <a:highlight>
                  <a:srgbClr val="FFFF00"/>
                </a:highlight>
              </a:rPr>
            </a:br>
            <a:r>
              <a:rPr lang="en-IN" sz="2700" dirty="0"/>
              <a:t>a ≥ 1, b ≥ 1,k&gt;=0 are constants and p is real number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2190820"/>
            <a:ext cx="7632848" cy="396044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i="1" u="sng" dirty="0"/>
              <a:t>Defined on value of a</a:t>
            </a:r>
          </a:p>
          <a:p>
            <a:pPr marL="0" indent="0" algn="ctr">
              <a:buNone/>
            </a:pPr>
            <a:endParaRPr lang="en-IN" i="1" u="sng" dirty="0"/>
          </a:p>
          <a:p>
            <a:pPr marL="0" indent="0">
              <a:buNone/>
            </a:pPr>
            <a:r>
              <a:rPr lang="en-IN" dirty="0">
                <a:highlight>
                  <a:srgbClr val="00FFFF"/>
                </a:highlight>
              </a:rPr>
              <a:t>Case 1 </a:t>
            </a:r>
            <a:r>
              <a:rPr lang="en-IN" dirty="0"/>
              <a:t>:	a=1</a:t>
            </a:r>
          </a:p>
          <a:p>
            <a:pPr marL="0" indent="0">
              <a:buNone/>
            </a:pPr>
            <a:r>
              <a:rPr lang="en-IN" dirty="0"/>
              <a:t>T(n) = 0(f(n)*n)  = 0(n</a:t>
            </a:r>
            <a:r>
              <a:rPr lang="en-IN" baseline="30000" dirty="0"/>
              <a:t>k+1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>
                <a:highlight>
                  <a:srgbClr val="00FFFF"/>
                </a:highlight>
              </a:rPr>
              <a:t>Case 2</a:t>
            </a:r>
            <a:r>
              <a:rPr lang="en-IN" dirty="0"/>
              <a:t>: 	a&gt;1</a:t>
            </a:r>
          </a:p>
          <a:p>
            <a:pPr marL="0" indent="0">
              <a:buNone/>
            </a:pPr>
            <a:r>
              <a:rPr lang="en-IN" dirty="0"/>
              <a:t>T(n) = 0(f(n)*a</a:t>
            </a:r>
            <a:r>
              <a:rPr lang="en-IN" baseline="30000" dirty="0"/>
              <a:t>n/b</a:t>
            </a:r>
            <a:r>
              <a:rPr lang="en-IN" dirty="0"/>
              <a:t>)  = 0(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baseline="30000" dirty="0"/>
              <a:t> </a:t>
            </a:r>
            <a:r>
              <a:rPr lang="en-IN" dirty="0"/>
              <a:t>a</a:t>
            </a:r>
            <a:r>
              <a:rPr lang="en-IN" baseline="30000" dirty="0"/>
              <a:t>n/b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69615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692696"/>
            <a:ext cx="8229600" cy="1152128"/>
          </a:xfrm>
        </p:spPr>
        <p:txBody>
          <a:bodyPr>
            <a:normAutofit fontScale="90000"/>
          </a:bodyPr>
          <a:lstStyle/>
          <a:p>
            <a:pPr marL="0" indent="0"/>
            <a:r>
              <a:rPr lang="en-IN" dirty="0"/>
              <a:t>For Decreasing Recursive Functions</a:t>
            </a:r>
            <a:br>
              <a:rPr lang="en-IN" dirty="0"/>
            </a:br>
            <a:r>
              <a:rPr lang="en-IN" dirty="0">
                <a:highlight>
                  <a:srgbClr val="00FFFF"/>
                </a:highlight>
              </a:rPr>
              <a:t>T (n) = a T (n-b) +f(n)		[f(n)=0( </a:t>
            </a:r>
            <a:r>
              <a:rPr lang="en-IN" dirty="0" err="1">
                <a:highlight>
                  <a:srgbClr val="00FFFF"/>
                </a:highlight>
              </a:rPr>
              <a:t>n</a:t>
            </a:r>
            <a:r>
              <a:rPr lang="en-IN" baseline="30000" dirty="0" err="1">
                <a:highlight>
                  <a:srgbClr val="00FFFF"/>
                </a:highlight>
              </a:rPr>
              <a:t>k</a:t>
            </a:r>
            <a:r>
              <a:rPr lang="en-IN" dirty="0">
                <a:highlight>
                  <a:srgbClr val="00FFFF"/>
                </a:highlight>
              </a:rPr>
              <a:t>)]</a:t>
            </a:r>
            <a:br>
              <a:rPr lang="en-IN" dirty="0"/>
            </a:br>
            <a:r>
              <a:rPr lang="en-IN" sz="2700" dirty="0"/>
              <a:t>a ≥ 1, b ≥ 1,k&gt;=0 are constants and p is real number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844824"/>
            <a:ext cx="5112568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i="1" u="sng" dirty="0"/>
              <a:t>Defined on value of 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Case 1 :	a=1</a:t>
            </a:r>
          </a:p>
          <a:p>
            <a:pPr marL="0" indent="0">
              <a:buNone/>
            </a:pPr>
            <a:r>
              <a:rPr lang="en-IN" dirty="0"/>
              <a:t>T(n) = 0(f(n)*n)  = 0(n</a:t>
            </a:r>
            <a:r>
              <a:rPr lang="en-IN" baseline="30000" dirty="0"/>
              <a:t>k+1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Case 2: 	a&gt;1</a:t>
            </a:r>
          </a:p>
          <a:p>
            <a:pPr marL="0" indent="0">
              <a:buNone/>
            </a:pPr>
            <a:r>
              <a:rPr lang="en-IN" dirty="0"/>
              <a:t>T(n) = 0(f(n)*a</a:t>
            </a:r>
            <a:r>
              <a:rPr lang="en-IN" baseline="30000" dirty="0"/>
              <a:t>n/b</a:t>
            </a:r>
            <a:r>
              <a:rPr lang="en-IN" dirty="0"/>
              <a:t>)  = 0(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baseline="30000" dirty="0"/>
              <a:t> </a:t>
            </a:r>
            <a:r>
              <a:rPr lang="en-IN" dirty="0"/>
              <a:t>a</a:t>
            </a:r>
            <a:r>
              <a:rPr lang="en-IN" baseline="30000" dirty="0"/>
              <a:t>n/b</a:t>
            </a:r>
            <a:r>
              <a:rPr lang="en-IN" dirty="0"/>
              <a:t>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076056" y="2276872"/>
            <a:ext cx="3960440" cy="28803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T(n) 	= c + T(n-1)		=&gt; 0(n)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	= 1 + T(n-1)		=&gt; 0(n)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	= n + T(n-1)		=&gt; 0(n</a:t>
            </a:r>
            <a:r>
              <a:rPr lang="en-IN" sz="1400" baseline="30000" dirty="0">
                <a:highlight>
                  <a:srgbClr val="FFFF00"/>
                </a:highlight>
              </a:rPr>
              <a:t>2</a:t>
            </a:r>
            <a:r>
              <a:rPr lang="en-IN" sz="1400" dirty="0">
                <a:highlight>
                  <a:srgbClr val="FFFF00"/>
                </a:highlight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	= n</a:t>
            </a:r>
            <a:r>
              <a:rPr lang="en-IN" sz="1400" baseline="30000" dirty="0">
                <a:highlight>
                  <a:srgbClr val="FFFF00"/>
                </a:highlight>
              </a:rPr>
              <a:t>2</a:t>
            </a:r>
            <a:r>
              <a:rPr lang="en-IN" sz="1400" dirty="0">
                <a:highlight>
                  <a:srgbClr val="FFFF00"/>
                </a:highlight>
              </a:rPr>
              <a:t> + T(n-1)		=&gt; 0(n</a:t>
            </a:r>
            <a:r>
              <a:rPr lang="en-IN" sz="1400" baseline="30000" dirty="0">
                <a:highlight>
                  <a:srgbClr val="FFFF00"/>
                </a:highlight>
              </a:rPr>
              <a:t>3</a:t>
            </a:r>
            <a:r>
              <a:rPr lang="en-IN" sz="1400" dirty="0">
                <a:highlight>
                  <a:srgbClr val="FFFF00"/>
                </a:highlight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	= </a:t>
            </a:r>
            <a:r>
              <a:rPr lang="en-IN" sz="1400" dirty="0" err="1">
                <a:highlight>
                  <a:srgbClr val="FFFF00"/>
                </a:highlight>
              </a:rPr>
              <a:t>logn</a:t>
            </a:r>
            <a:r>
              <a:rPr lang="en-IN" sz="1400" dirty="0">
                <a:highlight>
                  <a:srgbClr val="FFFF00"/>
                </a:highlight>
              </a:rPr>
              <a:t> + T(n-1)	=&gt; 0(</a:t>
            </a:r>
            <a:r>
              <a:rPr lang="en-IN" sz="1400" dirty="0" err="1">
                <a:highlight>
                  <a:srgbClr val="FFFF00"/>
                </a:highlight>
              </a:rPr>
              <a:t>nlogn</a:t>
            </a:r>
            <a:r>
              <a:rPr lang="en-IN" sz="1400" dirty="0"/>
              <a:t>)</a:t>
            </a:r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T(n) 	= 2T(n-1) + c		=&gt; 0(2</a:t>
            </a:r>
            <a:r>
              <a:rPr lang="en-IN" sz="1400" baseline="30000" dirty="0">
                <a:highlight>
                  <a:srgbClr val="FFFF00"/>
                </a:highlight>
              </a:rPr>
              <a:t>n</a:t>
            </a:r>
            <a:r>
              <a:rPr lang="en-IN" sz="1400" dirty="0">
                <a:highlight>
                  <a:srgbClr val="FFFF00"/>
                </a:highlight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	= 3T(n-1) + 1		=&gt; 0(3</a:t>
            </a:r>
            <a:r>
              <a:rPr lang="en-IN" sz="1400" baseline="30000" dirty="0">
                <a:highlight>
                  <a:srgbClr val="FFFF00"/>
                </a:highlight>
              </a:rPr>
              <a:t>n</a:t>
            </a:r>
            <a:r>
              <a:rPr lang="en-IN" sz="1400" dirty="0">
                <a:highlight>
                  <a:srgbClr val="FFFF00"/>
                </a:highlight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	= 2T(n-1) + n	=&gt; 0(n2</a:t>
            </a:r>
            <a:r>
              <a:rPr lang="en-IN" sz="1400" baseline="30000" dirty="0">
                <a:highlight>
                  <a:srgbClr val="FFFF00"/>
                </a:highlight>
              </a:rPr>
              <a:t>n</a:t>
            </a:r>
            <a:r>
              <a:rPr lang="en-IN" sz="1400" dirty="0">
                <a:highlight>
                  <a:srgbClr val="FFFF00"/>
                </a:highlight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IN" sz="1400" dirty="0">
                <a:highlight>
                  <a:srgbClr val="FFFF00"/>
                </a:highlight>
              </a:rPr>
              <a:t>	= 2T(n-1) + log n	=&gt; 0(log n.2</a:t>
            </a:r>
            <a:r>
              <a:rPr lang="en-IN" sz="1400" baseline="30000" dirty="0">
                <a:highlight>
                  <a:srgbClr val="FFFF00"/>
                </a:highlight>
              </a:rPr>
              <a:t>n</a:t>
            </a:r>
            <a:r>
              <a:rPr lang="en-IN" sz="1400" dirty="0"/>
              <a:t>)</a:t>
            </a:r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  <a:p>
            <a:pPr marL="0" indent="0">
              <a:buFont typeface="Arial" pitchFamily="34" charset="0"/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82452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47260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dirty="0"/>
              <a:t>There are 3 cases:    [compare      </a:t>
            </a:r>
            <a:r>
              <a:rPr lang="en-IN" b="1" dirty="0"/>
              <a:t> </a:t>
            </a:r>
            <a:r>
              <a:rPr lang="en-IN" b="1" baseline="30000" dirty="0" err="1"/>
              <a:t>log</a:t>
            </a:r>
            <a:r>
              <a:rPr lang="en-IN" b="1" baseline="-8000" dirty="0" err="1"/>
              <a:t>b</a:t>
            </a:r>
            <a:r>
              <a:rPr lang="en-IN" b="1" baseline="30000" dirty="0" err="1"/>
              <a:t>a</a:t>
            </a:r>
            <a:r>
              <a:rPr lang="en-IN" b="1" baseline="30000" dirty="0"/>
              <a:t>  </a:t>
            </a:r>
            <a:r>
              <a:rPr lang="en-IN" b="1" dirty="0"/>
              <a:t>  </a:t>
            </a:r>
            <a:r>
              <a:rPr lang="en-IN" dirty="0"/>
              <a:t>and  k]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IN" dirty="0">
                <a:highlight>
                  <a:srgbClr val="FFFF00"/>
                </a:highlight>
              </a:rPr>
              <a:t>If  a&gt;</a:t>
            </a:r>
            <a:r>
              <a:rPr lang="en-IN" dirty="0" err="1">
                <a:highlight>
                  <a:srgbClr val="FFFF00"/>
                </a:highlight>
              </a:rPr>
              <a:t>b</a:t>
            </a:r>
            <a:r>
              <a:rPr lang="en-IN" baseline="30000" dirty="0" err="1">
                <a:highlight>
                  <a:srgbClr val="FFFF00"/>
                </a:highlight>
              </a:rPr>
              <a:t>k</a:t>
            </a:r>
            <a:r>
              <a:rPr lang="en-IN" baseline="30000" dirty="0">
                <a:highlight>
                  <a:srgbClr val="FFFF00"/>
                </a:highlight>
              </a:rPr>
              <a:t>  </a:t>
            </a:r>
            <a:endParaRPr lang="en-IN" dirty="0">
              <a:highlight>
                <a:srgbClr val="FFFF00"/>
              </a:highlight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dirty="0"/>
              <a:t>		then 	T (n) = </a:t>
            </a:r>
            <a:r>
              <a:rPr lang="el-GR" dirty="0"/>
              <a:t>Θ(</a:t>
            </a:r>
            <a:r>
              <a:rPr lang="en-IN" dirty="0"/>
              <a:t>n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30000" dirty="0" err="1"/>
              <a:t>a</a:t>
            </a:r>
            <a:r>
              <a:rPr lang="en-IN" baseline="30000" dirty="0"/>
              <a:t> </a:t>
            </a:r>
            <a:r>
              <a:rPr lang="en-IN" dirty="0"/>
              <a:t>).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dirty="0"/>
              <a:t>2. </a:t>
            </a:r>
            <a:r>
              <a:rPr lang="en-IN" dirty="0">
                <a:highlight>
                  <a:srgbClr val="FFFF00"/>
                </a:highlight>
              </a:rPr>
              <a:t>If a=</a:t>
            </a:r>
            <a:r>
              <a:rPr lang="en-IN" dirty="0" err="1">
                <a:highlight>
                  <a:srgbClr val="FFFF00"/>
                </a:highlight>
              </a:rPr>
              <a:t>b</a:t>
            </a:r>
            <a:r>
              <a:rPr lang="en-IN" baseline="30000" dirty="0" err="1">
                <a:highlight>
                  <a:srgbClr val="FFFF00"/>
                </a:highlight>
              </a:rPr>
              <a:t>k</a:t>
            </a:r>
            <a:r>
              <a:rPr lang="en-IN" baseline="30000" dirty="0">
                <a:highlight>
                  <a:srgbClr val="FFFF00"/>
                </a:highlight>
              </a:rPr>
              <a:t> 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lphaLcParenR"/>
            </a:pPr>
            <a:r>
              <a:rPr lang="en-IN" dirty="0"/>
              <a:t>If p&gt; -1 	then 	T(n)= </a:t>
            </a:r>
            <a:r>
              <a:rPr lang="el-GR" dirty="0"/>
              <a:t>Θ(</a:t>
            </a:r>
            <a:r>
              <a:rPr lang="en-IN" dirty="0"/>
              <a:t>n</a:t>
            </a:r>
            <a:r>
              <a:rPr lang="en-IN" baseline="30000" dirty="0"/>
              <a:t>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30000" dirty="0" err="1"/>
              <a:t>a</a:t>
            </a:r>
            <a:r>
              <a:rPr lang="en-IN" baseline="30000" dirty="0"/>
              <a:t> </a:t>
            </a:r>
            <a:r>
              <a:rPr lang="en-IN" dirty="0"/>
              <a:t>log</a:t>
            </a:r>
            <a:r>
              <a:rPr lang="en-IN" baseline="30000" dirty="0"/>
              <a:t>p+1</a:t>
            </a:r>
            <a:r>
              <a:rPr lang="en-IN" dirty="0"/>
              <a:t> n)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Arial" pitchFamily="34" charset="0"/>
              <a:buAutoNum type="alphaLcParenR"/>
            </a:pPr>
            <a:r>
              <a:rPr lang="en-IN" dirty="0"/>
              <a:t>If p= -1 	then 	T(n)= </a:t>
            </a:r>
            <a:r>
              <a:rPr lang="el-GR" dirty="0"/>
              <a:t>Θ(</a:t>
            </a:r>
            <a:r>
              <a:rPr lang="en-IN" dirty="0"/>
              <a:t>n</a:t>
            </a:r>
            <a:r>
              <a:rPr lang="en-IN" baseline="30000" dirty="0"/>
              <a:t>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30000" dirty="0" err="1"/>
              <a:t>a</a:t>
            </a:r>
            <a:r>
              <a:rPr lang="en-IN" baseline="30000" dirty="0"/>
              <a:t>  </a:t>
            </a:r>
            <a:r>
              <a:rPr lang="en-IN" dirty="0"/>
              <a:t>log </a:t>
            </a:r>
            <a:r>
              <a:rPr lang="en-IN" dirty="0" err="1"/>
              <a:t>log</a:t>
            </a:r>
            <a:r>
              <a:rPr lang="en-IN" dirty="0"/>
              <a:t> n)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Arial" pitchFamily="34" charset="0"/>
              <a:buAutoNum type="alphaLcParenR"/>
            </a:pPr>
            <a:r>
              <a:rPr lang="en-IN" dirty="0"/>
              <a:t>If p&lt; -1 	then 	T(n)= </a:t>
            </a:r>
            <a:r>
              <a:rPr lang="el-GR" dirty="0"/>
              <a:t>Θ(</a:t>
            </a:r>
            <a:r>
              <a:rPr lang="en-IN" dirty="0"/>
              <a:t>n</a:t>
            </a:r>
            <a:r>
              <a:rPr lang="en-IN" baseline="30000" dirty="0"/>
              <a:t>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30000" dirty="0" err="1"/>
              <a:t>a</a:t>
            </a:r>
            <a:r>
              <a:rPr lang="en-IN" dirty="0"/>
              <a:t>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Arial" pitchFamily="34" charset="0"/>
              <a:buAutoNum type="alphaLcParenR"/>
            </a:pPr>
            <a:endParaRPr lang="en-IN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dirty="0"/>
              <a:t>3. </a:t>
            </a:r>
            <a:r>
              <a:rPr lang="en-IN" dirty="0">
                <a:highlight>
                  <a:srgbClr val="FFFF00"/>
                </a:highlight>
              </a:rPr>
              <a:t>If a&lt;</a:t>
            </a:r>
            <a:r>
              <a:rPr lang="en-IN" dirty="0" err="1">
                <a:highlight>
                  <a:srgbClr val="FFFF00"/>
                </a:highlight>
              </a:rPr>
              <a:t>b</a:t>
            </a:r>
            <a:r>
              <a:rPr lang="en-IN" baseline="30000" dirty="0" err="1">
                <a:highlight>
                  <a:srgbClr val="FFFF00"/>
                </a:highlight>
              </a:rPr>
              <a:t>k</a:t>
            </a:r>
            <a:endParaRPr lang="en-IN" baseline="30000" dirty="0">
              <a:highlight>
                <a:srgbClr val="FFFF00"/>
              </a:highlight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lphaLcParenR"/>
            </a:pPr>
            <a:r>
              <a:rPr lang="en-IN" dirty="0"/>
              <a:t>If p&gt;= 0  then T(n)= </a:t>
            </a:r>
            <a:r>
              <a:rPr lang="el-GR" dirty="0"/>
              <a:t>Θ(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baseline="30000" dirty="0"/>
              <a:t>  </a:t>
            </a:r>
            <a:r>
              <a:rPr lang="en-IN" dirty="0" err="1"/>
              <a:t>log</a:t>
            </a:r>
            <a:r>
              <a:rPr lang="en-IN" baseline="30000" dirty="0" err="1"/>
              <a:t>p</a:t>
            </a:r>
            <a:r>
              <a:rPr lang="en-IN" dirty="0"/>
              <a:t> n)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Arial" pitchFamily="34" charset="0"/>
              <a:buAutoNum type="alphaLcParenR"/>
            </a:pPr>
            <a:r>
              <a:rPr lang="en-IN" dirty="0"/>
              <a:t>a) If p&lt; 0  then T(n)= </a:t>
            </a:r>
            <a:r>
              <a:rPr lang="el-GR" dirty="0"/>
              <a:t>Θ(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baseline="30000" dirty="0"/>
              <a:t> </a:t>
            </a:r>
            <a:r>
              <a:rPr lang="en-IN" dirty="0"/>
              <a:t>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lphaLcParenR"/>
            </a:pPr>
            <a:endParaRPr lang="en-IN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82047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The Master Theorem applies to recurrences of the following form: </a:t>
            </a:r>
          </a:p>
          <a:p>
            <a:pPr algn="ctr"/>
            <a:r>
              <a:rPr lang="en-IN" sz="2800" b="1" dirty="0">
                <a:highlight>
                  <a:srgbClr val="00FFFF"/>
                </a:highlight>
              </a:rPr>
              <a:t>T (n) = a T (n/b) +</a:t>
            </a:r>
            <a:r>
              <a:rPr lang="el-GR" sz="2800" b="1" dirty="0">
                <a:highlight>
                  <a:srgbClr val="00FFFF"/>
                </a:highlight>
              </a:rPr>
              <a:t>ϴ</a:t>
            </a:r>
            <a:r>
              <a:rPr lang="en-IN" sz="2800" b="1" dirty="0">
                <a:highlight>
                  <a:srgbClr val="00FFFF"/>
                </a:highlight>
              </a:rPr>
              <a:t>( </a:t>
            </a:r>
            <a:r>
              <a:rPr lang="en-IN" sz="2800" b="1" dirty="0" err="1">
                <a:highlight>
                  <a:srgbClr val="00FFFF"/>
                </a:highlight>
              </a:rPr>
              <a:t>n</a:t>
            </a:r>
            <a:r>
              <a:rPr lang="en-IN" sz="2800" b="1" baseline="30000" dirty="0" err="1">
                <a:highlight>
                  <a:srgbClr val="00FFFF"/>
                </a:highlight>
              </a:rPr>
              <a:t>k</a:t>
            </a:r>
            <a:r>
              <a:rPr lang="en-IN" sz="2800" b="1" dirty="0" err="1">
                <a:highlight>
                  <a:srgbClr val="00FFFF"/>
                </a:highlight>
              </a:rPr>
              <a:t>log</a:t>
            </a:r>
            <a:r>
              <a:rPr lang="en-IN" sz="2800" b="1" baseline="30000" dirty="0" err="1">
                <a:highlight>
                  <a:srgbClr val="00FFFF"/>
                </a:highlight>
              </a:rPr>
              <a:t>p</a:t>
            </a:r>
            <a:r>
              <a:rPr lang="en-IN" sz="2800" b="1" dirty="0" err="1">
                <a:highlight>
                  <a:srgbClr val="00FFFF"/>
                </a:highlight>
              </a:rPr>
              <a:t>n</a:t>
            </a:r>
            <a:r>
              <a:rPr lang="en-IN" sz="2800" b="1" dirty="0">
                <a:highlight>
                  <a:srgbClr val="00FFFF"/>
                </a:highlight>
              </a:rPr>
              <a:t>)</a:t>
            </a:r>
          </a:p>
          <a:p>
            <a:r>
              <a:rPr lang="en-IN" dirty="0"/>
              <a:t>a ≥ 1, b &gt; 1,k&gt;=0 are constants and p is real number</a:t>
            </a:r>
          </a:p>
        </p:txBody>
      </p:sp>
    </p:spTree>
    <p:extLst>
      <p:ext uri="{BB962C8B-B14F-4D97-AF65-F5344CB8AC3E}">
        <p14:creationId xmlns:p14="http://schemas.microsoft.com/office/powerpoint/2010/main" val="133154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339752" y="160041"/>
            <a:ext cx="5040560" cy="2692895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b="1" dirty="0"/>
              <a:t>T (n) = a T (n/b) +</a:t>
            </a:r>
            <a:r>
              <a:rPr lang="el-GR" b="1" dirty="0"/>
              <a:t>ϴ</a:t>
            </a:r>
            <a:r>
              <a:rPr lang="en-IN" b="1" dirty="0"/>
              <a:t>( </a:t>
            </a:r>
            <a:r>
              <a:rPr lang="en-IN" b="1" dirty="0" err="1"/>
              <a:t>n</a:t>
            </a:r>
            <a:r>
              <a:rPr lang="en-IN" b="1" baseline="30000" dirty="0" err="1"/>
              <a:t>k</a:t>
            </a:r>
            <a:r>
              <a:rPr lang="en-IN" b="1" dirty="0" err="1"/>
              <a:t>log</a:t>
            </a:r>
            <a:r>
              <a:rPr lang="en-IN" b="1" baseline="30000" dirty="0" err="1"/>
              <a:t>p</a:t>
            </a:r>
            <a:r>
              <a:rPr lang="en-IN" b="1" dirty="0" err="1"/>
              <a:t>n</a:t>
            </a:r>
            <a:r>
              <a:rPr lang="en-IN" b="1" dirty="0"/>
              <a:t>)  </a:t>
            </a:r>
            <a:r>
              <a:rPr lang="en-IN" dirty="0"/>
              <a:t>[compare      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-8000" dirty="0"/>
              <a:t> </a:t>
            </a:r>
            <a:r>
              <a:rPr lang="en-IN" baseline="30000" dirty="0"/>
              <a:t>a  </a:t>
            </a:r>
            <a:r>
              <a:rPr lang="en-IN" dirty="0"/>
              <a:t>  and  k]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rabicPeriod"/>
            </a:pPr>
            <a:r>
              <a:rPr lang="en-IN" dirty="0"/>
              <a:t>If  a&gt;</a:t>
            </a:r>
            <a:r>
              <a:rPr lang="en-IN" dirty="0" err="1"/>
              <a:t>b</a:t>
            </a:r>
            <a:r>
              <a:rPr lang="en-IN" baseline="30000" dirty="0" err="1"/>
              <a:t>k</a:t>
            </a:r>
            <a:r>
              <a:rPr lang="en-IN" baseline="30000" dirty="0"/>
              <a:t>  </a:t>
            </a:r>
            <a:endParaRPr lang="en-IN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dirty="0"/>
              <a:t>		then 	T (n) = </a:t>
            </a:r>
            <a:r>
              <a:rPr lang="el-GR" dirty="0"/>
              <a:t>Θ(</a:t>
            </a:r>
            <a:r>
              <a:rPr lang="en-IN" dirty="0"/>
              <a:t>n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-8000" dirty="0"/>
              <a:t> </a:t>
            </a:r>
            <a:r>
              <a:rPr lang="en-IN" baseline="30000" dirty="0"/>
              <a:t>a </a:t>
            </a:r>
            <a:r>
              <a:rPr lang="en-IN" dirty="0"/>
              <a:t>).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dirty="0"/>
              <a:t>2. If a=</a:t>
            </a:r>
            <a:r>
              <a:rPr lang="en-IN" dirty="0" err="1"/>
              <a:t>b</a:t>
            </a:r>
            <a:r>
              <a:rPr lang="en-IN" baseline="30000" dirty="0" err="1"/>
              <a:t>k</a:t>
            </a:r>
            <a:r>
              <a:rPr lang="en-IN" baseline="30000" dirty="0"/>
              <a:t> 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lphaLcParenR"/>
            </a:pPr>
            <a:r>
              <a:rPr lang="en-IN" dirty="0"/>
              <a:t>If p&gt; -1 	then 	T(n)= </a:t>
            </a:r>
            <a:r>
              <a:rPr lang="el-GR" dirty="0"/>
              <a:t>Θ(</a:t>
            </a:r>
            <a:r>
              <a:rPr lang="en-IN" dirty="0"/>
              <a:t>n</a:t>
            </a:r>
            <a:r>
              <a:rPr lang="en-IN" baseline="30000" dirty="0"/>
              <a:t>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-8000" dirty="0"/>
              <a:t> </a:t>
            </a:r>
            <a:r>
              <a:rPr lang="en-IN" baseline="30000" dirty="0"/>
              <a:t>a </a:t>
            </a:r>
            <a:r>
              <a:rPr lang="en-IN" dirty="0"/>
              <a:t>log</a:t>
            </a:r>
            <a:r>
              <a:rPr lang="en-IN" baseline="30000" dirty="0"/>
              <a:t>p+1</a:t>
            </a:r>
            <a:r>
              <a:rPr lang="en-IN" dirty="0"/>
              <a:t> n)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Arial" pitchFamily="34" charset="0"/>
              <a:buAutoNum type="alphaLcParenR"/>
            </a:pPr>
            <a:r>
              <a:rPr lang="en-IN" dirty="0"/>
              <a:t>If p= -1 	then 	T(n)= </a:t>
            </a:r>
            <a:r>
              <a:rPr lang="el-GR" dirty="0"/>
              <a:t>Θ(</a:t>
            </a:r>
            <a:r>
              <a:rPr lang="en-IN" dirty="0"/>
              <a:t>n</a:t>
            </a:r>
            <a:r>
              <a:rPr lang="en-IN" baseline="30000" dirty="0"/>
              <a:t>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-8000" dirty="0"/>
              <a:t> </a:t>
            </a:r>
            <a:r>
              <a:rPr lang="en-IN" baseline="30000" dirty="0"/>
              <a:t>a  </a:t>
            </a:r>
            <a:r>
              <a:rPr lang="en-IN" dirty="0"/>
              <a:t>log </a:t>
            </a:r>
            <a:r>
              <a:rPr lang="en-IN" dirty="0" err="1"/>
              <a:t>log</a:t>
            </a:r>
            <a:r>
              <a:rPr lang="en-IN" dirty="0"/>
              <a:t> n)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Arial" pitchFamily="34" charset="0"/>
              <a:buAutoNum type="alphaLcParenR"/>
            </a:pPr>
            <a:r>
              <a:rPr lang="en-IN" dirty="0"/>
              <a:t>If p&lt; -1 	then 	T(n)= </a:t>
            </a:r>
            <a:r>
              <a:rPr lang="el-GR" dirty="0"/>
              <a:t>Θ(</a:t>
            </a:r>
            <a:r>
              <a:rPr lang="en-IN" dirty="0"/>
              <a:t>n</a:t>
            </a:r>
            <a:r>
              <a:rPr lang="en-IN" baseline="30000" dirty="0"/>
              <a:t> </a:t>
            </a:r>
            <a:r>
              <a:rPr lang="en-IN" baseline="30000" dirty="0" err="1"/>
              <a:t>log</a:t>
            </a:r>
            <a:r>
              <a:rPr lang="en-IN" baseline="-8000" dirty="0" err="1"/>
              <a:t>b</a:t>
            </a:r>
            <a:r>
              <a:rPr lang="en-IN" baseline="-8000" dirty="0"/>
              <a:t> </a:t>
            </a:r>
            <a:r>
              <a:rPr lang="en-IN" baseline="30000" dirty="0"/>
              <a:t>a</a:t>
            </a:r>
            <a:r>
              <a:rPr lang="en-IN" dirty="0"/>
              <a:t>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Arial" pitchFamily="34" charset="0"/>
              <a:buAutoNum type="alphaLcParenR"/>
            </a:pPr>
            <a:endParaRPr lang="en-IN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IN" dirty="0"/>
              <a:t>3. If a&lt;</a:t>
            </a:r>
            <a:r>
              <a:rPr lang="en-IN" dirty="0" err="1"/>
              <a:t>b</a:t>
            </a:r>
            <a:r>
              <a:rPr lang="en-IN" baseline="30000" dirty="0" err="1"/>
              <a:t>k</a:t>
            </a:r>
            <a:endParaRPr lang="en-IN" baseline="3000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lphaLcParenR"/>
            </a:pPr>
            <a:r>
              <a:rPr lang="en-IN" dirty="0"/>
              <a:t>If p&gt;= 0  then T(n)= </a:t>
            </a:r>
            <a:r>
              <a:rPr lang="el-GR" dirty="0"/>
              <a:t>Θ(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baseline="30000" dirty="0"/>
              <a:t>  </a:t>
            </a:r>
            <a:r>
              <a:rPr lang="en-IN" dirty="0" err="1"/>
              <a:t>log</a:t>
            </a:r>
            <a:r>
              <a:rPr lang="en-IN" baseline="30000" dirty="0" err="1"/>
              <a:t>p</a:t>
            </a:r>
            <a:r>
              <a:rPr lang="en-IN" dirty="0"/>
              <a:t> n)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Arial" pitchFamily="34" charset="0"/>
              <a:buAutoNum type="alphaLcParenR"/>
            </a:pPr>
            <a:r>
              <a:rPr lang="en-IN" dirty="0"/>
              <a:t>a) If p&lt; 0  then T(n)= </a:t>
            </a:r>
            <a:r>
              <a:rPr lang="el-GR" dirty="0"/>
              <a:t>Θ(</a:t>
            </a:r>
            <a:r>
              <a:rPr lang="en-IN" dirty="0" err="1"/>
              <a:t>n</a:t>
            </a:r>
            <a:r>
              <a:rPr lang="en-IN" baseline="30000" dirty="0" err="1"/>
              <a:t>k</a:t>
            </a:r>
            <a:r>
              <a:rPr lang="en-IN" baseline="30000" dirty="0"/>
              <a:t> </a:t>
            </a:r>
            <a:r>
              <a:rPr lang="en-IN" dirty="0"/>
              <a:t>)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AutoNum type="alphaLcParenR"/>
            </a:pPr>
            <a:endParaRPr lang="en-IN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179512" y="2771050"/>
            <a:ext cx="81369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4 T (n/2) + n</a:t>
            </a:r>
            <a:r>
              <a:rPr lang="en-US" baseline="30000" dirty="0"/>
              <a:t>2</a:t>
            </a:r>
            <a:r>
              <a:rPr lang="en-US" dirty="0"/>
              <a:t>      			[a=4, b=2, k=2, p=0]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T (n/2) + n</a:t>
            </a:r>
            <a:r>
              <a:rPr lang="en-US" baseline="30000" dirty="0"/>
              <a:t>2			</a:t>
            </a:r>
            <a:r>
              <a:rPr lang="en-US" dirty="0"/>
              <a:t>[a=1, b=2, k=2, p=0]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2</a:t>
            </a:r>
            <a:r>
              <a:rPr lang="en-US" baseline="30000" dirty="0"/>
              <a:t>n</a:t>
            </a:r>
            <a:r>
              <a:rPr lang="en-US" dirty="0"/>
              <a:t> T (n/2) + </a:t>
            </a:r>
            <a:r>
              <a:rPr lang="en-US" dirty="0" err="1"/>
              <a:t>n</a:t>
            </a:r>
            <a:r>
              <a:rPr lang="en-US" baseline="30000" dirty="0" err="1"/>
              <a:t>n</a:t>
            </a:r>
            <a:r>
              <a:rPr lang="en-US" baseline="30000" dirty="0"/>
              <a:t>			</a:t>
            </a:r>
            <a:r>
              <a:rPr lang="en-US" dirty="0"/>
              <a:t>[Not applicable]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14 T (n/4) + n			[a=14, b=4, k=1, p=0]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2 T (n/2) + n</a:t>
            </a:r>
            <a:r>
              <a:rPr lang="en-US" baseline="30000" dirty="0"/>
              <a:t> </a:t>
            </a:r>
            <a:r>
              <a:rPr lang="en-US" dirty="0"/>
              <a:t>log n			[a=2, b=2, k=1, p=1]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2 T (n/2) + n</a:t>
            </a:r>
            <a:r>
              <a:rPr lang="en-US" baseline="30000" dirty="0"/>
              <a:t> </a:t>
            </a:r>
            <a:r>
              <a:rPr lang="en-US" dirty="0"/>
              <a:t>/ log n			[a=2, b=2, k=1, p=-1]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2 T (n/4) + n</a:t>
            </a:r>
            <a:r>
              <a:rPr lang="en-US" baseline="30000" dirty="0"/>
              <a:t>0.51			</a:t>
            </a:r>
            <a:r>
              <a:rPr lang="en-US" dirty="0"/>
              <a:t>[a=2, b=4, k=0.51, p=0]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0.5 T (n/2) + 1/n			[a=0.5, b=2, k=-1, p=0]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6 T (n/3) + n</a:t>
            </a:r>
            <a:r>
              <a:rPr lang="en-US" baseline="30000" dirty="0"/>
              <a:t>2  </a:t>
            </a:r>
            <a:r>
              <a:rPr lang="en-US" dirty="0"/>
              <a:t>log n			[a=6, b=3, k=2, p=1]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64 T (n/8) - n</a:t>
            </a:r>
            <a:r>
              <a:rPr lang="en-US" baseline="30000" dirty="0"/>
              <a:t>2 </a:t>
            </a:r>
            <a:r>
              <a:rPr lang="en-US" dirty="0"/>
              <a:t>log n			[a=64, b=8, k=2, p=1]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7 T (n/3) + n</a:t>
            </a:r>
            <a:r>
              <a:rPr lang="en-US" baseline="30000" dirty="0"/>
              <a:t>2 			</a:t>
            </a:r>
            <a:r>
              <a:rPr lang="en-US" dirty="0"/>
              <a:t>[a=7, b=3, k=2, p=0]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4 T (n/2) +</a:t>
            </a:r>
            <a:r>
              <a:rPr lang="en-US" baseline="30000" dirty="0"/>
              <a:t> </a:t>
            </a:r>
            <a:r>
              <a:rPr lang="en-US" dirty="0"/>
              <a:t>log n			[a=4, b=2, k=0, p=1]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2</a:t>
            </a:r>
            <a:r>
              <a:rPr lang="en-US" baseline="30000" dirty="0"/>
              <a:t>1/2 </a:t>
            </a:r>
            <a:r>
              <a:rPr lang="en-US" dirty="0"/>
              <a:t>T (n/2) + n</a:t>
            </a:r>
            <a:r>
              <a:rPr lang="en-US" baseline="30000" dirty="0"/>
              <a:t>2    </a:t>
            </a:r>
            <a:r>
              <a:rPr lang="en-US" dirty="0"/>
              <a:t>log n		[a=2</a:t>
            </a:r>
            <a:r>
              <a:rPr lang="en-US" baseline="30000" dirty="0"/>
              <a:t>1/2</a:t>
            </a:r>
            <a:r>
              <a:rPr lang="en-US" dirty="0"/>
              <a:t>, b=2, k=2, p=1]</a:t>
            </a:r>
            <a:endParaRPr lang="en-IN" dirty="0"/>
          </a:p>
          <a:p>
            <a:pPr marL="342900" lvl="0" indent="-342900">
              <a:buFont typeface="+mj-lt"/>
              <a:buAutoNum type="arabicParenR"/>
            </a:pPr>
            <a:r>
              <a:rPr lang="en-US" dirty="0"/>
              <a:t>T(n)= 2 T (n/2) + n</a:t>
            </a:r>
            <a:r>
              <a:rPr lang="en-US" baseline="30000" dirty="0"/>
              <a:t>1/2    			</a:t>
            </a:r>
            <a:r>
              <a:rPr lang="en-US" dirty="0"/>
              <a:t>[a=2, b=2, k=1/2, p=0]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39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EF65C-905E-F208-BEF4-6C6B8FF8E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772816"/>
            <a:ext cx="8229600" cy="4525963"/>
          </a:xfrm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Masters Theorem</a:t>
            </a:r>
            <a:endParaRPr lang="en-IN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1800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https://youtu.be/d7WLeosewi8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69836-E5D2-948A-1C40-2EF512DAB884}"/>
              </a:ext>
            </a:extLst>
          </p:cNvPr>
          <p:cNvSpPr txBox="1"/>
          <p:nvPr/>
        </p:nvSpPr>
        <p:spPr>
          <a:xfrm>
            <a:off x="827584" y="744451"/>
            <a:ext cx="6336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Tx/>
              <a:buNone/>
              <a:defRPr/>
            </a:pPr>
            <a:r>
              <a:rPr lang="en-US" sz="2400" dirty="0"/>
              <a:t>Video Lecture of the topic can be found at</a:t>
            </a:r>
          </a:p>
        </p:txBody>
      </p:sp>
    </p:spTree>
    <p:extLst>
      <p:ext uri="{BB962C8B-B14F-4D97-AF65-F5344CB8AC3E}">
        <p14:creationId xmlns:p14="http://schemas.microsoft.com/office/powerpoint/2010/main" val="2141564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1299</Words>
  <Application>Microsoft Office PowerPoint</Application>
  <PresentationFormat>On-screen Show (4:3)</PresentationFormat>
  <Paragraphs>89</Paragraphs>
  <Slides>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Rockwell</vt:lpstr>
      <vt:lpstr>Office Theme</vt:lpstr>
      <vt:lpstr>Master’s Theorem</vt:lpstr>
      <vt:lpstr>PowerPoint Presentation</vt:lpstr>
      <vt:lpstr>For Decreasing Recursive Functions T (n) = a T (n-b) +f(n)  [f(n)=0( nk)] a ≥ 1, b ≥ 1,k&gt;=0 are constants and p is real number </vt:lpstr>
      <vt:lpstr>For Decreasing Recursive Functions T (n) = a T (n-b) +f(n)  [f(n)=0( nk)] a ≥ 1, b ≥ 1,k&gt;=0 are constants and p is real number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Master’s Theorem</dc:title>
  <dc:creator>ASHISH SETH</dc:creator>
  <cp:lastModifiedBy>ASHISH SETH</cp:lastModifiedBy>
  <cp:revision>23</cp:revision>
  <dcterms:created xsi:type="dcterms:W3CDTF">2016-09-20T08:01:30Z</dcterms:created>
  <dcterms:modified xsi:type="dcterms:W3CDTF">2026-09-20T18:41:14Z</dcterms:modified>
</cp:coreProperties>
</file>