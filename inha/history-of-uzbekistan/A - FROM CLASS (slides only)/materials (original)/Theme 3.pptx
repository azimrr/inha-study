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8"/>
  </p:notesMasterIdLst>
  <p:sldIdLst>
    <p:sldId id="257" r:id="rId2"/>
    <p:sldId id="258" r:id="rId3"/>
    <p:sldId id="281" r:id="rId4"/>
    <p:sldId id="264" r:id="rId5"/>
    <p:sldId id="260" r:id="rId6"/>
    <p:sldId id="263" r:id="rId7"/>
    <p:sldId id="265" r:id="rId8"/>
    <p:sldId id="272" r:id="rId9"/>
    <p:sldId id="278" r:id="rId10"/>
    <p:sldId id="273" r:id="rId11"/>
    <p:sldId id="274" r:id="rId12"/>
    <p:sldId id="275" r:id="rId13"/>
    <p:sldId id="276" r:id="rId14"/>
    <p:sldId id="279" r:id="rId15"/>
    <p:sldId id="28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B506352-A10D-4DF3-88CC-3AD4DFCED331}">
          <p14:sldIdLst>
            <p14:sldId id="257"/>
            <p14:sldId id="258"/>
            <p14:sldId id="281"/>
            <p14:sldId id="264"/>
            <p14:sldId id="260"/>
            <p14:sldId id="263"/>
            <p14:sldId id="265"/>
            <p14:sldId id="272"/>
            <p14:sldId id="278"/>
            <p14:sldId id="273"/>
            <p14:sldId id="274"/>
            <p14:sldId id="275"/>
            <p14:sldId id="276"/>
            <p14:sldId id="279"/>
            <p14:sldId id="280"/>
            <p14:sldId id="27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63" autoAdjust="0"/>
    <p:restoredTop sz="94660" autoAdjust="0"/>
  </p:normalViewPr>
  <p:slideViewPr>
    <p:cSldViewPr snapToGrid="0">
      <p:cViewPr varScale="1">
        <p:scale>
          <a:sx n="58" d="100"/>
          <a:sy n="58" d="100"/>
        </p:scale>
        <p:origin x="216" y="135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6" d="100"/>
          <a:sy n="56" d="100"/>
        </p:scale>
        <p:origin x="285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F38152-CAFE-450F-9B71-DE68540C3DC1}"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72B4AD91-9453-457F-9187-49B702F65223}">
      <dgm:prSet/>
      <dgm:spPr/>
      <dgm:t>
        <a:bodyPr/>
        <a:lstStyle/>
        <a:p>
          <a:r>
            <a:rPr lang="en-US"/>
            <a:t>Principles and Main Branches of Islam</a:t>
          </a:r>
        </a:p>
      </dgm:t>
    </dgm:pt>
    <dgm:pt modelId="{E040B0C2-635A-490D-BD18-028FCDF50EF8}" type="parTrans" cxnId="{7BB3A992-F127-45B4-8C0F-6EDEAD87D34D}">
      <dgm:prSet/>
      <dgm:spPr/>
      <dgm:t>
        <a:bodyPr/>
        <a:lstStyle/>
        <a:p>
          <a:endParaRPr lang="en-US"/>
        </a:p>
      </dgm:t>
    </dgm:pt>
    <dgm:pt modelId="{8C68DD99-33AC-428F-AA5F-427FD0F5BAD9}" type="sibTrans" cxnId="{7BB3A992-F127-45B4-8C0F-6EDEAD87D34D}">
      <dgm:prSet/>
      <dgm:spPr/>
      <dgm:t>
        <a:bodyPr/>
        <a:lstStyle/>
        <a:p>
          <a:endParaRPr lang="en-US"/>
        </a:p>
      </dgm:t>
    </dgm:pt>
    <dgm:pt modelId="{5FE54175-949E-4A36-8829-72AEEA0FFF27}">
      <dgm:prSet/>
      <dgm:spPr/>
      <dgm:t>
        <a:bodyPr/>
        <a:lstStyle/>
        <a:p>
          <a:r>
            <a:rPr lang="en-US"/>
            <a:t>Arab Invasion of Central Asia</a:t>
          </a:r>
        </a:p>
      </dgm:t>
    </dgm:pt>
    <dgm:pt modelId="{D7C129BD-F3B3-4BFB-B048-AC7F2EB1820D}" type="parTrans" cxnId="{6219DB68-DCBE-4E4C-B0C5-3C532DE9D73C}">
      <dgm:prSet/>
      <dgm:spPr/>
      <dgm:t>
        <a:bodyPr/>
        <a:lstStyle/>
        <a:p>
          <a:endParaRPr lang="en-US"/>
        </a:p>
      </dgm:t>
    </dgm:pt>
    <dgm:pt modelId="{FE20F221-B81A-4726-8974-0E4D591C3FF7}" type="sibTrans" cxnId="{6219DB68-DCBE-4E4C-B0C5-3C532DE9D73C}">
      <dgm:prSet/>
      <dgm:spPr/>
      <dgm:t>
        <a:bodyPr/>
        <a:lstStyle/>
        <a:p>
          <a:endParaRPr lang="en-US"/>
        </a:p>
      </dgm:t>
    </dgm:pt>
    <dgm:pt modelId="{C968C46E-1C0F-42DA-B5A4-3DDBBCC9B439}">
      <dgm:prSet/>
      <dgm:spPr/>
      <dgm:t>
        <a:bodyPr/>
        <a:lstStyle/>
        <a:p>
          <a:r>
            <a:rPr lang="en-US"/>
            <a:t>Sufism</a:t>
          </a:r>
        </a:p>
      </dgm:t>
    </dgm:pt>
    <dgm:pt modelId="{70027EBB-C98D-4D79-B3BE-6C479C382A62}" type="parTrans" cxnId="{3B9DB6B0-096F-42E2-93A0-0228F6B101A4}">
      <dgm:prSet/>
      <dgm:spPr/>
      <dgm:t>
        <a:bodyPr/>
        <a:lstStyle/>
        <a:p>
          <a:endParaRPr lang="en-US"/>
        </a:p>
      </dgm:t>
    </dgm:pt>
    <dgm:pt modelId="{92C32334-6689-4F33-8303-EE37BE569873}" type="sibTrans" cxnId="{3B9DB6B0-096F-42E2-93A0-0228F6B101A4}">
      <dgm:prSet/>
      <dgm:spPr/>
      <dgm:t>
        <a:bodyPr/>
        <a:lstStyle/>
        <a:p>
          <a:endParaRPr lang="en-US"/>
        </a:p>
      </dgm:t>
    </dgm:pt>
    <dgm:pt modelId="{568B0CB9-2A55-4A40-9F70-86CD06D7A10A}">
      <dgm:prSet/>
      <dgm:spPr/>
      <dgm:t>
        <a:bodyPr/>
        <a:lstStyle/>
        <a:p>
          <a:r>
            <a:rPr lang="en-US"/>
            <a:t>Scholars of Middle Ages and Their Role in Development of Sciences</a:t>
          </a:r>
        </a:p>
      </dgm:t>
    </dgm:pt>
    <dgm:pt modelId="{0EF657EC-A7AD-4C3C-B91F-7EE2EB4E0759}" type="parTrans" cxnId="{E4614071-F24C-4FBE-81C7-DCD653606015}">
      <dgm:prSet/>
      <dgm:spPr/>
      <dgm:t>
        <a:bodyPr/>
        <a:lstStyle/>
        <a:p>
          <a:endParaRPr lang="en-US"/>
        </a:p>
      </dgm:t>
    </dgm:pt>
    <dgm:pt modelId="{F4D040E5-8B54-4EED-B965-A23DAF07F7FD}" type="sibTrans" cxnId="{E4614071-F24C-4FBE-81C7-DCD653606015}">
      <dgm:prSet/>
      <dgm:spPr/>
      <dgm:t>
        <a:bodyPr/>
        <a:lstStyle/>
        <a:p>
          <a:endParaRPr lang="en-US"/>
        </a:p>
      </dgm:t>
    </dgm:pt>
    <dgm:pt modelId="{41DDA2DC-AAEB-B143-9BE4-9F59D9F8F9F8}" type="pres">
      <dgm:prSet presAssocID="{96F38152-CAFE-450F-9B71-DE68540C3DC1}" presName="linear" presStyleCnt="0">
        <dgm:presLayoutVars>
          <dgm:animLvl val="lvl"/>
          <dgm:resizeHandles val="exact"/>
        </dgm:presLayoutVars>
      </dgm:prSet>
      <dgm:spPr/>
    </dgm:pt>
    <dgm:pt modelId="{C44952EC-5658-6F46-A9EF-144043EFE744}" type="pres">
      <dgm:prSet presAssocID="{72B4AD91-9453-457F-9187-49B702F65223}" presName="parentText" presStyleLbl="node1" presStyleIdx="0" presStyleCnt="4">
        <dgm:presLayoutVars>
          <dgm:chMax val="0"/>
          <dgm:bulletEnabled val="1"/>
        </dgm:presLayoutVars>
      </dgm:prSet>
      <dgm:spPr/>
    </dgm:pt>
    <dgm:pt modelId="{43218DE7-6BAE-6C44-9319-85F7EDC303AA}" type="pres">
      <dgm:prSet presAssocID="{8C68DD99-33AC-428F-AA5F-427FD0F5BAD9}" presName="spacer" presStyleCnt="0"/>
      <dgm:spPr/>
    </dgm:pt>
    <dgm:pt modelId="{0246E651-DC06-0D42-92DE-24AC63A68E8E}" type="pres">
      <dgm:prSet presAssocID="{5FE54175-949E-4A36-8829-72AEEA0FFF27}" presName="parentText" presStyleLbl="node1" presStyleIdx="1" presStyleCnt="4">
        <dgm:presLayoutVars>
          <dgm:chMax val="0"/>
          <dgm:bulletEnabled val="1"/>
        </dgm:presLayoutVars>
      </dgm:prSet>
      <dgm:spPr/>
    </dgm:pt>
    <dgm:pt modelId="{232524C4-E078-9442-A09A-B239F36B6012}" type="pres">
      <dgm:prSet presAssocID="{FE20F221-B81A-4726-8974-0E4D591C3FF7}" presName="spacer" presStyleCnt="0"/>
      <dgm:spPr/>
    </dgm:pt>
    <dgm:pt modelId="{66215CD2-A404-204F-B525-5A619C74DEA2}" type="pres">
      <dgm:prSet presAssocID="{C968C46E-1C0F-42DA-B5A4-3DDBBCC9B439}" presName="parentText" presStyleLbl="node1" presStyleIdx="2" presStyleCnt="4">
        <dgm:presLayoutVars>
          <dgm:chMax val="0"/>
          <dgm:bulletEnabled val="1"/>
        </dgm:presLayoutVars>
      </dgm:prSet>
      <dgm:spPr/>
    </dgm:pt>
    <dgm:pt modelId="{31BB6265-6798-3645-83E6-61F01EE38260}" type="pres">
      <dgm:prSet presAssocID="{92C32334-6689-4F33-8303-EE37BE569873}" presName="spacer" presStyleCnt="0"/>
      <dgm:spPr/>
    </dgm:pt>
    <dgm:pt modelId="{0EF31028-6A97-394A-B5AD-BD36E08CBBE2}" type="pres">
      <dgm:prSet presAssocID="{568B0CB9-2A55-4A40-9F70-86CD06D7A10A}" presName="parentText" presStyleLbl="node1" presStyleIdx="3" presStyleCnt="4">
        <dgm:presLayoutVars>
          <dgm:chMax val="0"/>
          <dgm:bulletEnabled val="1"/>
        </dgm:presLayoutVars>
      </dgm:prSet>
      <dgm:spPr/>
    </dgm:pt>
  </dgm:ptLst>
  <dgm:cxnLst>
    <dgm:cxn modelId="{6219DB68-DCBE-4E4C-B0C5-3C532DE9D73C}" srcId="{96F38152-CAFE-450F-9B71-DE68540C3DC1}" destId="{5FE54175-949E-4A36-8829-72AEEA0FFF27}" srcOrd="1" destOrd="0" parTransId="{D7C129BD-F3B3-4BFB-B048-AC7F2EB1820D}" sibTransId="{FE20F221-B81A-4726-8974-0E4D591C3FF7}"/>
    <dgm:cxn modelId="{E4614071-F24C-4FBE-81C7-DCD653606015}" srcId="{96F38152-CAFE-450F-9B71-DE68540C3DC1}" destId="{568B0CB9-2A55-4A40-9F70-86CD06D7A10A}" srcOrd="3" destOrd="0" parTransId="{0EF657EC-A7AD-4C3C-B91F-7EE2EB4E0759}" sibTransId="{F4D040E5-8B54-4EED-B965-A23DAF07F7FD}"/>
    <dgm:cxn modelId="{4D7A5E81-A89A-9A49-8B36-272AD0CCCFD4}" type="presOf" srcId="{568B0CB9-2A55-4A40-9F70-86CD06D7A10A}" destId="{0EF31028-6A97-394A-B5AD-BD36E08CBBE2}" srcOrd="0" destOrd="0" presId="urn:microsoft.com/office/officeart/2005/8/layout/vList2"/>
    <dgm:cxn modelId="{7BB3A992-F127-45B4-8C0F-6EDEAD87D34D}" srcId="{96F38152-CAFE-450F-9B71-DE68540C3DC1}" destId="{72B4AD91-9453-457F-9187-49B702F65223}" srcOrd="0" destOrd="0" parTransId="{E040B0C2-635A-490D-BD18-028FCDF50EF8}" sibTransId="{8C68DD99-33AC-428F-AA5F-427FD0F5BAD9}"/>
    <dgm:cxn modelId="{3B9DB6B0-096F-42E2-93A0-0228F6B101A4}" srcId="{96F38152-CAFE-450F-9B71-DE68540C3DC1}" destId="{C968C46E-1C0F-42DA-B5A4-3DDBBCC9B439}" srcOrd="2" destOrd="0" parTransId="{70027EBB-C98D-4D79-B3BE-6C479C382A62}" sibTransId="{92C32334-6689-4F33-8303-EE37BE569873}"/>
    <dgm:cxn modelId="{6D3781C2-FE8D-5F4D-B2D0-321C114F00F8}" type="presOf" srcId="{C968C46E-1C0F-42DA-B5A4-3DDBBCC9B439}" destId="{66215CD2-A404-204F-B525-5A619C74DEA2}" srcOrd="0" destOrd="0" presId="urn:microsoft.com/office/officeart/2005/8/layout/vList2"/>
    <dgm:cxn modelId="{463861E1-4620-9345-9304-3963D2AA631E}" type="presOf" srcId="{72B4AD91-9453-457F-9187-49B702F65223}" destId="{C44952EC-5658-6F46-A9EF-144043EFE744}" srcOrd="0" destOrd="0" presId="urn:microsoft.com/office/officeart/2005/8/layout/vList2"/>
    <dgm:cxn modelId="{9E0E71E7-6C9F-9D4D-B5F6-0C187E0EC9C4}" type="presOf" srcId="{5FE54175-949E-4A36-8829-72AEEA0FFF27}" destId="{0246E651-DC06-0D42-92DE-24AC63A68E8E}" srcOrd="0" destOrd="0" presId="urn:microsoft.com/office/officeart/2005/8/layout/vList2"/>
    <dgm:cxn modelId="{39FD9BEF-3D57-764E-9FCF-1C1A84420117}" type="presOf" srcId="{96F38152-CAFE-450F-9B71-DE68540C3DC1}" destId="{41DDA2DC-AAEB-B143-9BE4-9F59D9F8F9F8}" srcOrd="0" destOrd="0" presId="urn:microsoft.com/office/officeart/2005/8/layout/vList2"/>
    <dgm:cxn modelId="{8C1CB6E2-05E1-BF4D-9847-80DC3E87B5DE}" type="presParOf" srcId="{41DDA2DC-AAEB-B143-9BE4-9F59D9F8F9F8}" destId="{C44952EC-5658-6F46-A9EF-144043EFE744}" srcOrd="0" destOrd="0" presId="urn:microsoft.com/office/officeart/2005/8/layout/vList2"/>
    <dgm:cxn modelId="{90AC117D-F723-B84A-9C49-F5FB1111903E}" type="presParOf" srcId="{41DDA2DC-AAEB-B143-9BE4-9F59D9F8F9F8}" destId="{43218DE7-6BAE-6C44-9319-85F7EDC303AA}" srcOrd="1" destOrd="0" presId="urn:microsoft.com/office/officeart/2005/8/layout/vList2"/>
    <dgm:cxn modelId="{1ECDC413-E12C-6A40-A8C2-C2E8D756287B}" type="presParOf" srcId="{41DDA2DC-AAEB-B143-9BE4-9F59D9F8F9F8}" destId="{0246E651-DC06-0D42-92DE-24AC63A68E8E}" srcOrd="2" destOrd="0" presId="urn:microsoft.com/office/officeart/2005/8/layout/vList2"/>
    <dgm:cxn modelId="{1B01702A-CFF6-D54B-9EAE-82910F9CBDFC}" type="presParOf" srcId="{41DDA2DC-AAEB-B143-9BE4-9F59D9F8F9F8}" destId="{232524C4-E078-9442-A09A-B239F36B6012}" srcOrd="3" destOrd="0" presId="urn:microsoft.com/office/officeart/2005/8/layout/vList2"/>
    <dgm:cxn modelId="{25592BE9-EB69-4340-AC9A-AB3C2ECBD821}" type="presParOf" srcId="{41DDA2DC-AAEB-B143-9BE4-9F59D9F8F9F8}" destId="{66215CD2-A404-204F-B525-5A619C74DEA2}" srcOrd="4" destOrd="0" presId="urn:microsoft.com/office/officeart/2005/8/layout/vList2"/>
    <dgm:cxn modelId="{D8C8BB9C-8B65-4A4B-8611-6F42EF86750B}" type="presParOf" srcId="{41DDA2DC-AAEB-B143-9BE4-9F59D9F8F9F8}" destId="{31BB6265-6798-3645-83E6-61F01EE38260}" srcOrd="5" destOrd="0" presId="urn:microsoft.com/office/officeart/2005/8/layout/vList2"/>
    <dgm:cxn modelId="{C601200C-0A68-0F46-85C1-AD6925BE3DCC}" type="presParOf" srcId="{41DDA2DC-AAEB-B143-9BE4-9F59D9F8F9F8}" destId="{0EF31028-6A97-394A-B5AD-BD36E08CBBE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4952EC-5658-6F46-A9EF-144043EFE744}">
      <dsp:nvSpPr>
        <dsp:cNvPr id="0" name=""/>
        <dsp:cNvSpPr/>
      </dsp:nvSpPr>
      <dsp:spPr>
        <a:xfrm>
          <a:off x="0" y="46309"/>
          <a:ext cx="6666833" cy="127120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Principles and Main Branches of Islam</a:t>
          </a:r>
        </a:p>
      </dsp:txBody>
      <dsp:txXfrm>
        <a:off x="62055" y="108364"/>
        <a:ext cx="6542723" cy="1147095"/>
      </dsp:txXfrm>
    </dsp:sp>
    <dsp:sp modelId="{0246E651-DC06-0D42-92DE-24AC63A68E8E}">
      <dsp:nvSpPr>
        <dsp:cNvPr id="0" name=""/>
        <dsp:cNvSpPr/>
      </dsp:nvSpPr>
      <dsp:spPr>
        <a:xfrm>
          <a:off x="0" y="1409674"/>
          <a:ext cx="6666833" cy="1271205"/>
        </a:xfrm>
        <a:prstGeom prst="roundRect">
          <a:avLst/>
        </a:prstGeom>
        <a:gradFill rotWithShape="0">
          <a:gsLst>
            <a:gs pos="0">
              <a:schemeClr val="accent2">
                <a:hueOff val="-279374"/>
                <a:satOff val="-3219"/>
                <a:lumOff val="720"/>
                <a:alphaOff val="0"/>
                <a:satMod val="103000"/>
                <a:lumMod val="102000"/>
                <a:tint val="94000"/>
              </a:schemeClr>
            </a:gs>
            <a:gs pos="50000">
              <a:schemeClr val="accent2">
                <a:hueOff val="-279374"/>
                <a:satOff val="-3219"/>
                <a:lumOff val="720"/>
                <a:alphaOff val="0"/>
                <a:satMod val="110000"/>
                <a:lumMod val="100000"/>
                <a:shade val="100000"/>
              </a:schemeClr>
            </a:gs>
            <a:gs pos="100000">
              <a:schemeClr val="accent2">
                <a:hueOff val="-279374"/>
                <a:satOff val="-3219"/>
                <a:lumOff val="72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Arab Invasion of Central Asia</a:t>
          </a:r>
        </a:p>
      </dsp:txBody>
      <dsp:txXfrm>
        <a:off x="62055" y="1471729"/>
        <a:ext cx="6542723" cy="1147095"/>
      </dsp:txXfrm>
    </dsp:sp>
    <dsp:sp modelId="{66215CD2-A404-204F-B525-5A619C74DEA2}">
      <dsp:nvSpPr>
        <dsp:cNvPr id="0" name=""/>
        <dsp:cNvSpPr/>
      </dsp:nvSpPr>
      <dsp:spPr>
        <a:xfrm>
          <a:off x="0" y="2773040"/>
          <a:ext cx="6666833" cy="1271205"/>
        </a:xfrm>
        <a:prstGeom prst="roundRect">
          <a:avLst/>
        </a:prstGeom>
        <a:gradFill rotWithShape="0">
          <a:gsLst>
            <a:gs pos="0">
              <a:schemeClr val="accent2">
                <a:hueOff val="-558749"/>
                <a:satOff val="-6439"/>
                <a:lumOff val="1439"/>
                <a:alphaOff val="0"/>
                <a:satMod val="103000"/>
                <a:lumMod val="102000"/>
                <a:tint val="94000"/>
              </a:schemeClr>
            </a:gs>
            <a:gs pos="50000">
              <a:schemeClr val="accent2">
                <a:hueOff val="-558749"/>
                <a:satOff val="-6439"/>
                <a:lumOff val="1439"/>
                <a:alphaOff val="0"/>
                <a:satMod val="110000"/>
                <a:lumMod val="100000"/>
                <a:shade val="100000"/>
              </a:schemeClr>
            </a:gs>
            <a:gs pos="100000">
              <a:schemeClr val="accent2">
                <a:hueOff val="-558749"/>
                <a:satOff val="-6439"/>
                <a:lumOff val="143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Sufism</a:t>
          </a:r>
        </a:p>
      </dsp:txBody>
      <dsp:txXfrm>
        <a:off x="62055" y="2835095"/>
        <a:ext cx="6542723" cy="1147095"/>
      </dsp:txXfrm>
    </dsp:sp>
    <dsp:sp modelId="{0EF31028-6A97-394A-B5AD-BD36E08CBBE2}">
      <dsp:nvSpPr>
        <dsp:cNvPr id="0" name=""/>
        <dsp:cNvSpPr/>
      </dsp:nvSpPr>
      <dsp:spPr>
        <a:xfrm>
          <a:off x="0" y="4136405"/>
          <a:ext cx="6666833" cy="1271205"/>
        </a:xfrm>
        <a:prstGeom prst="roundRect">
          <a:avLst/>
        </a:prstGeom>
        <a:gradFill rotWithShape="0">
          <a:gsLst>
            <a:gs pos="0">
              <a:schemeClr val="accent2">
                <a:hueOff val="-838123"/>
                <a:satOff val="-9658"/>
                <a:lumOff val="2159"/>
                <a:alphaOff val="0"/>
                <a:satMod val="103000"/>
                <a:lumMod val="102000"/>
                <a:tint val="94000"/>
              </a:schemeClr>
            </a:gs>
            <a:gs pos="50000">
              <a:schemeClr val="accent2">
                <a:hueOff val="-838123"/>
                <a:satOff val="-9658"/>
                <a:lumOff val="2159"/>
                <a:alphaOff val="0"/>
                <a:satMod val="110000"/>
                <a:lumMod val="100000"/>
                <a:shade val="100000"/>
              </a:schemeClr>
            </a:gs>
            <a:gs pos="100000">
              <a:schemeClr val="accent2">
                <a:hueOff val="-838123"/>
                <a:satOff val="-9658"/>
                <a:lumOff val="215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Scholars of Middle Ages and Their Role in Development of Sciences</a:t>
          </a:r>
        </a:p>
      </dsp:txBody>
      <dsp:txXfrm>
        <a:off x="62055" y="4198460"/>
        <a:ext cx="6542723" cy="114709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28954A-FBB2-43C7-8806-7A812F3BF0FA}" type="datetimeFigureOut">
              <a:rPr lang="en-US" smtClean="0"/>
              <a:t>9/22/26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4FF98-851E-4F68-A380-6925F93535FB}" type="slidenum">
              <a:rPr lang="en-US" smtClean="0"/>
              <a:t>‹#›</a:t>
            </a:fld>
            <a:endParaRPr lang="en-US"/>
          </a:p>
        </p:txBody>
      </p:sp>
    </p:spTree>
    <p:extLst>
      <p:ext uri="{BB962C8B-B14F-4D97-AF65-F5344CB8AC3E}">
        <p14:creationId xmlns:p14="http://schemas.microsoft.com/office/powerpoint/2010/main" val="3921440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46F19FD-FD57-4947-9D55-2498B7FB19E0}"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3871558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3716902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46F19FD-FD57-4947-9D55-2498B7FB19E0}"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4019819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46F19FD-FD57-4947-9D55-2498B7FB19E0}" type="datetimeFigureOut">
              <a:rPr lang="en-US" smtClean="0"/>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899509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6F19FD-FD57-4947-9D55-2498B7FB19E0}" type="datetimeFigureOut">
              <a:rPr lang="en-US" smtClean="0"/>
              <a:t>9/22/26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884600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46F19FD-FD57-4947-9D55-2498B7FB19E0}" type="datetimeFigureOut">
              <a:rPr lang="en-US" smtClean="0"/>
              <a:t>9/22/26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3969231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6F19FD-FD57-4947-9D55-2498B7FB19E0}" type="datetimeFigureOut">
              <a:rPr lang="en-US" smtClean="0"/>
              <a:t>9/22/26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413184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46F19FD-FD57-4947-9D55-2498B7FB19E0}" type="datetimeFigureOut">
              <a:rPr lang="en-US" smtClean="0"/>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867195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46F19FD-FD57-4947-9D55-2498B7FB19E0}" type="datetimeFigureOut">
              <a:rPr lang="en-US" smtClean="0"/>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920893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743296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372725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6F19FD-FD57-4947-9D55-2498B7FB19E0}" type="datetimeFigureOut">
              <a:rPr lang="en-US" smtClean="0"/>
              <a:t>9/22/26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F564EE-5F94-48BF-8E5E-F78E102D61BC}" type="slidenum">
              <a:rPr lang="en-US" smtClean="0"/>
              <a:t>‹#›</a:t>
            </a:fld>
            <a:endParaRPr lang="en-US"/>
          </a:p>
        </p:txBody>
      </p:sp>
    </p:spTree>
    <p:extLst>
      <p:ext uri="{BB962C8B-B14F-4D97-AF65-F5344CB8AC3E}">
        <p14:creationId xmlns:p14="http://schemas.microsoft.com/office/powerpoint/2010/main" val="81704501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706029"/>
          </a:xfrm>
        </p:spPr>
        <p:txBody>
          <a:bodyPr>
            <a:noAutofit/>
          </a:bodyPr>
          <a:lstStyle/>
          <a:p>
            <a:pPr algn="ctr"/>
            <a:r>
              <a:rPr lang="en-US" sz="2400" b="1" dirty="0" err="1">
                <a:cs typeface="Arial" pitchFamily="34" charset="0"/>
              </a:rPr>
              <a:t>Inha</a:t>
            </a:r>
            <a:r>
              <a:rPr lang="en-US" sz="2400" b="1" dirty="0">
                <a:cs typeface="Arial" pitchFamily="34" charset="0"/>
              </a:rPr>
              <a:t> University in Tashkent</a:t>
            </a:r>
            <a:endParaRPr lang="ru-RU" sz="2400" b="1" dirty="0">
              <a:cs typeface="Arial" pitchFamily="34" charset="0"/>
            </a:endParaRPr>
          </a:p>
        </p:txBody>
      </p:sp>
      <p:sp>
        <p:nvSpPr>
          <p:cNvPr id="3" name="Content Placeholder 2"/>
          <p:cNvSpPr>
            <a:spLocks noGrp="1"/>
          </p:cNvSpPr>
          <p:nvPr>
            <p:ph idx="1"/>
          </p:nvPr>
        </p:nvSpPr>
        <p:spPr>
          <a:xfrm>
            <a:off x="838200" y="3004457"/>
            <a:ext cx="10515600" cy="3172506"/>
          </a:xfrm>
        </p:spPr>
        <p:txBody>
          <a:bodyPr/>
          <a:lstStyle/>
          <a:p>
            <a:pPr marL="0" indent="0" algn="ctr">
              <a:buNone/>
            </a:pPr>
            <a:r>
              <a:rPr lang="en-US" b="1" i="1" dirty="0">
                <a:latin typeface="+mj-lt"/>
              </a:rPr>
              <a:t>Theme 3: </a:t>
            </a:r>
            <a:r>
              <a:rPr lang="en-US" b="1" dirty="0">
                <a:latin typeface="+mj-lt"/>
              </a:rPr>
              <a:t>Early Middle Ages Philosophy in Central Asia</a:t>
            </a:r>
            <a:endParaRPr lang="ru-RU" b="1" dirty="0">
              <a:latin typeface="+mj-lt"/>
              <a:cs typeface="Arial" pitchFamily="34" charset="0"/>
            </a:endParaRPr>
          </a:p>
          <a:p>
            <a:endParaRPr lang="en-US" dirty="0"/>
          </a:p>
        </p:txBody>
      </p:sp>
      <p:sp>
        <p:nvSpPr>
          <p:cNvPr id="4" name="Объект 2"/>
          <p:cNvSpPr txBox="1">
            <a:spLocks/>
          </p:cNvSpPr>
          <p:nvPr/>
        </p:nvSpPr>
        <p:spPr>
          <a:xfrm>
            <a:off x="838200" y="5029200"/>
            <a:ext cx="10683240" cy="937260"/>
          </a:xfrm>
          <a:prstGeom prst="rect">
            <a:avLst/>
          </a:prstGeom>
        </p:spPr>
        <p:txBody>
          <a:bodyPr anchor="ctr">
            <a:noAutofit/>
          </a:bodyPr>
          <a:lstStyle>
            <a:lvl1pPr marL="292100" indent="-292100" algn="l" rtl="0"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l" rtl="0"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l" rtl="0"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l" rtl="0"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l" rtl="0"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a:lstStyle>
          <a:p>
            <a:pPr marL="0" indent="0">
              <a:buNone/>
            </a:pPr>
            <a:endParaRPr lang="en-US" sz="1200" dirty="0"/>
          </a:p>
          <a:p>
            <a:pPr marL="0" indent="0">
              <a:buNone/>
            </a:pPr>
            <a:endParaRPr lang="en-US" sz="1200" dirty="0"/>
          </a:p>
          <a:p>
            <a:pPr marL="0" indent="0">
              <a:buNone/>
            </a:pPr>
            <a:endParaRPr lang="ru-RU" sz="1200" dirty="0"/>
          </a:p>
        </p:txBody>
      </p:sp>
    </p:spTree>
    <p:extLst>
      <p:ext uri="{BB962C8B-B14F-4D97-AF65-F5344CB8AC3E}">
        <p14:creationId xmlns:p14="http://schemas.microsoft.com/office/powerpoint/2010/main" val="494772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6478" y="1683756"/>
            <a:ext cx="3115265" cy="2396359"/>
          </a:xfrm>
        </p:spPr>
        <p:txBody>
          <a:bodyPr anchor="b">
            <a:normAutofit/>
          </a:bodyPr>
          <a:lstStyle/>
          <a:p>
            <a:pPr algn="r"/>
            <a:r>
              <a:rPr lang="en-US" sz="4000" b="1">
                <a:solidFill>
                  <a:srgbClr val="FFFFFF"/>
                </a:solidFill>
              </a:rPr>
              <a:t>Outline:</a:t>
            </a:r>
          </a:p>
        </p:txBody>
      </p:sp>
      <p:graphicFrame>
        <p:nvGraphicFramePr>
          <p:cNvPr id="5" name="Content Placeholder 2">
            <a:extLst>
              <a:ext uri="{FF2B5EF4-FFF2-40B4-BE49-F238E27FC236}">
                <a16:creationId xmlns:a16="http://schemas.microsoft.com/office/drawing/2014/main" id="{5B782ACD-ED19-5257-77D8-B4DC95CC7BFC}"/>
              </a:ext>
            </a:extLst>
          </p:cNvPr>
          <p:cNvGraphicFramePr>
            <a:graphicFrameLocks noGrp="1"/>
          </p:cNvGraphicFramePr>
          <p:nvPr>
            <p:ph idx="1"/>
            <p:extLst>
              <p:ext uri="{D42A27DB-BD31-4B8C-83A1-F6EECF244321}">
                <p14:modId xmlns:p14="http://schemas.microsoft.com/office/powerpoint/2010/main" val="2006581242"/>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91761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1065" y="0"/>
            <a:ext cx="10766737" cy="6858000"/>
          </a:xfrm>
          <a:prstGeom prst="rect">
            <a:avLst/>
          </a:prstGeom>
        </p:spPr>
      </p:pic>
    </p:spTree>
    <p:extLst>
      <p:ext uri="{BB962C8B-B14F-4D97-AF65-F5344CB8AC3E}">
        <p14:creationId xmlns:p14="http://schemas.microsoft.com/office/powerpoint/2010/main" val="146500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36396" y="457201"/>
            <a:ext cx="5814240" cy="1556870"/>
          </a:xfrm>
        </p:spPr>
        <p:txBody>
          <a:bodyPr vert="horz" lIns="91440" tIns="45720" rIns="91440" bIns="45720" rtlCol="0" anchor="b">
            <a:normAutofit/>
          </a:bodyPr>
          <a:lstStyle/>
          <a:p>
            <a:r>
              <a:rPr lang="en-US" sz="4000" b="1" dirty="0"/>
              <a:t>Islam and Its Principles</a:t>
            </a:r>
            <a:endParaRPr lang="en-US" sz="4000" dirty="0"/>
          </a:p>
        </p:txBody>
      </p:sp>
      <p:sp>
        <p:nvSpPr>
          <p:cNvPr id="3" name="Content Placeholder 2"/>
          <p:cNvSpPr>
            <a:spLocks noGrp="1"/>
          </p:cNvSpPr>
          <p:nvPr>
            <p:ph sz="half" idx="1"/>
          </p:nvPr>
        </p:nvSpPr>
        <p:spPr>
          <a:xfrm>
            <a:off x="530578" y="2014071"/>
            <a:ext cx="7337778" cy="4048061"/>
          </a:xfrm>
        </p:spPr>
        <p:txBody>
          <a:bodyPr vert="horz" lIns="91440" tIns="45720" rIns="91440" bIns="45720" rtlCol="0">
            <a:normAutofit/>
          </a:bodyPr>
          <a:lstStyle/>
          <a:p>
            <a:r>
              <a:rPr lang="en-US" sz="2000" dirty="0"/>
              <a:t>Islam is an Arabic word meaning self-submission to God, obedience, and peace</a:t>
            </a:r>
          </a:p>
          <a:p>
            <a:r>
              <a:rPr lang="en-US" sz="2000" dirty="0"/>
              <a:t>Qur'an is a holy book, believed to be the word of God as dictated to Muhammad by the archangel Gabriel and written in Arabic. It contains Islamic traditions, beliefs, legal and moral principles. Qur'an consists of 114 units (surahs) and several verses (</a:t>
            </a:r>
            <a:r>
              <a:rPr lang="en-US" sz="2000" dirty="0" err="1"/>
              <a:t>ayats</a:t>
            </a:r>
            <a:r>
              <a:rPr lang="en-US" sz="2000" dirty="0"/>
              <a:t>).</a:t>
            </a:r>
          </a:p>
          <a:p>
            <a:r>
              <a:rPr lang="en-US" sz="2000" dirty="0"/>
              <a:t>Sunnah is a collection of hadiths. The Prophet Muhammad's words and actions are summarized in the form of hadiths. Hadiths are the primary source after the Qur'an.</a:t>
            </a:r>
          </a:p>
          <a:p>
            <a:r>
              <a:rPr lang="en-US" sz="2000" dirty="0"/>
              <a:t>The </a:t>
            </a:r>
            <a:r>
              <a:rPr lang="en-US" sz="2000" dirty="0" err="1"/>
              <a:t>Shari'ah</a:t>
            </a:r>
            <a:r>
              <a:rPr lang="en-US" sz="2000" dirty="0"/>
              <a:t> is Islamic canonical law, and it based on the teachings of the Koran and the traditions of the Prophet (Hadith and Sunna) and also other important sources. The </a:t>
            </a:r>
            <a:r>
              <a:rPr lang="en-US" sz="2000" dirty="0" err="1"/>
              <a:t>Shari’a</a:t>
            </a:r>
            <a:r>
              <a:rPr lang="en-US" sz="2000" dirty="0"/>
              <a:t> is a system of legal, ethical principles and practical requirements in Islam.</a:t>
            </a:r>
          </a:p>
        </p:txBody>
      </p:sp>
      <p:pic>
        <p:nvPicPr>
          <p:cNvPr id="5" name="Content Placeholder 4" descr="A close-up of a sign&#10;&#10;Description automatically generated"/>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8137370" y="799365"/>
            <a:ext cx="2797661" cy="2210153"/>
          </a:xfrm>
          <a:prstGeom prst="rect">
            <a:avLst/>
          </a:prstGeom>
        </p:spPr>
      </p:pic>
      <p:pic>
        <p:nvPicPr>
          <p:cNvPr id="6" name="Picture 5" descr="A green and gold book&#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00213" y="3375824"/>
            <a:ext cx="2243263" cy="2243263"/>
          </a:xfrm>
          <a:prstGeom prst="rect">
            <a:avLst/>
          </a:prstGeom>
        </p:spPr>
      </p:pic>
      <p:sp>
        <p:nvSpPr>
          <p:cNvPr id="13" name="Rectangle 12">
            <a:extLst>
              <a:ext uri="{FF2B5EF4-FFF2-40B4-BE49-F238E27FC236}">
                <a16:creationId xmlns:a16="http://schemas.microsoft.com/office/drawing/2014/main" id="{5A65989E-BBD5-44D7-AA86-7AFD5D46B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66000">
                <a:srgbClr val="000000"/>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31A2881-D8D7-4A7D-ACA3-E9F849F853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0800"/>
            <a:ext cx="8153398" cy="456772"/>
          </a:xfrm>
          <a:prstGeom prst="rect">
            <a:avLst/>
          </a:prstGeom>
          <a:gradFill>
            <a:gsLst>
              <a:gs pos="0">
                <a:srgbClr val="000000">
                  <a:alpha val="63000"/>
                </a:srgbClr>
              </a:gs>
              <a:gs pos="100000">
                <a:schemeClr val="accent1">
                  <a:lumMod val="7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7908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The Pillars of Islam</a:t>
            </a:r>
            <a:endParaRPr lang="en-US" sz="4000" b="1">
              <a:solidFill>
                <a:srgbClr val="FFFFFF"/>
              </a:solidFill>
            </a:endParaRPr>
          </a:p>
        </p:txBody>
      </p:sp>
      <p:sp>
        <p:nvSpPr>
          <p:cNvPr id="3" name="Content Placeholder 2"/>
          <p:cNvSpPr>
            <a:spLocks noGrp="1"/>
          </p:cNvSpPr>
          <p:nvPr>
            <p:ph idx="1"/>
          </p:nvPr>
        </p:nvSpPr>
        <p:spPr>
          <a:xfrm>
            <a:off x="4810259" y="649480"/>
            <a:ext cx="6555347" cy="5546047"/>
          </a:xfrm>
        </p:spPr>
        <p:txBody>
          <a:bodyPr anchor="ctr">
            <a:normAutofit/>
          </a:bodyPr>
          <a:lstStyle/>
          <a:p>
            <a:pPr>
              <a:buFont typeface="Wingdings" panose="05000000000000000000" pitchFamily="2" charset="2"/>
              <a:buChar char="v"/>
            </a:pPr>
            <a:endParaRPr lang="en-US" sz="2000" dirty="0"/>
          </a:p>
          <a:p>
            <a:pPr marL="0" indent="0">
              <a:buNone/>
            </a:pPr>
            <a:r>
              <a:rPr lang="en-US" sz="2200" dirty="0">
                <a:latin typeface="Arial" panose="020B0604020202020204" pitchFamily="34" charset="0"/>
                <a:cs typeface="Arial" panose="020B0604020202020204" pitchFamily="34" charset="0"/>
              </a:rPr>
              <a:t>There are five basic religious acts in Islam, that known as 'The Pillars of Islam' (</a:t>
            </a:r>
            <a:r>
              <a:rPr lang="en-US" sz="2200" i="1" dirty="0" err="1">
                <a:latin typeface="Arial" panose="020B0604020202020204" pitchFamily="34" charset="0"/>
                <a:cs typeface="Arial" panose="020B0604020202020204" pitchFamily="34" charset="0"/>
              </a:rPr>
              <a:t>arkan</a:t>
            </a:r>
            <a:r>
              <a:rPr lang="en-US" sz="2200" i="1" dirty="0">
                <a:latin typeface="Arial" panose="020B0604020202020204" pitchFamily="34" charset="0"/>
                <a:cs typeface="Arial" panose="020B0604020202020204" pitchFamily="34" charset="0"/>
              </a:rPr>
              <a:t> al-Islam</a:t>
            </a:r>
            <a:r>
              <a:rPr lang="en-US" sz="2200" dirty="0">
                <a:latin typeface="Arial" panose="020B0604020202020204" pitchFamily="34" charset="0"/>
                <a:cs typeface="Arial" panose="020B0604020202020204" pitchFamily="34" charset="0"/>
              </a:rPr>
              <a:t>; also, </a:t>
            </a:r>
            <a:r>
              <a:rPr lang="en-US" sz="2200" i="1" dirty="0" err="1">
                <a:latin typeface="Arial" panose="020B0604020202020204" pitchFamily="34" charset="0"/>
                <a:cs typeface="Arial" panose="020B0604020202020204" pitchFamily="34" charset="0"/>
              </a:rPr>
              <a:t>arkan</a:t>
            </a:r>
            <a:r>
              <a:rPr lang="en-US" sz="2200" i="1" dirty="0">
                <a:latin typeface="Arial" panose="020B0604020202020204" pitchFamily="34" charset="0"/>
                <a:cs typeface="Arial" panose="020B0604020202020204" pitchFamily="34" charset="0"/>
              </a:rPr>
              <a:t> </a:t>
            </a:r>
            <a:r>
              <a:rPr lang="en-US" sz="2200" i="1" dirty="0" err="1">
                <a:latin typeface="Arial" panose="020B0604020202020204" pitchFamily="34" charset="0"/>
                <a:cs typeface="Arial" panose="020B0604020202020204" pitchFamily="34" charset="0"/>
              </a:rPr>
              <a:t>ad-din</a:t>
            </a:r>
            <a:r>
              <a:rPr lang="en-US" sz="2200" dirty="0">
                <a:latin typeface="Arial" panose="020B0604020202020204" pitchFamily="34" charset="0"/>
                <a:cs typeface="Arial" panose="020B0604020202020204" pitchFamily="34" charset="0"/>
              </a:rPr>
              <a:t>, "pillars of religion"), which are considered obligatory for all believers, i.e. </a:t>
            </a:r>
            <a:r>
              <a:rPr lang="en-US" sz="2200" dirty="0" err="1">
                <a:latin typeface="Arial" panose="020B0604020202020204" pitchFamily="34" charset="0"/>
                <a:cs typeface="Arial" panose="020B0604020202020204" pitchFamily="34" charset="0"/>
              </a:rPr>
              <a:t>muslims</a:t>
            </a:r>
            <a:r>
              <a:rPr lang="en-US" sz="2200" dirty="0">
                <a:latin typeface="Arial" panose="020B0604020202020204" pitchFamily="34" charset="0"/>
                <a:cs typeface="Arial" panose="020B0604020202020204" pitchFamily="34" charset="0"/>
              </a:rPr>
              <a:t>: </a:t>
            </a:r>
          </a:p>
          <a:p>
            <a:pPr marL="514350" indent="-514350">
              <a:buFont typeface="+mj-lt"/>
              <a:buAutoNum type="arabicParenR"/>
            </a:pPr>
            <a:r>
              <a:rPr lang="en-US" sz="2200" dirty="0">
                <a:latin typeface="Arial" panose="020B0604020202020204" pitchFamily="34" charset="0"/>
                <a:cs typeface="Arial" panose="020B0604020202020204" pitchFamily="34" charset="0"/>
              </a:rPr>
              <a:t>the creed (shahadah)</a:t>
            </a:r>
          </a:p>
          <a:p>
            <a:pPr marL="514350" indent="-514350">
              <a:buFont typeface="+mj-lt"/>
              <a:buAutoNum type="arabicParenR"/>
            </a:pPr>
            <a:r>
              <a:rPr lang="en-US" sz="2200" dirty="0">
                <a:latin typeface="Arial" panose="020B0604020202020204" pitchFamily="34" charset="0"/>
                <a:cs typeface="Arial" panose="020B0604020202020204" pitchFamily="34" charset="0"/>
              </a:rPr>
              <a:t>daily prayers (salat) </a:t>
            </a:r>
          </a:p>
          <a:p>
            <a:pPr marL="514350" indent="-514350">
              <a:buFont typeface="+mj-lt"/>
              <a:buAutoNum type="arabicParenR"/>
            </a:pPr>
            <a:r>
              <a:rPr lang="en-US" sz="2200" dirty="0">
                <a:latin typeface="Arial" panose="020B0604020202020204" pitchFamily="34" charset="0"/>
                <a:cs typeface="Arial" panose="020B0604020202020204" pitchFamily="34" charset="0"/>
              </a:rPr>
              <a:t>almsgiving (zakat)</a:t>
            </a:r>
          </a:p>
          <a:p>
            <a:pPr marL="514350" indent="-514350">
              <a:buFont typeface="+mj-lt"/>
              <a:buAutoNum type="arabicParenR"/>
            </a:pPr>
            <a:r>
              <a:rPr lang="en-US" sz="2200" dirty="0">
                <a:latin typeface="Arial" panose="020B0604020202020204" pitchFamily="34" charset="0"/>
                <a:cs typeface="Arial" panose="020B0604020202020204" pitchFamily="34" charset="0"/>
              </a:rPr>
              <a:t>fasting (during Ramadan) </a:t>
            </a:r>
          </a:p>
          <a:p>
            <a:pPr marL="514350" indent="-514350">
              <a:buFont typeface="+mj-lt"/>
              <a:buAutoNum type="arabicParenR"/>
            </a:pPr>
            <a:r>
              <a:rPr lang="en-US" sz="2200" dirty="0">
                <a:latin typeface="Arial" panose="020B0604020202020204" pitchFamily="34" charset="0"/>
                <a:cs typeface="Arial" panose="020B0604020202020204" pitchFamily="34" charset="0"/>
              </a:rPr>
              <a:t>the pilgrimage to Mecca (hajj) at least once in a lifetime.</a:t>
            </a:r>
          </a:p>
        </p:txBody>
      </p:sp>
    </p:spTree>
    <p:extLst>
      <p:ext uri="{BB962C8B-B14F-4D97-AF65-F5344CB8AC3E}">
        <p14:creationId xmlns:p14="http://schemas.microsoft.com/office/powerpoint/2010/main" val="2969911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anim calcmode="lin" valueType="num">
                                      <p:cBhvr>
                                        <p:cTn id="3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b="1" kern="1200">
                <a:solidFill>
                  <a:srgbClr val="FFFFFF"/>
                </a:solidFill>
                <a:latin typeface="+mj-lt"/>
                <a:ea typeface="+mj-ea"/>
                <a:cs typeface="+mj-cs"/>
              </a:rPr>
              <a:t>The Branches of Islam</a:t>
            </a:r>
          </a:p>
        </p:txBody>
      </p:sp>
      <p:sp>
        <p:nvSpPr>
          <p:cNvPr id="3" name="Content Placeholder 2"/>
          <p:cNvSpPr>
            <a:spLocks noGrp="1"/>
          </p:cNvSpPr>
          <p:nvPr>
            <p:ph sz="half" idx="1"/>
          </p:nvPr>
        </p:nvSpPr>
        <p:spPr>
          <a:xfrm>
            <a:off x="4367695" y="180109"/>
            <a:ext cx="7644196" cy="6497781"/>
          </a:xfrm>
        </p:spPr>
        <p:txBody>
          <a:bodyPr vert="horz" lIns="91440" tIns="45720" rIns="91440" bIns="45720" rtlCol="0" anchor="ctr">
            <a:noAutofit/>
          </a:bodyPr>
          <a:lstStyle/>
          <a:p>
            <a:r>
              <a:rPr lang="en-US" sz="2000" dirty="0"/>
              <a:t>The main branches of Islam are Sunnis, </a:t>
            </a:r>
            <a:r>
              <a:rPr lang="en-US" sz="2000" dirty="0" err="1"/>
              <a:t>Shiahs</a:t>
            </a:r>
            <a:r>
              <a:rPr lang="en-US" sz="2000" dirty="0"/>
              <a:t>, and </a:t>
            </a:r>
            <a:r>
              <a:rPr lang="en-US" sz="2000" dirty="0" err="1"/>
              <a:t>Khawarijs</a:t>
            </a:r>
            <a:r>
              <a:rPr lang="en-US" sz="2000" dirty="0"/>
              <a:t> (Kharijites). </a:t>
            </a:r>
          </a:p>
          <a:p>
            <a:r>
              <a:rPr lang="en-US" sz="2000" dirty="0" err="1"/>
              <a:t>Khawarijs</a:t>
            </a:r>
            <a:r>
              <a:rPr lang="en-US" sz="2000" dirty="0"/>
              <a:t> are members of the group that appeared in the first century during the First </a:t>
            </a:r>
            <a:r>
              <a:rPr lang="en-US" sz="2000" dirty="0" err="1"/>
              <a:t>Fitna</a:t>
            </a:r>
            <a:r>
              <a:rPr lang="en-US" sz="2000" dirty="0"/>
              <a:t>, the crisis of leadership after the death of Muhammad (May God honor him and grant him peace). </a:t>
            </a:r>
            <a:r>
              <a:rPr lang="en-US" sz="2000" dirty="0" err="1"/>
              <a:t>Khawarijs</a:t>
            </a:r>
            <a:r>
              <a:rPr lang="en-US" sz="2000" dirty="0"/>
              <a:t> were divided into many subdivisions in the Middle Ages and then disappeared. Only the </a:t>
            </a:r>
            <a:r>
              <a:rPr lang="en-US" sz="2000" dirty="0" err="1"/>
              <a:t>Ibodis</a:t>
            </a:r>
            <a:r>
              <a:rPr lang="en-US" sz="2000" dirty="0"/>
              <a:t> survived as a branch and remainder of </a:t>
            </a:r>
            <a:r>
              <a:rPr lang="en-US" sz="2000" dirty="0" err="1"/>
              <a:t>Khawarijs</a:t>
            </a:r>
            <a:r>
              <a:rPr lang="en-US" sz="2000" dirty="0"/>
              <a:t>. </a:t>
            </a:r>
          </a:p>
          <a:p>
            <a:r>
              <a:rPr lang="en-US" sz="2000" dirty="0"/>
              <a:t>Sunni and Shia sects differ from each other in terms of authority (Sunni – caliphate, Shi'ism – </a:t>
            </a:r>
            <a:r>
              <a:rPr lang="en-US" sz="2000" dirty="0" err="1"/>
              <a:t>imamah</a:t>
            </a:r>
            <a:r>
              <a:rPr lang="en-US" sz="2000" dirty="0"/>
              <a:t>), religious ceremonies and traditions. The Sunni branch of Islam stipulates that, as a head of state, a caliph should be elected by Muslims or their representatives. Followers of Shia Islam believe a caliph should be an Imam chosen by God from the Ahl al-Bayt (“Family of the House”, Muhammad’s direct descendants). </a:t>
            </a:r>
          </a:p>
          <a:p>
            <a:r>
              <a:rPr lang="en-US" sz="2000" dirty="0"/>
              <a:t>There are some sects in Shi’ism: </a:t>
            </a:r>
            <a:r>
              <a:rPr lang="en-US" sz="2000" dirty="0" err="1"/>
              <a:t>Karmats</a:t>
            </a:r>
            <a:r>
              <a:rPr lang="en-US" sz="2000" dirty="0"/>
              <a:t>, Ishmaelites, </a:t>
            </a:r>
            <a:r>
              <a:rPr lang="en-US" sz="2000" dirty="0" err="1"/>
              <a:t>Zaidids</a:t>
            </a:r>
            <a:r>
              <a:rPr lang="en-US" sz="2000" dirty="0"/>
              <a:t> and others. Shiites recognize the Koran as divine; they accept the hadiths related to Ali and recognize the imam's authority (</a:t>
            </a:r>
            <a:r>
              <a:rPr lang="en-US" sz="2000" dirty="0" err="1"/>
              <a:t>imamah</a:t>
            </a:r>
            <a:r>
              <a:rPr lang="en-US" sz="2000" dirty="0"/>
              <a:t>). Shiites make up around 10 percent of the world's Muslims. </a:t>
            </a:r>
          </a:p>
          <a:p>
            <a:r>
              <a:rPr lang="en-US" sz="2000" dirty="0"/>
              <a:t>Sunnism is a world-wide sect, with about 90% of Muslims. There are four main legal schools in Sunnism: Hanafi, </a:t>
            </a:r>
            <a:r>
              <a:rPr lang="en-US" sz="2000" dirty="0" err="1"/>
              <a:t>Shafi’ite</a:t>
            </a:r>
            <a:r>
              <a:rPr lang="en-US" sz="2000" dirty="0"/>
              <a:t>, </a:t>
            </a:r>
            <a:r>
              <a:rPr lang="en-US" sz="2000" dirty="0" err="1"/>
              <a:t>Malikite</a:t>
            </a:r>
            <a:r>
              <a:rPr lang="en-US" sz="2000" dirty="0"/>
              <a:t> and </a:t>
            </a:r>
            <a:r>
              <a:rPr lang="en-US" sz="2000" dirty="0" err="1"/>
              <a:t>Hanbalite</a:t>
            </a:r>
            <a:r>
              <a:rPr lang="en-US" sz="2000" dirty="0"/>
              <a:t>.</a:t>
            </a:r>
          </a:p>
        </p:txBody>
      </p:sp>
    </p:spTree>
    <p:extLst>
      <p:ext uri="{BB962C8B-B14F-4D97-AF65-F5344CB8AC3E}">
        <p14:creationId xmlns:p14="http://schemas.microsoft.com/office/powerpoint/2010/main" val="2274299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vert="horz" lIns="91440" tIns="45720" rIns="91440" bIns="45720" rtlCol="0" anchor="ctr">
            <a:normAutofit/>
          </a:bodyPr>
          <a:lstStyle/>
          <a:p>
            <a:r>
              <a:rPr lang="en-US" b="1" kern="1200">
                <a:solidFill>
                  <a:srgbClr val="FFFFFF"/>
                </a:solidFill>
                <a:latin typeface="+mj-lt"/>
                <a:ea typeface="+mj-ea"/>
                <a:cs typeface="+mj-cs"/>
              </a:rPr>
              <a:t>Arab Invasion of Central Asia</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sz="half" idx="1"/>
          </p:nvPr>
        </p:nvSpPr>
        <p:spPr>
          <a:xfrm>
            <a:off x="4167272" y="319088"/>
            <a:ext cx="7466563" cy="6219824"/>
          </a:xfrm>
        </p:spPr>
        <p:txBody>
          <a:bodyPr vert="horz" lIns="91440" tIns="45720" rIns="91440" bIns="45720" rtlCol="0" anchor="ctr">
            <a:normAutofit/>
          </a:bodyPr>
          <a:lstStyle/>
          <a:p>
            <a:r>
              <a:rPr lang="en-US" sz="2200" dirty="0"/>
              <a:t>Under the flag of Islam, Arabic tribal groups united in a vast territory, with a single centralized Arab caliphate. During the medieval and modern periods four major caliphates existed:</a:t>
            </a:r>
          </a:p>
          <a:p>
            <a:pPr marL="0"/>
            <a:r>
              <a:rPr lang="en-US" sz="2200" dirty="0"/>
              <a:t>1) Rashidun Caliphate (632-661)</a:t>
            </a:r>
          </a:p>
          <a:p>
            <a:pPr marL="0"/>
            <a:r>
              <a:rPr lang="en-US" sz="2200" dirty="0"/>
              <a:t>2) </a:t>
            </a:r>
            <a:r>
              <a:rPr lang="en-US" sz="2200" dirty="0" err="1"/>
              <a:t>Ummayad</a:t>
            </a:r>
            <a:r>
              <a:rPr lang="en-US" sz="2200" dirty="0"/>
              <a:t> Caliphate (661-750)</a:t>
            </a:r>
          </a:p>
          <a:p>
            <a:pPr marL="0"/>
            <a:r>
              <a:rPr lang="en-US" sz="2200" dirty="0"/>
              <a:t>3) Abbasid Caliphate (750-1258)</a:t>
            </a:r>
          </a:p>
          <a:p>
            <a:pPr marL="0"/>
            <a:r>
              <a:rPr lang="en-US" sz="2200" dirty="0"/>
              <a:t>4) Ottoman Empire (1517-1924)</a:t>
            </a:r>
          </a:p>
          <a:p>
            <a:r>
              <a:rPr lang="en-US" sz="2200" dirty="0"/>
              <a:t>Along with the Arab invasion, </a:t>
            </a:r>
            <a:r>
              <a:rPr lang="en-US" sz="2200" dirty="0" err="1"/>
              <a:t>Movarounnahr</a:t>
            </a:r>
            <a:r>
              <a:rPr lang="en-US" sz="2200" dirty="0"/>
              <a:t> also embraced Islam</a:t>
            </a:r>
          </a:p>
          <a:p>
            <a:r>
              <a:rPr lang="en-US" sz="2200" dirty="0"/>
              <a:t>The Arab conquest of Central Asia can be divided into two historical periods. In late of the seventh century Arab troops captured southern part of Central Asia, such as Balkh, </a:t>
            </a:r>
            <a:r>
              <a:rPr lang="en-US" sz="2200" dirty="0" err="1"/>
              <a:t>Chaghaniyon</a:t>
            </a:r>
            <a:r>
              <a:rPr lang="en-US" sz="2200" dirty="0"/>
              <a:t>, Marv. During early of the eighth century Arab army under command of </a:t>
            </a:r>
            <a:r>
              <a:rPr lang="en-US" sz="2200" dirty="0" err="1"/>
              <a:t>Qutayba</a:t>
            </a:r>
            <a:r>
              <a:rPr lang="en-US" sz="2200" dirty="0"/>
              <a:t> ibn Muslim conquered Kesh, Samarqand, Tashkent, </a:t>
            </a:r>
            <a:r>
              <a:rPr lang="en-US" sz="2200" dirty="0" err="1"/>
              <a:t>O’sh</a:t>
            </a:r>
            <a:r>
              <a:rPr lang="en-US" sz="2200" dirty="0"/>
              <a:t>, Eastern Turkestan.</a:t>
            </a:r>
          </a:p>
        </p:txBody>
      </p:sp>
    </p:spTree>
    <p:extLst>
      <p:ext uri="{BB962C8B-B14F-4D97-AF65-F5344CB8AC3E}">
        <p14:creationId xmlns:p14="http://schemas.microsoft.com/office/powerpoint/2010/main" val="3778794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2D05657-94EE-4B2D-BC1B-A1D0650636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c 12">
            <a:extLst>
              <a:ext uri="{FF2B5EF4-FFF2-40B4-BE49-F238E27FC236}">
                <a16:creationId xmlns:a16="http://schemas.microsoft.com/office/drawing/2014/main" id="{7586665A-47B3-4AEE-BC94-15D89FF70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65099" y="486184"/>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itle 1"/>
          <p:cNvSpPr>
            <a:spLocks noGrp="1"/>
          </p:cNvSpPr>
          <p:nvPr>
            <p:ph type="title"/>
          </p:nvPr>
        </p:nvSpPr>
        <p:spPr>
          <a:xfrm>
            <a:off x="4184542" y="486184"/>
            <a:ext cx="7363990" cy="1325563"/>
          </a:xfrm>
        </p:spPr>
        <p:txBody>
          <a:bodyPr vert="horz" lIns="91440" tIns="45720" rIns="91440" bIns="45720" rtlCol="0" anchor="ctr">
            <a:normAutofit/>
          </a:bodyPr>
          <a:lstStyle/>
          <a:p>
            <a:r>
              <a:rPr lang="en-US" b="1" kern="1200">
                <a:solidFill>
                  <a:schemeClr val="tx1"/>
                </a:solidFill>
                <a:latin typeface="+mj-lt"/>
                <a:ea typeface="+mj-ea"/>
                <a:cs typeface="+mj-cs"/>
              </a:rPr>
              <a:t>Islamic Philosophy</a:t>
            </a:r>
            <a:endParaRPr lang="en-US" kern="1200">
              <a:solidFill>
                <a:schemeClr val="tx1"/>
              </a:solidFill>
              <a:latin typeface="+mj-lt"/>
              <a:ea typeface="+mj-ea"/>
              <a:cs typeface="+mj-cs"/>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rcRect t="15611" r="3" b="3"/>
          <a:stretch/>
        </p:blipFill>
        <p:spPr>
          <a:xfrm>
            <a:off x="581526" y="258142"/>
            <a:ext cx="3118718" cy="3118718"/>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pic>
        <p:nvPicPr>
          <p:cNvPr id="5" name="Content Placeholder 4"/>
          <p:cNvPicPr>
            <a:picLocks noGrp="1" noChangeAspect="1"/>
          </p:cNvPicPr>
          <p:nvPr>
            <p:ph sz="half" idx="2"/>
          </p:nvPr>
        </p:nvPicPr>
        <p:blipFill>
          <a:blip r:embed="rId3">
            <a:extLst>
              <a:ext uri="{28A0092B-C50C-407E-A947-70E740481C1C}">
                <a14:useLocalDpi xmlns:a14="http://schemas.microsoft.com/office/drawing/2010/main" val="0"/>
              </a:ext>
            </a:extLst>
          </a:blip>
          <a:srcRect l="14044" r="16355" b="-1"/>
          <a:stretch/>
        </p:blipFill>
        <p:spPr>
          <a:xfrm>
            <a:off x="581526" y="3486449"/>
            <a:ext cx="3118718" cy="3118718"/>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sp>
        <p:nvSpPr>
          <p:cNvPr id="3" name="Content Placeholder 2"/>
          <p:cNvSpPr>
            <a:spLocks noGrp="1"/>
          </p:cNvSpPr>
          <p:nvPr>
            <p:ph sz="half" idx="1"/>
          </p:nvPr>
        </p:nvSpPr>
        <p:spPr>
          <a:xfrm>
            <a:off x="4184542" y="1634836"/>
            <a:ext cx="7363990" cy="4663186"/>
          </a:xfrm>
        </p:spPr>
        <p:txBody>
          <a:bodyPr vert="horz" lIns="91440" tIns="45720" rIns="91440" bIns="45720" rtlCol="0">
            <a:noAutofit/>
          </a:bodyPr>
          <a:lstStyle/>
          <a:p>
            <a:r>
              <a:rPr lang="en-US" sz="2000" dirty="0"/>
              <a:t>The </a:t>
            </a:r>
            <a:r>
              <a:rPr lang="en-US" sz="2000" b="1" dirty="0"/>
              <a:t>Islamic Golden Age</a:t>
            </a:r>
            <a:r>
              <a:rPr lang="en-US" sz="2000" dirty="0"/>
              <a:t> is the era in the history of Islam, traditionally dated from the 8th century to the 13th century, during which economic development and cultural works flourished. </a:t>
            </a:r>
          </a:p>
          <a:p>
            <a:r>
              <a:rPr lang="en-US" sz="2000" dirty="0"/>
              <a:t>This period is begun during the reign of the Abbasid caliph Harun al-Rashid (786 - 809) who established House of Wisdom in Baghdad, where scholars from various parts of the world with different cultural backgrounds were mandated to gather and translate all of the world's classical knowledge into the Arabic language.</a:t>
            </a:r>
          </a:p>
          <a:p>
            <a:r>
              <a:rPr lang="en-US" sz="2000" dirty="0"/>
              <a:t> Early Islamic philosophy began in early 9th century and lasted until late 12th century AD. The achievements of this period had a crucial impact on the development of modern philosophy and sciences, for Renaissance Europe. </a:t>
            </a:r>
          </a:p>
          <a:p>
            <a:r>
              <a:rPr lang="en-US" sz="2000" dirty="0"/>
              <a:t>Islamic tradition influenced on all sphere of cultural life in Central Asia.</a:t>
            </a:r>
          </a:p>
        </p:txBody>
      </p:sp>
    </p:spTree>
    <p:extLst>
      <p:ext uri="{BB962C8B-B14F-4D97-AF65-F5344CB8AC3E}">
        <p14:creationId xmlns:p14="http://schemas.microsoft.com/office/powerpoint/2010/main" val="152767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5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arn(inVertic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vert="horz" lIns="91440" tIns="45720" rIns="91440" bIns="45720" rtlCol="0" anchor="ctr">
            <a:normAutofit/>
          </a:bodyPr>
          <a:lstStyle/>
          <a:p>
            <a:r>
              <a:rPr lang="en-US" b="1" kern="1200">
                <a:solidFill>
                  <a:srgbClr val="FFFFFF"/>
                </a:solidFill>
                <a:latin typeface="+mj-lt"/>
                <a:ea typeface="+mj-ea"/>
                <a:cs typeface="+mj-cs"/>
              </a:rPr>
              <a:t>Motrudi</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sz="half" idx="1"/>
          </p:nvPr>
        </p:nvSpPr>
        <p:spPr>
          <a:xfrm>
            <a:off x="4267200" y="319088"/>
            <a:ext cx="7086599" cy="6219824"/>
          </a:xfrm>
        </p:spPr>
        <p:txBody>
          <a:bodyPr vert="horz" lIns="91440" tIns="45720" rIns="91440" bIns="45720" rtlCol="0" anchor="ctr">
            <a:normAutofit/>
          </a:bodyPr>
          <a:lstStyle/>
          <a:p>
            <a:r>
              <a:rPr lang="en-US" sz="2000" dirty="0"/>
              <a:t>His books, titled " Kitab at-tawhid" and "Kitab </a:t>
            </a:r>
            <a:r>
              <a:rPr lang="en-US" sz="2000" dirty="0" err="1"/>
              <a:t>ta'vilot</a:t>
            </a:r>
            <a:r>
              <a:rPr lang="en-US" sz="2000" dirty="0"/>
              <a:t> al-Qur’an", are of great importance among the scholars. </a:t>
            </a:r>
          </a:p>
          <a:p>
            <a:r>
              <a:rPr lang="en-US" sz="2000" dirty="0"/>
              <a:t>According to </a:t>
            </a:r>
            <a:r>
              <a:rPr lang="en-US" sz="2000" dirty="0" err="1"/>
              <a:t>Moturidian</a:t>
            </a:r>
            <a:r>
              <a:rPr lang="en-US" sz="2000" dirty="0"/>
              <a:t> teachings – Allah, man, faith, universe, science are the dominant positions. He tried to justify religious beliefs. He relied on the Koran and tried to justify the existence of Paradise and hell, the limited presence of free will in man, but to assume that man is responsible for his actions before God. This spiritual process is accompanied by Islamic and philosophical views of Aristotle's and his followers (Aristotle's philosophy and those who have agreed to the study of nature). </a:t>
            </a:r>
          </a:p>
          <a:p>
            <a:r>
              <a:rPr lang="en-US" sz="2000" dirty="0"/>
              <a:t>In the tradition of ancient Greek philosophy, political activity and wisdom are often viewed as contradictory, and in Islamic philosophy it is seen as a form of human activity, rather than politics. Management of the state in Islam is art, but it must be adhered in the process of social justice, and that social justice can be stable because of the adherence to equality. According to Islamic philosophy, the future of humanity is shaped by the formation of a perfect human, and morality is an indispensable part of human thought. The Islamic Intellectuals have an interest in the mind and logic, because any knowledge that is not based on logic cannot be reliable and effective. </a:t>
            </a:r>
          </a:p>
        </p:txBody>
      </p:sp>
    </p:spTree>
    <p:extLst>
      <p:ext uri="{BB962C8B-B14F-4D97-AF65-F5344CB8AC3E}">
        <p14:creationId xmlns:p14="http://schemas.microsoft.com/office/powerpoint/2010/main" val="877204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76693" y="741391"/>
            <a:ext cx="4597747" cy="1616203"/>
          </a:xfrm>
        </p:spPr>
        <p:txBody>
          <a:bodyPr vert="horz" lIns="91440" tIns="45720" rIns="91440" bIns="45720" rtlCol="0" anchor="b">
            <a:normAutofit/>
          </a:bodyPr>
          <a:lstStyle/>
          <a:p>
            <a:r>
              <a:rPr lang="en-US" sz="3200" kern="1200" dirty="0">
                <a:solidFill>
                  <a:schemeClr val="tx1"/>
                </a:solidFill>
                <a:latin typeface="+mj-lt"/>
                <a:ea typeface="+mj-ea"/>
                <a:cs typeface="+mj-cs"/>
              </a:rPr>
              <a:t>Sufism</a:t>
            </a:r>
          </a:p>
        </p:txBody>
      </p:sp>
      <p:sp>
        <p:nvSpPr>
          <p:cNvPr id="3" name="Content Placeholder 2"/>
          <p:cNvSpPr>
            <a:spLocks noGrp="1"/>
          </p:cNvSpPr>
          <p:nvPr>
            <p:ph sz="half" idx="1"/>
          </p:nvPr>
        </p:nvSpPr>
        <p:spPr>
          <a:xfrm>
            <a:off x="876693" y="2533476"/>
            <a:ext cx="4597746" cy="3447832"/>
          </a:xfrm>
        </p:spPr>
        <p:txBody>
          <a:bodyPr vert="horz" lIns="91440" tIns="45720" rIns="91440" bIns="45720" rtlCol="0" anchor="t">
            <a:normAutofit lnSpcReduction="10000"/>
          </a:bodyPr>
          <a:lstStyle/>
          <a:p>
            <a:r>
              <a:rPr lang="en-US" sz="2000" dirty="0"/>
              <a:t>Sufism (or Tasawwuf) is often defined as “Islamic mysticism”. Practitioners of Sufism are called “Sufis”. </a:t>
            </a:r>
          </a:p>
          <a:p>
            <a:r>
              <a:rPr lang="en-US" sz="2000" dirty="0"/>
              <a:t>There are different orders (turuq) in Sufism.</a:t>
            </a:r>
          </a:p>
          <a:p>
            <a:r>
              <a:rPr lang="en-US" sz="2000" dirty="0"/>
              <a:t>One of main issues of Sufism is dhikr performance, the practice of remembrance of God. </a:t>
            </a:r>
          </a:p>
          <a:p>
            <a:r>
              <a:rPr lang="en-US" sz="2000" dirty="0"/>
              <a:t>There are three main Sufi orders that were originated and developed by Central Asian scholars: </a:t>
            </a:r>
            <a:r>
              <a:rPr lang="en-US" sz="2000" dirty="0" err="1"/>
              <a:t>Yassawi</a:t>
            </a:r>
            <a:r>
              <a:rPr lang="en-US" sz="2000" dirty="0"/>
              <a:t>, </a:t>
            </a:r>
            <a:r>
              <a:rPr lang="en-US" sz="2000" dirty="0" err="1"/>
              <a:t>Kubrawi</a:t>
            </a:r>
            <a:r>
              <a:rPr lang="en-US" sz="2000" dirty="0"/>
              <a:t> and Naqshbandi.  </a:t>
            </a:r>
          </a:p>
          <a:p>
            <a:endParaRPr lang="en-US" sz="1700" dirty="0"/>
          </a:p>
        </p:txBody>
      </p:sp>
      <p:pic>
        <p:nvPicPr>
          <p:cNvPr id="5" name="Content Placeholder 4" descr="A painting of a person dancing&#10;&#10;Description automatically generated"/>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96001" y="917957"/>
            <a:ext cx="5319062" cy="4947003"/>
          </a:xfrm>
          <a:prstGeom prst="rect">
            <a:avLst/>
          </a:prstGeom>
        </p:spPr>
      </p:pic>
      <p:grpSp>
        <p:nvGrpSpPr>
          <p:cNvPr id="10" name="Group 9">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1" name="Rectangle 10">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16559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23878" y="187209"/>
            <a:ext cx="4491821" cy="682035"/>
          </a:xfrm>
        </p:spPr>
        <p:txBody>
          <a:bodyPr vert="horz" lIns="91440" tIns="45720" rIns="91440" bIns="45720" rtlCol="0" anchor="b">
            <a:normAutofit/>
          </a:bodyPr>
          <a:lstStyle/>
          <a:p>
            <a:r>
              <a:rPr lang="en-US" sz="3200" b="1" dirty="0" err="1"/>
              <a:t>Yassawiya</a:t>
            </a:r>
            <a:r>
              <a:rPr lang="en-US" sz="3200" b="1" dirty="0"/>
              <a:t> Order</a:t>
            </a:r>
          </a:p>
        </p:txBody>
      </p:sp>
      <p:pic>
        <p:nvPicPr>
          <p:cNvPr id="5" name="Picture 4" descr="Cathedral ceiling in yellow sunlight design">
            <a:extLst>
              <a:ext uri="{FF2B5EF4-FFF2-40B4-BE49-F238E27FC236}">
                <a16:creationId xmlns:a16="http://schemas.microsoft.com/office/drawing/2014/main" id="{C17C542E-5BF8-147D-053C-8E769B7A18BF}"/>
              </a:ext>
            </a:extLst>
          </p:cNvPr>
          <p:cNvPicPr>
            <a:picLocks noChangeAspect="1"/>
          </p:cNvPicPr>
          <p:nvPr/>
        </p:nvPicPr>
        <p:blipFill>
          <a:blip r:embed="rId2"/>
          <a:srcRect l="16261" r="17073"/>
          <a:stretch/>
        </p:blipFill>
        <p:spPr>
          <a:xfrm>
            <a:off x="20" y="10"/>
            <a:ext cx="6095980" cy="6857990"/>
          </a:xfrm>
          <a:prstGeom prst="rect">
            <a:avLst/>
          </a:prstGeom>
        </p:spPr>
      </p:pic>
      <p:grpSp>
        <p:nvGrpSpPr>
          <p:cNvPr id="9" name="Group 8">
            <a:extLst>
              <a:ext uri="{FF2B5EF4-FFF2-40B4-BE49-F238E27FC236}">
                <a16:creationId xmlns:a16="http://schemas.microsoft.com/office/drawing/2014/main" id="{5EFBDE31-BB3E-6CFC-23CD-B5976DA38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3362" cy="6858000"/>
            <a:chOff x="12068638" y="0"/>
            <a:chExt cx="123362" cy="6858000"/>
          </a:xfrm>
        </p:grpSpPr>
        <p:sp>
          <p:nvSpPr>
            <p:cNvPr id="10" name="Rectangle 9">
              <a:extLst>
                <a:ext uri="{FF2B5EF4-FFF2-40B4-BE49-F238E27FC236}">
                  <a16:creationId xmlns:a16="http://schemas.microsoft.com/office/drawing/2014/main" id="{180A60EC-72BB-121F-556A-E2837FD99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91A2FAE-D41C-FF5D-B0A0-7808248ED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4139706"/>
              <a:ext cx="123362" cy="2718294"/>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p:cNvSpPr>
            <a:spLocks noGrp="1"/>
          </p:cNvSpPr>
          <p:nvPr>
            <p:ph sz="half" idx="1"/>
          </p:nvPr>
        </p:nvSpPr>
        <p:spPr>
          <a:xfrm>
            <a:off x="6497783" y="1080655"/>
            <a:ext cx="5527962" cy="5590135"/>
          </a:xfrm>
        </p:spPr>
        <p:txBody>
          <a:bodyPr vert="horz" lIns="91440" tIns="45720" rIns="91440" bIns="45720" rtlCol="0" anchor="t">
            <a:normAutofit/>
          </a:bodyPr>
          <a:lstStyle/>
          <a:p>
            <a:r>
              <a:rPr lang="en-US" sz="1900" dirty="0"/>
              <a:t>Khoja Ahmad </a:t>
            </a:r>
            <a:r>
              <a:rPr lang="en-US" sz="1900" dirty="0" err="1"/>
              <a:t>Yassawi</a:t>
            </a:r>
            <a:r>
              <a:rPr lang="en-US" sz="1900" dirty="0"/>
              <a:t> is the founder of </a:t>
            </a:r>
            <a:r>
              <a:rPr lang="en-US" sz="1900" dirty="0" err="1"/>
              <a:t>Yassawi</a:t>
            </a:r>
            <a:r>
              <a:rPr lang="en-US" sz="1900" dirty="0"/>
              <a:t> order, and he was born in </a:t>
            </a:r>
            <a:r>
              <a:rPr lang="en-US" sz="1900" dirty="0" err="1"/>
              <a:t>Sayram</a:t>
            </a:r>
            <a:r>
              <a:rPr lang="en-US" sz="1900" dirty="0"/>
              <a:t> in 1093 and died in 1166 in Turkestan city. </a:t>
            </a:r>
          </a:p>
          <a:p>
            <a:r>
              <a:rPr lang="en-US" sz="1900" dirty="0"/>
              <a:t>The basics of </a:t>
            </a:r>
            <a:r>
              <a:rPr lang="en-US" sz="1900" dirty="0" err="1"/>
              <a:t>Yassawi</a:t>
            </a:r>
            <a:r>
              <a:rPr lang="en-US" sz="1900" dirty="0"/>
              <a:t> are as follows: </a:t>
            </a:r>
          </a:p>
          <a:p>
            <a:pPr marL="514350"/>
            <a:r>
              <a:rPr lang="en-US" sz="1900" dirty="0"/>
              <a:t>Sufi concepts based on Tawhid (oneness of God); </a:t>
            </a:r>
          </a:p>
          <a:p>
            <a:pPr marL="514350"/>
            <a:r>
              <a:rPr lang="en-US" sz="1900" dirty="0"/>
              <a:t>absolute dependence on Qur’an and the Sunnah; </a:t>
            </a:r>
          </a:p>
          <a:p>
            <a:pPr marL="514350"/>
            <a:r>
              <a:rPr lang="en-US" sz="1900" dirty="0"/>
              <a:t>the order that based on Sharia; </a:t>
            </a:r>
          </a:p>
          <a:p>
            <a:pPr marL="514350"/>
            <a:r>
              <a:rPr lang="en-US" sz="1900" dirty="0"/>
              <a:t>sedate (</a:t>
            </a:r>
            <a:r>
              <a:rPr lang="en-US" sz="1900" dirty="0" err="1"/>
              <a:t>khilwa</a:t>
            </a:r>
            <a:r>
              <a:rPr lang="en-US" sz="1900" dirty="0"/>
              <a:t>) and remembrance. </a:t>
            </a:r>
          </a:p>
          <a:p>
            <a:r>
              <a:rPr lang="en-US" sz="1900" dirty="0"/>
              <a:t>In </a:t>
            </a:r>
            <a:r>
              <a:rPr lang="en-US" sz="1900" dirty="0" err="1"/>
              <a:t>Yassawi</a:t>
            </a:r>
            <a:r>
              <a:rPr lang="en-US" sz="1900" dirty="0"/>
              <a:t>, special attention was paid to the acquisition of knowledge, generosity and the struggle against the ego (</a:t>
            </a:r>
            <a:r>
              <a:rPr lang="en-US" sz="1900" dirty="0" err="1"/>
              <a:t>nafs</a:t>
            </a:r>
            <a:r>
              <a:rPr lang="en-US" sz="1900" dirty="0"/>
              <a:t>), and the provision of </a:t>
            </a:r>
            <a:r>
              <a:rPr lang="en-US" sz="1900" i="1" dirty="0"/>
              <a:t>halal</a:t>
            </a:r>
            <a:r>
              <a:rPr lang="en-US" sz="1900" dirty="0"/>
              <a:t> labor. The </a:t>
            </a:r>
            <a:r>
              <a:rPr lang="en-US" sz="1900" dirty="0" err="1"/>
              <a:t>Yassawi</a:t>
            </a:r>
            <a:r>
              <a:rPr lang="en-US" sz="1900" dirty="0"/>
              <a:t> zikr is based on vocal performance. According to Sufism, the true origin of man is universe. Human beings must be brought back to this sacred universe. </a:t>
            </a:r>
          </a:p>
          <a:p>
            <a:r>
              <a:rPr lang="en-US" sz="1900" dirty="0"/>
              <a:t>According to majority scholars, Ahmad </a:t>
            </a:r>
            <a:r>
              <a:rPr lang="en-US" sz="1900" dirty="0" err="1"/>
              <a:t>Yassawi</a:t>
            </a:r>
            <a:r>
              <a:rPr lang="en-US" sz="1900" dirty="0"/>
              <a:t> is the author of “</a:t>
            </a:r>
            <a:r>
              <a:rPr lang="en-US" sz="1900" dirty="0" err="1"/>
              <a:t>Yassawi</a:t>
            </a:r>
            <a:r>
              <a:rPr lang="en-US" sz="1900" dirty="0"/>
              <a:t> </a:t>
            </a:r>
            <a:r>
              <a:rPr lang="en-US" sz="1900" dirty="0" err="1"/>
              <a:t>hikmatlari</a:t>
            </a:r>
            <a:r>
              <a:rPr lang="en-US" sz="1900" dirty="0"/>
              <a:t>”.</a:t>
            </a:r>
          </a:p>
        </p:txBody>
      </p:sp>
    </p:spTree>
    <p:extLst>
      <p:ext uri="{BB962C8B-B14F-4D97-AF65-F5344CB8AC3E}">
        <p14:creationId xmlns:p14="http://schemas.microsoft.com/office/powerpoint/2010/main" val="538453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vert="horz" lIns="91440" tIns="45720" rIns="91440" bIns="45720" rtlCol="0" anchor="ctr">
            <a:normAutofit/>
          </a:bodyPr>
          <a:lstStyle/>
          <a:p>
            <a:r>
              <a:rPr lang="en-US" b="1" kern="1200">
                <a:solidFill>
                  <a:srgbClr val="FFFFFF"/>
                </a:solidFill>
                <a:latin typeface="+mj-lt"/>
                <a:ea typeface="+mj-ea"/>
                <a:cs typeface="+mj-cs"/>
              </a:rPr>
              <a:t>Kubrawiya Order</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sz="half" idx="1"/>
          </p:nvPr>
        </p:nvSpPr>
        <p:spPr>
          <a:xfrm>
            <a:off x="4278490" y="135467"/>
            <a:ext cx="7075310" cy="6403445"/>
          </a:xfrm>
        </p:spPr>
        <p:txBody>
          <a:bodyPr vert="horz" lIns="91440" tIns="45720" rIns="91440" bIns="45720" rtlCol="0" anchor="ctr">
            <a:noAutofit/>
          </a:bodyPr>
          <a:lstStyle/>
          <a:p>
            <a:r>
              <a:rPr lang="en-US" sz="2000" dirty="0" err="1"/>
              <a:t>Najmiddin</a:t>
            </a:r>
            <a:r>
              <a:rPr lang="en-US" sz="2000" dirty="0"/>
              <a:t> Kubra (1145-1221), the founder of the </a:t>
            </a:r>
            <a:r>
              <a:rPr lang="en-US" sz="2000" dirty="0" err="1"/>
              <a:t>Kubraviyya</a:t>
            </a:r>
            <a:r>
              <a:rPr lang="en-US" sz="2000" dirty="0"/>
              <a:t> Sufi order. He was born in Khiva. Kubra's main body of works concerns the analysis of the visionary experience. </a:t>
            </a:r>
          </a:p>
          <a:p>
            <a:r>
              <a:rPr lang="en-US" sz="2000" dirty="0"/>
              <a:t>He wrote numerous important works discussing the visionary experience, including a Sufi commentary on the Quran that he was unable to complete due to his death in 618/1221. Among the works, "</a:t>
            </a:r>
            <a:r>
              <a:rPr lang="en-US" sz="2000" dirty="0" err="1"/>
              <a:t>Sharhus-sunna</a:t>
            </a:r>
            <a:r>
              <a:rPr lang="en-US" sz="2000" dirty="0"/>
              <a:t> </a:t>
            </a:r>
            <a:r>
              <a:rPr lang="en-US" sz="2000" dirty="0" err="1"/>
              <a:t>val-masolih</a:t>
            </a:r>
            <a:r>
              <a:rPr lang="en-US" sz="2000" dirty="0"/>
              <a:t>", "</a:t>
            </a:r>
            <a:r>
              <a:rPr lang="en-US" sz="2000" dirty="0" err="1"/>
              <a:t>Usuli</a:t>
            </a:r>
            <a:r>
              <a:rPr lang="en-US" sz="2000" dirty="0"/>
              <a:t> </a:t>
            </a:r>
            <a:r>
              <a:rPr lang="en-US" sz="2000" dirty="0" err="1"/>
              <a:t>ashara</a:t>
            </a:r>
            <a:r>
              <a:rPr lang="en-US" sz="2000" dirty="0"/>
              <a:t>", "</a:t>
            </a:r>
            <a:r>
              <a:rPr lang="en-US" sz="2000" dirty="0" err="1"/>
              <a:t>Favoihul-jamol</a:t>
            </a:r>
            <a:r>
              <a:rPr lang="en-US" sz="2000" dirty="0"/>
              <a:t>" are popular. </a:t>
            </a:r>
          </a:p>
          <a:p>
            <a:r>
              <a:rPr lang="en-US" sz="2000" dirty="0"/>
              <a:t>The essence of </a:t>
            </a:r>
            <a:r>
              <a:rPr lang="en-US" sz="2000" dirty="0" err="1"/>
              <a:t>Kubraviyya</a:t>
            </a:r>
            <a:r>
              <a:rPr lang="en-US" sz="2000" dirty="0"/>
              <a:t> is embodied in these ways.</a:t>
            </a:r>
          </a:p>
          <a:p>
            <a:pPr marL="0" indent="0">
              <a:buNone/>
            </a:pPr>
            <a:r>
              <a:rPr lang="en-US" sz="2000" dirty="0"/>
              <a:t>1) Facing to God by his/her will</a:t>
            </a:r>
          </a:p>
          <a:p>
            <a:pPr marL="0" indent="0">
              <a:buNone/>
            </a:pPr>
            <a:r>
              <a:rPr lang="en-US" sz="2000" dirty="0"/>
              <a:t>2) To abstain from all kind of tastes. </a:t>
            </a:r>
          </a:p>
          <a:p>
            <a:pPr marL="0" indent="0">
              <a:buNone/>
            </a:pPr>
            <a:r>
              <a:rPr lang="en-US" sz="2000" dirty="0"/>
              <a:t>3) To gain the satisfaction of God </a:t>
            </a:r>
          </a:p>
          <a:p>
            <a:pPr marL="0" indent="0">
              <a:buNone/>
            </a:pPr>
            <a:r>
              <a:rPr lang="en-US" sz="2000" dirty="0"/>
              <a:t>4) To love the truth</a:t>
            </a:r>
          </a:p>
          <a:p>
            <a:r>
              <a:rPr lang="en-US" sz="2000" dirty="0"/>
              <a:t>The </a:t>
            </a:r>
            <a:r>
              <a:rPr lang="en-US" sz="2000" dirty="0" err="1"/>
              <a:t>Kubrawiya</a:t>
            </a:r>
            <a:r>
              <a:rPr lang="en-US" sz="2000" dirty="0"/>
              <a:t> was not largely popular until after Kubra's death in the 13th century. The </a:t>
            </a:r>
            <a:r>
              <a:rPr lang="en-US" sz="2000" dirty="0" err="1"/>
              <a:t>Kubrawiya</a:t>
            </a:r>
            <a:r>
              <a:rPr lang="en-US" sz="2000" dirty="0"/>
              <a:t> found great development outside of Central Asia, but its influence and presence only lasted till the 15th/16th century, when it was overshadowed by the </a:t>
            </a:r>
            <a:r>
              <a:rPr lang="en-US" sz="2000" dirty="0" err="1"/>
              <a:t>Naqshbandiya</a:t>
            </a:r>
            <a:r>
              <a:rPr lang="en-US" sz="2000" dirty="0"/>
              <a:t> during the Ottoman Empire, though some nominal followers survived. Kubra died during the Mongol invasion.</a:t>
            </a:r>
          </a:p>
        </p:txBody>
      </p:sp>
    </p:spTree>
    <p:extLst>
      <p:ext uri="{BB962C8B-B14F-4D97-AF65-F5344CB8AC3E}">
        <p14:creationId xmlns:p14="http://schemas.microsoft.com/office/powerpoint/2010/main" val="1885037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60218" y="591344"/>
            <a:ext cx="3527016" cy="5585619"/>
          </a:xfrm>
        </p:spPr>
        <p:txBody>
          <a:bodyPr vert="horz" lIns="91440" tIns="45720" rIns="91440" bIns="45720" rtlCol="0" anchor="ctr">
            <a:normAutofit/>
          </a:bodyPr>
          <a:lstStyle/>
          <a:p>
            <a:r>
              <a:rPr lang="en-US" sz="4100" b="1" kern="1200" dirty="0" err="1">
                <a:solidFill>
                  <a:srgbClr val="FFFFFF"/>
                </a:solidFill>
                <a:latin typeface="+mj-lt"/>
                <a:ea typeface="+mj-ea"/>
                <a:cs typeface="+mj-cs"/>
              </a:rPr>
              <a:t>Naqshbandiya</a:t>
            </a:r>
            <a:r>
              <a:rPr lang="en-US" sz="4100" b="1" kern="1200" dirty="0">
                <a:solidFill>
                  <a:srgbClr val="FFFFFF"/>
                </a:solidFill>
                <a:latin typeface="+mj-lt"/>
                <a:ea typeface="+mj-ea"/>
                <a:cs typeface="+mj-cs"/>
              </a:rPr>
              <a:t> Order</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sz="half" idx="1"/>
          </p:nvPr>
        </p:nvSpPr>
        <p:spPr>
          <a:xfrm>
            <a:off x="4447308" y="591344"/>
            <a:ext cx="6906491" cy="5585619"/>
          </a:xfrm>
        </p:spPr>
        <p:txBody>
          <a:bodyPr vert="horz" lIns="91440" tIns="45720" rIns="91440" bIns="45720" rtlCol="0" anchor="ctr">
            <a:normAutofit/>
          </a:bodyPr>
          <a:lstStyle/>
          <a:p>
            <a:r>
              <a:rPr lang="en-US" sz="2600" dirty="0" err="1"/>
              <a:t>Bahauddin</a:t>
            </a:r>
            <a:r>
              <a:rPr lang="en-US" sz="2600" dirty="0"/>
              <a:t> </a:t>
            </a:r>
            <a:r>
              <a:rPr lang="en-US" sz="2600" dirty="0" err="1"/>
              <a:t>Naqshband</a:t>
            </a:r>
            <a:r>
              <a:rPr lang="en-US" sz="2600" dirty="0"/>
              <a:t> (1318–1389) was the founder of the Sufi Naqshbandi Order. He was born in the village of Qasr-</a:t>
            </a:r>
            <a:r>
              <a:rPr lang="en-US" sz="2600" dirty="0" err="1"/>
              <a:t>i</a:t>
            </a:r>
            <a:r>
              <a:rPr lang="en-US" sz="2600" dirty="0"/>
              <a:t>-</a:t>
            </a:r>
            <a:r>
              <a:rPr lang="en-US" sz="2600" dirty="0" err="1"/>
              <a:t>Hinduvan</a:t>
            </a:r>
            <a:r>
              <a:rPr lang="en-US" sz="2600" dirty="0"/>
              <a:t> near Bukhara. </a:t>
            </a:r>
          </a:p>
          <a:p>
            <a:r>
              <a:rPr lang="en-US" sz="2600" dirty="0"/>
              <a:t>The essence of this doctrine is clearly illustrated in the slogan "</a:t>
            </a:r>
            <a:r>
              <a:rPr lang="en-US" sz="2600" dirty="0" err="1"/>
              <a:t>Dil</a:t>
            </a:r>
            <a:r>
              <a:rPr lang="en-US" sz="2600" dirty="0"/>
              <a:t> </a:t>
            </a:r>
            <a:r>
              <a:rPr lang="en-US" sz="2600" dirty="0" err="1"/>
              <a:t>ba</a:t>
            </a:r>
            <a:r>
              <a:rPr lang="en-US" sz="2600" dirty="0"/>
              <a:t> </a:t>
            </a:r>
            <a:r>
              <a:rPr lang="en-US" sz="2600" dirty="0" err="1"/>
              <a:t>yoru</a:t>
            </a:r>
            <a:r>
              <a:rPr lang="en-US" sz="2600" dirty="0"/>
              <a:t> </a:t>
            </a:r>
            <a:r>
              <a:rPr lang="en-US" sz="2600" dirty="0" err="1"/>
              <a:t>dast</a:t>
            </a:r>
            <a:r>
              <a:rPr lang="en-US" sz="2600" dirty="0"/>
              <a:t> </a:t>
            </a:r>
            <a:r>
              <a:rPr lang="en-US" sz="2600" dirty="0" err="1"/>
              <a:t>ba</a:t>
            </a:r>
            <a:r>
              <a:rPr lang="en-US" sz="2600" dirty="0"/>
              <a:t> kor” which literally means – "Heart with God, and hands in labor". </a:t>
            </a:r>
          </a:p>
          <a:p>
            <a:r>
              <a:rPr lang="en-US" sz="2600" dirty="0"/>
              <a:t>Man is the result of the grace of Allah and should not forget the world, his heart should always be in Allah, and His hand should be in labor. According to Naqshbandi teaching, Muslims should repeat always the dhikr orally and mentally.</a:t>
            </a:r>
          </a:p>
        </p:txBody>
      </p:sp>
    </p:spTree>
    <p:extLst>
      <p:ext uri="{BB962C8B-B14F-4D97-AF65-F5344CB8AC3E}">
        <p14:creationId xmlns:p14="http://schemas.microsoft.com/office/powerpoint/2010/main" val="393090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2D05657-94EE-4B2D-BC1B-A1D0650636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c 15">
            <a:extLst>
              <a:ext uri="{FF2B5EF4-FFF2-40B4-BE49-F238E27FC236}">
                <a16:creationId xmlns:a16="http://schemas.microsoft.com/office/drawing/2014/main" id="{7586665A-47B3-4AEE-BC94-15D89FF70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65099" y="486184"/>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Заголовок 1"/>
          <p:cNvSpPr>
            <a:spLocks noGrp="1"/>
          </p:cNvSpPr>
          <p:nvPr>
            <p:ph type="title"/>
          </p:nvPr>
        </p:nvSpPr>
        <p:spPr>
          <a:xfrm>
            <a:off x="4184542" y="486184"/>
            <a:ext cx="7363990" cy="1325563"/>
          </a:xfrm>
        </p:spPr>
        <p:txBody>
          <a:bodyPr vert="horz" lIns="91440" tIns="45720" rIns="91440" bIns="45720" rtlCol="0" anchor="ctr">
            <a:normAutofit/>
          </a:bodyPr>
          <a:lstStyle/>
          <a:p>
            <a:r>
              <a:rPr lang="en-US" b="1" kern="1200">
                <a:solidFill>
                  <a:schemeClr val="tx1"/>
                </a:solidFill>
                <a:latin typeface="+mj-lt"/>
                <a:ea typeface="+mj-ea"/>
                <a:cs typeface="+mj-cs"/>
              </a:rPr>
              <a:t>Al-Farabi </a:t>
            </a:r>
          </a:p>
        </p:txBody>
      </p:sp>
      <p:pic>
        <p:nvPicPr>
          <p:cNvPr id="8" name="Объект 7"/>
          <p:cNvPicPr>
            <a:picLocks noGrp="1" noChangeAspect="1"/>
          </p:cNvPicPr>
          <p:nvPr>
            <p:ph sz="half" idx="2"/>
          </p:nvPr>
        </p:nvPicPr>
        <p:blipFill>
          <a:blip r:embed="rId2">
            <a:extLst>
              <a:ext uri="{28A0092B-C50C-407E-A947-70E740481C1C}">
                <a14:useLocalDpi xmlns:a14="http://schemas.microsoft.com/office/drawing/2010/main" val="0"/>
              </a:ext>
            </a:extLst>
          </a:blip>
          <a:srcRect l="8727" r="24726" b="-1"/>
          <a:stretch/>
        </p:blipFill>
        <p:spPr>
          <a:xfrm>
            <a:off x="581526" y="258142"/>
            <a:ext cx="3118718" cy="3118718"/>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pic>
        <p:nvPicPr>
          <p:cNvPr id="9" name="Рисунок 8"/>
          <p:cNvPicPr>
            <a:picLocks noChangeAspect="1"/>
          </p:cNvPicPr>
          <p:nvPr/>
        </p:nvPicPr>
        <p:blipFill>
          <a:blip r:embed="rId3">
            <a:extLst>
              <a:ext uri="{28A0092B-C50C-407E-A947-70E740481C1C}">
                <a14:useLocalDpi xmlns:a14="http://schemas.microsoft.com/office/drawing/2010/main" val="0"/>
              </a:ext>
            </a:extLst>
          </a:blip>
          <a:srcRect t="10236" b="19589"/>
          <a:stretch/>
        </p:blipFill>
        <p:spPr>
          <a:xfrm>
            <a:off x="581526" y="3486449"/>
            <a:ext cx="3118718" cy="3118718"/>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sp>
        <p:nvSpPr>
          <p:cNvPr id="3" name="Объект 2"/>
          <p:cNvSpPr>
            <a:spLocks noGrp="1"/>
          </p:cNvSpPr>
          <p:nvPr>
            <p:ph sz="half" idx="1"/>
          </p:nvPr>
        </p:nvSpPr>
        <p:spPr>
          <a:xfrm>
            <a:off x="4003964" y="1510145"/>
            <a:ext cx="7161380" cy="5095022"/>
          </a:xfrm>
        </p:spPr>
        <p:txBody>
          <a:bodyPr vert="horz" lIns="91440" tIns="45720" rIns="91440" bIns="45720" rtlCol="0">
            <a:noAutofit/>
          </a:bodyPr>
          <a:lstStyle/>
          <a:p>
            <a:r>
              <a:rPr lang="en-US" sz="2200" dirty="0"/>
              <a:t>Al-</a:t>
            </a:r>
            <a:r>
              <a:rPr lang="en-US" sz="2200" dirty="0" err="1"/>
              <a:t>Farabi</a:t>
            </a:r>
            <a:r>
              <a:rPr lang="en-US" sz="2200" dirty="0"/>
              <a:t> (873-950) was prominent scholar who studied in </a:t>
            </a:r>
            <a:r>
              <a:rPr lang="en-US" sz="2200" dirty="0" err="1"/>
              <a:t>fiqh</a:t>
            </a:r>
            <a:r>
              <a:rPr lang="en-US" sz="2200" dirty="0"/>
              <a:t>, </a:t>
            </a:r>
            <a:r>
              <a:rPr lang="en-US" sz="2200" dirty="0" err="1"/>
              <a:t>methaphysics</a:t>
            </a:r>
            <a:r>
              <a:rPr lang="en-US" sz="2200" dirty="0"/>
              <a:t> ethics, logics and political philosophy. </a:t>
            </a:r>
          </a:p>
          <a:p>
            <a:r>
              <a:rPr lang="en-US" sz="2200" dirty="0"/>
              <a:t>He is considered as “the Second Teacher” in Islamic philosophical tradition.  </a:t>
            </a:r>
          </a:p>
          <a:p>
            <a:r>
              <a:rPr lang="en-US" sz="2200" dirty="0"/>
              <a:t>He was invited to Baghdad and contributed to the development of sciences</a:t>
            </a:r>
          </a:p>
          <a:p>
            <a:r>
              <a:rPr lang="en-US" sz="2200" dirty="0"/>
              <a:t>Al-</a:t>
            </a:r>
            <a:r>
              <a:rPr lang="en-US" sz="2200" dirty="0" err="1"/>
              <a:t>Farabi’s</a:t>
            </a:r>
            <a:r>
              <a:rPr lang="en-US" sz="2200" dirty="0"/>
              <a:t> key work – ‘al-Madina al-</a:t>
            </a:r>
            <a:r>
              <a:rPr lang="en-US" sz="2200" dirty="0" err="1"/>
              <a:t>fadila</a:t>
            </a:r>
            <a:r>
              <a:rPr lang="en-US" sz="2200" dirty="0"/>
              <a:t>’ (‘The Virtuous City’)</a:t>
            </a:r>
          </a:p>
          <a:p>
            <a:r>
              <a:rPr lang="en-US" sz="2200" dirty="0"/>
              <a:t>He regarded philosophy as the only route to true knowledge.</a:t>
            </a:r>
          </a:p>
          <a:p>
            <a:r>
              <a:rPr lang="en-US" sz="2200" dirty="0"/>
              <a:t>‘Philosophers have a duty to guide people in all matters of daily life’</a:t>
            </a:r>
          </a:p>
          <a:p>
            <a:r>
              <a:rPr lang="en-US" sz="2200" dirty="0"/>
              <a:t>He described a Platonic utopia in his work ‘al-Madina al-</a:t>
            </a:r>
            <a:r>
              <a:rPr lang="en-US" sz="2200" dirty="0" err="1"/>
              <a:t>fadila</a:t>
            </a:r>
            <a:r>
              <a:rPr lang="en-US" sz="2200" dirty="0"/>
              <a:t>’ </a:t>
            </a:r>
          </a:p>
        </p:txBody>
      </p:sp>
    </p:spTree>
    <p:extLst>
      <p:ext uri="{BB962C8B-B14F-4D97-AF65-F5344CB8AC3E}">
        <p14:creationId xmlns:p14="http://schemas.microsoft.com/office/powerpoint/2010/main" val="1633067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7891482-C38A-4F0C-8183-0121632F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p:cNvSpPr>
            <a:spLocks noGrp="1"/>
          </p:cNvSpPr>
          <p:nvPr>
            <p:ph type="title"/>
          </p:nvPr>
        </p:nvSpPr>
        <p:spPr>
          <a:xfrm>
            <a:off x="5430129" y="486184"/>
            <a:ext cx="6118403" cy="1325563"/>
          </a:xfrm>
        </p:spPr>
        <p:txBody>
          <a:bodyPr vert="horz" lIns="91440" tIns="45720" rIns="91440" bIns="45720" rtlCol="0" anchor="ctr">
            <a:normAutofit/>
          </a:bodyPr>
          <a:lstStyle/>
          <a:p>
            <a:r>
              <a:rPr lang="en-US" b="1"/>
              <a:t>Ibn Sina </a:t>
            </a:r>
          </a:p>
        </p:txBody>
      </p:sp>
      <p:pic>
        <p:nvPicPr>
          <p:cNvPr id="5" name="Объект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43466" y="828473"/>
            <a:ext cx="4100921" cy="2050460"/>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pic>
        <p:nvPicPr>
          <p:cNvPr id="6" name="Рисунок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966" y="3889162"/>
            <a:ext cx="4072421" cy="2121325"/>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3" name="Объект 2"/>
          <p:cNvSpPr>
            <a:spLocks noGrp="1"/>
          </p:cNvSpPr>
          <p:nvPr>
            <p:ph sz="half" idx="1"/>
          </p:nvPr>
        </p:nvSpPr>
        <p:spPr>
          <a:xfrm>
            <a:off x="5223165" y="1524000"/>
            <a:ext cx="6442362" cy="4847816"/>
          </a:xfrm>
        </p:spPr>
        <p:txBody>
          <a:bodyPr vert="horz" lIns="91440" tIns="45720" rIns="91440" bIns="45720" rtlCol="0">
            <a:noAutofit/>
          </a:bodyPr>
          <a:lstStyle/>
          <a:p>
            <a:r>
              <a:rPr lang="en-US" sz="2100" dirty="0"/>
              <a:t>Ibn Sina was born in the village of </a:t>
            </a:r>
            <a:r>
              <a:rPr lang="en-US" sz="2100" dirty="0" err="1"/>
              <a:t>Afshona</a:t>
            </a:r>
            <a:r>
              <a:rPr lang="en-US" sz="2100" dirty="0"/>
              <a:t> near Bukhara. He was a great polymath – astronomer, physician, philosopher and outstanding representative of medical sciences. </a:t>
            </a:r>
          </a:p>
          <a:p>
            <a:r>
              <a:rPr lang="en-US" sz="2100" dirty="0"/>
              <a:t>He was well-known in the West by the name of Avicenna.  </a:t>
            </a:r>
          </a:p>
          <a:p>
            <a:r>
              <a:rPr lang="en-US" sz="2100" dirty="0"/>
              <a:t>He spent his early time in the Court of </a:t>
            </a:r>
            <a:r>
              <a:rPr lang="en-US" sz="2100" dirty="0" err="1"/>
              <a:t>Samanids</a:t>
            </a:r>
            <a:r>
              <a:rPr lang="en-US" sz="2100" dirty="0"/>
              <a:t>.</a:t>
            </a:r>
          </a:p>
          <a:p>
            <a:r>
              <a:rPr lang="en-US" sz="2100" dirty="0"/>
              <a:t>He is the author of more than 200 works. Major works – “Books of Healing”, “Canon of Medicine”.</a:t>
            </a:r>
          </a:p>
          <a:p>
            <a:r>
              <a:rPr lang="en-US" sz="2100" dirty="0"/>
              <a:t>He was interested in Islamic theology, mathematics, physics, psychology, logic and so on.</a:t>
            </a:r>
          </a:p>
          <a:p>
            <a:r>
              <a:rPr lang="en-US" sz="2100" dirty="0"/>
              <a:t>Ibn Sina was the adherent of Aristotle and followed Greek wisdom and methods of reasoning and proof. </a:t>
            </a:r>
          </a:p>
          <a:p>
            <a:r>
              <a:rPr lang="en-US" sz="2100" dirty="0"/>
              <a:t>According to him the soul is distinct from the body. </a:t>
            </a:r>
          </a:p>
        </p:txBody>
      </p:sp>
      <p:sp>
        <p:nvSpPr>
          <p:cNvPr id="13" name="Arc 12">
            <a:extLst>
              <a:ext uri="{FF2B5EF4-FFF2-40B4-BE49-F238E27FC236}">
                <a16:creationId xmlns:a16="http://schemas.microsoft.com/office/drawing/2014/main" id="{DA4B6E73-2318-4814-8EB1-306D537236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064111">
            <a:off x="-991925" y="5644752"/>
            <a:ext cx="2987899" cy="2987899"/>
          </a:xfrm>
          <a:prstGeom prst="arc">
            <a:avLst>
              <a:gd name="adj1" fmla="val 16200000"/>
              <a:gd name="adj2" fmla="val 21581479"/>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8567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r>
              <a:rPr lang="en-US" sz="3200" i="1" dirty="0"/>
              <a:t>Thank you for your attention!</a:t>
            </a:r>
          </a:p>
        </p:txBody>
      </p:sp>
    </p:spTree>
    <p:extLst>
      <p:ext uri="{BB962C8B-B14F-4D97-AF65-F5344CB8AC3E}">
        <p14:creationId xmlns:p14="http://schemas.microsoft.com/office/powerpoint/2010/main" val="1253819162"/>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2607</TotalTime>
  <Words>1774</Words>
  <Application>Microsoft Macintosh PowerPoint</Application>
  <PresentationFormat>Widescreen</PresentationFormat>
  <Paragraphs>90</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Wingdings</vt:lpstr>
      <vt:lpstr>Office Theme</vt:lpstr>
      <vt:lpstr>Inha University in Tashkent</vt:lpstr>
      <vt:lpstr>Outline:</vt:lpstr>
      <vt:lpstr>PowerPoint Presentation</vt:lpstr>
      <vt:lpstr>Islam and Its Principles</vt:lpstr>
      <vt:lpstr>The Pillars of Islam</vt:lpstr>
      <vt:lpstr>The Branches of Islam</vt:lpstr>
      <vt:lpstr>Arab Invasion of Central Asia</vt:lpstr>
      <vt:lpstr>Islamic Philosophy</vt:lpstr>
      <vt:lpstr>Motrudi</vt:lpstr>
      <vt:lpstr>Sufism</vt:lpstr>
      <vt:lpstr>Yassawiya Order</vt:lpstr>
      <vt:lpstr>Kubrawiya Order</vt:lpstr>
      <vt:lpstr>Naqshbandiya Order</vt:lpstr>
      <vt:lpstr>Al-Farabi </vt:lpstr>
      <vt:lpstr>Ibn Sina </vt:lpstr>
      <vt:lpstr>PowerPoint Presentation</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Ёш шарқшуносларнинг академик Убайдулла Каримов номидаги ХI илмий-амалий конференцияси</dc:title>
  <dc:creator>Batal</dc:creator>
  <cp:lastModifiedBy>kyakubov@outlook.com</cp:lastModifiedBy>
  <cp:revision>129</cp:revision>
  <dcterms:created xsi:type="dcterms:W3CDTF">2017-06-29T13:12:25Z</dcterms:created>
  <dcterms:modified xsi:type="dcterms:W3CDTF">2026-09-21T23:27:21Z</dcterms:modified>
</cp:coreProperties>
</file>