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1"/>
  </p:notesMasterIdLst>
  <p:sldIdLst>
    <p:sldId id="257" r:id="rId2"/>
    <p:sldId id="258" r:id="rId3"/>
    <p:sldId id="264" r:id="rId4"/>
    <p:sldId id="260" r:id="rId5"/>
    <p:sldId id="272" r:id="rId6"/>
    <p:sldId id="279" r:id="rId7"/>
    <p:sldId id="273" r:id="rId8"/>
    <p:sldId id="274" r:id="rId9"/>
    <p:sldId id="275" r:id="rId10"/>
    <p:sldId id="276" r:id="rId11"/>
    <p:sldId id="277" r:id="rId12"/>
    <p:sldId id="278" r:id="rId13"/>
    <p:sldId id="280" r:id="rId14"/>
    <p:sldId id="281" r:id="rId15"/>
    <p:sldId id="282" r:id="rId16"/>
    <p:sldId id="283" r:id="rId17"/>
    <p:sldId id="284" r:id="rId18"/>
    <p:sldId id="285" r:id="rId19"/>
    <p:sldId id="27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B506352-A10D-4DF3-88CC-3AD4DFCED331}">
          <p14:sldIdLst>
            <p14:sldId id="257"/>
            <p14:sldId id="258"/>
            <p14:sldId id="264"/>
            <p14:sldId id="260"/>
            <p14:sldId id="272"/>
            <p14:sldId id="279"/>
            <p14:sldId id="273"/>
            <p14:sldId id="274"/>
            <p14:sldId id="275"/>
            <p14:sldId id="276"/>
            <p14:sldId id="277"/>
            <p14:sldId id="278"/>
            <p14:sldId id="280"/>
            <p14:sldId id="281"/>
            <p14:sldId id="282"/>
            <p14:sldId id="283"/>
            <p14:sldId id="284"/>
            <p14:sldId id="285"/>
            <p14:sldId id="27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846" autoAdjust="0"/>
    <p:restoredTop sz="94660" autoAdjust="0"/>
  </p:normalViewPr>
  <p:slideViewPr>
    <p:cSldViewPr snapToGrid="0">
      <p:cViewPr varScale="1">
        <p:scale>
          <a:sx n="57" d="100"/>
          <a:sy n="57" d="100"/>
        </p:scale>
        <p:origin x="168" y="136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6" d="100"/>
          <a:sy n="56" d="100"/>
        </p:scale>
        <p:origin x="285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28954A-FBB2-43C7-8806-7A812F3BF0FA}" type="datetimeFigureOut">
              <a:rPr lang="en-US" smtClean="0"/>
              <a:t>9/14/26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4FF98-851E-4F68-A380-6925F93535FB}" type="slidenum">
              <a:rPr lang="en-US" smtClean="0"/>
              <a:t>‹#›</a:t>
            </a:fld>
            <a:endParaRPr lang="en-US"/>
          </a:p>
        </p:txBody>
      </p:sp>
    </p:spTree>
    <p:extLst>
      <p:ext uri="{BB962C8B-B14F-4D97-AF65-F5344CB8AC3E}">
        <p14:creationId xmlns:p14="http://schemas.microsoft.com/office/powerpoint/2010/main" val="3921440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46F19FD-FD57-4947-9D55-2498B7FB19E0}"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3871558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3716902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46F19FD-FD57-4947-9D55-2498B7FB19E0}"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4019819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46F19FD-FD57-4947-9D55-2498B7FB19E0}"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899509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6F19FD-FD57-4947-9D55-2498B7FB19E0}" type="datetimeFigureOut">
              <a:rPr lang="en-US" smtClean="0"/>
              <a:t>9/14/26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884600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46F19FD-FD57-4947-9D55-2498B7FB19E0}" type="datetimeFigureOut">
              <a:rPr lang="en-US" smtClean="0"/>
              <a:t>9/14/26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3969231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6F19FD-FD57-4947-9D55-2498B7FB19E0}" type="datetimeFigureOut">
              <a:rPr lang="en-US" smtClean="0"/>
              <a:t>9/14/26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413184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46F19FD-FD57-4947-9D55-2498B7FB19E0}"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867195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46F19FD-FD57-4947-9D55-2498B7FB19E0}"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920893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743296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372725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6F19FD-FD57-4947-9D55-2498B7FB19E0}" type="datetimeFigureOut">
              <a:rPr lang="en-US" smtClean="0"/>
              <a:t>9/14/26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F564EE-5F94-48BF-8E5E-F78E102D61BC}" type="slidenum">
              <a:rPr lang="en-US" smtClean="0"/>
              <a:t>‹#›</a:t>
            </a:fld>
            <a:endParaRPr lang="en-US"/>
          </a:p>
        </p:txBody>
      </p:sp>
    </p:spTree>
    <p:extLst>
      <p:ext uri="{BB962C8B-B14F-4D97-AF65-F5344CB8AC3E}">
        <p14:creationId xmlns:p14="http://schemas.microsoft.com/office/powerpoint/2010/main" val="81704501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706029"/>
          </a:xfrm>
        </p:spPr>
        <p:txBody>
          <a:bodyPr>
            <a:noAutofit/>
          </a:bodyPr>
          <a:lstStyle/>
          <a:p>
            <a:pPr algn="ctr"/>
            <a:r>
              <a:rPr lang="en-US" sz="2400" b="1" dirty="0" err="1">
                <a:cs typeface="Arial" pitchFamily="34" charset="0"/>
              </a:rPr>
              <a:t>Inha</a:t>
            </a:r>
            <a:r>
              <a:rPr lang="en-US" sz="2400" b="1" dirty="0">
                <a:cs typeface="Arial" pitchFamily="34" charset="0"/>
              </a:rPr>
              <a:t> University in Tashkent</a:t>
            </a:r>
            <a:endParaRPr lang="ru-RU" sz="2400" b="1" dirty="0">
              <a:cs typeface="Arial" pitchFamily="34" charset="0"/>
            </a:endParaRPr>
          </a:p>
        </p:txBody>
      </p:sp>
      <p:sp>
        <p:nvSpPr>
          <p:cNvPr id="3" name="Content Placeholder 2"/>
          <p:cNvSpPr>
            <a:spLocks noGrp="1"/>
          </p:cNvSpPr>
          <p:nvPr>
            <p:ph idx="1"/>
          </p:nvPr>
        </p:nvSpPr>
        <p:spPr>
          <a:xfrm>
            <a:off x="838200" y="3004457"/>
            <a:ext cx="10515600" cy="3172506"/>
          </a:xfrm>
        </p:spPr>
        <p:txBody>
          <a:bodyPr/>
          <a:lstStyle/>
          <a:p>
            <a:pPr marL="0" indent="0" algn="ctr">
              <a:buNone/>
            </a:pPr>
            <a:r>
              <a:rPr lang="en-US" b="1" i="1" dirty="0">
                <a:latin typeface="Gentium" panose="02000503060000020004" pitchFamily="2" charset="0"/>
              </a:rPr>
              <a:t>Theme 2: </a:t>
            </a:r>
            <a:r>
              <a:rPr lang="en-US" b="1" dirty="0">
                <a:latin typeface="+mj-lt"/>
              </a:rPr>
              <a:t>Eastern and Western Philosophy in Ancient and Classical Periods</a:t>
            </a:r>
            <a:endParaRPr lang="ru-RU" b="1" dirty="0">
              <a:latin typeface="+mj-lt"/>
              <a:cs typeface="Arial" pitchFamily="34" charset="0"/>
            </a:endParaRPr>
          </a:p>
          <a:p>
            <a:endParaRPr lang="en-US" dirty="0"/>
          </a:p>
        </p:txBody>
      </p:sp>
      <p:sp>
        <p:nvSpPr>
          <p:cNvPr id="4" name="Объект 2"/>
          <p:cNvSpPr txBox="1">
            <a:spLocks/>
          </p:cNvSpPr>
          <p:nvPr/>
        </p:nvSpPr>
        <p:spPr>
          <a:xfrm>
            <a:off x="838200" y="5029200"/>
            <a:ext cx="10683240" cy="937260"/>
          </a:xfrm>
          <a:prstGeom prst="rect">
            <a:avLst/>
          </a:prstGeom>
        </p:spPr>
        <p:txBody>
          <a:bodyPr anchor="ctr">
            <a:noAutofit/>
          </a:bodyPr>
          <a:lstStyle>
            <a:lvl1pPr marL="292100" indent="-292100" algn="l" rtl="0"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l" rtl="0"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l" rtl="0"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l" rtl="0"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l" rtl="0"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a:lstStyle>
          <a:p>
            <a:pPr marL="0" indent="0">
              <a:buNone/>
            </a:pPr>
            <a:endParaRPr lang="en-US" sz="1200" dirty="0"/>
          </a:p>
          <a:p>
            <a:pPr marL="0" indent="0">
              <a:buNone/>
            </a:pPr>
            <a:endParaRPr lang="en-US" sz="1200" dirty="0"/>
          </a:p>
          <a:p>
            <a:pPr marL="0" indent="0">
              <a:buNone/>
            </a:pPr>
            <a:endParaRPr lang="ru-RU" sz="1200" dirty="0"/>
          </a:p>
        </p:txBody>
      </p:sp>
    </p:spTree>
    <p:extLst>
      <p:ext uri="{BB962C8B-B14F-4D97-AF65-F5344CB8AC3E}">
        <p14:creationId xmlns:p14="http://schemas.microsoft.com/office/powerpoint/2010/main" val="494772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US" b="1">
                <a:solidFill>
                  <a:srgbClr val="FFFFFF"/>
                </a:solidFill>
              </a:rPr>
              <a:t>Outline: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anchor="ctr">
            <a:normAutofit/>
          </a:bodyPr>
          <a:lstStyle/>
          <a:p>
            <a:pPr>
              <a:buFont typeface="Wingdings" panose="05000000000000000000" pitchFamily="2" charset="2"/>
              <a:buChar char="Ø"/>
            </a:pPr>
            <a:endParaRPr lang="en-US" dirty="0"/>
          </a:p>
          <a:p>
            <a:pPr>
              <a:buFont typeface="Wingdings" panose="05000000000000000000" pitchFamily="2" charset="2"/>
              <a:buChar char="Ø"/>
            </a:pPr>
            <a:r>
              <a:rPr lang="en-US" dirty="0"/>
              <a:t>The Role of Mythology in the Formation of Philosophical Thoughts</a:t>
            </a:r>
          </a:p>
          <a:p>
            <a:pPr marL="0" indent="0">
              <a:buNone/>
            </a:pPr>
            <a:endParaRPr lang="en-US" dirty="0"/>
          </a:p>
          <a:p>
            <a:pPr>
              <a:buFont typeface="Wingdings" panose="05000000000000000000" pitchFamily="2" charset="2"/>
              <a:buChar char="Ø"/>
            </a:pPr>
            <a:r>
              <a:rPr lang="en-US" dirty="0"/>
              <a:t>Eastern Philosophy</a:t>
            </a:r>
          </a:p>
          <a:p>
            <a:r>
              <a:rPr lang="en-US"/>
              <a:t>Egyptian and Babylonian Philosophy </a:t>
            </a:r>
          </a:p>
          <a:p>
            <a:r>
              <a:rPr lang="en-US"/>
              <a:t>Indian Philosophical Thoughts</a:t>
            </a:r>
          </a:p>
          <a:p>
            <a:r>
              <a:rPr lang="en-US"/>
              <a:t>Chinese Philosophy</a:t>
            </a:r>
          </a:p>
          <a:p>
            <a:endParaRPr lang="en-US"/>
          </a:p>
          <a:p>
            <a:pPr>
              <a:buFont typeface="Wingdings" panose="05000000000000000000" pitchFamily="2" charset="2"/>
              <a:buChar char="Ø"/>
            </a:pPr>
            <a:r>
              <a:rPr lang="en-US" dirty="0"/>
              <a:t>Greek Philosophy in Classical Period</a:t>
            </a:r>
            <a:endParaRPr lang="en-US"/>
          </a:p>
          <a:p>
            <a:pPr>
              <a:buFont typeface="Wingdings" panose="05000000000000000000" pitchFamily="2" charset="2"/>
              <a:buChar char="Ø"/>
            </a:pPr>
            <a:endParaRPr lang="en-US"/>
          </a:p>
        </p:txBody>
      </p:sp>
    </p:spTree>
    <p:extLst>
      <p:ext uri="{BB962C8B-B14F-4D97-AF65-F5344CB8AC3E}">
        <p14:creationId xmlns:p14="http://schemas.microsoft.com/office/powerpoint/2010/main" val="3291761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p:cNvSpPr>
            <a:spLocks noGrp="1"/>
          </p:cNvSpPr>
          <p:nvPr>
            <p:ph type="title"/>
          </p:nvPr>
        </p:nvSpPr>
        <p:spPr>
          <a:xfrm>
            <a:off x="1295400" y="669925"/>
            <a:ext cx="4800600" cy="1325563"/>
          </a:xfrm>
        </p:spPr>
        <p:txBody>
          <a:bodyPr vert="horz" lIns="91440" tIns="45720" rIns="91440" bIns="45720" rtlCol="0" anchor="b">
            <a:normAutofit/>
          </a:bodyPr>
          <a:lstStyle/>
          <a:p>
            <a:r>
              <a:rPr lang="en-US" sz="3700" b="1">
                <a:solidFill>
                  <a:schemeClr val="bg1"/>
                </a:solidFill>
              </a:rPr>
              <a:t>Formation of Philosophical Thoughts</a:t>
            </a:r>
          </a:p>
        </p:txBody>
      </p:sp>
      <p:cxnSp>
        <p:nvCxnSpPr>
          <p:cNvPr id="17" name="Straight Connector 16">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370668" y="2288833"/>
            <a:ext cx="5725332" cy="4333638"/>
          </a:xfrm>
        </p:spPr>
        <p:txBody>
          <a:bodyPr vert="horz" lIns="91440" tIns="45720" rIns="91440" bIns="45720" rtlCol="0">
            <a:noAutofit/>
          </a:bodyPr>
          <a:lstStyle/>
          <a:p>
            <a:r>
              <a:rPr lang="en-US" sz="2000" dirty="0">
                <a:solidFill>
                  <a:schemeClr val="bg1"/>
                </a:solidFill>
              </a:rPr>
              <a:t>Philosophical thought, firstly, in the East and in the West, was originated from mythology as the first form of social consciousness. </a:t>
            </a:r>
          </a:p>
          <a:p>
            <a:r>
              <a:rPr lang="en-US" sz="2000" dirty="0">
                <a:solidFill>
                  <a:schemeClr val="bg1"/>
                </a:solidFill>
              </a:rPr>
              <a:t>The term mythology is derived from Middle French and it means "exposition of myths". The term appeared in the 15</a:t>
            </a:r>
            <a:r>
              <a:rPr lang="en-US" sz="2000" baseline="30000" dirty="0">
                <a:solidFill>
                  <a:schemeClr val="bg1"/>
                </a:solidFill>
              </a:rPr>
              <a:t>th</a:t>
            </a:r>
            <a:r>
              <a:rPr lang="en-US" sz="2000" dirty="0">
                <a:solidFill>
                  <a:schemeClr val="bg1"/>
                </a:solidFill>
              </a:rPr>
              <a:t> century. </a:t>
            </a:r>
          </a:p>
          <a:p>
            <a:r>
              <a:rPr lang="en-US" sz="2000" dirty="0">
                <a:solidFill>
                  <a:schemeClr val="bg1"/>
                </a:solidFill>
              </a:rPr>
              <a:t>Mythology explains the world and all phenomena in it by the action of gods and heroes. </a:t>
            </a:r>
          </a:p>
          <a:p>
            <a:r>
              <a:rPr lang="en-US" sz="2000" dirty="0">
                <a:solidFill>
                  <a:schemeClr val="bg1"/>
                </a:solidFill>
              </a:rPr>
              <a:t>A number of religious-philosophical questions were posed in mythology for the first time in the history of mankind: </a:t>
            </a:r>
            <a:r>
              <a:rPr lang="en-US" sz="2000" i="1" dirty="0">
                <a:solidFill>
                  <a:schemeClr val="bg1"/>
                </a:solidFill>
              </a:rPr>
              <a:t>how did the world come into being and how does it develop; what is existence and death?, </a:t>
            </a:r>
            <a:r>
              <a:rPr lang="en-US" sz="2000" dirty="0">
                <a:solidFill>
                  <a:schemeClr val="bg1"/>
                </a:solidFill>
              </a:rPr>
              <a:t>and others</a:t>
            </a:r>
            <a:r>
              <a:rPr lang="en-US" sz="2000" i="1" dirty="0">
                <a:solidFill>
                  <a:schemeClr val="bg1"/>
                </a:solidFill>
              </a:rPr>
              <a:t>. </a:t>
            </a:r>
            <a:endParaRPr lang="en-US" sz="2000" dirty="0">
              <a:solidFill>
                <a:schemeClr val="bg1"/>
              </a:solidFill>
            </a:endParaRPr>
          </a:p>
        </p:txBody>
      </p:sp>
      <p:pic>
        <p:nvPicPr>
          <p:cNvPr id="9" name="Content Placeholder 8"/>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653475" y="369913"/>
            <a:ext cx="3572076" cy="2784532"/>
          </a:xfrm>
          <a:prstGeom prst="rect">
            <a:avLst/>
          </a:prstGeom>
        </p:spPr>
      </p:pic>
      <p:sp>
        <p:nvSpPr>
          <p:cNvPr id="19" name="Rectangle 18">
            <a:extLst>
              <a:ext uri="{FF2B5EF4-FFF2-40B4-BE49-F238E27FC236}">
                <a16:creationId xmlns:a16="http://schemas.microsoft.com/office/drawing/2014/main" id="{C87417AF-190E-4D6E-AFA6-7D3E84B0B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603" y="182859"/>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38661" y="4113228"/>
            <a:ext cx="3588640" cy="2018610"/>
          </a:xfrm>
          <a:prstGeom prst="rect">
            <a:avLst/>
          </a:prstGeom>
        </p:spPr>
      </p:pic>
      <p:sp>
        <p:nvSpPr>
          <p:cNvPr id="21" name="Rectangle 20">
            <a:extLst>
              <a:ext uri="{FF2B5EF4-FFF2-40B4-BE49-F238E27FC236}">
                <a16:creationId xmlns:a16="http://schemas.microsoft.com/office/drawing/2014/main" id="{80B30ED8-273E-4C07-8568-2FE5CC5C4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5071" y="3543213"/>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7908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E60C6D-4E85-4E14-BCDF-BF15C241F7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51294" y="486184"/>
            <a:ext cx="5397237" cy="1325563"/>
          </a:xfrm>
        </p:spPr>
        <p:txBody>
          <a:bodyPr vert="horz" lIns="91440" tIns="45720" rIns="91440" bIns="45720" rtlCol="0" anchor="ctr">
            <a:normAutofit fontScale="90000"/>
          </a:bodyPr>
          <a:lstStyle/>
          <a:p>
            <a:r>
              <a:rPr lang="en-US" b="1"/>
              <a:t>Egyptian and Babylonian Philosophy </a:t>
            </a:r>
          </a:p>
        </p:txBody>
      </p:sp>
      <p:pic>
        <p:nvPicPr>
          <p:cNvPr id="8" name="Content Placeholder 7"/>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98353" y="598677"/>
            <a:ext cx="4104045" cy="2733294"/>
          </a:xfrm>
          <a:custGeom>
            <a:avLst/>
            <a:gdLst/>
            <a:ahLst/>
            <a:cxnLst/>
            <a:rect l="l" t="t" r="r" b="b"/>
            <a:pathLst>
              <a:path w="4555700" h="2733294">
                <a:moveTo>
                  <a:pt x="82217" y="0"/>
                </a:moveTo>
                <a:lnTo>
                  <a:pt x="4473483" y="0"/>
                </a:lnTo>
                <a:cubicBezTo>
                  <a:pt x="4518890" y="0"/>
                  <a:pt x="4555700" y="36810"/>
                  <a:pt x="4555700" y="82217"/>
                </a:cubicBezTo>
                <a:lnTo>
                  <a:pt x="4555700" y="2651077"/>
                </a:lnTo>
                <a:cubicBezTo>
                  <a:pt x="4555700" y="2696484"/>
                  <a:pt x="4518890" y="2733294"/>
                  <a:pt x="4473483" y="2733294"/>
                </a:cubicBezTo>
                <a:lnTo>
                  <a:pt x="82217" y="2733294"/>
                </a:lnTo>
                <a:cubicBezTo>
                  <a:pt x="36810" y="2733294"/>
                  <a:pt x="0" y="2696484"/>
                  <a:pt x="0" y="2651077"/>
                </a:cubicBezTo>
                <a:lnTo>
                  <a:pt x="0" y="82217"/>
                </a:lnTo>
                <a:cubicBezTo>
                  <a:pt x="0" y="36810"/>
                  <a:pt x="36810" y="0"/>
                  <a:pt x="82217" y="0"/>
                </a:cubicBezTo>
                <a:close/>
              </a:path>
            </a:pathLst>
          </a:custGeom>
        </p:spPr>
      </p:pic>
      <p:sp>
        <p:nvSpPr>
          <p:cNvPr id="17" name="Freeform: Shape 16">
            <a:extLst>
              <a:ext uri="{FF2B5EF4-FFF2-40B4-BE49-F238E27FC236}">
                <a16:creationId xmlns:a16="http://schemas.microsoft.com/office/drawing/2014/main" id="{7D42D292-4C48-479B-9E59-E29CD9871C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353" y="3526029"/>
            <a:ext cx="4099939" cy="2733293"/>
          </a:xfrm>
          <a:custGeom>
            <a:avLst/>
            <a:gdLst/>
            <a:ahLst/>
            <a:cxnLst/>
            <a:rect l="l" t="t" r="r" b="b"/>
            <a:pathLst>
              <a:path w="4438338" h="2323972">
                <a:moveTo>
                  <a:pt x="69905" y="0"/>
                </a:moveTo>
                <a:lnTo>
                  <a:pt x="4368433" y="0"/>
                </a:lnTo>
                <a:cubicBezTo>
                  <a:pt x="4407040" y="0"/>
                  <a:pt x="4438338" y="31298"/>
                  <a:pt x="4438338" y="69905"/>
                </a:cubicBezTo>
                <a:lnTo>
                  <a:pt x="4438338" y="2254067"/>
                </a:lnTo>
                <a:cubicBezTo>
                  <a:pt x="4438338" y="2292674"/>
                  <a:pt x="4407040" y="2323972"/>
                  <a:pt x="4368433" y="2323972"/>
                </a:cubicBezTo>
                <a:lnTo>
                  <a:pt x="69905" y="2323972"/>
                </a:lnTo>
                <a:cubicBezTo>
                  <a:pt x="31298" y="2323972"/>
                  <a:pt x="0" y="2292674"/>
                  <a:pt x="0" y="2254067"/>
                </a:cubicBezTo>
                <a:lnTo>
                  <a:pt x="0" y="69905"/>
                </a:lnTo>
                <a:cubicBezTo>
                  <a:pt x="0" y="31298"/>
                  <a:pt x="31298" y="0"/>
                  <a:pt x="69905" y="0"/>
                </a:cubicBezTo>
                <a:close/>
              </a:path>
            </a:pathLst>
          </a:custGeom>
        </p:spPr>
      </p:pic>
      <p:sp>
        <p:nvSpPr>
          <p:cNvPr id="3" name="Content Placeholder 2"/>
          <p:cNvSpPr>
            <a:spLocks noGrp="1"/>
          </p:cNvSpPr>
          <p:nvPr>
            <p:ph sz="half" idx="1"/>
          </p:nvPr>
        </p:nvSpPr>
        <p:spPr>
          <a:xfrm>
            <a:off x="6151294" y="1946684"/>
            <a:ext cx="5397237" cy="4351338"/>
          </a:xfrm>
        </p:spPr>
        <p:txBody>
          <a:bodyPr vert="horz" lIns="91440" tIns="45720" rIns="91440" bIns="45720" rtlCol="0">
            <a:normAutofit/>
          </a:bodyPr>
          <a:lstStyle/>
          <a:p>
            <a:endParaRPr lang="en-US" sz="2200"/>
          </a:p>
          <a:p>
            <a:r>
              <a:rPr lang="en-US" sz="2200"/>
              <a:t>Some of the earliest religious-philosophical ideas developed in the historical territories of modern Egypt and Iraq. </a:t>
            </a:r>
          </a:p>
          <a:p>
            <a:r>
              <a:rPr lang="en-US" sz="2200"/>
              <a:t>Babylon was originally a small city dating from the period of the Akkadian Empire c. 2300 BC. The town became an independent city-state in the 19</a:t>
            </a:r>
            <a:r>
              <a:rPr lang="en-US" sz="2200" baseline="30000"/>
              <a:t>th</a:t>
            </a:r>
            <a:r>
              <a:rPr lang="en-US" sz="2200"/>
              <a:t> century BC. </a:t>
            </a:r>
          </a:p>
          <a:p>
            <a:r>
              <a:rPr lang="en-US" sz="2200"/>
              <a:t>religio-philosophical thoughts were well reflected in the works – “The Dialogue between Master and his Slave on the Essence of Life”, “The song of Arfist”</a:t>
            </a:r>
          </a:p>
        </p:txBody>
      </p:sp>
      <p:sp>
        <p:nvSpPr>
          <p:cNvPr id="19" name="Arc 18">
            <a:extLst>
              <a:ext uri="{FF2B5EF4-FFF2-40B4-BE49-F238E27FC236}">
                <a16:creationId xmlns:a16="http://schemas.microsoft.com/office/drawing/2014/main" id="{533DF362-939D-4EEE-8DC4-6B54607E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95198">
            <a:off x="1539683" y="162676"/>
            <a:ext cx="4083433" cy="4083433"/>
          </a:xfrm>
          <a:prstGeom prst="arc">
            <a:avLst>
              <a:gd name="adj1" fmla="val 17445962"/>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2969911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79143" y="1114373"/>
            <a:ext cx="5221625" cy="4629255"/>
          </a:xfrm>
          <a:prstGeom prst="rect">
            <a:avLst/>
          </a:prstGeom>
        </p:spPr>
      </p:pic>
      <p:sp>
        <p:nvSpPr>
          <p:cNvPr id="3" name="Content Placeholder 2"/>
          <p:cNvSpPr>
            <a:spLocks noGrp="1"/>
          </p:cNvSpPr>
          <p:nvPr>
            <p:ph sz="half" idx="1"/>
          </p:nvPr>
        </p:nvSpPr>
        <p:spPr>
          <a:xfrm>
            <a:off x="6392583" y="581892"/>
            <a:ext cx="4434721" cy="5774458"/>
          </a:xfrm>
        </p:spPr>
        <p:txBody>
          <a:bodyPr vert="horz" lIns="91440" tIns="45720" rIns="91440" bIns="45720" rtlCol="0" anchor="t">
            <a:normAutofit lnSpcReduction="10000"/>
          </a:bodyPr>
          <a:lstStyle/>
          <a:p>
            <a:r>
              <a:rPr lang="en-US" dirty="0">
                <a:solidFill>
                  <a:schemeClr val="tx1">
                    <a:alpha val="80000"/>
                  </a:schemeClr>
                </a:solidFill>
              </a:rPr>
              <a:t>The characteristic feature of philosophy of ancient Egypt and Babylon was, on the one hand, belief in gods, the influence of divine powers on nature and society. </a:t>
            </a:r>
          </a:p>
          <a:p>
            <a:r>
              <a:rPr lang="en-US" dirty="0">
                <a:solidFill>
                  <a:schemeClr val="tx1">
                    <a:alpha val="80000"/>
                  </a:schemeClr>
                </a:solidFill>
              </a:rPr>
              <a:t>But on the other hand, the religious views resulted in the formation of secular knowledge and scientific thoughts. It should be noted that this feature is distinctive for all the civilizations in ancient times. </a:t>
            </a:r>
          </a:p>
          <a:p>
            <a:endParaRPr lang="en-US" sz="2000" dirty="0">
              <a:solidFill>
                <a:schemeClr val="tx1">
                  <a:alpha val="80000"/>
                </a:schemeClr>
              </a:solidFill>
            </a:endParaRPr>
          </a:p>
        </p:txBody>
      </p:sp>
      <p:cxnSp>
        <p:nvCxnSpPr>
          <p:cNvPr id="14" name="Straight Connector 13">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8361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31BF440-39FA-4087-84CC-2EEC0BBDA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Рисунок 4" descr="A group of egyptian gods&#10;&#10;Description automatically generated"/>
          <p:cNvPicPr>
            <a:picLocks noChangeAspect="1"/>
          </p:cNvPicPr>
          <p:nvPr/>
        </p:nvPicPr>
        <p:blipFill>
          <a:blip r:embed="rId2">
            <a:extLst>
              <a:ext uri="{28A0092B-C50C-407E-A947-70E740481C1C}">
                <a14:useLocalDpi xmlns:a14="http://schemas.microsoft.com/office/drawing/2010/main" val="0"/>
              </a:ext>
            </a:extLst>
          </a:blip>
          <a:srcRect t="9037" r="-2" b="9476"/>
          <a:stretch/>
        </p:blipFill>
        <p:spPr>
          <a:xfrm>
            <a:off x="4883025" y="10"/>
            <a:ext cx="7308975" cy="3364982"/>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p:spPr>
      </p:pic>
      <p:pic>
        <p:nvPicPr>
          <p:cNvPr id="6" name="Рисунок 5" descr="A blue brick wall with animal sculptures&#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rcRect t="18153" r="-2" b="-2"/>
          <a:stretch/>
        </p:blipFill>
        <p:spPr>
          <a:xfrm>
            <a:off x="4883025" y="3493008"/>
            <a:ext cx="7308975" cy="3364992"/>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p:spPr>
      </p:pic>
      <p:sp useBgFill="1">
        <p:nvSpPr>
          <p:cNvPr id="13" name="Freeform: Shape 12">
            <a:extLst>
              <a:ext uri="{FF2B5EF4-FFF2-40B4-BE49-F238E27FC236}">
                <a16:creationId xmlns:a16="http://schemas.microsoft.com/office/drawing/2014/main" id="{F04E4CBA-303B-48BD-8451-C2701CB0E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4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4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4" y="0"/>
                </a:lnTo>
                <a:lnTo>
                  <a:pt x="4946006" y="69271"/>
                </a:lnTo>
                <a:cubicBezTo>
                  <a:pt x="5656532" y="929100"/>
                  <a:pt x="6096001" y="2116944"/>
                  <a:pt x="6096001" y="3429000"/>
                </a:cubicBezTo>
                <a:cubicBezTo>
                  <a:pt x="6096001" y="4741056"/>
                  <a:pt x="5656532" y="5928900"/>
                  <a:pt x="4946006" y="6788730"/>
                </a:cubicBezTo>
                <a:lnTo>
                  <a:pt x="4883024"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F6CA58B3-AFCC-4A40-9882-50D50808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7332" cy="6858000"/>
          </a:xfrm>
          <a:custGeom>
            <a:avLst/>
            <a:gdLst>
              <a:gd name="connsiteX0" fmla="*/ 0 w 6087332"/>
              <a:gd name="connsiteY0" fmla="*/ 0 h 6858000"/>
              <a:gd name="connsiteX1" fmla="*/ 4874355 w 6087332"/>
              <a:gd name="connsiteY1" fmla="*/ 0 h 6858000"/>
              <a:gd name="connsiteX2" fmla="*/ 4937337 w 6087332"/>
              <a:gd name="connsiteY2" fmla="*/ 69271 h 6858000"/>
              <a:gd name="connsiteX3" fmla="*/ 6087332 w 6087332"/>
              <a:gd name="connsiteY3" fmla="*/ 3429000 h 6858000"/>
              <a:gd name="connsiteX4" fmla="*/ 4937337 w 6087332"/>
              <a:gd name="connsiteY4" fmla="*/ 6788730 h 6858000"/>
              <a:gd name="connsiteX5" fmla="*/ 4874355 w 6087332"/>
              <a:gd name="connsiteY5" fmla="*/ 6858000 h 6858000"/>
              <a:gd name="connsiteX6" fmla="*/ 0 w 6087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7332" h="6858000">
                <a:moveTo>
                  <a:pt x="0" y="0"/>
                </a:moveTo>
                <a:lnTo>
                  <a:pt x="4874355" y="0"/>
                </a:lnTo>
                <a:lnTo>
                  <a:pt x="4937337" y="69271"/>
                </a:lnTo>
                <a:cubicBezTo>
                  <a:pt x="5647863" y="929100"/>
                  <a:pt x="6087332" y="2116944"/>
                  <a:pt x="6087332" y="3429000"/>
                </a:cubicBezTo>
                <a:cubicBezTo>
                  <a:pt x="6087332" y="4741056"/>
                  <a:pt x="5647863" y="5928900"/>
                  <a:pt x="4937337" y="6788730"/>
                </a:cubicBezTo>
                <a:lnTo>
                  <a:pt x="4874355"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Заголовок 1"/>
          <p:cNvSpPr>
            <a:spLocks noGrp="1"/>
          </p:cNvSpPr>
          <p:nvPr>
            <p:ph type="title"/>
          </p:nvPr>
        </p:nvSpPr>
        <p:spPr>
          <a:xfrm>
            <a:off x="448056" y="859536"/>
            <a:ext cx="4832802" cy="1243584"/>
          </a:xfrm>
        </p:spPr>
        <p:txBody>
          <a:bodyPr vert="horz" lIns="91440" tIns="45720" rIns="91440" bIns="45720" rtlCol="0" anchor="ctr">
            <a:normAutofit/>
          </a:bodyPr>
          <a:lstStyle/>
          <a:p>
            <a:r>
              <a:rPr lang="en-US" sz="3400" b="1" kern="1200">
                <a:solidFill>
                  <a:schemeClr val="tx1"/>
                </a:solidFill>
                <a:latin typeface="+mj-lt"/>
                <a:ea typeface="+mj-ea"/>
                <a:cs typeface="+mj-cs"/>
              </a:rPr>
              <a:t>Features of Ancient Period</a:t>
            </a:r>
          </a:p>
        </p:txBody>
      </p:sp>
      <p:sp>
        <p:nvSpPr>
          <p:cNvPr id="17" name="Rectangle 16">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9" name="Rectangle 18">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544" y="2194560"/>
            <a:ext cx="4892040" cy="18288"/>
          </a:xfrm>
          <a:prstGeom prst="rect">
            <a:avLst/>
          </a:prstGeom>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CA00AE6B-AA30-4CF8-BA6F-339B780AD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544" y="2194560"/>
            <a:ext cx="4892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Объект 2"/>
          <p:cNvSpPr>
            <a:spLocks noGrp="1"/>
          </p:cNvSpPr>
          <p:nvPr>
            <p:ph sz="half" idx="1"/>
          </p:nvPr>
        </p:nvSpPr>
        <p:spPr>
          <a:xfrm>
            <a:off x="448056" y="2512611"/>
            <a:ext cx="4832803" cy="3664351"/>
          </a:xfrm>
        </p:spPr>
        <p:txBody>
          <a:bodyPr vert="horz" lIns="91440" tIns="45720" rIns="91440" bIns="45720" rtlCol="0">
            <a:normAutofit/>
          </a:bodyPr>
          <a:lstStyle/>
          <a:p>
            <a:pPr>
              <a:lnSpc>
                <a:spcPct val="200000"/>
              </a:lnSpc>
            </a:pPr>
            <a:r>
              <a:rPr lang="en-US" sz="2600" dirty="0"/>
              <a:t>Polytheism</a:t>
            </a:r>
          </a:p>
          <a:p>
            <a:pPr>
              <a:lnSpc>
                <a:spcPct val="200000"/>
              </a:lnSpc>
            </a:pPr>
            <a:r>
              <a:rPr lang="en-US" sz="2600" dirty="0"/>
              <a:t>Believe in magic</a:t>
            </a:r>
          </a:p>
          <a:p>
            <a:pPr>
              <a:lnSpc>
                <a:spcPct val="200000"/>
              </a:lnSpc>
            </a:pPr>
            <a:r>
              <a:rPr lang="en-US" sz="2600" dirty="0"/>
              <a:t>Divinity of ruler</a:t>
            </a:r>
          </a:p>
        </p:txBody>
      </p:sp>
    </p:spTree>
    <p:extLst>
      <p:ext uri="{BB962C8B-B14F-4D97-AF65-F5344CB8AC3E}">
        <p14:creationId xmlns:p14="http://schemas.microsoft.com/office/powerpoint/2010/main" val="1331782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2D05657-94EE-4B2D-BC1B-A1D0650636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c 12">
            <a:extLst>
              <a:ext uri="{FF2B5EF4-FFF2-40B4-BE49-F238E27FC236}">
                <a16:creationId xmlns:a16="http://schemas.microsoft.com/office/drawing/2014/main" id="{7586665A-47B3-4AEE-BC94-15D89FF70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65099" y="486184"/>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itle 1"/>
          <p:cNvSpPr>
            <a:spLocks noGrp="1"/>
          </p:cNvSpPr>
          <p:nvPr>
            <p:ph type="title"/>
          </p:nvPr>
        </p:nvSpPr>
        <p:spPr>
          <a:xfrm>
            <a:off x="4184542" y="486184"/>
            <a:ext cx="7363990" cy="1325563"/>
          </a:xfrm>
        </p:spPr>
        <p:txBody>
          <a:bodyPr vert="horz" lIns="91440" tIns="45720" rIns="91440" bIns="45720" rtlCol="0" anchor="ctr">
            <a:normAutofit/>
          </a:bodyPr>
          <a:lstStyle/>
          <a:p>
            <a:r>
              <a:rPr lang="en-US" b="1" kern="1200">
                <a:solidFill>
                  <a:schemeClr val="tx1"/>
                </a:solidFill>
                <a:latin typeface="+mj-lt"/>
                <a:ea typeface="+mj-ea"/>
                <a:cs typeface="+mj-cs"/>
              </a:rPr>
              <a:t>Indian Philosophy</a:t>
            </a:r>
            <a:br>
              <a:rPr lang="en-US" b="1" kern="1200">
                <a:solidFill>
                  <a:schemeClr val="tx1"/>
                </a:solidFill>
                <a:latin typeface="+mj-lt"/>
                <a:ea typeface="+mj-ea"/>
                <a:cs typeface="+mj-cs"/>
              </a:rPr>
            </a:br>
            <a:endParaRPr lang="en-US" b="1" kern="1200">
              <a:solidFill>
                <a:schemeClr val="tx1"/>
              </a:solidFill>
              <a:latin typeface="+mj-lt"/>
              <a:ea typeface="+mj-ea"/>
              <a:cs typeface="+mj-cs"/>
            </a:endParaRP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rcRect t="6428" r="-2" b="10237"/>
          <a:stretch/>
        </p:blipFill>
        <p:spPr>
          <a:xfrm>
            <a:off x="581526" y="258142"/>
            <a:ext cx="3118718" cy="3118718"/>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rcRect l="3417" r="29836" b="3"/>
          <a:stretch/>
        </p:blipFill>
        <p:spPr>
          <a:xfrm>
            <a:off x="581526" y="3486449"/>
            <a:ext cx="3118718" cy="3118718"/>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sp>
        <p:nvSpPr>
          <p:cNvPr id="3" name="Content Placeholder 2"/>
          <p:cNvSpPr>
            <a:spLocks noGrp="1"/>
          </p:cNvSpPr>
          <p:nvPr>
            <p:ph sz="half" idx="1"/>
          </p:nvPr>
        </p:nvSpPr>
        <p:spPr>
          <a:xfrm>
            <a:off x="4184542" y="1946684"/>
            <a:ext cx="7363990" cy="4351338"/>
          </a:xfrm>
        </p:spPr>
        <p:txBody>
          <a:bodyPr vert="horz" lIns="91440" tIns="45720" rIns="91440" bIns="45720" rtlCol="0">
            <a:normAutofit/>
          </a:bodyPr>
          <a:lstStyle/>
          <a:p>
            <a:r>
              <a:rPr lang="en-US" sz="2400"/>
              <a:t>Ancient India is also one of the cradles of human civilization. The original doctrines of Indian ancient philosophy are demonstrated in the written sources such as the Vedas. </a:t>
            </a:r>
          </a:p>
          <a:p>
            <a:r>
              <a:rPr lang="en-US" sz="2400"/>
              <a:t>The Vedas are sacred texts, written in circa 1,500 BC, a religious science and prophetic book. The Hindus regard Vedas as the words spoken by the Supreme Lord – Brahma. The Vedas contain ancient Hindu history, economy, religion, philosophy, morality. The Vedas have come to us in the form of four collections (samhites). These are "Rigveda", "Samaveda", "Yajurveda", "Adharvaveda".</a:t>
            </a:r>
          </a:p>
        </p:txBody>
      </p:sp>
    </p:spTree>
    <p:extLst>
      <p:ext uri="{BB962C8B-B14F-4D97-AF65-F5344CB8AC3E}">
        <p14:creationId xmlns:p14="http://schemas.microsoft.com/office/powerpoint/2010/main" val="1990819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inVertical)">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7891482-C38A-4F0C-8183-0121632F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430129" y="486184"/>
            <a:ext cx="6118403" cy="1325563"/>
          </a:xfrm>
        </p:spPr>
        <p:txBody>
          <a:bodyPr vert="horz" lIns="91440" tIns="45720" rIns="91440" bIns="45720" rtlCol="0" anchor="ctr">
            <a:normAutofit/>
          </a:bodyPr>
          <a:lstStyle/>
          <a:p>
            <a:r>
              <a:rPr lang="en-US" b="1"/>
              <a:t>Upanishads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6" y="650020"/>
            <a:ext cx="4100921" cy="2407366"/>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pic>
        <p:nvPicPr>
          <p:cNvPr id="5" name="Content Placeholder 4"/>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2419554" y="3543300"/>
            <a:ext cx="2324833" cy="2813049"/>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3" name="Content Placeholder 2"/>
          <p:cNvSpPr>
            <a:spLocks noGrp="1"/>
          </p:cNvSpPr>
          <p:nvPr>
            <p:ph sz="half" idx="1"/>
          </p:nvPr>
        </p:nvSpPr>
        <p:spPr>
          <a:xfrm>
            <a:off x="5387853" y="1510145"/>
            <a:ext cx="6160679" cy="4787877"/>
          </a:xfrm>
        </p:spPr>
        <p:txBody>
          <a:bodyPr vert="horz" lIns="91440" tIns="45720" rIns="91440" bIns="45720" rtlCol="0">
            <a:normAutofit/>
          </a:bodyPr>
          <a:lstStyle/>
          <a:p>
            <a:r>
              <a:rPr lang="en-US" sz="2200" dirty="0"/>
              <a:t>The basis of Indian philosophy is also met in "Upanishads". </a:t>
            </a:r>
          </a:p>
          <a:p>
            <a:r>
              <a:rPr lang="en-US" sz="2200" dirty="0"/>
              <a:t>The "Upanishads" are the philosophical part of Vedas that mean mysterious knowledge.</a:t>
            </a:r>
          </a:p>
          <a:p>
            <a:r>
              <a:rPr lang="en-US" sz="2200" dirty="0"/>
              <a:t> "Upanishads" are neither books nor philosophical booklets, but they were composed of texts at different times by some authors. </a:t>
            </a:r>
          </a:p>
          <a:p>
            <a:r>
              <a:rPr lang="en-US" sz="2200" dirty="0"/>
              <a:t>The philosophical issues of "Upanishads" primarily are the universe surrounding the person, its place and the role in life, outside world and human nature, the essence of life and mentality, standards of morals. </a:t>
            </a:r>
          </a:p>
        </p:txBody>
      </p:sp>
      <p:sp>
        <p:nvSpPr>
          <p:cNvPr id="13" name="Arc 12">
            <a:extLst>
              <a:ext uri="{FF2B5EF4-FFF2-40B4-BE49-F238E27FC236}">
                <a16:creationId xmlns:a16="http://schemas.microsoft.com/office/drawing/2014/main" id="{DA4B6E73-2318-4814-8EB1-306D537236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064111">
            <a:off x="-991925" y="5644752"/>
            <a:ext cx="2987899" cy="2987899"/>
          </a:xfrm>
          <a:prstGeom prst="arc">
            <a:avLst>
              <a:gd name="adj1" fmla="val 16200000"/>
              <a:gd name="adj2" fmla="val 21581479"/>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1377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arn(inVertical)">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2D05657-94EE-4B2D-BC1B-A1D0650636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c 12">
            <a:extLst>
              <a:ext uri="{FF2B5EF4-FFF2-40B4-BE49-F238E27FC236}">
                <a16:creationId xmlns:a16="http://schemas.microsoft.com/office/drawing/2014/main" id="{7586665A-47B3-4AEE-BC94-15D89FF70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65099" y="486184"/>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itle 1"/>
          <p:cNvSpPr>
            <a:spLocks noGrp="1"/>
          </p:cNvSpPr>
          <p:nvPr>
            <p:ph type="title"/>
          </p:nvPr>
        </p:nvSpPr>
        <p:spPr>
          <a:xfrm>
            <a:off x="4184542" y="486184"/>
            <a:ext cx="7363990" cy="1325563"/>
          </a:xfrm>
        </p:spPr>
        <p:txBody>
          <a:bodyPr vert="horz" lIns="91440" tIns="45720" rIns="91440" bIns="45720" rtlCol="0" anchor="ctr">
            <a:normAutofit/>
          </a:bodyPr>
          <a:lstStyle/>
          <a:p>
            <a:r>
              <a:rPr lang="en-US" b="1" kern="1200">
                <a:solidFill>
                  <a:schemeClr val="tx1"/>
                </a:solidFill>
                <a:latin typeface="+mj-lt"/>
                <a:ea typeface="+mj-ea"/>
                <a:cs typeface="+mj-cs"/>
              </a:rPr>
              <a:t>Indian philosophical schools</a:t>
            </a:r>
          </a:p>
        </p:txBody>
      </p:sp>
      <p:pic>
        <p:nvPicPr>
          <p:cNvPr id="5" name="Content Placeholder 4"/>
          <p:cNvPicPr>
            <a:picLocks noGrp="1" noChangeAspect="1"/>
          </p:cNvPicPr>
          <p:nvPr>
            <p:ph sz="half" idx="2"/>
          </p:nvPr>
        </p:nvPicPr>
        <p:blipFill>
          <a:blip r:embed="rId2" cstate="print">
            <a:extLst>
              <a:ext uri="{28A0092B-C50C-407E-A947-70E740481C1C}">
                <a14:useLocalDpi xmlns:a14="http://schemas.microsoft.com/office/drawing/2010/main" val="0"/>
              </a:ext>
            </a:extLst>
          </a:blip>
          <a:srcRect r="-4" b="17747"/>
          <a:stretch/>
        </p:blipFill>
        <p:spPr>
          <a:xfrm>
            <a:off x="581526" y="258142"/>
            <a:ext cx="3118718" cy="3118718"/>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rcRect r="3" b="3"/>
          <a:stretch/>
        </p:blipFill>
        <p:spPr>
          <a:xfrm>
            <a:off x="581526" y="3486449"/>
            <a:ext cx="3118718" cy="3118718"/>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sp>
        <p:nvSpPr>
          <p:cNvPr id="3" name="Content Placeholder 2"/>
          <p:cNvSpPr>
            <a:spLocks noGrp="1"/>
          </p:cNvSpPr>
          <p:nvPr>
            <p:ph sz="half" idx="1"/>
          </p:nvPr>
        </p:nvSpPr>
        <p:spPr>
          <a:xfrm>
            <a:off x="4184542" y="1946684"/>
            <a:ext cx="7363990" cy="4351338"/>
          </a:xfrm>
        </p:spPr>
        <p:txBody>
          <a:bodyPr vert="horz" lIns="91440" tIns="45720" rIns="91440" bIns="45720" rtlCol="0">
            <a:normAutofit/>
          </a:bodyPr>
          <a:lstStyle/>
          <a:p>
            <a:r>
              <a:rPr lang="en-US" sz="2400"/>
              <a:t>Ancient Indian philosophical schools were divided into two groups. Hindu philosophers defined these groups </a:t>
            </a:r>
            <a:r>
              <a:rPr lang="en-US" sz="2400" i="1"/>
              <a:t>astika</a:t>
            </a:r>
            <a:r>
              <a:rPr lang="en-US" sz="2400"/>
              <a:t> and </a:t>
            </a:r>
            <a:r>
              <a:rPr lang="en-US" sz="2400" i="1"/>
              <a:t>nastika</a:t>
            </a:r>
            <a:r>
              <a:rPr lang="en-US" sz="2400"/>
              <a:t>. </a:t>
            </a:r>
          </a:p>
          <a:p>
            <a:r>
              <a:rPr lang="en-US" sz="2400"/>
              <a:t>Philosophical schools – Vedanta, yoga, vaysheshika, and mimansa – belong to </a:t>
            </a:r>
            <a:r>
              <a:rPr lang="en-US" sz="2400" i="1"/>
              <a:t>astika</a:t>
            </a:r>
            <a:r>
              <a:rPr lang="en-US" sz="2400"/>
              <a:t> group. Members of these schools acknowledged the holiness of the "Vedas" and assert that the only truth was expressed in it. </a:t>
            </a:r>
          </a:p>
          <a:p>
            <a:r>
              <a:rPr lang="en-US" sz="2400" i="1"/>
              <a:t>Nastika</a:t>
            </a:r>
            <a:r>
              <a:rPr lang="en-US" sz="2400"/>
              <a:t> group includes Charvaka Lokayata, Buddhism and Jainism. Charvaka-lokayata supporters followed materialist teachings. They do not admit the holiness of the "Vedas" as Buddhism and Jainism.</a:t>
            </a:r>
          </a:p>
        </p:txBody>
      </p:sp>
    </p:spTree>
    <p:extLst>
      <p:ext uri="{BB962C8B-B14F-4D97-AF65-F5344CB8AC3E}">
        <p14:creationId xmlns:p14="http://schemas.microsoft.com/office/powerpoint/2010/main" val="3252487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2B783EE-0239-4717-BBEA-8C9EAC61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1" y="345810"/>
            <a:ext cx="5120561" cy="1325563"/>
          </a:xfrm>
        </p:spPr>
        <p:txBody>
          <a:bodyPr vert="horz" lIns="91440" tIns="45720" rIns="91440" bIns="45720" rtlCol="0" anchor="ctr">
            <a:normAutofit/>
          </a:bodyPr>
          <a:lstStyle/>
          <a:p>
            <a:r>
              <a:rPr lang="en-US" b="1" kern="1200">
                <a:solidFill>
                  <a:schemeClr val="tx1"/>
                </a:solidFill>
                <a:latin typeface="+mj-lt"/>
                <a:ea typeface="+mj-ea"/>
                <a:cs typeface="+mj-cs"/>
              </a:rPr>
              <a:t>Chinese Philosophy</a:t>
            </a:r>
          </a:p>
        </p:txBody>
      </p:sp>
      <p:sp>
        <p:nvSpPr>
          <p:cNvPr id="3" name="Content Placeholder 2"/>
          <p:cNvSpPr>
            <a:spLocks noGrp="1"/>
          </p:cNvSpPr>
          <p:nvPr>
            <p:ph sz="half" idx="1"/>
          </p:nvPr>
        </p:nvSpPr>
        <p:spPr>
          <a:xfrm>
            <a:off x="838200" y="1482436"/>
            <a:ext cx="5257799" cy="5029753"/>
          </a:xfrm>
        </p:spPr>
        <p:txBody>
          <a:bodyPr vert="horz" lIns="91440" tIns="45720" rIns="91440" bIns="45720" rtlCol="0">
            <a:normAutofit/>
          </a:bodyPr>
          <a:lstStyle/>
          <a:p>
            <a:r>
              <a:rPr lang="en-US" sz="2200" dirty="0"/>
              <a:t>In ancient China, science and culture have developed in a specific way. One of major Chinese philosophical branches is Confucianism. The founder of the school was Confucius – Kong </a:t>
            </a:r>
            <a:r>
              <a:rPr lang="en-US" sz="2200" dirty="0" err="1"/>
              <a:t>Fuzi</a:t>
            </a:r>
            <a:r>
              <a:rPr lang="en-US" sz="2200" dirty="0"/>
              <a:t>. He was a Chinese teacher, editor, politician, and philosopher.</a:t>
            </a:r>
          </a:p>
          <a:p>
            <a:r>
              <a:rPr lang="en-US" sz="2200" dirty="0"/>
              <a:t>According to Confucius (551-479), the universe is ruled by the heaven. The will of heaven is destiny. The world we live in, the order in it, was sent by the ruler of heaven. According to Confucius's view, the essence of the order defines the concept of "Li". It reflects the essence of the order of the world.</a:t>
            </a:r>
          </a:p>
        </p:txBody>
      </p:sp>
      <p:sp>
        <p:nvSpPr>
          <p:cNvPr id="15" name="Oval 14">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7" name="Content Placeholder 6"/>
          <p:cNvPicPr>
            <a:picLocks noGrp="1" noChangeAspect="1"/>
          </p:cNvPicPr>
          <p:nvPr>
            <p:ph sz="half" idx="2"/>
          </p:nvPr>
        </p:nvPicPr>
        <p:blipFill>
          <a:blip r:embed="rId2">
            <a:extLst>
              <a:ext uri="{28A0092B-C50C-407E-A947-70E740481C1C}">
                <a14:useLocalDpi xmlns:a14="http://schemas.microsoft.com/office/drawing/2010/main" val="0"/>
              </a:ext>
            </a:extLst>
          </a:blip>
          <a:srcRect b="31827"/>
          <a:stretch/>
        </p:blipFill>
        <p:spPr>
          <a:xfrm>
            <a:off x="7901259" y="2727729"/>
            <a:ext cx="4290741"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sp>
        <p:nvSpPr>
          <p:cNvPr id="17" name="Arc 16">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rcRect l="8240" r="7814" b="5"/>
          <a:stretch/>
        </p:blipFill>
        <p:spPr>
          <a:xfrm>
            <a:off x="6261607" y="1"/>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spTree>
    <p:extLst>
      <p:ext uri="{BB962C8B-B14F-4D97-AF65-F5344CB8AC3E}">
        <p14:creationId xmlns:p14="http://schemas.microsoft.com/office/powerpoint/2010/main" val="3236140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anim calcmode="lin" valueType="num">
                                      <p:cBhvr>
                                        <p:cTn id="12" dur="1000" fill="hold"/>
                                        <p:tgtEl>
                                          <p:spTgt spid="7"/>
                                        </p:tgtEl>
                                        <p:attrNameLst>
                                          <p:attrName>ppt_x</p:attrName>
                                        </p:attrNameLst>
                                      </p:cBhvr>
                                      <p:tavLst>
                                        <p:tav tm="0">
                                          <p:val>
                                            <p:strVal val="#ppt_x"/>
                                          </p:val>
                                        </p:tav>
                                        <p:tav tm="100000">
                                          <p:val>
                                            <p:strVal val="#ppt_x"/>
                                          </p:val>
                                        </p:tav>
                                      </p:tavLst>
                                    </p:anim>
                                    <p:anim calcmode="lin" valueType="num">
                                      <p:cBhvr>
                                        <p:cTn id="1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1B53AB1-10EE-4094-BAA1-C7C140976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016371" y="560173"/>
            <a:ext cx="6337427" cy="1664043"/>
          </a:xfrm>
        </p:spPr>
        <p:txBody>
          <a:bodyPr vert="horz" lIns="91440" tIns="45720" rIns="91440" bIns="45720" rtlCol="0" anchor="ctr">
            <a:normAutofit/>
          </a:bodyPr>
          <a:lstStyle/>
          <a:p>
            <a:r>
              <a:rPr lang="en-US" sz="4000" b="1"/>
              <a:t>Daoism</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595" y="194319"/>
            <a:ext cx="3995623" cy="3115852"/>
          </a:xfrm>
          <a:prstGeom prst="rect">
            <a:avLst/>
          </a:prstGeom>
        </p:spPr>
      </p:pic>
      <p:pic>
        <p:nvPicPr>
          <p:cNvPr id="5" name="Content Placeholder 4"/>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307452" y="3504492"/>
            <a:ext cx="3751908" cy="2813930"/>
          </a:xfrm>
          <a:prstGeom prst="rect">
            <a:avLst/>
          </a:prstGeom>
        </p:spPr>
      </p:pic>
      <p:sp>
        <p:nvSpPr>
          <p:cNvPr id="3" name="Content Placeholder 2"/>
          <p:cNvSpPr>
            <a:spLocks noGrp="1"/>
          </p:cNvSpPr>
          <p:nvPr>
            <p:ph sz="half" idx="1"/>
          </p:nvPr>
        </p:nvSpPr>
        <p:spPr>
          <a:xfrm>
            <a:off x="5016371" y="1731818"/>
            <a:ext cx="6735362" cy="4668982"/>
          </a:xfrm>
        </p:spPr>
        <p:txBody>
          <a:bodyPr vert="horz" lIns="91440" tIns="45720" rIns="91440" bIns="45720" rtlCol="0">
            <a:noAutofit/>
          </a:bodyPr>
          <a:lstStyle/>
          <a:p>
            <a:r>
              <a:rPr lang="en-US" sz="1900" dirty="0"/>
              <a:t>One of the foremost philosopher of ancient China was Lao-Tzu (VI-V centuries). According to his teachings, the nature, society, and human life must obey the Dao's law. According to this law, "</a:t>
            </a:r>
            <a:r>
              <a:rPr lang="en-US" sz="1900" dirty="0" err="1"/>
              <a:t>Tsi</a:t>
            </a:r>
            <a:r>
              <a:rPr lang="en-US" sz="1900" dirty="0"/>
              <a:t>" – five elements - fire, water, air, land and wood or metal constitute the basis of the objects of the world and ensure their occurrence. Lao-Tzu says that nothing in the universe can be permanent and stable, immobilized.</a:t>
            </a:r>
          </a:p>
          <a:p>
            <a:r>
              <a:rPr lang="en-US" sz="1900" dirty="0"/>
              <a:t>According to Daoism, everything in the world is moving from one state to the other. The struggle between the opposing forces, that is, the relationship between In and Yan is the source of the forces that move the universe that surrounds us. It is a struggle between In and Yan. Human beings must always be on the side of good in the struggle, to love the surrounding nature and the world around them. Otherwise, the Dao's law will be broken and eventually there will be trouble, tragedy.</a:t>
            </a:r>
          </a:p>
        </p:txBody>
      </p:sp>
    </p:spTree>
    <p:extLst>
      <p:ext uri="{BB962C8B-B14F-4D97-AF65-F5344CB8AC3E}">
        <p14:creationId xmlns:p14="http://schemas.microsoft.com/office/powerpoint/2010/main" val="1809449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CB962CF-61A3-4EF9-94F6-7C59B03295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556337"/>
            <a:ext cx="6797405" cy="1651404"/>
          </a:xfrm>
        </p:spPr>
        <p:txBody>
          <a:bodyPr vert="horz" lIns="91440" tIns="45720" rIns="91440" bIns="45720" rtlCol="0" anchor="ctr">
            <a:normAutofit/>
          </a:bodyPr>
          <a:lstStyle/>
          <a:p>
            <a:r>
              <a:rPr lang="en-US" sz="4000" b="1"/>
              <a:t>Ancient Greek Philosophy</a:t>
            </a:r>
          </a:p>
        </p:txBody>
      </p:sp>
      <p:sp>
        <p:nvSpPr>
          <p:cNvPr id="3" name="Content Placeholder 2"/>
          <p:cNvSpPr>
            <a:spLocks noGrp="1"/>
          </p:cNvSpPr>
          <p:nvPr>
            <p:ph sz="half" idx="1"/>
          </p:nvPr>
        </p:nvSpPr>
        <p:spPr>
          <a:xfrm>
            <a:off x="838200" y="1898073"/>
            <a:ext cx="6797405" cy="4222641"/>
          </a:xfrm>
        </p:spPr>
        <p:txBody>
          <a:bodyPr vert="horz" lIns="91440" tIns="45720" rIns="91440" bIns="45720" rtlCol="0">
            <a:normAutofit/>
          </a:bodyPr>
          <a:lstStyle/>
          <a:p>
            <a:r>
              <a:rPr lang="en-US" sz="1800" dirty="0"/>
              <a:t>Ancient Greek Philosophy in terms of historical period covers the sixth century BC – the third century AD. It includes Pre-Socratic, Classical Greek and Hellenistic periods. </a:t>
            </a:r>
          </a:p>
          <a:p>
            <a:r>
              <a:rPr lang="en-US" sz="1800" dirty="0"/>
              <a:t>The philosophers of Pre-Socratic period first posed the question on the first principle of the universe. </a:t>
            </a:r>
          </a:p>
          <a:p>
            <a:r>
              <a:rPr lang="en-US" sz="1800" dirty="0"/>
              <a:t>According to Thales of Miletus (624-546 BC) the universe is based on “all the water”. </a:t>
            </a:r>
          </a:p>
          <a:p>
            <a:r>
              <a:rPr lang="en-US" sz="1800" dirty="0"/>
              <a:t>His disciple – Anaximander believed that the world as infinite, gaseous apeiron, heat and cold, it promotes the transformation of matter from one state to another. He wrote about "Nature", but the work did not reach us. </a:t>
            </a:r>
          </a:p>
          <a:p>
            <a:r>
              <a:rPr lang="en-US" sz="1800" dirty="0"/>
              <a:t>Anaximenes (588-525 BC) stated that the air was the foundation of the universe. </a:t>
            </a: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126285" y="168168"/>
            <a:ext cx="3738164" cy="3168155"/>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9414" y="3504492"/>
            <a:ext cx="3751906" cy="2813930"/>
          </a:xfrm>
          <a:prstGeom prst="rect">
            <a:avLst/>
          </a:prstGeom>
        </p:spPr>
      </p:pic>
    </p:spTree>
    <p:extLst>
      <p:ext uri="{BB962C8B-B14F-4D97-AF65-F5344CB8AC3E}">
        <p14:creationId xmlns:p14="http://schemas.microsoft.com/office/powerpoint/2010/main" val="1581338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arn(inVertical)">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down)">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4DF55BE-B4AB-4BA1-BDE1-E9F7FB3F1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9" y="539578"/>
            <a:ext cx="5981278" cy="1684638"/>
          </a:xfrm>
        </p:spPr>
        <p:txBody>
          <a:bodyPr vert="horz" lIns="91440" tIns="45720" rIns="91440" bIns="45720" rtlCol="0" anchor="ctr">
            <a:normAutofit/>
          </a:bodyPr>
          <a:lstStyle/>
          <a:p>
            <a:r>
              <a:rPr lang="en-US" sz="4000" b="1"/>
              <a:t>Heraclitus</a:t>
            </a:r>
          </a:p>
        </p:txBody>
      </p:sp>
      <p:sp>
        <p:nvSpPr>
          <p:cNvPr id="3" name="Content Placeholder 2"/>
          <p:cNvSpPr>
            <a:spLocks noGrp="1"/>
          </p:cNvSpPr>
          <p:nvPr>
            <p:ph sz="half" idx="1"/>
          </p:nvPr>
        </p:nvSpPr>
        <p:spPr>
          <a:xfrm>
            <a:off x="338668" y="1634836"/>
            <a:ext cx="6480812" cy="4465283"/>
          </a:xfrm>
        </p:spPr>
        <p:txBody>
          <a:bodyPr vert="horz" lIns="91440" tIns="45720" rIns="91440" bIns="45720" rtlCol="0">
            <a:noAutofit/>
          </a:bodyPr>
          <a:lstStyle/>
          <a:p>
            <a:r>
              <a:rPr lang="en-US" sz="2000" dirty="0"/>
              <a:t>Another Greek philosopher Heraclitus (520-460 BC) was born in a jewelry family in Ephesus on the military shore of Asia Minor. </a:t>
            </a:r>
          </a:p>
          <a:p>
            <a:r>
              <a:rPr lang="en-US" sz="2000" dirty="0"/>
              <a:t>He founded the cognitive dialectics and regarded the fire as the foundation of the universe. In his view, everything is moving in the universe. There is no stagnation in the universe. The movement belongs to the whole nature, to all objects and phenomena. Eternal action is eternal change. The movement takes place in striking contrast. </a:t>
            </a:r>
          </a:p>
          <a:p>
            <a:r>
              <a:rPr lang="en-US" sz="2000" dirty="0"/>
              <a:t>According to Heraclitus, the constant change, movement and transition to the opposite sides are related to the relative quality of objects. For example, if the seawater is unsuitable for human consumption, it is suitable for fish. Heraclitus's views have had a great impact on the development of philosophical thinking.</a:t>
            </a:r>
          </a:p>
        </p:txBody>
      </p:sp>
      <p:pic>
        <p:nvPicPr>
          <p:cNvPr id="7" name="Объект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187524" y="282152"/>
            <a:ext cx="4810874" cy="2405437"/>
          </a:xfrm>
          <a:prstGeom prst="rect">
            <a:avLst/>
          </a:prstGeom>
        </p:spPr>
      </p:pic>
      <p:pic>
        <p:nvPicPr>
          <p:cNvPr id="8" name="Рисунок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24189" y="2961503"/>
            <a:ext cx="4737533" cy="3138616"/>
          </a:xfrm>
          <a:prstGeom prst="rect">
            <a:avLst/>
          </a:prstGeom>
        </p:spPr>
      </p:pic>
    </p:spTree>
    <p:extLst>
      <p:ext uri="{BB962C8B-B14F-4D97-AF65-F5344CB8AC3E}">
        <p14:creationId xmlns:p14="http://schemas.microsoft.com/office/powerpoint/2010/main" val="1592108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p:cNvSpPr>
            <a:spLocks noGrp="1"/>
          </p:cNvSpPr>
          <p:nvPr>
            <p:ph type="title"/>
          </p:nvPr>
        </p:nvSpPr>
        <p:spPr>
          <a:xfrm>
            <a:off x="4553733" y="548464"/>
            <a:ext cx="6798541" cy="1675623"/>
          </a:xfrm>
        </p:spPr>
        <p:txBody>
          <a:bodyPr vert="horz" lIns="91440" tIns="45720" rIns="91440" bIns="45720" rtlCol="0" anchor="b">
            <a:normAutofit/>
          </a:bodyPr>
          <a:lstStyle/>
          <a:p>
            <a:r>
              <a:rPr lang="en-US" sz="4000" b="1"/>
              <a:t>Pythagoras</a:t>
            </a:r>
          </a:p>
        </p:txBody>
      </p:sp>
      <p:pic>
        <p:nvPicPr>
          <p:cNvPr id="7" name="Объект 6"/>
          <p:cNvPicPr>
            <a:picLocks noGrp="1" noChangeAspect="1"/>
          </p:cNvPicPr>
          <p:nvPr>
            <p:ph sz="half" idx="2"/>
          </p:nvPr>
        </p:nvPicPr>
        <p:blipFill>
          <a:blip r:embed="rId2">
            <a:extLst>
              <a:ext uri="{28A0092B-C50C-407E-A947-70E740481C1C}">
                <a14:useLocalDpi xmlns:a14="http://schemas.microsoft.com/office/drawing/2010/main" val="0"/>
              </a:ext>
            </a:extLst>
          </a:blip>
          <a:srcRect l="1722" r="5941" b="-1"/>
          <a:stretch/>
        </p:blipFill>
        <p:spPr>
          <a:xfrm>
            <a:off x="1" y="10"/>
            <a:ext cx="4196496" cy="6857990"/>
          </a:xfrm>
          <a:prstGeom prst="rect">
            <a:avLst/>
          </a:prstGeom>
          <a:effectLst/>
        </p:spPr>
      </p:pic>
      <p:sp>
        <p:nvSpPr>
          <p:cNvPr id="3" name="Объект 2"/>
          <p:cNvSpPr>
            <a:spLocks noGrp="1"/>
          </p:cNvSpPr>
          <p:nvPr>
            <p:ph sz="half" idx="1"/>
          </p:nvPr>
        </p:nvSpPr>
        <p:spPr>
          <a:xfrm>
            <a:off x="4553734" y="2409830"/>
            <a:ext cx="7416593" cy="4240352"/>
          </a:xfrm>
        </p:spPr>
        <p:txBody>
          <a:bodyPr vert="horz" lIns="91440" tIns="45720" rIns="91440" bIns="45720" rtlCol="0">
            <a:normAutofit/>
          </a:bodyPr>
          <a:lstStyle/>
          <a:p>
            <a:r>
              <a:rPr lang="en-US" sz="1900" dirty="0"/>
              <a:t>Pythagoras (580-500 BC) lived in the Greek island of Samos. He founded the religious-ideological philosophical school in ancient Greece.</a:t>
            </a:r>
          </a:p>
          <a:p>
            <a:r>
              <a:rPr lang="en-US" sz="1900" dirty="0"/>
              <a:t>According to him, the process of learning the world must first begin with knowing the numbers. According to the teachings of the Pythagoras, on the basis of the universe lies not the matter, nor the nature, but the idealized figures, that is; numbers. Things and events are the result of these numbers. </a:t>
            </a:r>
          </a:p>
          <a:p>
            <a:r>
              <a:rPr lang="en-US" sz="1900" dirty="0"/>
              <a:t>Pythagoras first proposed a quantitative category in explaining things and phenomena in nature. </a:t>
            </a:r>
          </a:p>
          <a:p>
            <a:r>
              <a:rPr lang="en-US" sz="1900" dirty="0"/>
              <a:t>Pythagoras belonged to the tribe of nobles and defended aristocracy. He said that the order of aristocratic rule was of vital importance in social life. In his view, democracy is a violation of this order.</a:t>
            </a:r>
          </a:p>
        </p:txBody>
      </p:sp>
    </p:spTree>
    <p:extLst>
      <p:ext uri="{BB962C8B-B14F-4D97-AF65-F5344CB8AC3E}">
        <p14:creationId xmlns:p14="http://schemas.microsoft.com/office/powerpoint/2010/main" val="2391546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CB962CF-61A3-4EF9-94F6-7C59B03295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p:cNvSpPr>
            <a:spLocks noGrp="1"/>
          </p:cNvSpPr>
          <p:nvPr>
            <p:ph type="title"/>
          </p:nvPr>
        </p:nvSpPr>
        <p:spPr>
          <a:xfrm>
            <a:off x="838200" y="556337"/>
            <a:ext cx="6797405" cy="1651404"/>
          </a:xfrm>
        </p:spPr>
        <p:txBody>
          <a:bodyPr vert="horz" lIns="91440" tIns="45720" rIns="91440" bIns="45720" rtlCol="0" anchor="ctr">
            <a:normAutofit/>
          </a:bodyPr>
          <a:lstStyle/>
          <a:p>
            <a:r>
              <a:rPr lang="en-US" sz="4000" b="1"/>
              <a:t>Socrates</a:t>
            </a:r>
          </a:p>
        </p:txBody>
      </p:sp>
      <p:sp>
        <p:nvSpPr>
          <p:cNvPr id="3" name="Объект 2"/>
          <p:cNvSpPr>
            <a:spLocks noGrp="1"/>
          </p:cNvSpPr>
          <p:nvPr>
            <p:ph sz="half" idx="1"/>
          </p:nvPr>
        </p:nvSpPr>
        <p:spPr>
          <a:xfrm>
            <a:off x="678874" y="1814946"/>
            <a:ext cx="6956732" cy="4807528"/>
          </a:xfrm>
        </p:spPr>
        <p:txBody>
          <a:bodyPr vert="horz" lIns="91440" tIns="45720" rIns="91440" bIns="45720" rtlCol="0">
            <a:normAutofit/>
          </a:bodyPr>
          <a:lstStyle/>
          <a:p>
            <a:r>
              <a:rPr lang="en-US" sz="2000" dirty="0"/>
              <a:t>Socrates made a radical revolution in philosophy. Realizing that natural philosophy is largely indifferent to man, Socrates reinterprets the basic philosophical questioning. Not physics, but ethics was put by Socrates in first place. It is the philosophy of man that must become the key to the philosophy of nature, and not vice versa.</a:t>
            </a:r>
          </a:p>
          <a:p>
            <a:r>
              <a:rPr lang="en-US" sz="2000" dirty="0"/>
              <a:t>In this connection, Socrates attaches paramount importance to the fact that man is a knowing and intelligent being. The essence of man is the soul. The soul differs from other beings. The soul is a person's ability to realize, manifest mental activity, be conscientious and moral, virtuous. </a:t>
            </a:r>
          </a:p>
          <a:p>
            <a:r>
              <a:rPr lang="en-US" sz="2000" dirty="0"/>
              <a:t>The potential of the soul is realized in knowledge, the lack of the latter is ignorance. The human body does not dominate his soul, on the contrary, it is an instrument of the soul.</a:t>
            </a:r>
          </a:p>
        </p:txBody>
      </p:sp>
      <p:pic>
        <p:nvPicPr>
          <p:cNvPr id="5" name="Объект 4"/>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8739986" y="168168"/>
            <a:ext cx="2510763" cy="3168155"/>
          </a:xfrm>
          <a:prstGeom prst="rect">
            <a:avLst/>
          </a:prstGeom>
        </p:spPr>
      </p:pic>
      <p:pic>
        <p:nvPicPr>
          <p:cNvPr id="6" name="Рисунок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6997" y="3504492"/>
            <a:ext cx="3756741" cy="2813930"/>
          </a:xfrm>
          <a:prstGeom prst="rect">
            <a:avLst/>
          </a:prstGeom>
        </p:spPr>
      </p:pic>
    </p:spTree>
    <p:extLst>
      <p:ext uri="{BB962C8B-B14F-4D97-AF65-F5344CB8AC3E}">
        <p14:creationId xmlns:p14="http://schemas.microsoft.com/office/powerpoint/2010/main" val="2441054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1B53AB1-10EE-4094-BAA1-C7C140976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p:cNvSpPr>
            <a:spLocks noGrp="1"/>
          </p:cNvSpPr>
          <p:nvPr>
            <p:ph type="title"/>
          </p:nvPr>
        </p:nvSpPr>
        <p:spPr>
          <a:xfrm>
            <a:off x="5016371" y="560173"/>
            <a:ext cx="6337427" cy="1664043"/>
          </a:xfrm>
        </p:spPr>
        <p:txBody>
          <a:bodyPr vert="horz" lIns="91440" tIns="45720" rIns="91440" bIns="45720" rtlCol="0" anchor="ctr">
            <a:normAutofit/>
          </a:bodyPr>
          <a:lstStyle/>
          <a:p>
            <a:r>
              <a:rPr lang="en-US" sz="4000" b="1"/>
              <a:t>Plato</a:t>
            </a:r>
          </a:p>
        </p:txBody>
      </p:sp>
      <p:pic>
        <p:nvPicPr>
          <p:cNvPr id="6" name="Рисунок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9787" y="168168"/>
            <a:ext cx="1987239" cy="3168155"/>
          </a:xfrm>
          <a:prstGeom prst="rect">
            <a:avLst/>
          </a:prstGeom>
        </p:spPr>
      </p:pic>
      <p:pic>
        <p:nvPicPr>
          <p:cNvPr id="5" name="Объект 4"/>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67595" y="3504492"/>
            <a:ext cx="3431622" cy="2813930"/>
          </a:xfrm>
          <a:prstGeom prst="rect">
            <a:avLst/>
          </a:prstGeom>
        </p:spPr>
      </p:pic>
      <p:sp>
        <p:nvSpPr>
          <p:cNvPr id="3" name="Объект 2"/>
          <p:cNvSpPr>
            <a:spLocks noGrp="1"/>
          </p:cNvSpPr>
          <p:nvPr>
            <p:ph sz="half" idx="1"/>
          </p:nvPr>
        </p:nvSpPr>
        <p:spPr>
          <a:xfrm>
            <a:off x="5016371" y="1662546"/>
            <a:ext cx="6593738" cy="4890654"/>
          </a:xfrm>
        </p:spPr>
        <p:txBody>
          <a:bodyPr vert="horz" lIns="91440" tIns="45720" rIns="91440" bIns="45720" rtlCol="0">
            <a:normAutofit/>
          </a:bodyPr>
          <a:lstStyle/>
          <a:p>
            <a:r>
              <a:rPr lang="en-US" sz="2000" dirty="0"/>
              <a:t>Plato is a great ally in the history of the world philosophy. He is not only a philosopher, but also an artist, a poet and playwright, and he expressed his ideas in the form of dialogues. Aristotle was the closest friend and disciple of Plato. </a:t>
            </a:r>
          </a:p>
          <a:p>
            <a:r>
              <a:rPr lang="en-US" sz="2000" dirty="0"/>
              <a:t>Plato's teaching about society and the state is one of the central places in his ideology. He was not only a classic of ancient philosophy – ontology and </a:t>
            </a:r>
            <a:r>
              <a:rPr lang="en-US" sz="2000" dirty="0" err="1"/>
              <a:t>gnoceology</a:t>
            </a:r>
            <a:r>
              <a:rPr lang="en-US" sz="2000" dirty="0"/>
              <a:t>, but also well-informed on ancient political theory and pedagogy.</a:t>
            </a:r>
          </a:p>
          <a:p>
            <a:r>
              <a:rPr lang="en-US" sz="2000" dirty="0"/>
              <a:t>Plato's works – "The Laws", "The Republic" and "The Crito" are devoted socio-political issues. In his book (“The Republic”), he puts forward his views on society, his ideal political system, with his central doctrine - the theory of ideas. In his view, there are four forms of the state: theocracy; oligarchy; democracy; tyranny. Plato's idealistic dream of the state lies in the idea of justice.</a:t>
            </a:r>
          </a:p>
        </p:txBody>
      </p:sp>
    </p:spTree>
    <p:extLst>
      <p:ext uri="{BB962C8B-B14F-4D97-AF65-F5344CB8AC3E}">
        <p14:creationId xmlns:p14="http://schemas.microsoft.com/office/powerpoint/2010/main" val="409725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4DF55BE-B4AB-4BA1-BDE1-E9F7FB3F1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p:cNvSpPr>
            <a:spLocks noGrp="1"/>
          </p:cNvSpPr>
          <p:nvPr>
            <p:ph type="title"/>
          </p:nvPr>
        </p:nvSpPr>
        <p:spPr>
          <a:xfrm>
            <a:off x="841249" y="539578"/>
            <a:ext cx="5981278" cy="1684638"/>
          </a:xfrm>
        </p:spPr>
        <p:txBody>
          <a:bodyPr vert="horz" lIns="91440" tIns="45720" rIns="91440" bIns="45720" rtlCol="0" anchor="ctr">
            <a:normAutofit/>
          </a:bodyPr>
          <a:lstStyle/>
          <a:p>
            <a:r>
              <a:rPr lang="en-US" sz="4000" b="1"/>
              <a:t>Aristotle</a:t>
            </a:r>
          </a:p>
        </p:txBody>
      </p:sp>
      <p:sp>
        <p:nvSpPr>
          <p:cNvPr id="3" name="Объект 2"/>
          <p:cNvSpPr>
            <a:spLocks noGrp="1"/>
          </p:cNvSpPr>
          <p:nvPr>
            <p:ph sz="half" idx="1"/>
          </p:nvPr>
        </p:nvSpPr>
        <p:spPr>
          <a:xfrm>
            <a:off x="476252" y="1731818"/>
            <a:ext cx="6520708" cy="4807527"/>
          </a:xfrm>
        </p:spPr>
        <p:txBody>
          <a:bodyPr vert="horz" lIns="91440" tIns="45720" rIns="91440" bIns="45720" rtlCol="0">
            <a:normAutofit lnSpcReduction="10000"/>
          </a:bodyPr>
          <a:lstStyle/>
          <a:p>
            <a:r>
              <a:rPr lang="en-US" sz="1900" dirty="0"/>
              <a:t>Aristotle is an outstanding scientist and wrote the works on logic, psychology, philosophy, morality, rhetoric, natural sciences. All his works are devoted to studying the ontology. He compiled all his writings on logic in his work called "Organon". Aristotle  divides the subjects into two types: theoretical and practical sciences. </a:t>
            </a:r>
          </a:p>
          <a:p>
            <a:r>
              <a:rPr lang="en-US" sz="1900" dirty="0"/>
              <a:t>Practical sciences are aimed at giving guidance to disciplines, doing something useful. He divided the theoretical sciences into three parts - philosophy (metaphysics), mathematics and physics.</a:t>
            </a:r>
          </a:p>
          <a:p>
            <a:r>
              <a:rPr lang="en-US" sz="1900" dirty="0"/>
              <a:t>According to his philosophical doctrine, things and phenomena in the universe have four reasons. These are material causes, form or shape cause; creative reason; the purpose reason. The cause of the creator, Aristotle's interpretation, is the source of movement. The motion is eternal as the universe. At the same time, the universe has its eternal cause, that is, the motion force. Aristotle's teaching about society and the state is portrayed in his works such as "The State", "The Politics".</a:t>
            </a:r>
          </a:p>
          <a:p>
            <a:endParaRPr lang="en-US" sz="1400" dirty="0"/>
          </a:p>
        </p:txBody>
      </p:sp>
      <p:pic>
        <p:nvPicPr>
          <p:cNvPr id="5" name="Объект 4"/>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7187524" y="228029"/>
            <a:ext cx="4810874" cy="2513682"/>
          </a:xfrm>
          <a:prstGeom prst="rect">
            <a:avLst/>
          </a:prstGeom>
        </p:spPr>
      </p:pic>
      <p:pic>
        <p:nvPicPr>
          <p:cNvPr id="6" name="Рисунок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80752" y="2961503"/>
            <a:ext cx="2024407" cy="3138616"/>
          </a:xfrm>
          <a:prstGeom prst="rect">
            <a:avLst/>
          </a:prstGeom>
        </p:spPr>
      </p:pic>
    </p:spTree>
    <p:extLst>
      <p:ext uri="{BB962C8B-B14F-4D97-AF65-F5344CB8AC3E}">
        <p14:creationId xmlns:p14="http://schemas.microsoft.com/office/powerpoint/2010/main" val="2353560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CB962CF-61A3-4EF9-94F6-7C59B03295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p:cNvSpPr>
            <a:spLocks noGrp="1"/>
          </p:cNvSpPr>
          <p:nvPr>
            <p:ph type="title"/>
          </p:nvPr>
        </p:nvSpPr>
        <p:spPr>
          <a:xfrm>
            <a:off x="838200" y="556337"/>
            <a:ext cx="6797405" cy="1651404"/>
          </a:xfrm>
        </p:spPr>
        <p:txBody>
          <a:bodyPr vert="horz" lIns="91440" tIns="45720" rIns="91440" bIns="45720" rtlCol="0" anchor="ctr">
            <a:normAutofit/>
          </a:bodyPr>
          <a:lstStyle/>
          <a:p>
            <a:r>
              <a:rPr lang="en-US" sz="4000" b="1"/>
              <a:t>Hellenistic philosophy</a:t>
            </a:r>
          </a:p>
        </p:txBody>
      </p:sp>
      <p:sp>
        <p:nvSpPr>
          <p:cNvPr id="3" name="Объект 2"/>
          <p:cNvSpPr>
            <a:spLocks noGrp="1"/>
          </p:cNvSpPr>
          <p:nvPr>
            <p:ph sz="half" idx="1"/>
          </p:nvPr>
        </p:nvSpPr>
        <p:spPr>
          <a:xfrm>
            <a:off x="498764" y="1745673"/>
            <a:ext cx="7136841" cy="4835236"/>
          </a:xfrm>
        </p:spPr>
        <p:txBody>
          <a:bodyPr vert="horz" lIns="91440" tIns="45720" rIns="91440" bIns="45720" rtlCol="0">
            <a:normAutofit/>
          </a:bodyPr>
          <a:lstStyle/>
          <a:p>
            <a:r>
              <a:rPr lang="en-US" sz="2200" dirty="0"/>
              <a:t>Hellenistic philosophy is the one of the periods of Ancient Greek Philosophy that developed in the Hellenistic civilization following Aristotle.</a:t>
            </a:r>
          </a:p>
          <a:p>
            <a:r>
              <a:rPr lang="en-US" sz="2200" dirty="0"/>
              <a:t>Epicurus (341-270 BC) is an ancient Greek philosopher. He advanced the doctrine of atomism that had been firstly introduced by Democritus. According to Epicurus’s teachings, the universe is material, eternal and infinite atoms. The universe is consisted of the body and emptiness. </a:t>
            </a:r>
          </a:p>
          <a:p>
            <a:r>
              <a:rPr lang="en-US" sz="2200" dirty="0"/>
              <a:t>The philosophical and moral teachings of Epicurus have been instrumental in that time. In his opinion, the state should be based on the mutual understanding and social agreement of people.</a:t>
            </a:r>
          </a:p>
          <a:p>
            <a:endParaRPr lang="en-US" sz="2000" dirty="0"/>
          </a:p>
        </p:txBody>
      </p:sp>
      <p:pic>
        <p:nvPicPr>
          <p:cNvPr id="6" name="Рисунок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97556" y="628476"/>
            <a:ext cx="3995623" cy="2247538"/>
          </a:xfrm>
          <a:prstGeom prst="rect">
            <a:avLst/>
          </a:prstGeom>
        </p:spPr>
      </p:pic>
      <p:pic>
        <p:nvPicPr>
          <p:cNvPr id="5" name="Объект 4"/>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7997556" y="3802671"/>
            <a:ext cx="3995623" cy="2217572"/>
          </a:xfrm>
          <a:prstGeom prst="rect">
            <a:avLst/>
          </a:prstGeom>
        </p:spPr>
      </p:pic>
    </p:spTree>
    <p:extLst>
      <p:ext uri="{BB962C8B-B14F-4D97-AF65-F5344CB8AC3E}">
        <p14:creationId xmlns:p14="http://schemas.microsoft.com/office/powerpoint/2010/main" val="16892149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r>
              <a:rPr lang="en-US" sz="3200" i="1" dirty="0"/>
              <a:t>Thank you for your attention!</a:t>
            </a:r>
          </a:p>
        </p:txBody>
      </p:sp>
    </p:spTree>
    <p:extLst>
      <p:ext uri="{BB962C8B-B14F-4D97-AF65-F5344CB8AC3E}">
        <p14:creationId xmlns:p14="http://schemas.microsoft.com/office/powerpoint/2010/main" val="1253819162"/>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2099</TotalTime>
  <Words>1956</Words>
  <Application>Microsoft Macintosh PowerPoint</Application>
  <PresentationFormat>Widescreen</PresentationFormat>
  <Paragraphs>81</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Gentium</vt:lpstr>
      <vt:lpstr>Wingdings</vt:lpstr>
      <vt:lpstr>Office Theme</vt:lpstr>
      <vt:lpstr>Inha University in Tashkent</vt:lpstr>
      <vt:lpstr>Outline:</vt:lpstr>
      <vt:lpstr>Formation of Philosophical Thoughts</vt:lpstr>
      <vt:lpstr>Egyptian and Babylonian Philosophy </vt:lpstr>
      <vt:lpstr>PowerPoint Presentation</vt:lpstr>
      <vt:lpstr>Features of Ancient Period</vt:lpstr>
      <vt:lpstr>Indian Philosophy </vt:lpstr>
      <vt:lpstr>Upanishads</vt:lpstr>
      <vt:lpstr>Indian philosophical schools</vt:lpstr>
      <vt:lpstr>Chinese Philosophy</vt:lpstr>
      <vt:lpstr>Daoism</vt:lpstr>
      <vt:lpstr>Ancient Greek Philosophy</vt:lpstr>
      <vt:lpstr>Heraclitus</vt:lpstr>
      <vt:lpstr>Pythagoras</vt:lpstr>
      <vt:lpstr>Socrates</vt:lpstr>
      <vt:lpstr>Plato</vt:lpstr>
      <vt:lpstr>Aristotle</vt:lpstr>
      <vt:lpstr>Hellenistic philosophy</vt:lpstr>
      <vt:lpstr>PowerPoint Presentation</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Ёш шарқшуносларнинг академик Убайдулла Каримов номидаги ХI илмий-амалий конференцияси</dc:title>
  <dc:creator>Batal</dc:creator>
  <cp:lastModifiedBy>kyakubov@outlook.com</cp:lastModifiedBy>
  <cp:revision>164</cp:revision>
  <dcterms:created xsi:type="dcterms:W3CDTF">2017-06-29T13:12:25Z</dcterms:created>
  <dcterms:modified xsi:type="dcterms:W3CDTF">2026-09-14T04:19:37Z</dcterms:modified>
</cp:coreProperties>
</file>