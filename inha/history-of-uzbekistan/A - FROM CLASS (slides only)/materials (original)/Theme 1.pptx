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1"/>
  </p:notesMasterIdLst>
  <p:sldIdLst>
    <p:sldId id="257" r:id="rId2"/>
    <p:sldId id="258" r:id="rId3"/>
    <p:sldId id="264" r:id="rId4"/>
    <p:sldId id="260" r:id="rId5"/>
    <p:sldId id="263" r:id="rId6"/>
    <p:sldId id="265" r:id="rId7"/>
    <p:sldId id="272" r:id="rId8"/>
    <p:sldId id="269"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64"/>
            <p14:sldId id="260"/>
            <p14:sldId id="263"/>
            <p14:sldId id="265"/>
            <p14:sldId id="272"/>
            <p14:sldId id="269"/>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2" autoAdjust="0"/>
    <p:restoredTop sz="94660" autoAdjust="0"/>
  </p:normalViewPr>
  <p:slideViewPr>
    <p:cSldViewPr snapToGrid="0">
      <p:cViewPr varScale="1">
        <p:scale>
          <a:sx n="112" d="100"/>
          <a:sy n="112" d="100"/>
        </p:scale>
        <p:origin x="464"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87155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716902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019819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89950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884600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6923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13184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67195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920893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74329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2725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8170450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Gentium" panose="02000503060000020004" pitchFamily="2" charset="0"/>
              </a:rPr>
              <a:t>Theme 1: Introduction to Philosophy</a:t>
            </a:r>
            <a:endParaRPr lang="ru-RU" b="1" dirty="0">
              <a:latin typeface="Arial" pitchFamily="34" charset="0"/>
              <a:cs typeface="Arial" pitchFamily="34" charset="0"/>
            </a:endParaRPr>
          </a:p>
          <a:p>
            <a:pPr marL="0" indent="0">
              <a:buNone/>
            </a:pPr>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lgn="ctr">
              <a:buNone/>
            </a:pPr>
            <a:r>
              <a:rPr lang="en-US" sz="1800" b="1" dirty="0">
                <a:latin typeface="+mj-lt"/>
              </a:rPr>
              <a:t>Tashkent </a:t>
            </a:r>
            <a:r>
              <a:rPr lang="en-US" sz="1800" b="1">
                <a:latin typeface="+mj-lt"/>
              </a:rPr>
              <a:t>– 2026 </a:t>
            </a:r>
            <a:endParaRPr lang="en-US" sz="1800" b="1" dirty="0">
              <a:latin typeface="+mj-lt"/>
            </a:endParaRPr>
          </a:p>
          <a:p>
            <a:pPr marL="0" indent="0">
              <a:buNone/>
            </a:pPr>
            <a:endParaRPr lang="ru-RU" sz="1200" dirty="0"/>
          </a:p>
        </p:txBody>
      </p:sp>
      <p:sp>
        <p:nvSpPr>
          <p:cNvPr id="2" name="Прямоугольник 1"/>
          <p:cNvSpPr/>
          <p:nvPr/>
        </p:nvSpPr>
        <p:spPr>
          <a:xfrm>
            <a:off x="3296992" y="721217"/>
            <a:ext cx="5473521" cy="369332"/>
          </a:xfrm>
          <a:prstGeom prst="rect">
            <a:avLst/>
          </a:prstGeom>
        </p:spPr>
        <p:txBody>
          <a:bodyPr wrap="square">
            <a:spAutoFit/>
          </a:bodyPr>
          <a:lstStyle/>
          <a:p>
            <a:pPr algn="ctr"/>
            <a:r>
              <a:rPr lang="en-US" b="1" dirty="0" err="1">
                <a:cs typeface="Arial" pitchFamily="34" charset="0"/>
              </a:rPr>
              <a:t>Inha</a:t>
            </a:r>
            <a:r>
              <a:rPr lang="en-US" b="1" dirty="0">
                <a:cs typeface="Arial" pitchFamily="34" charset="0"/>
              </a:rPr>
              <a:t> University in Tashkent</a:t>
            </a:r>
            <a:endParaRPr lang="ru-RU"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4105" y="802955"/>
            <a:ext cx="4977976" cy="1454051"/>
          </a:xfrm>
        </p:spPr>
        <p:txBody>
          <a:bodyPr>
            <a:normAutofit/>
          </a:bodyPr>
          <a:lstStyle/>
          <a:p>
            <a:r>
              <a:rPr lang="en-US" sz="3600" b="1">
                <a:solidFill>
                  <a:schemeClr val="tx2"/>
                </a:solidFill>
              </a:rPr>
              <a:t>Outline:</a:t>
            </a:r>
          </a:p>
        </p:txBody>
      </p:sp>
      <p:pic>
        <p:nvPicPr>
          <p:cNvPr id="7" name="Graphic 6" descr="Lightbulb">
            <a:extLst>
              <a:ext uri="{FF2B5EF4-FFF2-40B4-BE49-F238E27FC236}">
                <a16:creationId xmlns:a16="http://schemas.microsoft.com/office/drawing/2014/main" id="{51088596-9539-D692-AB58-54E6E48766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p:cNvSpPr>
            <a:spLocks noGrp="1"/>
          </p:cNvSpPr>
          <p:nvPr>
            <p:ph idx="1"/>
          </p:nvPr>
        </p:nvSpPr>
        <p:spPr>
          <a:xfrm>
            <a:off x="6090574" y="2421682"/>
            <a:ext cx="4977578" cy="3639289"/>
          </a:xfrm>
        </p:spPr>
        <p:txBody>
          <a:bodyPr anchor="ctr">
            <a:normAutofit/>
          </a:bodyPr>
          <a:lstStyle/>
          <a:p>
            <a:pPr>
              <a:buFont typeface="Wingdings" panose="05000000000000000000" pitchFamily="2" charset="2"/>
              <a:buChar char="Ø"/>
            </a:pPr>
            <a:r>
              <a:rPr lang="en-US" sz="1800">
                <a:solidFill>
                  <a:schemeClr val="tx2"/>
                </a:solidFill>
              </a:rPr>
              <a:t> Definition of the Term and Its Interpretations</a:t>
            </a:r>
          </a:p>
          <a:p>
            <a:pPr marL="0" indent="0">
              <a:buNone/>
            </a:pPr>
            <a:endParaRPr lang="en-US" sz="1800">
              <a:solidFill>
                <a:schemeClr val="tx2"/>
              </a:solidFill>
            </a:endParaRPr>
          </a:p>
          <a:p>
            <a:pPr>
              <a:buFont typeface="Wingdings" panose="05000000000000000000" pitchFamily="2" charset="2"/>
              <a:buChar char="Ø"/>
            </a:pPr>
            <a:r>
              <a:rPr lang="en-US" sz="1800">
                <a:solidFill>
                  <a:schemeClr val="tx2"/>
                </a:solidFill>
              </a:rPr>
              <a:t> The Role of Philosophy in the Formation of Sciences</a:t>
            </a:r>
          </a:p>
          <a:p>
            <a:pPr marL="0" indent="0">
              <a:buNone/>
            </a:pPr>
            <a:endParaRPr lang="en-US" sz="1800">
              <a:solidFill>
                <a:schemeClr val="tx2"/>
              </a:solidFill>
            </a:endParaRPr>
          </a:p>
          <a:p>
            <a:pPr>
              <a:buFont typeface="Wingdings" panose="05000000000000000000" pitchFamily="2" charset="2"/>
              <a:buChar char="Ø"/>
            </a:pPr>
            <a:r>
              <a:rPr lang="en-US" sz="1800">
                <a:solidFill>
                  <a:schemeClr val="tx2"/>
                </a:solidFill>
              </a:rPr>
              <a:t> Methods and the Doctrines of Philosophy</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1" y="345810"/>
            <a:ext cx="5120561" cy="1325563"/>
          </a:xfrm>
        </p:spPr>
        <p:txBody>
          <a:bodyPr vert="horz" lIns="91440" tIns="45720" rIns="91440" bIns="45720" rtlCol="0" anchor="ctr">
            <a:normAutofit/>
          </a:bodyPr>
          <a:lstStyle/>
          <a:p>
            <a:r>
              <a:rPr lang="en-US" b="1" kern="1200">
                <a:solidFill>
                  <a:schemeClr val="tx1"/>
                </a:solidFill>
                <a:latin typeface="+mj-lt"/>
                <a:ea typeface="+mj-ea"/>
                <a:cs typeface="+mj-cs"/>
              </a:rPr>
              <a:t>What is Philosophy?</a:t>
            </a:r>
            <a:endParaRPr lang="en-US" kern="1200">
              <a:solidFill>
                <a:schemeClr val="tx1"/>
              </a:solidFill>
              <a:latin typeface="+mj-lt"/>
              <a:ea typeface="+mj-ea"/>
              <a:cs typeface="+mj-cs"/>
            </a:endParaRPr>
          </a:p>
        </p:txBody>
      </p:sp>
      <p:sp>
        <p:nvSpPr>
          <p:cNvPr id="3" name="Content Placeholder 2"/>
          <p:cNvSpPr>
            <a:spLocks noGrp="1"/>
          </p:cNvSpPr>
          <p:nvPr>
            <p:ph sz="half" idx="1"/>
          </p:nvPr>
        </p:nvSpPr>
        <p:spPr>
          <a:xfrm>
            <a:off x="838201" y="1825625"/>
            <a:ext cx="5092194" cy="4351338"/>
          </a:xfrm>
        </p:spPr>
        <p:txBody>
          <a:bodyPr vert="horz" lIns="91440" tIns="45720" rIns="91440" bIns="45720" rtlCol="0">
            <a:normAutofit/>
          </a:bodyPr>
          <a:lstStyle/>
          <a:p>
            <a:r>
              <a:rPr lang="en-US" sz="2200"/>
              <a:t>The term philosophy is derived from Greek words “phileo” – love and “sophia” – wisdom that literally means “love of wisdom”. </a:t>
            </a:r>
          </a:p>
          <a:p>
            <a:r>
              <a:rPr lang="en-US" sz="2200"/>
              <a:t>The main aim of the philosophy is to study of general and fundamental issues such as existence (ontology), knowledge (epistemology), values (ethics), reason (logic), mind and language. </a:t>
            </a:r>
          </a:p>
          <a:p>
            <a:r>
              <a:rPr lang="en-US" sz="2200"/>
              <a:t>It should be noted that each of these problems is the separate branch of the subject. </a:t>
            </a:r>
          </a:p>
          <a:p>
            <a:endParaRPr lang="en-US" sz="2200"/>
          </a:p>
        </p:txBody>
      </p:sp>
      <p:sp>
        <p:nvSpPr>
          <p:cNvPr id="15" name="Oval 1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Content Placeholder 6"/>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t="1272" r="1"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7" name="Arc 1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rcRect r="-3" b="11657"/>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239790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638"/>
          </a:xfrm>
        </p:spPr>
        <p:txBody>
          <a:bodyPr>
            <a:normAutofit/>
          </a:bodyPr>
          <a:lstStyle/>
          <a:p>
            <a:pPr algn="ctr"/>
            <a:r>
              <a:rPr lang="en-US" sz="2800" b="1"/>
              <a:t>The Usage of the Term and Its Definition</a:t>
            </a:r>
            <a:endParaRPr lang="en-US" sz="2800" b="1" dirty="0"/>
          </a:p>
        </p:txBody>
      </p:sp>
      <p:sp>
        <p:nvSpPr>
          <p:cNvPr id="3" name="Content Placeholder 2"/>
          <p:cNvSpPr>
            <a:spLocks noGrp="1"/>
          </p:cNvSpPr>
          <p:nvPr>
            <p:ph idx="1"/>
          </p:nvPr>
        </p:nvSpPr>
        <p:spPr>
          <a:xfrm>
            <a:off x="838199" y="1056068"/>
            <a:ext cx="7700493" cy="5120895"/>
          </a:xfrm>
        </p:spPr>
        <p:txBody>
          <a:bodyPr>
            <a:normAutofit fontScale="92500" lnSpcReduction="20000"/>
          </a:bodyPr>
          <a:lstStyle/>
          <a:p>
            <a:pPr>
              <a:lnSpc>
                <a:spcPct val="150000"/>
              </a:lnSpc>
              <a:buFont typeface="Wingdings" panose="05000000000000000000" pitchFamily="2" charset="2"/>
              <a:buChar char="v"/>
            </a:pPr>
            <a:endParaRPr lang="en-US" sz="1800" dirty="0"/>
          </a:p>
          <a:p>
            <a:pPr>
              <a:lnSpc>
                <a:spcPct val="150000"/>
              </a:lnSpc>
              <a:buFont typeface="Wingdings" panose="05000000000000000000" pitchFamily="2" charset="2"/>
              <a:buChar char="v"/>
            </a:pPr>
            <a:r>
              <a:rPr lang="en-US" sz="1800" dirty="0"/>
              <a:t>The term was used firstly by prominent scholar Pythagoras (c. 570-495 BC). In particular, he noted: “Life ... is like a festival: some come to compete in it, some to trade, and the happiest to watch”. So, according to Pythagoras, the meaning of philosophy is the search for truth.</a:t>
            </a:r>
          </a:p>
          <a:p>
            <a:pPr>
              <a:lnSpc>
                <a:spcPct val="150000"/>
              </a:lnSpc>
              <a:buFont typeface="Wingdings" panose="05000000000000000000" pitchFamily="2" charset="2"/>
              <a:buChar char="v"/>
            </a:pPr>
            <a:r>
              <a:rPr lang="en-US" sz="1800" dirty="0"/>
              <a:t>Indeed, the Greek historian Herodotus (484-424 BC) appears to have been the first to use the verb “to philosophize” which denoted “to observe”. </a:t>
            </a:r>
          </a:p>
          <a:p>
            <a:pPr>
              <a:lnSpc>
                <a:spcPct val="150000"/>
              </a:lnSpc>
              <a:buFont typeface="Wingdings" panose="05000000000000000000" pitchFamily="2" charset="2"/>
              <a:buChar char="v"/>
            </a:pPr>
            <a:r>
              <a:rPr lang="en-US" sz="1800" dirty="0"/>
              <a:t> The famous ancient Greek thinker Plato (428 / 427-347 BC) said that the task of philosophy is to know the eternal and absolute truths, which only philosophers, who are endowed with the appropriate wise soul</a:t>
            </a:r>
            <a:r>
              <a:rPr lang="uz-Cyrl-UZ" sz="1800" dirty="0"/>
              <a:t>.</a:t>
            </a:r>
          </a:p>
          <a:p>
            <a:pPr>
              <a:lnSpc>
                <a:spcPct val="150000"/>
              </a:lnSpc>
              <a:buFont typeface="Wingdings" panose="05000000000000000000" pitchFamily="2" charset="2"/>
              <a:buChar char="v"/>
            </a:pPr>
            <a:r>
              <a:rPr lang="en-US" sz="1800" dirty="0"/>
              <a:t>According to Aristotle (384-322 BC), the task of philosophy is the comprehension of the universal in the world itself, and its subject is the first principles and reasons for being.</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5823" y="1216215"/>
            <a:ext cx="1590675" cy="2400300"/>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3897" y="3956966"/>
            <a:ext cx="1472601" cy="2427364"/>
          </a:xfrm>
          <a:prstGeom prst="rect">
            <a:avLst/>
          </a:prstGeom>
        </p:spPr>
      </p:pic>
    </p:spTree>
    <p:extLst>
      <p:ext uri="{BB962C8B-B14F-4D97-AF65-F5344CB8AC3E}">
        <p14:creationId xmlns:p14="http://schemas.microsoft.com/office/powerpoint/2010/main" val="296991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The Role of Philosophy in the System of Sciences</a:t>
            </a:r>
          </a:p>
        </p:txBody>
      </p:sp>
      <p:sp>
        <p:nvSpPr>
          <p:cNvPr id="3" name="Content Placeholder 2"/>
          <p:cNvSpPr>
            <a:spLocks noGrp="1"/>
          </p:cNvSpPr>
          <p:nvPr>
            <p:ph sz="half" idx="1"/>
          </p:nvPr>
        </p:nvSpPr>
        <p:spPr>
          <a:xfrm>
            <a:off x="4367695" y="221674"/>
            <a:ext cx="7630341" cy="6345382"/>
          </a:xfrm>
        </p:spPr>
        <p:txBody>
          <a:bodyPr vert="horz" lIns="91440" tIns="45720" rIns="91440" bIns="45720" rtlCol="0" anchor="ctr">
            <a:normAutofit lnSpcReduction="10000"/>
          </a:bodyPr>
          <a:lstStyle/>
          <a:p>
            <a:endParaRPr lang="en-US" sz="1600" dirty="0"/>
          </a:p>
          <a:p>
            <a:r>
              <a:rPr lang="en-US" sz="2000" dirty="0"/>
              <a:t>Philosophy is one of the most ancient disciplines and it referred to any body of knowledge. Therefore, philosophy is closely related to mathematics, natural sciences, religion and politics. </a:t>
            </a:r>
          </a:p>
          <a:p>
            <a:r>
              <a:rPr lang="en-US" sz="2000" dirty="0"/>
              <a:t>Philosophy was traditionally divided into three major branches in Classical period:</a:t>
            </a:r>
          </a:p>
          <a:p>
            <a:pPr marL="457200" lvl="0"/>
            <a:r>
              <a:rPr lang="en-US" sz="2000" dirty="0"/>
              <a:t>Natural philosophy was the study of the physical world. During long historical period, natural philosophy has birthed the various natural sciences such as astronomy, physics, chemistry, biology and cosmology. </a:t>
            </a:r>
          </a:p>
          <a:p>
            <a:pPr marL="457200" lvl="0"/>
            <a:r>
              <a:rPr lang="en-US" sz="2000" dirty="0"/>
              <a:t>Moral/or ethics philosophy was the branch that investigates the issues: goodness, justice, right and wrong.  Moral philosophy has split into the social sciences, especially, ethics and political philosophy.</a:t>
            </a:r>
          </a:p>
          <a:p>
            <a:pPr marL="457200" lvl="0"/>
            <a:r>
              <a:rPr lang="en-US" sz="2000" dirty="0"/>
              <a:t>Metaphysical philosophy concerned abstract objects such as existence, logic, causation. Metaphysical philosophy has birthed formal sciences such as logic, mathematics and philosophy of science</a:t>
            </a:r>
          </a:p>
          <a:p>
            <a:pPr marL="0"/>
            <a:r>
              <a:rPr lang="en-US" sz="2000" dirty="0"/>
              <a:t>In the modern era, some branches that were traditionally part of philosophy became separate academic disciplines, including psychology, sociology, linguistics and economics. </a:t>
            </a:r>
          </a:p>
        </p:txBody>
      </p:sp>
    </p:spTree>
    <p:extLst>
      <p:ext uri="{BB962C8B-B14F-4D97-AF65-F5344CB8AC3E}">
        <p14:creationId xmlns:p14="http://schemas.microsoft.com/office/powerpoint/2010/main" val="227429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 calcmode="lin" valueType="num">
                                      <p:cBhvr additive="base">
                                        <p:cTn id="3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7" y="502020"/>
            <a:ext cx="5323715" cy="1642970"/>
          </a:xfrm>
        </p:spPr>
        <p:txBody>
          <a:bodyPr vert="horz" lIns="91440" tIns="45720" rIns="91440" bIns="45720" rtlCol="0" anchor="b">
            <a:normAutofit/>
          </a:bodyPr>
          <a:lstStyle/>
          <a:p>
            <a:r>
              <a:rPr lang="en-US" sz="4000" b="1" kern="1200" dirty="0">
                <a:solidFill>
                  <a:schemeClr val="tx1"/>
                </a:solidFill>
                <a:latin typeface="+mj-lt"/>
                <a:ea typeface="+mj-ea"/>
                <a:cs typeface="+mj-cs"/>
              </a:rPr>
              <a:t>Questions of Philosophy</a:t>
            </a:r>
          </a:p>
        </p:txBody>
      </p:sp>
      <p:sp>
        <p:nvSpPr>
          <p:cNvPr id="3" name="Content Placeholder 2"/>
          <p:cNvSpPr>
            <a:spLocks noGrp="1"/>
          </p:cNvSpPr>
          <p:nvPr>
            <p:ph sz="half" idx="1"/>
          </p:nvPr>
        </p:nvSpPr>
        <p:spPr>
          <a:xfrm>
            <a:off x="1144923" y="2405894"/>
            <a:ext cx="5768495" cy="4230433"/>
          </a:xfrm>
        </p:spPr>
        <p:txBody>
          <a:bodyPr vert="horz" lIns="91440" tIns="45720" rIns="91440" bIns="45720" rtlCol="0" anchor="t">
            <a:normAutofit/>
          </a:bodyPr>
          <a:lstStyle/>
          <a:p>
            <a:r>
              <a:rPr lang="en-US" sz="2200" dirty="0"/>
              <a:t>There are general questions that reveal the nature of philosophical thinking. </a:t>
            </a:r>
          </a:p>
          <a:p>
            <a:r>
              <a:rPr lang="en-US" sz="2200" dirty="0"/>
              <a:t>First of all, among them is the question of: what is primary: the spirit or matter, ideal or material? </a:t>
            </a:r>
          </a:p>
          <a:p>
            <a:r>
              <a:rPr lang="en-US" sz="2200" dirty="0"/>
              <a:t>From its solution depends the general understanding of being, the material and the ideal are its ultimate characteristics.</a:t>
            </a:r>
          </a:p>
          <a:p>
            <a:r>
              <a:rPr lang="en-US" sz="2200" dirty="0"/>
              <a:t>The question of the primordial origins of being is also connected with the question and approaches of monism, dualism and pluralism. </a:t>
            </a:r>
          </a:p>
          <a:p>
            <a:pPr marL="0"/>
            <a:endParaRPr lang="en-US" sz="2000" dirty="0"/>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6595" y="909081"/>
            <a:ext cx="4009273" cy="5071731"/>
          </a:xfrm>
          <a:prstGeom prst="rect">
            <a:avLst/>
          </a:prstGeom>
        </p:spPr>
      </p:pic>
    </p:spTree>
    <p:extLst>
      <p:ext uri="{BB962C8B-B14F-4D97-AF65-F5344CB8AC3E}">
        <p14:creationId xmlns:p14="http://schemas.microsoft.com/office/powerpoint/2010/main" val="377879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2D05657-94EE-4B2D-BC1B-A1D065063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7586665A-47B3-4AEE-BC94-15D89FF70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99" y="486184"/>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Объект 4"/>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581526" y="258142"/>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rcRect/>
          <a:stretch/>
        </p:blipFill>
        <p:spPr>
          <a:xfrm>
            <a:off x="581526" y="3486449"/>
            <a:ext cx="3118718" cy="3118718"/>
          </a:xfrm>
          <a:custGeom>
            <a:avLst/>
            <a:gdLst/>
            <a:ahLst/>
            <a:cxnLst/>
            <a:rect l="l" t="t" r="r" b="b"/>
            <a:pathLst>
              <a:path w="2683042" h="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p:spPr>
      </p:pic>
      <p:sp>
        <p:nvSpPr>
          <p:cNvPr id="3" name="Объект 2"/>
          <p:cNvSpPr>
            <a:spLocks noGrp="1"/>
          </p:cNvSpPr>
          <p:nvPr>
            <p:ph sz="half" idx="1"/>
          </p:nvPr>
        </p:nvSpPr>
        <p:spPr>
          <a:xfrm>
            <a:off x="3948545" y="1413163"/>
            <a:ext cx="7057709" cy="5192003"/>
          </a:xfrm>
        </p:spPr>
        <p:txBody>
          <a:bodyPr vert="horz" lIns="91440" tIns="45720" rIns="91440" bIns="45720" rtlCol="0">
            <a:noAutofit/>
          </a:bodyPr>
          <a:lstStyle/>
          <a:p>
            <a:r>
              <a:rPr lang="en-US" sz="1800" dirty="0"/>
              <a:t>Monism (from the Greek </a:t>
            </a:r>
            <a:r>
              <a:rPr lang="en-US" sz="1800" dirty="0" err="1"/>
              <a:t>monos</a:t>
            </a:r>
            <a:r>
              <a:rPr lang="en-US" sz="1800" dirty="0"/>
              <a:t> - one, only) is a philosophical concept, according to which the world has one beginning. This is the beginning of a material or spiritual substance. Hence it follows that monism can, respectively, be of two kinds - materialistic and idealistic. The first, the ideal derives from the material. According to the second, the material is due to the ideal, spiritual. It is confronted with the problem of proving the creation of the world with the spirit (consciousness, idea, God), which cannot be positively solved within the framework of modern science.</a:t>
            </a:r>
          </a:p>
          <a:p>
            <a:r>
              <a:rPr lang="en-US" sz="1800" dirty="0"/>
              <a:t>Dualism (from Latin </a:t>
            </a:r>
            <a:r>
              <a:rPr lang="en-US" sz="1800" dirty="0" err="1"/>
              <a:t>dualis</a:t>
            </a:r>
            <a:r>
              <a:rPr lang="en-US" sz="1800" dirty="0"/>
              <a:t> - dual) is a philosophical doctrine that affirms the equality of the two principles: matter and consciousness, physical and mental. So, for example, R. Descartes believed that the basis of being are two equal sub-stations: the thinking (spirit) and the matter.</a:t>
            </a:r>
          </a:p>
          <a:p>
            <a:r>
              <a:rPr lang="en-US" sz="1800" dirty="0"/>
              <a:t>Pluralism (from Latin </a:t>
            </a:r>
            <a:r>
              <a:rPr lang="en-US" sz="1800" dirty="0" err="1"/>
              <a:t>pluralis</a:t>
            </a:r>
            <a:r>
              <a:rPr lang="en-US" sz="1800" dirty="0"/>
              <a:t> - </a:t>
            </a:r>
            <a:r>
              <a:rPr lang="en-US" sz="1800" dirty="0" err="1"/>
              <a:t>pluralis</a:t>
            </a:r>
            <a:r>
              <a:rPr lang="en-US" sz="1800" dirty="0"/>
              <a:t>) - suggests several or many initial bases. It is based on the assertion of the plurality of bases and the beginning of being. An example of this is the theories of ancient thinkers who put forward such diverse foundations as ground for everything, such as earth, water, air, fire, etc.</a:t>
            </a:r>
          </a:p>
        </p:txBody>
      </p:sp>
    </p:spTree>
    <p:extLst>
      <p:ext uri="{BB962C8B-B14F-4D97-AF65-F5344CB8AC3E}">
        <p14:creationId xmlns:p14="http://schemas.microsoft.com/office/powerpoint/2010/main" val="3288001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b="1">
                <a:solidFill>
                  <a:srgbClr val="FFFFFF"/>
                </a:solidFill>
                <a:latin typeface="+mn-lt"/>
              </a:rPr>
              <a:t>Methods of Philosophy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19600" y="124691"/>
            <a:ext cx="6934199" cy="6052272"/>
          </a:xfrm>
        </p:spPr>
        <p:txBody>
          <a:bodyPr anchor="ctr">
            <a:normAutofit fontScale="92500" lnSpcReduction="20000"/>
          </a:bodyPr>
          <a:lstStyle/>
          <a:p>
            <a:r>
              <a:rPr lang="en-US" sz="2000" dirty="0">
                <a:latin typeface="+mj-lt"/>
              </a:rPr>
              <a:t>Each science has its own method. It can be said that the philosophical method (from the Greek «</a:t>
            </a:r>
            <a:r>
              <a:rPr lang="en-US" sz="2000" dirty="0" err="1">
                <a:latin typeface="+mj-lt"/>
              </a:rPr>
              <a:t>methodos</a:t>
            </a:r>
            <a:r>
              <a:rPr lang="en-US" sz="2000" dirty="0">
                <a:latin typeface="+mj-lt"/>
              </a:rPr>
              <a:t>» - the path of knowledge) is a system of the most common methods of theoretical and actual development of reality, as well as a way of constructing and substantiating the system of the philosophical knowledge. </a:t>
            </a:r>
          </a:p>
          <a:p>
            <a:r>
              <a:rPr lang="en-US" sz="2000" dirty="0">
                <a:latin typeface="+mj-lt"/>
              </a:rPr>
              <a:t>Like the methods of other sciences, it originates in the practical activities of </a:t>
            </a:r>
            <a:r>
              <a:rPr lang="en-US" sz="2000">
                <a:latin typeface="+mj-lt"/>
              </a:rPr>
              <a:t>people and </a:t>
            </a:r>
            <a:r>
              <a:rPr lang="en-US" sz="2000" dirty="0">
                <a:latin typeface="+mj-lt"/>
              </a:rPr>
              <a:t>its source is a reflection of the logic and laws of the development of objective reality. </a:t>
            </a:r>
          </a:p>
          <a:p>
            <a:endParaRPr lang="en-US" sz="2000" dirty="0">
              <a:latin typeface="+mj-lt"/>
            </a:endParaRPr>
          </a:p>
          <a:p>
            <a:r>
              <a:rPr lang="en-US" sz="2000" dirty="0">
                <a:latin typeface="+mj-lt"/>
              </a:rPr>
              <a:t>There are following methods of epistemology:</a:t>
            </a:r>
          </a:p>
          <a:p>
            <a:r>
              <a:rPr lang="en-US" sz="2000" dirty="0">
                <a:latin typeface="+mj-lt"/>
              </a:rPr>
              <a:t>Sensualism (from Latin «</a:t>
            </a:r>
            <a:r>
              <a:rPr lang="en-US" sz="2000" dirty="0" err="1">
                <a:latin typeface="+mj-lt"/>
              </a:rPr>
              <a:t>sensus</a:t>
            </a:r>
            <a:r>
              <a:rPr lang="en-US" sz="2000" dirty="0">
                <a:latin typeface="+mj-lt"/>
              </a:rPr>
              <a:t>» - feeling) is a methodological principle in which feelings are taken as the basis of knowledge and which attempts to infer all knowledge from the activity of sense organs, sensations, absolutizing their role in cognition.</a:t>
            </a:r>
          </a:p>
          <a:p>
            <a:r>
              <a:rPr lang="en-US" sz="2000" dirty="0">
                <a:latin typeface="+mj-lt"/>
              </a:rPr>
              <a:t>Rationalism (from the Latin «ratio» - mind) is a method according to which the basis of the cognition and action of people is the mind.</a:t>
            </a:r>
          </a:p>
          <a:p>
            <a:r>
              <a:rPr lang="en-US" sz="2000" dirty="0">
                <a:latin typeface="+mj-lt"/>
              </a:rPr>
              <a:t>Irrationalism is a philosophical method that denies, or at least limits the role of reason in cognition, but focuses on the irrational ways of comprehending being.</a:t>
            </a:r>
          </a:p>
          <a:p>
            <a:pPr marL="0" indent="0">
              <a:buNone/>
            </a:pPr>
            <a:br>
              <a:rPr lang="en-US" sz="1500" dirty="0"/>
            </a:br>
            <a:endParaRPr lang="en-US" sz="1500" dirty="0"/>
          </a:p>
        </p:txBody>
      </p:sp>
    </p:spTree>
    <p:extLst>
      <p:ext uri="{BB962C8B-B14F-4D97-AF65-F5344CB8AC3E}">
        <p14:creationId xmlns:p14="http://schemas.microsoft.com/office/powerpoint/2010/main" val="336868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125381916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1584</TotalTime>
  <Words>1014</Words>
  <Application>Microsoft Macintosh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Gentium</vt:lpstr>
      <vt:lpstr>Wingdings</vt:lpstr>
      <vt:lpstr>Office Theme</vt:lpstr>
      <vt:lpstr>PowerPoint Presentation</vt:lpstr>
      <vt:lpstr>Outline:</vt:lpstr>
      <vt:lpstr>What is Philosophy?</vt:lpstr>
      <vt:lpstr>The Usage of the Term and Its Definition</vt:lpstr>
      <vt:lpstr>The Role of Philosophy in the System of Sciences</vt:lpstr>
      <vt:lpstr>Questions of Philosophy</vt:lpstr>
      <vt:lpstr>PowerPoint Presentation</vt:lpstr>
      <vt:lpstr>Methods of Philosophy</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103</cp:revision>
  <dcterms:created xsi:type="dcterms:W3CDTF">2017-06-29T13:12:25Z</dcterms:created>
  <dcterms:modified xsi:type="dcterms:W3CDTF">2026-09-09T03:49:14Z</dcterms:modified>
</cp:coreProperties>
</file>