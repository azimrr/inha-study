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9"/>
  </p:notesMasterIdLst>
  <p:sldIdLst>
    <p:sldId id="257" r:id="rId2"/>
    <p:sldId id="258" r:id="rId3"/>
    <p:sldId id="305" r:id="rId4"/>
    <p:sldId id="306" r:id="rId5"/>
    <p:sldId id="307" r:id="rId6"/>
    <p:sldId id="308" r:id="rId7"/>
    <p:sldId id="309" r:id="rId8"/>
    <p:sldId id="310" r:id="rId9"/>
    <p:sldId id="311" r:id="rId10"/>
    <p:sldId id="312" r:id="rId11"/>
    <p:sldId id="298" r:id="rId12"/>
    <p:sldId id="299" r:id="rId13"/>
    <p:sldId id="300" r:id="rId14"/>
    <p:sldId id="301" r:id="rId15"/>
    <p:sldId id="302" r:id="rId16"/>
    <p:sldId id="303" r:id="rId17"/>
    <p:sldId id="30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B506352-A10D-4DF3-88CC-3AD4DFCED331}">
          <p14:sldIdLst>
            <p14:sldId id="257"/>
            <p14:sldId id="258"/>
            <p14:sldId id="305"/>
            <p14:sldId id="306"/>
            <p14:sldId id="307"/>
            <p14:sldId id="308"/>
            <p14:sldId id="309"/>
            <p14:sldId id="310"/>
            <p14:sldId id="311"/>
            <p14:sldId id="312"/>
            <p14:sldId id="298"/>
            <p14:sldId id="299"/>
            <p14:sldId id="300"/>
            <p14:sldId id="301"/>
            <p14:sldId id="302"/>
            <p14:sldId id="303"/>
            <p14:sldId id="30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2208" autoAdjust="0"/>
    <p:restoredTop sz="94660" autoAdjust="0"/>
  </p:normalViewPr>
  <p:slideViewPr>
    <p:cSldViewPr snapToGrid="0">
      <p:cViewPr varScale="1">
        <p:scale>
          <a:sx n="28" d="100"/>
          <a:sy n="28" d="100"/>
        </p:scale>
        <p:origin x="176" y="200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6" d="100"/>
          <a:sy n="56" d="100"/>
        </p:scale>
        <p:origin x="2856"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C0A3181F-1A3D-492E-806C-E7D40DC31586}"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349FEDEB-B664-4AD7-B992-6C94F288A1E9}">
      <dgm:prSet/>
      <dgm:spPr/>
      <dgm:t>
        <a:bodyPr/>
        <a:lstStyle/>
        <a:p>
          <a:pPr>
            <a:defRPr cap="all"/>
          </a:pPr>
          <a:r>
            <a:rPr lang="en-US"/>
            <a:t>The Timeframe of Modern period </a:t>
          </a:r>
        </a:p>
      </dgm:t>
    </dgm:pt>
    <dgm:pt modelId="{7E0F6A64-9361-419D-929E-271D54B3985B}" type="parTrans" cxnId="{05227303-B16B-4216-88E2-834ECE9AFC01}">
      <dgm:prSet/>
      <dgm:spPr/>
      <dgm:t>
        <a:bodyPr/>
        <a:lstStyle/>
        <a:p>
          <a:endParaRPr lang="en-US"/>
        </a:p>
      </dgm:t>
    </dgm:pt>
    <dgm:pt modelId="{31FEF705-2C94-4D47-957F-05656C5CEA1A}" type="sibTrans" cxnId="{05227303-B16B-4216-88E2-834ECE9AFC01}">
      <dgm:prSet/>
      <dgm:spPr/>
      <dgm:t>
        <a:bodyPr/>
        <a:lstStyle/>
        <a:p>
          <a:endParaRPr lang="en-US"/>
        </a:p>
      </dgm:t>
    </dgm:pt>
    <dgm:pt modelId="{EAFE3AB3-BDC4-473E-9B44-95B7E59D993E}">
      <dgm:prSet/>
      <dgm:spPr/>
      <dgm:t>
        <a:bodyPr/>
        <a:lstStyle/>
        <a:p>
          <a:pPr>
            <a:defRPr cap="all"/>
          </a:pPr>
          <a:r>
            <a:rPr lang="en-US"/>
            <a:t>European Renaissance and Its Legacy</a:t>
          </a:r>
        </a:p>
      </dgm:t>
    </dgm:pt>
    <dgm:pt modelId="{572D1BBA-2658-40B7-848E-70D7B09A12A9}" type="parTrans" cxnId="{F8AB78AC-06FB-49AC-8FD4-09C6013EC0D8}">
      <dgm:prSet/>
      <dgm:spPr/>
      <dgm:t>
        <a:bodyPr/>
        <a:lstStyle/>
        <a:p>
          <a:endParaRPr lang="en-US"/>
        </a:p>
      </dgm:t>
    </dgm:pt>
    <dgm:pt modelId="{F8745302-B87B-412E-A66E-7533A58E6736}" type="sibTrans" cxnId="{F8AB78AC-06FB-49AC-8FD4-09C6013EC0D8}">
      <dgm:prSet/>
      <dgm:spPr/>
      <dgm:t>
        <a:bodyPr/>
        <a:lstStyle/>
        <a:p>
          <a:endParaRPr lang="en-US"/>
        </a:p>
      </dgm:t>
    </dgm:pt>
    <dgm:pt modelId="{6125E369-15B3-4F10-A687-96BF52F44C02}">
      <dgm:prSet/>
      <dgm:spPr/>
      <dgm:t>
        <a:bodyPr/>
        <a:lstStyle/>
        <a:p>
          <a:pPr>
            <a:defRPr cap="all"/>
          </a:pPr>
          <a:r>
            <a:rPr lang="en-US"/>
            <a:t>Western Scholars on Astronomy and Philosophy in Modern Period</a:t>
          </a:r>
        </a:p>
      </dgm:t>
    </dgm:pt>
    <dgm:pt modelId="{017FDB3B-7DDC-4B5B-9A44-47387B2F5D4F}" type="parTrans" cxnId="{3F3DF8E8-E52B-4CE6-8F90-D0CC3A50B733}">
      <dgm:prSet/>
      <dgm:spPr/>
      <dgm:t>
        <a:bodyPr/>
        <a:lstStyle/>
        <a:p>
          <a:endParaRPr lang="en-US"/>
        </a:p>
      </dgm:t>
    </dgm:pt>
    <dgm:pt modelId="{BA0152E9-38D5-47CA-AD91-1786D988F583}" type="sibTrans" cxnId="{3F3DF8E8-E52B-4CE6-8F90-D0CC3A50B733}">
      <dgm:prSet/>
      <dgm:spPr/>
      <dgm:t>
        <a:bodyPr/>
        <a:lstStyle/>
        <a:p>
          <a:endParaRPr lang="en-US"/>
        </a:p>
      </dgm:t>
    </dgm:pt>
    <dgm:pt modelId="{A1475F3F-E163-4CB5-A985-2DC1EDEECD55}">
      <dgm:prSet/>
      <dgm:spPr/>
      <dgm:t>
        <a:bodyPr/>
        <a:lstStyle/>
        <a:p>
          <a:pPr>
            <a:defRPr cap="all"/>
          </a:pPr>
          <a:r>
            <a:rPr lang="en-US"/>
            <a:t>Philosophical Schools and Traditions in Contemporary Period</a:t>
          </a:r>
        </a:p>
      </dgm:t>
    </dgm:pt>
    <dgm:pt modelId="{97224CAB-CDDA-4A27-9D5B-9BA8563AC7EB}" type="parTrans" cxnId="{2916083B-2950-45D7-80B9-36C26D2A16A3}">
      <dgm:prSet/>
      <dgm:spPr/>
      <dgm:t>
        <a:bodyPr/>
        <a:lstStyle/>
        <a:p>
          <a:endParaRPr lang="en-US"/>
        </a:p>
      </dgm:t>
    </dgm:pt>
    <dgm:pt modelId="{865F2377-DDA3-4597-8058-9F8B119AB5F0}" type="sibTrans" cxnId="{2916083B-2950-45D7-80B9-36C26D2A16A3}">
      <dgm:prSet/>
      <dgm:spPr/>
      <dgm:t>
        <a:bodyPr/>
        <a:lstStyle/>
        <a:p>
          <a:endParaRPr lang="en-US"/>
        </a:p>
      </dgm:t>
    </dgm:pt>
    <dgm:pt modelId="{77DBA1F0-7FD5-4511-A71F-AD765953D2A0}" type="pres">
      <dgm:prSet presAssocID="{C0A3181F-1A3D-492E-806C-E7D40DC31586}" presName="root" presStyleCnt="0">
        <dgm:presLayoutVars>
          <dgm:dir/>
          <dgm:resizeHandles val="exact"/>
        </dgm:presLayoutVars>
      </dgm:prSet>
      <dgm:spPr/>
    </dgm:pt>
    <dgm:pt modelId="{90DCD7E1-63F7-4E3F-8D69-6B7323E88D37}" type="pres">
      <dgm:prSet presAssocID="{349FEDEB-B664-4AD7-B992-6C94F288A1E9}" presName="compNode" presStyleCnt="0"/>
      <dgm:spPr/>
    </dgm:pt>
    <dgm:pt modelId="{E74E3DD9-91E1-43F9-A93D-97861FC8CB6C}" type="pres">
      <dgm:prSet presAssocID="{349FEDEB-B664-4AD7-B992-6C94F288A1E9}" presName="iconBgRect" presStyleLbl="bgShp" presStyleIdx="0" presStyleCnt="4"/>
      <dgm:spPr/>
    </dgm:pt>
    <dgm:pt modelId="{0912C259-EC56-40A7-AE8A-D938EC0F63A6}" type="pres">
      <dgm:prSet presAssocID="{349FEDEB-B664-4AD7-B992-6C94F288A1E9}"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opwatch"/>
        </a:ext>
      </dgm:extLst>
    </dgm:pt>
    <dgm:pt modelId="{9D3A787B-2DD1-43BD-B4B2-A9769C6A850D}" type="pres">
      <dgm:prSet presAssocID="{349FEDEB-B664-4AD7-B992-6C94F288A1E9}" presName="spaceRect" presStyleCnt="0"/>
      <dgm:spPr/>
    </dgm:pt>
    <dgm:pt modelId="{B92B782F-7F7F-4112-80AA-FF956A2E0496}" type="pres">
      <dgm:prSet presAssocID="{349FEDEB-B664-4AD7-B992-6C94F288A1E9}" presName="textRect" presStyleLbl="revTx" presStyleIdx="0" presStyleCnt="4">
        <dgm:presLayoutVars>
          <dgm:chMax val="1"/>
          <dgm:chPref val="1"/>
        </dgm:presLayoutVars>
      </dgm:prSet>
      <dgm:spPr/>
    </dgm:pt>
    <dgm:pt modelId="{74670C8D-B4DD-4682-9ED8-0FCC40C25C1F}" type="pres">
      <dgm:prSet presAssocID="{31FEF705-2C94-4D47-957F-05656C5CEA1A}" presName="sibTrans" presStyleCnt="0"/>
      <dgm:spPr/>
    </dgm:pt>
    <dgm:pt modelId="{44BD22DB-A013-47A4-AFAD-93C7AED40308}" type="pres">
      <dgm:prSet presAssocID="{EAFE3AB3-BDC4-473E-9B44-95B7E59D993E}" presName="compNode" presStyleCnt="0"/>
      <dgm:spPr/>
    </dgm:pt>
    <dgm:pt modelId="{1E5F81D5-48E4-4343-B8E8-FECF9522AE9D}" type="pres">
      <dgm:prSet presAssocID="{EAFE3AB3-BDC4-473E-9B44-95B7E59D993E}" presName="iconBgRect" presStyleLbl="bgShp" presStyleIdx="1" presStyleCnt="4"/>
      <dgm:spPr/>
    </dgm:pt>
    <dgm:pt modelId="{440B2972-C259-4972-A2E2-DFD0FC23A950}" type="pres">
      <dgm:prSet presAssocID="{EAFE3AB3-BDC4-473E-9B44-95B7E59D993E}"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rown"/>
        </a:ext>
      </dgm:extLst>
    </dgm:pt>
    <dgm:pt modelId="{77735A17-1F94-4475-A22A-DB3E0018C81D}" type="pres">
      <dgm:prSet presAssocID="{EAFE3AB3-BDC4-473E-9B44-95B7E59D993E}" presName="spaceRect" presStyleCnt="0"/>
      <dgm:spPr/>
    </dgm:pt>
    <dgm:pt modelId="{D68480D6-B223-4A95-A68E-A12FEB4407E4}" type="pres">
      <dgm:prSet presAssocID="{EAFE3AB3-BDC4-473E-9B44-95B7E59D993E}" presName="textRect" presStyleLbl="revTx" presStyleIdx="1" presStyleCnt="4">
        <dgm:presLayoutVars>
          <dgm:chMax val="1"/>
          <dgm:chPref val="1"/>
        </dgm:presLayoutVars>
      </dgm:prSet>
      <dgm:spPr/>
    </dgm:pt>
    <dgm:pt modelId="{EB2BA84F-6266-4F47-9758-AF78C625612C}" type="pres">
      <dgm:prSet presAssocID="{F8745302-B87B-412E-A66E-7533A58E6736}" presName="sibTrans" presStyleCnt="0"/>
      <dgm:spPr/>
    </dgm:pt>
    <dgm:pt modelId="{84F43B88-11C7-4C68-A6DE-E8947D68E6D4}" type="pres">
      <dgm:prSet presAssocID="{6125E369-15B3-4F10-A687-96BF52F44C02}" presName="compNode" presStyleCnt="0"/>
      <dgm:spPr/>
    </dgm:pt>
    <dgm:pt modelId="{39C5C895-1098-471B-A13A-3A9F2D7CEE27}" type="pres">
      <dgm:prSet presAssocID="{6125E369-15B3-4F10-A687-96BF52F44C02}" presName="iconBgRect" presStyleLbl="bgShp" presStyleIdx="2" presStyleCnt="4"/>
      <dgm:spPr/>
    </dgm:pt>
    <dgm:pt modelId="{2C22B5B3-22D0-429E-8937-7D42D3F844C6}" type="pres">
      <dgm:prSet presAssocID="{6125E369-15B3-4F10-A687-96BF52F44C02}"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olar system"/>
        </a:ext>
      </dgm:extLst>
    </dgm:pt>
    <dgm:pt modelId="{95838361-5524-4D90-BF89-DA6F23969915}" type="pres">
      <dgm:prSet presAssocID="{6125E369-15B3-4F10-A687-96BF52F44C02}" presName="spaceRect" presStyleCnt="0"/>
      <dgm:spPr/>
    </dgm:pt>
    <dgm:pt modelId="{8EF36371-B34C-4C8B-9F68-FDF2D7DFBBDB}" type="pres">
      <dgm:prSet presAssocID="{6125E369-15B3-4F10-A687-96BF52F44C02}" presName="textRect" presStyleLbl="revTx" presStyleIdx="2" presStyleCnt="4">
        <dgm:presLayoutVars>
          <dgm:chMax val="1"/>
          <dgm:chPref val="1"/>
        </dgm:presLayoutVars>
      </dgm:prSet>
      <dgm:spPr/>
    </dgm:pt>
    <dgm:pt modelId="{4475C19A-2DF9-47B8-9161-67B8CF66C9AE}" type="pres">
      <dgm:prSet presAssocID="{BA0152E9-38D5-47CA-AD91-1786D988F583}" presName="sibTrans" presStyleCnt="0"/>
      <dgm:spPr/>
    </dgm:pt>
    <dgm:pt modelId="{9DA1AB04-8D63-409D-B802-008B6A1C7FA3}" type="pres">
      <dgm:prSet presAssocID="{A1475F3F-E163-4CB5-A985-2DC1EDEECD55}" presName="compNode" presStyleCnt="0"/>
      <dgm:spPr/>
    </dgm:pt>
    <dgm:pt modelId="{1EC0E651-32E9-49DA-9DEC-ACB6957D27EE}" type="pres">
      <dgm:prSet presAssocID="{A1475F3F-E163-4CB5-A985-2DC1EDEECD55}" presName="iconBgRect" presStyleLbl="bgShp" presStyleIdx="3" presStyleCnt="4"/>
      <dgm:spPr/>
    </dgm:pt>
    <dgm:pt modelId="{96EC3A45-738E-4959-BD04-852DFB4EADC9}" type="pres">
      <dgm:prSet presAssocID="{A1475F3F-E163-4CB5-A985-2DC1EDEECD55}"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a:ext>
      </dgm:extLst>
    </dgm:pt>
    <dgm:pt modelId="{C8C0DC35-C079-4BAB-B0B1-C173A516214C}" type="pres">
      <dgm:prSet presAssocID="{A1475F3F-E163-4CB5-A985-2DC1EDEECD55}" presName="spaceRect" presStyleCnt="0"/>
      <dgm:spPr/>
    </dgm:pt>
    <dgm:pt modelId="{125E2EC0-1D8C-47AE-B8E9-016312012A78}" type="pres">
      <dgm:prSet presAssocID="{A1475F3F-E163-4CB5-A985-2DC1EDEECD55}" presName="textRect" presStyleLbl="revTx" presStyleIdx="3" presStyleCnt="4">
        <dgm:presLayoutVars>
          <dgm:chMax val="1"/>
          <dgm:chPref val="1"/>
        </dgm:presLayoutVars>
      </dgm:prSet>
      <dgm:spPr/>
    </dgm:pt>
  </dgm:ptLst>
  <dgm:cxnLst>
    <dgm:cxn modelId="{05227303-B16B-4216-88E2-834ECE9AFC01}" srcId="{C0A3181F-1A3D-492E-806C-E7D40DC31586}" destId="{349FEDEB-B664-4AD7-B992-6C94F288A1E9}" srcOrd="0" destOrd="0" parTransId="{7E0F6A64-9361-419D-929E-271D54B3985B}" sibTransId="{31FEF705-2C94-4D47-957F-05656C5CEA1A}"/>
    <dgm:cxn modelId="{2916083B-2950-45D7-80B9-36C26D2A16A3}" srcId="{C0A3181F-1A3D-492E-806C-E7D40DC31586}" destId="{A1475F3F-E163-4CB5-A985-2DC1EDEECD55}" srcOrd="3" destOrd="0" parTransId="{97224CAB-CDDA-4A27-9D5B-9BA8563AC7EB}" sibTransId="{865F2377-DDA3-4597-8058-9F8B119AB5F0}"/>
    <dgm:cxn modelId="{EDB85C90-6170-49E6-943B-587E9E526C84}" type="presOf" srcId="{6125E369-15B3-4F10-A687-96BF52F44C02}" destId="{8EF36371-B34C-4C8B-9F68-FDF2D7DFBBDB}" srcOrd="0" destOrd="0" presId="urn:microsoft.com/office/officeart/2018/5/layout/IconCircleLabelList"/>
    <dgm:cxn modelId="{A4FA1C97-7319-4C1A-BC7D-CEE875B48F06}" type="presOf" srcId="{A1475F3F-E163-4CB5-A985-2DC1EDEECD55}" destId="{125E2EC0-1D8C-47AE-B8E9-016312012A78}" srcOrd="0" destOrd="0" presId="urn:microsoft.com/office/officeart/2018/5/layout/IconCircleLabelList"/>
    <dgm:cxn modelId="{F8AB78AC-06FB-49AC-8FD4-09C6013EC0D8}" srcId="{C0A3181F-1A3D-492E-806C-E7D40DC31586}" destId="{EAFE3AB3-BDC4-473E-9B44-95B7E59D993E}" srcOrd="1" destOrd="0" parTransId="{572D1BBA-2658-40B7-848E-70D7B09A12A9}" sibTransId="{F8745302-B87B-412E-A66E-7533A58E6736}"/>
    <dgm:cxn modelId="{40739EAE-95D7-4DFE-8CDD-62E95605A158}" type="presOf" srcId="{349FEDEB-B664-4AD7-B992-6C94F288A1E9}" destId="{B92B782F-7F7F-4112-80AA-FF956A2E0496}" srcOrd="0" destOrd="0" presId="urn:microsoft.com/office/officeart/2018/5/layout/IconCircleLabelList"/>
    <dgm:cxn modelId="{9ADDDFC3-885D-485E-9E7F-FEF1F1F18CD9}" type="presOf" srcId="{C0A3181F-1A3D-492E-806C-E7D40DC31586}" destId="{77DBA1F0-7FD5-4511-A71F-AD765953D2A0}" srcOrd="0" destOrd="0" presId="urn:microsoft.com/office/officeart/2018/5/layout/IconCircleLabelList"/>
    <dgm:cxn modelId="{56D9A9C8-E4A3-4D56-99BA-91EE2B7F037E}" type="presOf" srcId="{EAFE3AB3-BDC4-473E-9B44-95B7E59D993E}" destId="{D68480D6-B223-4A95-A68E-A12FEB4407E4}" srcOrd="0" destOrd="0" presId="urn:microsoft.com/office/officeart/2018/5/layout/IconCircleLabelList"/>
    <dgm:cxn modelId="{3F3DF8E8-E52B-4CE6-8F90-D0CC3A50B733}" srcId="{C0A3181F-1A3D-492E-806C-E7D40DC31586}" destId="{6125E369-15B3-4F10-A687-96BF52F44C02}" srcOrd="2" destOrd="0" parTransId="{017FDB3B-7DDC-4B5B-9A44-47387B2F5D4F}" sibTransId="{BA0152E9-38D5-47CA-AD91-1786D988F583}"/>
    <dgm:cxn modelId="{22865333-38B3-409A-A4A6-EB06572A5F70}" type="presParOf" srcId="{77DBA1F0-7FD5-4511-A71F-AD765953D2A0}" destId="{90DCD7E1-63F7-4E3F-8D69-6B7323E88D37}" srcOrd="0" destOrd="0" presId="urn:microsoft.com/office/officeart/2018/5/layout/IconCircleLabelList"/>
    <dgm:cxn modelId="{C339F809-BBD4-4921-8367-05AB4ECF055D}" type="presParOf" srcId="{90DCD7E1-63F7-4E3F-8D69-6B7323E88D37}" destId="{E74E3DD9-91E1-43F9-A93D-97861FC8CB6C}" srcOrd="0" destOrd="0" presId="urn:microsoft.com/office/officeart/2018/5/layout/IconCircleLabelList"/>
    <dgm:cxn modelId="{F5E7B965-E581-4B8F-B87D-16A202600A14}" type="presParOf" srcId="{90DCD7E1-63F7-4E3F-8D69-6B7323E88D37}" destId="{0912C259-EC56-40A7-AE8A-D938EC0F63A6}" srcOrd="1" destOrd="0" presId="urn:microsoft.com/office/officeart/2018/5/layout/IconCircleLabelList"/>
    <dgm:cxn modelId="{2363A582-5916-4A4C-AAB4-6D0F79831334}" type="presParOf" srcId="{90DCD7E1-63F7-4E3F-8D69-6B7323E88D37}" destId="{9D3A787B-2DD1-43BD-B4B2-A9769C6A850D}" srcOrd="2" destOrd="0" presId="urn:microsoft.com/office/officeart/2018/5/layout/IconCircleLabelList"/>
    <dgm:cxn modelId="{6E243480-5DDA-4433-B774-02B08D9CC971}" type="presParOf" srcId="{90DCD7E1-63F7-4E3F-8D69-6B7323E88D37}" destId="{B92B782F-7F7F-4112-80AA-FF956A2E0496}" srcOrd="3" destOrd="0" presId="urn:microsoft.com/office/officeart/2018/5/layout/IconCircleLabelList"/>
    <dgm:cxn modelId="{E3950655-B323-4D6A-A666-E3FF0B2CEFB8}" type="presParOf" srcId="{77DBA1F0-7FD5-4511-A71F-AD765953D2A0}" destId="{74670C8D-B4DD-4682-9ED8-0FCC40C25C1F}" srcOrd="1" destOrd="0" presId="urn:microsoft.com/office/officeart/2018/5/layout/IconCircleLabelList"/>
    <dgm:cxn modelId="{C499E0E6-ED78-4E23-A0F3-9F6B9A196EE7}" type="presParOf" srcId="{77DBA1F0-7FD5-4511-A71F-AD765953D2A0}" destId="{44BD22DB-A013-47A4-AFAD-93C7AED40308}" srcOrd="2" destOrd="0" presId="urn:microsoft.com/office/officeart/2018/5/layout/IconCircleLabelList"/>
    <dgm:cxn modelId="{3070F3BD-516C-42F2-BEA9-C42EF01B0DD3}" type="presParOf" srcId="{44BD22DB-A013-47A4-AFAD-93C7AED40308}" destId="{1E5F81D5-48E4-4343-B8E8-FECF9522AE9D}" srcOrd="0" destOrd="0" presId="urn:microsoft.com/office/officeart/2018/5/layout/IconCircleLabelList"/>
    <dgm:cxn modelId="{C67E3B69-D002-4288-9CB2-D9BD9C417E17}" type="presParOf" srcId="{44BD22DB-A013-47A4-AFAD-93C7AED40308}" destId="{440B2972-C259-4972-A2E2-DFD0FC23A950}" srcOrd="1" destOrd="0" presId="urn:microsoft.com/office/officeart/2018/5/layout/IconCircleLabelList"/>
    <dgm:cxn modelId="{B79D11DD-1F34-42A8-9BD5-8EFE4023E867}" type="presParOf" srcId="{44BD22DB-A013-47A4-AFAD-93C7AED40308}" destId="{77735A17-1F94-4475-A22A-DB3E0018C81D}" srcOrd="2" destOrd="0" presId="urn:microsoft.com/office/officeart/2018/5/layout/IconCircleLabelList"/>
    <dgm:cxn modelId="{A080FB3E-5866-44EE-B31C-32AFA2C07D14}" type="presParOf" srcId="{44BD22DB-A013-47A4-AFAD-93C7AED40308}" destId="{D68480D6-B223-4A95-A68E-A12FEB4407E4}" srcOrd="3" destOrd="0" presId="urn:microsoft.com/office/officeart/2018/5/layout/IconCircleLabelList"/>
    <dgm:cxn modelId="{9A0E82A3-A000-434A-8943-8073635D124E}" type="presParOf" srcId="{77DBA1F0-7FD5-4511-A71F-AD765953D2A0}" destId="{EB2BA84F-6266-4F47-9758-AF78C625612C}" srcOrd="3" destOrd="0" presId="urn:microsoft.com/office/officeart/2018/5/layout/IconCircleLabelList"/>
    <dgm:cxn modelId="{4D10655E-2FBE-4B1F-82E8-715ABFE489B0}" type="presParOf" srcId="{77DBA1F0-7FD5-4511-A71F-AD765953D2A0}" destId="{84F43B88-11C7-4C68-A6DE-E8947D68E6D4}" srcOrd="4" destOrd="0" presId="urn:microsoft.com/office/officeart/2018/5/layout/IconCircleLabelList"/>
    <dgm:cxn modelId="{04423E1D-DC37-4852-A9E7-1946C74AC834}" type="presParOf" srcId="{84F43B88-11C7-4C68-A6DE-E8947D68E6D4}" destId="{39C5C895-1098-471B-A13A-3A9F2D7CEE27}" srcOrd="0" destOrd="0" presId="urn:microsoft.com/office/officeart/2018/5/layout/IconCircleLabelList"/>
    <dgm:cxn modelId="{2BE65A90-4C2D-4D4C-8D61-C6F4D40721FE}" type="presParOf" srcId="{84F43B88-11C7-4C68-A6DE-E8947D68E6D4}" destId="{2C22B5B3-22D0-429E-8937-7D42D3F844C6}" srcOrd="1" destOrd="0" presId="urn:microsoft.com/office/officeart/2018/5/layout/IconCircleLabelList"/>
    <dgm:cxn modelId="{9FC9EEED-EFCA-4F63-9078-4631CB31ABAF}" type="presParOf" srcId="{84F43B88-11C7-4C68-A6DE-E8947D68E6D4}" destId="{95838361-5524-4D90-BF89-DA6F23969915}" srcOrd="2" destOrd="0" presId="urn:microsoft.com/office/officeart/2018/5/layout/IconCircleLabelList"/>
    <dgm:cxn modelId="{7238922A-EC91-4A7C-A40F-A4661BC2B793}" type="presParOf" srcId="{84F43B88-11C7-4C68-A6DE-E8947D68E6D4}" destId="{8EF36371-B34C-4C8B-9F68-FDF2D7DFBBDB}" srcOrd="3" destOrd="0" presId="urn:microsoft.com/office/officeart/2018/5/layout/IconCircleLabelList"/>
    <dgm:cxn modelId="{BFC33B7A-2695-455F-A8C1-9E5FE1F4CAE6}" type="presParOf" srcId="{77DBA1F0-7FD5-4511-A71F-AD765953D2A0}" destId="{4475C19A-2DF9-47B8-9161-67B8CF66C9AE}" srcOrd="5" destOrd="0" presId="urn:microsoft.com/office/officeart/2018/5/layout/IconCircleLabelList"/>
    <dgm:cxn modelId="{120AC561-F000-474B-B923-7CD797D335CE}" type="presParOf" srcId="{77DBA1F0-7FD5-4511-A71F-AD765953D2A0}" destId="{9DA1AB04-8D63-409D-B802-008B6A1C7FA3}" srcOrd="6" destOrd="0" presId="urn:microsoft.com/office/officeart/2018/5/layout/IconCircleLabelList"/>
    <dgm:cxn modelId="{D4A5CC42-0E32-43E4-9E51-EE70DDE7B032}" type="presParOf" srcId="{9DA1AB04-8D63-409D-B802-008B6A1C7FA3}" destId="{1EC0E651-32E9-49DA-9DEC-ACB6957D27EE}" srcOrd="0" destOrd="0" presId="urn:microsoft.com/office/officeart/2018/5/layout/IconCircleLabelList"/>
    <dgm:cxn modelId="{77BFD548-8247-4CCA-8AB3-23C3AF34F0B8}" type="presParOf" srcId="{9DA1AB04-8D63-409D-B802-008B6A1C7FA3}" destId="{96EC3A45-738E-4959-BD04-852DFB4EADC9}" srcOrd="1" destOrd="0" presId="urn:microsoft.com/office/officeart/2018/5/layout/IconCircleLabelList"/>
    <dgm:cxn modelId="{CA0EA976-F5BD-47F5-B98E-BE26F807B407}" type="presParOf" srcId="{9DA1AB04-8D63-409D-B802-008B6A1C7FA3}" destId="{C8C0DC35-C079-4BAB-B0B1-C173A516214C}" srcOrd="2" destOrd="0" presId="urn:microsoft.com/office/officeart/2018/5/layout/IconCircleLabelList"/>
    <dgm:cxn modelId="{59357E58-D594-4425-AE38-600BF857A604}" type="presParOf" srcId="{9DA1AB04-8D63-409D-B802-008B6A1C7FA3}" destId="{125E2EC0-1D8C-47AE-B8E9-016312012A7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4E3DD9-91E1-43F9-A93D-97861FC8CB6C}">
      <dsp:nvSpPr>
        <dsp:cNvPr id="0" name=""/>
        <dsp:cNvSpPr/>
      </dsp:nvSpPr>
      <dsp:spPr>
        <a:xfrm>
          <a:off x="562927" y="788206"/>
          <a:ext cx="1445998" cy="144599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12C259-EC56-40A7-AE8A-D938EC0F63A6}">
      <dsp:nvSpPr>
        <dsp:cNvPr id="0" name=""/>
        <dsp:cNvSpPr/>
      </dsp:nvSpPr>
      <dsp:spPr>
        <a:xfrm>
          <a:off x="871091" y="1096370"/>
          <a:ext cx="829671" cy="82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2B782F-7F7F-4112-80AA-FF956A2E0496}">
      <dsp:nvSpPr>
        <dsp:cNvPr id="0" name=""/>
        <dsp:cNvSpPr/>
      </dsp:nvSpPr>
      <dsp:spPr>
        <a:xfrm>
          <a:off x="10068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The Timeframe of Modern period </a:t>
          </a:r>
        </a:p>
      </dsp:txBody>
      <dsp:txXfrm>
        <a:off x="100682" y="2684598"/>
        <a:ext cx="2370489" cy="720000"/>
      </dsp:txXfrm>
    </dsp:sp>
    <dsp:sp modelId="{1E5F81D5-48E4-4343-B8E8-FECF9522AE9D}">
      <dsp:nvSpPr>
        <dsp:cNvPr id="0" name=""/>
        <dsp:cNvSpPr/>
      </dsp:nvSpPr>
      <dsp:spPr>
        <a:xfrm>
          <a:off x="3348252" y="788206"/>
          <a:ext cx="1445998" cy="144599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0B2972-C259-4972-A2E2-DFD0FC23A950}">
      <dsp:nvSpPr>
        <dsp:cNvPr id="0" name=""/>
        <dsp:cNvSpPr/>
      </dsp:nvSpPr>
      <dsp:spPr>
        <a:xfrm>
          <a:off x="3656416" y="1096370"/>
          <a:ext cx="829671" cy="82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68480D6-B223-4A95-A68E-A12FEB4407E4}">
      <dsp:nvSpPr>
        <dsp:cNvPr id="0" name=""/>
        <dsp:cNvSpPr/>
      </dsp:nvSpPr>
      <dsp:spPr>
        <a:xfrm>
          <a:off x="288600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European Renaissance and Its Legacy</a:t>
          </a:r>
        </a:p>
      </dsp:txBody>
      <dsp:txXfrm>
        <a:off x="2886007" y="2684598"/>
        <a:ext cx="2370489" cy="720000"/>
      </dsp:txXfrm>
    </dsp:sp>
    <dsp:sp modelId="{39C5C895-1098-471B-A13A-3A9F2D7CEE27}">
      <dsp:nvSpPr>
        <dsp:cNvPr id="0" name=""/>
        <dsp:cNvSpPr/>
      </dsp:nvSpPr>
      <dsp:spPr>
        <a:xfrm>
          <a:off x="6133577" y="788206"/>
          <a:ext cx="1445998" cy="144599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22B5B3-22D0-429E-8937-7D42D3F844C6}">
      <dsp:nvSpPr>
        <dsp:cNvPr id="0" name=""/>
        <dsp:cNvSpPr/>
      </dsp:nvSpPr>
      <dsp:spPr>
        <a:xfrm>
          <a:off x="6441741" y="1096370"/>
          <a:ext cx="829671" cy="82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F36371-B34C-4C8B-9F68-FDF2D7DFBBDB}">
      <dsp:nvSpPr>
        <dsp:cNvPr id="0" name=""/>
        <dsp:cNvSpPr/>
      </dsp:nvSpPr>
      <dsp:spPr>
        <a:xfrm>
          <a:off x="567133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Western Scholars on Astronomy and Philosophy in Modern Period</a:t>
          </a:r>
        </a:p>
      </dsp:txBody>
      <dsp:txXfrm>
        <a:off x="5671332" y="2684598"/>
        <a:ext cx="2370489" cy="720000"/>
      </dsp:txXfrm>
    </dsp:sp>
    <dsp:sp modelId="{1EC0E651-32E9-49DA-9DEC-ACB6957D27EE}">
      <dsp:nvSpPr>
        <dsp:cNvPr id="0" name=""/>
        <dsp:cNvSpPr/>
      </dsp:nvSpPr>
      <dsp:spPr>
        <a:xfrm>
          <a:off x="8918902" y="788206"/>
          <a:ext cx="1445998" cy="144599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EC3A45-738E-4959-BD04-852DFB4EADC9}">
      <dsp:nvSpPr>
        <dsp:cNvPr id="0" name=""/>
        <dsp:cNvSpPr/>
      </dsp:nvSpPr>
      <dsp:spPr>
        <a:xfrm>
          <a:off x="9227066" y="1096370"/>
          <a:ext cx="829671" cy="82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5E2EC0-1D8C-47AE-B8E9-016312012A78}">
      <dsp:nvSpPr>
        <dsp:cNvPr id="0" name=""/>
        <dsp:cNvSpPr/>
      </dsp:nvSpPr>
      <dsp:spPr>
        <a:xfrm>
          <a:off x="845665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Philosophical Schools and Traditions in Contemporary Period</a:t>
          </a:r>
        </a:p>
      </dsp:txBody>
      <dsp:txXfrm>
        <a:off x="8456657" y="2684598"/>
        <a:ext cx="2370489"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28954A-FBB2-43C7-8806-7A812F3BF0FA}" type="datetimeFigureOut">
              <a:rPr lang="en-US" smtClean="0"/>
              <a:t>9/27/26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44FF98-851E-4F68-A380-6925F93535FB}" type="slidenum">
              <a:rPr lang="en-US" smtClean="0"/>
              <a:t>‹#›</a:t>
            </a:fld>
            <a:endParaRPr lang="en-US"/>
          </a:p>
        </p:txBody>
      </p:sp>
    </p:spTree>
    <p:extLst>
      <p:ext uri="{BB962C8B-B14F-4D97-AF65-F5344CB8AC3E}">
        <p14:creationId xmlns:p14="http://schemas.microsoft.com/office/powerpoint/2010/main" val="3921440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46F19FD-FD57-4947-9D55-2498B7FB19E0}" type="datetimeFigureOut">
              <a:rPr lang="en-US" smtClean="0"/>
              <a:t>9/27/26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1308971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F19FD-FD57-4947-9D55-2498B7FB19E0}" type="datetimeFigureOut">
              <a:rPr lang="en-US" smtClean="0"/>
              <a:t>9/27/26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49785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46F19FD-FD57-4947-9D55-2498B7FB19E0}" type="datetimeFigureOut">
              <a:rPr lang="en-US" smtClean="0"/>
              <a:t>9/27/26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657384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46F19FD-FD57-4947-9D55-2498B7FB19E0}" type="datetimeFigureOut">
              <a:rPr lang="en-US" smtClean="0"/>
              <a:t>9/27/26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1852564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6F19FD-FD57-4947-9D55-2498B7FB19E0}" type="datetimeFigureOut">
              <a:rPr lang="en-US" smtClean="0"/>
              <a:t>9/27/26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129256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46F19FD-FD57-4947-9D55-2498B7FB19E0}" type="datetimeFigureOut">
              <a:rPr lang="en-US" smtClean="0"/>
              <a:t>9/27/26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1494300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6F19FD-FD57-4947-9D55-2498B7FB19E0}" type="datetimeFigureOut">
              <a:rPr lang="en-US" smtClean="0"/>
              <a:t>9/27/26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37994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46F19FD-FD57-4947-9D55-2498B7FB19E0}" type="datetimeFigureOut">
              <a:rPr lang="en-US" smtClean="0"/>
              <a:t>9/27/26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3915905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46F19FD-FD57-4947-9D55-2498B7FB19E0}" type="datetimeFigureOut">
              <a:rPr lang="en-US" smtClean="0"/>
              <a:t>9/27/26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639604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F19FD-FD57-4947-9D55-2498B7FB19E0}" type="datetimeFigureOut">
              <a:rPr lang="en-US" smtClean="0"/>
              <a:t>9/27/26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1394022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F19FD-FD57-4947-9D55-2498B7FB19E0}" type="datetimeFigureOut">
              <a:rPr lang="en-US" smtClean="0"/>
              <a:t>9/27/26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219518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6F19FD-FD57-4947-9D55-2498B7FB19E0}" type="datetimeFigureOut">
              <a:rPr lang="en-US" smtClean="0"/>
              <a:t>9/27/26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F564EE-5F94-48BF-8E5E-F78E102D61BC}" type="slidenum">
              <a:rPr lang="en-US" smtClean="0"/>
              <a:t>‹#›</a:t>
            </a:fld>
            <a:endParaRPr lang="en-US"/>
          </a:p>
        </p:txBody>
      </p:sp>
    </p:spTree>
    <p:extLst>
      <p:ext uri="{BB962C8B-B14F-4D97-AF65-F5344CB8AC3E}">
        <p14:creationId xmlns:p14="http://schemas.microsoft.com/office/powerpoint/2010/main" val="234453453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706029"/>
          </a:xfrm>
        </p:spPr>
        <p:txBody>
          <a:bodyPr>
            <a:noAutofit/>
          </a:bodyPr>
          <a:lstStyle/>
          <a:p>
            <a:pPr algn="ctr"/>
            <a:r>
              <a:rPr lang="en-US" sz="2400" b="1" dirty="0" err="1">
                <a:cs typeface="Arial" pitchFamily="34" charset="0"/>
              </a:rPr>
              <a:t>Inha</a:t>
            </a:r>
            <a:r>
              <a:rPr lang="en-US" sz="2400" b="1" dirty="0">
                <a:cs typeface="Arial" pitchFamily="34" charset="0"/>
              </a:rPr>
              <a:t> University in Tashkent</a:t>
            </a:r>
            <a:endParaRPr lang="ru-RU" sz="2400" b="1" dirty="0">
              <a:cs typeface="Arial" pitchFamily="34" charset="0"/>
            </a:endParaRPr>
          </a:p>
        </p:txBody>
      </p:sp>
      <p:sp>
        <p:nvSpPr>
          <p:cNvPr id="3" name="Content Placeholder 2"/>
          <p:cNvSpPr>
            <a:spLocks noGrp="1"/>
          </p:cNvSpPr>
          <p:nvPr>
            <p:ph idx="1"/>
          </p:nvPr>
        </p:nvSpPr>
        <p:spPr>
          <a:xfrm>
            <a:off x="838200" y="3004457"/>
            <a:ext cx="10515600" cy="3172506"/>
          </a:xfrm>
        </p:spPr>
        <p:txBody>
          <a:bodyPr/>
          <a:lstStyle/>
          <a:p>
            <a:pPr marL="0" indent="0" algn="ctr">
              <a:buNone/>
            </a:pPr>
            <a:r>
              <a:rPr lang="en-US" b="1" i="1" dirty="0">
                <a:latin typeface="+mj-lt"/>
              </a:rPr>
              <a:t>Theme </a:t>
            </a:r>
            <a:r>
              <a:rPr lang="uz-Cyrl-UZ" b="1" i="1" dirty="0">
                <a:latin typeface="+mj-lt"/>
              </a:rPr>
              <a:t>6</a:t>
            </a:r>
            <a:r>
              <a:rPr lang="en-US" b="1" i="1" dirty="0">
                <a:latin typeface="+mj-lt"/>
              </a:rPr>
              <a:t>: </a:t>
            </a:r>
            <a:r>
              <a:rPr lang="en-US" b="1" dirty="0"/>
              <a:t>Philosophy in Modern and Contemporary Periods</a:t>
            </a:r>
            <a:endParaRPr lang="en-US" dirty="0"/>
          </a:p>
        </p:txBody>
      </p:sp>
    </p:spTree>
    <p:extLst>
      <p:ext uri="{BB962C8B-B14F-4D97-AF65-F5344CB8AC3E}">
        <p14:creationId xmlns:p14="http://schemas.microsoft.com/office/powerpoint/2010/main" val="494772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71597" y="348865"/>
            <a:ext cx="10044023" cy="877729"/>
          </a:xfrm>
        </p:spPr>
        <p:txBody>
          <a:bodyPr anchor="ctr">
            <a:normAutofit/>
          </a:bodyPr>
          <a:lstStyle/>
          <a:p>
            <a:r>
              <a:rPr lang="en-US" sz="4000" b="1">
                <a:solidFill>
                  <a:srgbClr val="FFFFFF"/>
                </a:solidFill>
              </a:rPr>
              <a:t>Outline:</a:t>
            </a:r>
          </a:p>
        </p:txBody>
      </p:sp>
      <p:graphicFrame>
        <p:nvGraphicFramePr>
          <p:cNvPr id="5" name="Content Placeholder 2">
            <a:extLst>
              <a:ext uri="{FF2B5EF4-FFF2-40B4-BE49-F238E27FC236}">
                <a16:creationId xmlns:a16="http://schemas.microsoft.com/office/drawing/2014/main" id="{8D0C2E18-7A26-016D-2FD6-37F5D06DF494}"/>
              </a:ext>
            </a:extLst>
          </p:cNvPr>
          <p:cNvGraphicFramePr>
            <a:graphicFrameLocks noGrp="1"/>
          </p:cNvGraphicFramePr>
          <p:nvPr>
            <p:ph idx="1"/>
            <p:extLst>
              <p:ext uri="{D42A27DB-BD31-4B8C-83A1-F6EECF244321}">
                <p14:modId xmlns:p14="http://schemas.microsoft.com/office/powerpoint/2010/main" val="286148048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91761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anchor="b">
            <a:normAutofit/>
          </a:bodyPr>
          <a:lstStyle/>
          <a:p>
            <a:pPr algn="r"/>
            <a:r>
              <a:rPr lang="en-US" sz="4000" b="1">
                <a:solidFill>
                  <a:srgbClr val="FFFFFF"/>
                </a:solidFill>
              </a:rPr>
              <a:t>Periodization</a:t>
            </a:r>
            <a:br>
              <a:rPr lang="en-US" sz="4000">
                <a:solidFill>
                  <a:srgbClr val="FFFFFF"/>
                </a:solidFill>
              </a:rPr>
            </a:br>
            <a:endParaRPr lang="en-US" sz="4000" b="1">
              <a:solidFill>
                <a:srgbClr val="FFFFFF"/>
              </a:solidFill>
            </a:endParaRPr>
          </a:p>
        </p:txBody>
      </p:sp>
      <p:sp>
        <p:nvSpPr>
          <p:cNvPr id="3" name="Content Placeholder 2"/>
          <p:cNvSpPr>
            <a:spLocks noGrp="1"/>
          </p:cNvSpPr>
          <p:nvPr>
            <p:ph idx="1"/>
          </p:nvPr>
        </p:nvSpPr>
        <p:spPr>
          <a:xfrm>
            <a:off x="4367695" y="387927"/>
            <a:ext cx="7602632" cy="6192981"/>
          </a:xfrm>
        </p:spPr>
        <p:txBody>
          <a:bodyPr anchor="ctr">
            <a:normAutofit/>
          </a:bodyPr>
          <a:lstStyle/>
          <a:p>
            <a:r>
              <a:rPr lang="en-US" sz="2400" dirty="0"/>
              <a:t>Modern period is the timeframe of world history, immediately following the Middle Ages and preceding the Contemporary era. The period can be broken into two stages:</a:t>
            </a:r>
          </a:p>
          <a:p>
            <a:pPr marL="0" indent="0">
              <a:buNone/>
            </a:pPr>
            <a:r>
              <a:rPr lang="en-US" sz="2400" dirty="0"/>
              <a:t>   1.  The early modern period (early 16 - mid-18 centuries) </a:t>
            </a:r>
          </a:p>
          <a:p>
            <a:pPr lvl="1">
              <a:buFont typeface="Courier New" panose="02070309020205020404" pitchFamily="49" charset="0"/>
              <a:buChar char="o"/>
            </a:pPr>
            <a:r>
              <a:rPr lang="en-US" dirty="0"/>
              <a:t>European Renaissance </a:t>
            </a:r>
          </a:p>
          <a:p>
            <a:pPr lvl="1">
              <a:buFont typeface="Courier New" panose="02070309020205020404" pitchFamily="49" charset="0"/>
              <a:buChar char="o"/>
            </a:pPr>
            <a:r>
              <a:rPr lang="en-US" dirty="0"/>
              <a:t>The Age of Discovery </a:t>
            </a:r>
          </a:p>
          <a:p>
            <a:pPr lvl="1">
              <a:buFont typeface="Courier New" panose="02070309020205020404" pitchFamily="49" charset="0"/>
              <a:buChar char="o"/>
            </a:pPr>
            <a:r>
              <a:rPr lang="en-US" dirty="0"/>
              <a:t>The Protestant Reformation</a:t>
            </a:r>
          </a:p>
          <a:p>
            <a:pPr marL="0" indent="0">
              <a:buNone/>
            </a:pPr>
            <a:r>
              <a:rPr lang="en-US" sz="2400" dirty="0"/>
              <a:t>   2.  The late modern period (mid-18 century – 1945)</a:t>
            </a:r>
          </a:p>
          <a:p>
            <a:pPr lvl="1">
              <a:buFont typeface="Courier New" panose="02070309020205020404" pitchFamily="49" charset="0"/>
              <a:buChar char="o"/>
            </a:pPr>
            <a:r>
              <a:rPr lang="en-US" dirty="0"/>
              <a:t>The Age of Enlightenment</a:t>
            </a:r>
          </a:p>
          <a:p>
            <a:pPr marL="457200" lvl="1" indent="0">
              <a:buNone/>
            </a:pPr>
            <a:endParaRPr lang="en-US" dirty="0"/>
          </a:p>
          <a:p>
            <a:r>
              <a:rPr lang="en-US" sz="2400" dirty="0"/>
              <a:t>By-turn, Contemporary period begins in 1945 and covers historic events which relevant to the present time. It should be noted that some scholars include Contemporary period in Modern era as a third period.</a:t>
            </a:r>
          </a:p>
        </p:txBody>
      </p:sp>
    </p:spTree>
    <p:extLst>
      <p:ext uri="{BB962C8B-B14F-4D97-AF65-F5344CB8AC3E}">
        <p14:creationId xmlns:p14="http://schemas.microsoft.com/office/powerpoint/2010/main" val="847651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 calcmode="lin" valueType="num">
                                      <p:cBhvr additive="base">
                                        <p:cTn id="2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 calcmode="lin" valueType="num">
                                      <p:cBhvr additive="base">
                                        <p:cTn id="3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anim calcmode="lin" valueType="num">
                                      <p:cBhvr additive="base">
                                        <p:cTn id="3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 calcmode="lin" valueType="num">
                                      <p:cBhvr additive="base">
                                        <p:cTn id="4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36397" y="502020"/>
            <a:ext cx="5323715" cy="620198"/>
          </a:xfrm>
        </p:spPr>
        <p:txBody>
          <a:bodyPr vert="horz" lIns="91440" tIns="45720" rIns="91440" bIns="45720" rtlCol="0" anchor="b">
            <a:normAutofit fontScale="90000"/>
          </a:bodyPr>
          <a:lstStyle/>
          <a:p>
            <a:r>
              <a:rPr lang="en-US" sz="4000" b="1" kern="1200" dirty="0">
                <a:solidFill>
                  <a:schemeClr val="tx1"/>
                </a:solidFill>
                <a:latin typeface="+mj-lt"/>
                <a:ea typeface="+mj-ea"/>
                <a:cs typeface="+mj-cs"/>
              </a:rPr>
              <a:t>European Renaissance</a:t>
            </a:r>
          </a:p>
        </p:txBody>
      </p:sp>
      <p:sp>
        <p:nvSpPr>
          <p:cNvPr id="3" name="Content Placeholder 2"/>
          <p:cNvSpPr>
            <a:spLocks noGrp="1"/>
          </p:cNvSpPr>
          <p:nvPr>
            <p:ph sz="half" idx="1"/>
          </p:nvPr>
        </p:nvSpPr>
        <p:spPr>
          <a:xfrm>
            <a:off x="332509" y="1122218"/>
            <a:ext cx="6719604" cy="5527964"/>
          </a:xfrm>
        </p:spPr>
        <p:txBody>
          <a:bodyPr vert="horz" lIns="91440" tIns="45720" rIns="91440" bIns="45720" rtlCol="0" anchor="t">
            <a:noAutofit/>
          </a:bodyPr>
          <a:lstStyle/>
          <a:p>
            <a:r>
              <a:rPr lang="en-US" sz="2200" dirty="0"/>
              <a:t>Renaissance is the era of cultural and ideological development which took place in Western and Central Europe. </a:t>
            </a:r>
          </a:p>
          <a:p>
            <a:r>
              <a:rPr lang="en-US" sz="2200" dirty="0"/>
              <a:t>The main distinctive features of the Renaissance are:</a:t>
            </a:r>
          </a:p>
          <a:p>
            <a:pPr marL="0" indent="0">
              <a:buNone/>
            </a:pPr>
            <a:r>
              <a:rPr lang="en-US" sz="2200" dirty="0"/>
              <a:t> - secularism</a:t>
            </a:r>
          </a:p>
          <a:p>
            <a:pPr marL="0" indent="0">
              <a:buNone/>
            </a:pPr>
            <a:r>
              <a:rPr lang="en-US" sz="2200" dirty="0"/>
              <a:t> - a humanistic world view</a:t>
            </a:r>
          </a:p>
          <a:p>
            <a:pPr marL="0" indent="0">
              <a:buNone/>
            </a:pPr>
            <a:r>
              <a:rPr lang="en-US" sz="2200" dirty="0"/>
              <a:t> - appeal (an attempt to reestablish) to the ancient cultural heritage, a kind of "revival", “rebirth” of it </a:t>
            </a:r>
          </a:p>
          <a:p>
            <a:pPr marL="0"/>
            <a:endParaRPr lang="en-US" sz="2200" dirty="0"/>
          </a:p>
          <a:p>
            <a:r>
              <a:rPr lang="en-US" sz="2200" dirty="0"/>
              <a:t>The culture of the Renaissance was considered the transition period from the Middle Ages to the Modern era, as the bridge. </a:t>
            </a:r>
          </a:p>
          <a:p>
            <a:r>
              <a:rPr lang="en-US" sz="2200" dirty="0"/>
              <a:t>The question of the chronological boundaries of the Renaissance is complex (in Italy - XIV-XVI centuries, in other countries - XV-XVI centuries).</a:t>
            </a:r>
          </a:p>
        </p:txBody>
      </p:sp>
      <p:sp>
        <p:nvSpPr>
          <p:cNvPr id="14" name="Rectangle 13">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Content Placeholder 6"/>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075967" y="1745456"/>
            <a:ext cx="4170530" cy="3398981"/>
          </a:xfrm>
          <a:prstGeom prst="rect">
            <a:avLst/>
          </a:prstGeom>
        </p:spPr>
      </p:pic>
    </p:spTree>
    <p:extLst>
      <p:ext uri="{BB962C8B-B14F-4D97-AF65-F5344CB8AC3E}">
        <p14:creationId xmlns:p14="http://schemas.microsoft.com/office/powerpoint/2010/main" val="3173522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3D art of a person">
            <a:extLst>
              <a:ext uri="{FF2B5EF4-FFF2-40B4-BE49-F238E27FC236}">
                <a16:creationId xmlns:a16="http://schemas.microsoft.com/office/drawing/2014/main" id="{6F4D4AF8-722C-DD82-5EF1-DCE82A8CF7C7}"/>
              </a:ext>
            </a:extLst>
          </p:cNvPr>
          <p:cNvPicPr>
            <a:picLocks noChangeAspect="1"/>
          </p:cNvPicPr>
          <p:nvPr/>
        </p:nvPicPr>
        <p:blipFill>
          <a:blip r:embed="rId2"/>
          <a:srcRect r="21111"/>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15317" y="405685"/>
            <a:ext cx="5464968" cy="1559301"/>
          </a:xfrm>
        </p:spPr>
        <p:txBody>
          <a:bodyPr vert="horz" lIns="91440" tIns="45720" rIns="91440" bIns="45720" rtlCol="0" anchor="ctr">
            <a:normAutofit/>
          </a:bodyPr>
          <a:lstStyle/>
          <a:p>
            <a:r>
              <a:rPr lang="en-US" sz="4000" b="1"/>
              <a:t>The Legacy of European Renaissance</a:t>
            </a:r>
          </a:p>
        </p:txBody>
      </p:sp>
      <p:sp>
        <p:nvSpPr>
          <p:cNvPr id="3" name="Content Placeholder 2"/>
          <p:cNvSpPr>
            <a:spLocks noGrp="1"/>
          </p:cNvSpPr>
          <p:nvPr>
            <p:ph sz="half" idx="1"/>
          </p:nvPr>
        </p:nvSpPr>
        <p:spPr>
          <a:xfrm>
            <a:off x="5410197" y="2521527"/>
            <a:ext cx="6700028" cy="4156364"/>
          </a:xfrm>
        </p:spPr>
        <p:txBody>
          <a:bodyPr vert="horz" lIns="91440" tIns="45720" rIns="91440" bIns="45720" rtlCol="0" anchor="ctr">
            <a:noAutofit/>
          </a:bodyPr>
          <a:lstStyle/>
          <a:p>
            <a:r>
              <a:rPr lang="en-US" sz="2300" dirty="0"/>
              <a:t>The philosophical thinking of this period can be characterized as anthropocentric. </a:t>
            </a:r>
          </a:p>
          <a:p>
            <a:r>
              <a:rPr lang="en-US" sz="2300" dirty="0"/>
              <a:t>The intellectual basis of the Renaissance was based on </a:t>
            </a:r>
          </a:p>
          <a:p>
            <a:pPr marL="0" indent="0">
              <a:buNone/>
            </a:pPr>
            <a:r>
              <a:rPr lang="en-US" sz="2300" dirty="0"/>
              <a:t> - humanism</a:t>
            </a:r>
          </a:p>
          <a:p>
            <a:pPr marL="0" indent="0">
              <a:buNone/>
            </a:pPr>
            <a:r>
              <a:rPr lang="en-US" sz="2300" dirty="0"/>
              <a:t> - the rediscovery of classical Greek philosophy, such as that of Protagoras, who said that "Man is the measure of all things." </a:t>
            </a:r>
          </a:p>
          <a:p>
            <a:pPr marL="0"/>
            <a:r>
              <a:rPr lang="en-US" sz="2300" dirty="0"/>
              <a:t>This new philosophical approach was well expressed in art, architecture, politics, science and literature.</a:t>
            </a:r>
          </a:p>
        </p:txBody>
      </p:sp>
    </p:spTree>
    <p:extLst>
      <p:ext uri="{BB962C8B-B14F-4D97-AF65-F5344CB8AC3E}">
        <p14:creationId xmlns:p14="http://schemas.microsoft.com/office/powerpoint/2010/main" val="1806565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5F7ABCA-A68A-47DD-B732-76FF34C6F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3465" y="3505199"/>
            <a:ext cx="4809068" cy="2608143"/>
          </a:xfrm>
        </p:spPr>
        <p:txBody>
          <a:bodyPr vert="horz" lIns="91440" tIns="45720" rIns="91440" bIns="45720" rtlCol="0" anchor="t">
            <a:normAutofit/>
          </a:bodyPr>
          <a:lstStyle/>
          <a:p>
            <a:pPr algn="ctr"/>
            <a:r>
              <a:rPr lang="en-US" sz="4000" b="1" kern="1200">
                <a:solidFill>
                  <a:schemeClr val="tx1"/>
                </a:solidFill>
                <a:latin typeface="+mj-lt"/>
                <a:ea typeface="+mj-ea"/>
                <a:cs typeface="+mj-cs"/>
              </a:rPr>
              <a:t>The Legacy of European Renaissance</a:t>
            </a:r>
          </a:p>
        </p:txBody>
      </p:sp>
      <p:pic>
        <p:nvPicPr>
          <p:cNvPr id="7" name="Graphic 6" descr="Target Audience">
            <a:extLst>
              <a:ext uri="{FF2B5EF4-FFF2-40B4-BE49-F238E27FC236}">
                <a16:creationId xmlns:a16="http://schemas.microsoft.com/office/drawing/2014/main" id="{9CEE14C8-182A-208D-8320-0DCDF547A46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590799" y="2519363"/>
            <a:ext cx="914400" cy="914400"/>
          </a:xfrm>
          <a:prstGeom prst="rect">
            <a:avLst/>
          </a:prstGeom>
        </p:spPr>
      </p:pic>
      <p:sp>
        <p:nvSpPr>
          <p:cNvPr id="3" name="Content Placeholder 2"/>
          <p:cNvSpPr>
            <a:spLocks noGrp="1"/>
          </p:cNvSpPr>
          <p:nvPr>
            <p:ph sz="half" idx="1"/>
          </p:nvPr>
        </p:nvSpPr>
        <p:spPr>
          <a:xfrm>
            <a:off x="6007100" y="643467"/>
            <a:ext cx="5668433" cy="5401733"/>
          </a:xfrm>
        </p:spPr>
        <p:txBody>
          <a:bodyPr vert="horz" lIns="91440" tIns="45720" rIns="91440" bIns="45720" rtlCol="0" anchor="ctr">
            <a:normAutofit/>
          </a:bodyPr>
          <a:lstStyle/>
          <a:p>
            <a:r>
              <a:rPr lang="en-US" sz="1800" dirty="0"/>
              <a:t>In the Renaissance, the individual acquires much greater independence. </a:t>
            </a:r>
          </a:p>
          <a:p>
            <a:endParaRPr lang="en-US" sz="1800" dirty="0"/>
          </a:p>
          <a:p>
            <a:r>
              <a:rPr lang="en-US" sz="1800" dirty="0"/>
              <a:t>Hence the new self-consciousness of man and his new social position:</a:t>
            </a:r>
          </a:p>
          <a:p>
            <a:pPr marL="1028700" lvl="1" indent="-285750">
              <a:buFont typeface="Wingdings" pitchFamily="2" charset="2"/>
              <a:buChar char="ü"/>
            </a:pPr>
            <a:r>
              <a:rPr lang="en-US" sz="1800" dirty="0"/>
              <a:t> pride and self-assertion</a:t>
            </a:r>
          </a:p>
          <a:p>
            <a:pPr marL="1028700" lvl="1" indent="-285750">
              <a:buFont typeface="Wingdings" pitchFamily="2" charset="2"/>
              <a:buChar char="ü"/>
            </a:pPr>
            <a:r>
              <a:rPr lang="en-US" sz="1800" dirty="0"/>
              <a:t> the consciousness of human own strength and talent </a:t>
            </a:r>
          </a:p>
          <a:p>
            <a:pPr marL="457200" lvl="1"/>
            <a:r>
              <a:rPr lang="en-US" sz="1800" dirty="0"/>
              <a:t>These two factors became the distinctive qualities of a person. </a:t>
            </a:r>
          </a:p>
          <a:p>
            <a:pPr marL="457200" lvl="1"/>
            <a:endParaRPr lang="en-US" sz="1800" dirty="0"/>
          </a:p>
          <a:p>
            <a:r>
              <a:rPr lang="en-US" sz="1800" dirty="0"/>
              <a:t>Man becomes:</a:t>
            </a:r>
          </a:p>
          <a:p>
            <a:pPr lvl="1">
              <a:buFont typeface="Courier New" panose="02070309020205020404" pitchFamily="49" charset="0"/>
              <a:buChar char="o"/>
            </a:pPr>
            <a:r>
              <a:rPr lang="en-US" sz="1800" dirty="0"/>
              <a:t>the creator of himself</a:t>
            </a:r>
          </a:p>
          <a:p>
            <a:pPr lvl="1">
              <a:buFont typeface="Courier New" panose="02070309020205020404" pitchFamily="49" charset="0"/>
              <a:buChar char="o"/>
            </a:pPr>
            <a:r>
              <a:rPr lang="en-US" sz="1800" dirty="0"/>
              <a:t>man, no longer needs divine grace for his salvation</a:t>
            </a:r>
          </a:p>
          <a:p>
            <a:pPr lvl="1">
              <a:buFont typeface="Courier New" panose="02070309020205020404" pitchFamily="49" charset="0"/>
              <a:buChar char="o"/>
            </a:pPr>
            <a:r>
              <a:rPr lang="en-US" sz="1800" dirty="0"/>
              <a:t>He is the creator of his own life and destiny</a:t>
            </a:r>
          </a:p>
          <a:p>
            <a:pPr lvl="1">
              <a:buFont typeface="Courier New" panose="02070309020205020404" pitchFamily="49" charset="0"/>
              <a:buChar char="o"/>
            </a:pPr>
            <a:r>
              <a:rPr lang="en-US" sz="1800" dirty="0"/>
              <a:t>man is the unlimited lord over nature</a:t>
            </a:r>
          </a:p>
          <a:p>
            <a:endParaRPr lang="en-US" sz="1800" dirty="0"/>
          </a:p>
        </p:txBody>
      </p:sp>
    </p:spTree>
    <p:extLst>
      <p:ext uri="{BB962C8B-B14F-4D97-AF65-F5344CB8AC3E}">
        <p14:creationId xmlns:p14="http://schemas.microsoft.com/office/powerpoint/2010/main" val="3671041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rcRect r="1" b="846"/>
          <a:stretch/>
        </p:blipFill>
        <p:spPr>
          <a:xfrm>
            <a:off x="-1" y="-2"/>
            <a:ext cx="5410198" cy="6858002"/>
          </a:xfrm>
          <a:prstGeom prst="rect">
            <a:avLst/>
          </a:prstGeom>
        </p:spPr>
      </p:pic>
      <p:sp useBgFill="1">
        <p:nvSpPr>
          <p:cNvPr id="12" name="Rectangle 11">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15317" y="405685"/>
            <a:ext cx="5464968" cy="1559301"/>
          </a:xfrm>
        </p:spPr>
        <p:txBody>
          <a:bodyPr vert="horz" lIns="91440" tIns="45720" rIns="91440" bIns="45720" rtlCol="0" anchor="ctr">
            <a:normAutofit/>
          </a:bodyPr>
          <a:lstStyle/>
          <a:p>
            <a:r>
              <a:rPr lang="en-US" sz="4000" b="1"/>
              <a:t>Nicolaus Copernicus</a:t>
            </a:r>
            <a:endParaRPr lang="en-US" sz="4000"/>
          </a:p>
        </p:txBody>
      </p:sp>
      <p:sp>
        <p:nvSpPr>
          <p:cNvPr id="3" name="Content Placeholder 2"/>
          <p:cNvSpPr>
            <a:spLocks noGrp="1"/>
          </p:cNvSpPr>
          <p:nvPr>
            <p:ph sz="half" idx="1"/>
          </p:nvPr>
        </p:nvSpPr>
        <p:spPr>
          <a:xfrm>
            <a:off x="6115317" y="2743200"/>
            <a:ext cx="5247340" cy="3496878"/>
          </a:xfrm>
        </p:spPr>
        <p:txBody>
          <a:bodyPr vert="horz" lIns="91440" tIns="45720" rIns="91440" bIns="45720" rtlCol="0" anchor="ctr">
            <a:normAutofit/>
          </a:bodyPr>
          <a:lstStyle/>
          <a:p>
            <a:r>
              <a:rPr lang="en-US" sz="2000" dirty="0"/>
              <a:t>The scientist Nicolaus Copernicus (1473-1543), one of the greatest thinkers of the Renaissance</a:t>
            </a:r>
          </a:p>
          <a:p>
            <a:r>
              <a:rPr lang="en-US" sz="2000" dirty="0"/>
              <a:t>Contributed most to philosophy, especially astronomy.</a:t>
            </a:r>
          </a:p>
          <a:p>
            <a:r>
              <a:rPr lang="en-US" sz="2000" dirty="0"/>
              <a:t>He was born in Poland. </a:t>
            </a:r>
          </a:p>
          <a:p>
            <a:r>
              <a:rPr lang="en-US" sz="2000" dirty="0"/>
              <a:t>The famous work of Nicolaus Copernicus – “</a:t>
            </a:r>
            <a:r>
              <a:rPr lang="en-US" sz="2000" i="1" dirty="0"/>
              <a:t>On the Revolutions of the Celestial Spheres”</a:t>
            </a:r>
            <a:r>
              <a:rPr lang="en-US" sz="2000" dirty="0"/>
              <a:t> which was written just before his death in 1543 was a major event in the history of science. </a:t>
            </a:r>
          </a:p>
          <a:p>
            <a:endParaRPr lang="en-US" sz="1700" dirty="0"/>
          </a:p>
        </p:txBody>
      </p:sp>
    </p:spTree>
    <p:extLst>
      <p:ext uri="{BB962C8B-B14F-4D97-AF65-F5344CB8AC3E}">
        <p14:creationId xmlns:p14="http://schemas.microsoft.com/office/powerpoint/2010/main" val="1880300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2000" y="346364"/>
            <a:ext cx="5334000" cy="1205345"/>
          </a:xfrm>
        </p:spPr>
        <p:txBody>
          <a:bodyPr vert="horz" lIns="91440" tIns="45720" rIns="91440" bIns="45720" rtlCol="0" anchor="ctr">
            <a:normAutofit/>
          </a:bodyPr>
          <a:lstStyle/>
          <a:p>
            <a:r>
              <a:rPr lang="en-US" sz="4000" b="1" kern="1200" dirty="0">
                <a:solidFill>
                  <a:schemeClr val="tx1"/>
                </a:solidFill>
                <a:latin typeface="+mj-lt"/>
                <a:ea typeface="+mj-ea"/>
                <a:cs typeface="+mj-cs"/>
              </a:rPr>
              <a:t>The Theory of Copernicus</a:t>
            </a:r>
          </a:p>
        </p:txBody>
      </p:sp>
      <p:sp>
        <p:nvSpPr>
          <p:cNvPr id="3" name="Content Placeholder 2"/>
          <p:cNvSpPr>
            <a:spLocks noGrp="1"/>
          </p:cNvSpPr>
          <p:nvPr>
            <p:ph sz="half" idx="1"/>
          </p:nvPr>
        </p:nvSpPr>
        <p:spPr>
          <a:xfrm>
            <a:off x="443345" y="1551709"/>
            <a:ext cx="6179127" cy="4959927"/>
          </a:xfrm>
        </p:spPr>
        <p:txBody>
          <a:bodyPr vert="horz" lIns="91440" tIns="45720" rIns="91440" bIns="45720" rtlCol="0" anchor="ctr">
            <a:normAutofit lnSpcReduction="10000"/>
          </a:bodyPr>
          <a:lstStyle/>
          <a:p>
            <a:r>
              <a:rPr lang="en-US" sz="2100" dirty="0"/>
              <a:t>Copernicus was famous for his philosophy of heliocentrism (representing the Sun as the center of the universe), which made fundamental changes in science. </a:t>
            </a:r>
          </a:p>
          <a:p>
            <a:r>
              <a:rPr lang="en-US" sz="2100" dirty="0"/>
              <a:t>In his time, the geocentric system of the universe was considered to be generally accepted, with the Earth in the center and a complex system of orbits around it, proposed by Ptolemy about 1500 years earlier. </a:t>
            </a:r>
          </a:p>
          <a:p>
            <a:r>
              <a:rPr lang="en-US" sz="2100" dirty="0"/>
              <a:t>After studying the motion of the planets, Copernicus developed the heliocentric theory of the universe. The great discovery of Copernicus was a major achievement in natural sciences. </a:t>
            </a:r>
          </a:p>
          <a:p>
            <a:r>
              <a:rPr lang="en-US" sz="2100" dirty="0"/>
              <a:t>This discovery scientifically proved inconsistency and the weakness of Christian doctrine on the structure of the world.</a:t>
            </a:r>
          </a:p>
          <a:p>
            <a:endParaRPr lang="en-US" sz="1700" dirty="0"/>
          </a:p>
        </p:txBody>
      </p:sp>
      <p:sp>
        <p:nvSpPr>
          <p:cNvPr id="10" name="Rectangle 9">
            <a:extLst>
              <a:ext uri="{FF2B5EF4-FFF2-40B4-BE49-F238E27FC236}">
                <a16:creationId xmlns:a16="http://schemas.microsoft.com/office/drawing/2014/main" id="{0D05C9B4-B5C9-2D4D-23C9-CEE72646F9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81800" y="-1"/>
            <a:ext cx="5410200" cy="6858001"/>
          </a:xfrm>
          <a:prstGeom prst="rect">
            <a:avLst/>
          </a:prstGeom>
          <a:solidFill>
            <a:srgbClr val="FFFFFF"/>
          </a:solidFill>
          <a:ln>
            <a:noFill/>
          </a:ln>
          <a:effectLst>
            <a:outerShdw blurRad="266700" dist="215900" dir="8580000" sx="90000" sy="90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45891" y="753692"/>
            <a:ext cx="3482018" cy="5348072"/>
          </a:xfrm>
          <a:prstGeom prst="rect">
            <a:avLst/>
          </a:prstGeom>
        </p:spPr>
      </p:pic>
    </p:spTree>
    <p:extLst>
      <p:ext uri="{BB962C8B-B14F-4D97-AF65-F5344CB8AC3E}">
        <p14:creationId xmlns:p14="http://schemas.microsoft.com/office/powerpoint/2010/main" val="966892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down)">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down)">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CB962CF-61A3-4EF9-94F6-7C59B03295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556337"/>
            <a:ext cx="6797405" cy="1651404"/>
          </a:xfrm>
        </p:spPr>
        <p:txBody>
          <a:bodyPr vert="horz" lIns="91440" tIns="45720" rIns="91440" bIns="45720" rtlCol="0" anchor="ctr">
            <a:normAutofit/>
          </a:bodyPr>
          <a:lstStyle/>
          <a:p>
            <a:r>
              <a:rPr lang="en-US" sz="4000" b="1"/>
              <a:t>Giordano Bruno</a:t>
            </a:r>
          </a:p>
        </p:txBody>
      </p:sp>
      <p:sp>
        <p:nvSpPr>
          <p:cNvPr id="3" name="Content Placeholder 2"/>
          <p:cNvSpPr>
            <a:spLocks noGrp="1"/>
          </p:cNvSpPr>
          <p:nvPr>
            <p:ph sz="half" idx="1"/>
          </p:nvPr>
        </p:nvSpPr>
        <p:spPr>
          <a:xfrm>
            <a:off x="374074" y="1731818"/>
            <a:ext cx="7427710" cy="4862946"/>
          </a:xfrm>
        </p:spPr>
        <p:txBody>
          <a:bodyPr vert="horz" lIns="91440" tIns="45720" rIns="91440" bIns="45720" rtlCol="0">
            <a:normAutofit/>
          </a:bodyPr>
          <a:lstStyle/>
          <a:p>
            <a:r>
              <a:rPr lang="en-US" sz="2200" dirty="0"/>
              <a:t>One of the most influential thinkers is Giordano Bruno (1548-1600). </a:t>
            </a:r>
          </a:p>
          <a:p>
            <a:r>
              <a:rPr lang="en-US" sz="2200" dirty="0"/>
              <a:t>He was born near Naples, Italy. </a:t>
            </a:r>
          </a:p>
          <a:p>
            <a:r>
              <a:rPr lang="en-US" sz="2200" dirty="0"/>
              <a:t>For his advanced ideas, Bruno was blamed for heresy and expelled from the church. </a:t>
            </a:r>
          </a:p>
          <a:p>
            <a:r>
              <a:rPr lang="en-US" sz="2200" dirty="0"/>
              <a:t>He had to run away from Italy. He has been in exile for a long time in Switzerland, France, England and Germany. </a:t>
            </a:r>
          </a:p>
          <a:p>
            <a:r>
              <a:rPr lang="en-US" sz="2200" dirty="0"/>
              <a:t>In 1592 Bruno returned to Italy but was arrested and imprisoned by the Church Inquisition. </a:t>
            </a:r>
          </a:p>
          <a:p>
            <a:r>
              <a:rPr lang="en-US" sz="2200" dirty="0"/>
              <a:t>In spite of the torture, he did not abandon his doctrine, and in the end, he was sentenced to death, burned in 1600 in Rome.</a:t>
            </a:r>
          </a:p>
          <a:p>
            <a:r>
              <a:rPr lang="en-US" sz="2200" dirty="0"/>
              <a:t> Bruno supported heliocentric theory.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88280" y="168168"/>
            <a:ext cx="2214175" cy="3168155"/>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97556" y="3772704"/>
            <a:ext cx="3995623" cy="2277505"/>
          </a:xfrm>
          <a:prstGeom prst="rect">
            <a:avLst/>
          </a:prstGeom>
        </p:spPr>
      </p:pic>
    </p:spTree>
    <p:extLst>
      <p:ext uri="{BB962C8B-B14F-4D97-AF65-F5344CB8AC3E}">
        <p14:creationId xmlns:p14="http://schemas.microsoft.com/office/powerpoint/2010/main" val="594088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36397" y="502020"/>
            <a:ext cx="5323715" cy="689471"/>
          </a:xfrm>
        </p:spPr>
        <p:txBody>
          <a:bodyPr vert="horz" lIns="91440" tIns="45720" rIns="91440" bIns="45720" rtlCol="0" anchor="b">
            <a:normAutofit/>
          </a:bodyPr>
          <a:lstStyle/>
          <a:p>
            <a:r>
              <a:rPr lang="en-US" sz="4000" b="1" kern="1200" dirty="0">
                <a:solidFill>
                  <a:schemeClr val="tx1"/>
                </a:solidFill>
                <a:latin typeface="+mj-lt"/>
                <a:ea typeface="+mj-ea"/>
                <a:cs typeface="+mj-cs"/>
              </a:rPr>
              <a:t>The Impact</a:t>
            </a:r>
          </a:p>
        </p:txBody>
      </p:sp>
      <p:sp>
        <p:nvSpPr>
          <p:cNvPr id="3" name="Content Placeholder 2"/>
          <p:cNvSpPr>
            <a:spLocks noGrp="1"/>
          </p:cNvSpPr>
          <p:nvPr>
            <p:ph sz="half" idx="1"/>
          </p:nvPr>
        </p:nvSpPr>
        <p:spPr>
          <a:xfrm>
            <a:off x="360219" y="1468582"/>
            <a:ext cx="6483926" cy="4931785"/>
          </a:xfrm>
        </p:spPr>
        <p:txBody>
          <a:bodyPr vert="horz" lIns="91440" tIns="45720" rIns="91440" bIns="45720" rtlCol="0" anchor="t">
            <a:normAutofit/>
          </a:bodyPr>
          <a:lstStyle/>
          <a:p>
            <a:r>
              <a:rPr lang="en-US" sz="2200" dirty="0"/>
              <a:t>He took a number of important theoretical conclusions, taking into account the naturalist experience, that he enriched philosophy even more. </a:t>
            </a:r>
          </a:p>
          <a:p>
            <a:r>
              <a:rPr lang="en-US" sz="2200" dirty="0"/>
              <a:t>According to Bruno's teachings, true philosophy must be based on scientific experience. He opposed the scholastic doctrine. </a:t>
            </a:r>
          </a:p>
          <a:p>
            <a:r>
              <a:rPr lang="en-US" sz="2200" dirty="0"/>
              <a:t>He believed that the universe is unique, material, infinite and eternal. </a:t>
            </a:r>
          </a:p>
          <a:p>
            <a:r>
              <a:rPr lang="en-US" sz="2200" dirty="0"/>
              <a:t>Many of the worlds are out of the solar system. Our planet is the smallest part of the universe. Stars are the sun of other planets. </a:t>
            </a:r>
          </a:p>
          <a:p>
            <a:r>
              <a:rPr lang="en-US" sz="2200" dirty="0"/>
              <a:t>The Earth is a small particle of the infinite world.</a:t>
            </a:r>
          </a:p>
        </p:txBody>
      </p:sp>
      <p:sp>
        <p:nvSpPr>
          <p:cNvPr id="14" name="Rectangle 13">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Content Placeholder 6"/>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075967" y="1684436"/>
            <a:ext cx="4170530" cy="3521021"/>
          </a:xfrm>
          <a:prstGeom prst="rect">
            <a:avLst/>
          </a:prstGeom>
        </p:spPr>
      </p:pic>
    </p:spTree>
    <p:extLst>
      <p:ext uri="{BB962C8B-B14F-4D97-AF65-F5344CB8AC3E}">
        <p14:creationId xmlns:p14="http://schemas.microsoft.com/office/powerpoint/2010/main" val="3383011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fade">
                                      <p:cBhvr>
                                        <p:cTn id="40" dur="1000"/>
                                        <p:tgtEl>
                                          <p:spTgt spid="3">
                                            <p:txEl>
                                              <p:pRg st="4" end="4"/>
                                            </p:txEl>
                                          </p:spTgt>
                                        </p:tgtEl>
                                      </p:cBhvr>
                                    </p:animEffect>
                                    <p:anim calcmode="lin" valueType="num">
                                      <p:cBhvr>
                                        <p:cTn id="4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2000" y="761998"/>
            <a:ext cx="5334000" cy="843778"/>
          </a:xfrm>
        </p:spPr>
        <p:txBody>
          <a:bodyPr vert="horz" lIns="91440" tIns="45720" rIns="91440" bIns="45720" rtlCol="0" anchor="ctr">
            <a:normAutofit fontScale="90000"/>
          </a:bodyPr>
          <a:lstStyle/>
          <a:p>
            <a:r>
              <a:rPr lang="en-US" sz="3400" b="1" kern="1200" dirty="0">
                <a:solidFill>
                  <a:schemeClr val="tx1"/>
                </a:solidFill>
                <a:latin typeface="+mj-lt"/>
                <a:ea typeface="+mj-ea"/>
                <a:cs typeface="+mj-cs"/>
              </a:rPr>
              <a:t>Western Philosophy in the 17</a:t>
            </a:r>
            <a:r>
              <a:rPr lang="en-US" sz="3400" b="1" kern="1200" baseline="30000" dirty="0">
                <a:solidFill>
                  <a:schemeClr val="tx1"/>
                </a:solidFill>
                <a:latin typeface="+mj-lt"/>
                <a:ea typeface="+mj-ea"/>
                <a:cs typeface="+mj-cs"/>
              </a:rPr>
              <a:t>th</a:t>
            </a:r>
            <a:r>
              <a:rPr lang="en-US" sz="3400" b="1" kern="1200" dirty="0">
                <a:solidFill>
                  <a:schemeClr val="tx1"/>
                </a:solidFill>
                <a:latin typeface="+mj-lt"/>
                <a:ea typeface="+mj-ea"/>
                <a:cs typeface="+mj-cs"/>
              </a:rPr>
              <a:t> Century</a:t>
            </a:r>
          </a:p>
        </p:txBody>
      </p:sp>
      <p:sp>
        <p:nvSpPr>
          <p:cNvPr id="3" name="Content Placeholder 2"/>
          <p:cNvSpPr>
            <a:spLocks noGrp="1"/>
          </p:cNvSpPr>
          <p:nvPr>
            <p:ph sz="half" idx="1"/>
          </p:nvPr>
        </p:nvSpPr>
        <p:spPr>
          <a:xfrm>
            <a:off x="568712" y="1739590"/>
            <a:ext cx="5809786" cy="4694663"/>
          </a:xfrm>
        </p:spPr>
        <p:txBody>
          <a:bodyPr vert="horz" lIns="91440" tIns="45720" rIns="91440" bIns="45720" rtlCol="0" anchor="ctr">
            <a:noAutofit/>
          </a:bodyPr>
          <a:lstStyle/>
          <a:p>
            <a:r>
              <a:rPr lang="en-US" sz="2100" dirty="0"/>
              <a:t>In the 17th century, many of the most significant philosophers in Europe were also engaged in mathematics. </a:t>
            </a:r>
          </a:p>
          <a:p>
            <a:r>
              <a:rPr lang="en-US" sz="2100" dirty="0"/>
              <a:t>In France, René Descartes and Blaise Pascal made major contributions to mathematics, as did Gottfried Leibniz in Germany. </a:t>
            </a:r>
          </a:p>
          <a:p>
            <a:r>
              <a:rPr lang="en-US" sz="2100" dirty="0"/>
              <a:t>They believed that the method of reasoning provided the best model for acquiring the knowledge. </a:t>
            </a:r>
          </a:p>
          <a:p>
            <a:r>
              <a:rPr lang="en-US" sz="2100" dirty="0"/>
              <a:t>Therefore, they were considered as the followers of rationalism. </a:t>
            </a:r>
          </a:p>
          <a:p>
            <a:r>
              <a:rPr lang="en-US" sz="2100" dirty="0"/>
              <a:t>According to their view, the knowledge comes from reason alone. This became the predominant belief in continental Europe for the next century. </a:t>
            </a:r>
          </a:p>
        </p:txBody>
      </p:sp>
      <p:sp>
        <p:nvSpPr>
          <p:cNvPr id="10" name="Rectangle 9">
            <a:extLst>
              <a:ext uri="{FF2B5EF4-FFF2-40B4-BE49-F238E27FC236}">
                <a16:creationId xmlns:a16="http://schemas.microsoft.com/office/drawing/2014/main" id="{0D05C9B4-B5C9-2D4D-23C9-CEE72646F9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81800" y="-1"/>
            <a:ext cx="5410200" cy="6858001"/>
          </a:xfrm>
          <a:prstGeom prst="rect">
            <a:avLst/>
          </a:prstGeom>
          <a:solidFill>
            <a:srgbClr val="FFFFFF"/>
          </a:solidFill>
          <a:ln>
            <a:noFill/>
          </a:ln>
          <a:effectLst>
            <a:outerShdw blurRad="266700" dist="215900" dir="8580000" sx="90000" sy="90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4" descr="A portrait of a person with long hair&#10;&#10;Description automatically generated"/>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607878" y="2018461"/>
            <a:ext cx="3758045" cy="2818533"/>
          </a:xfrm>
          <a:prstGeom prst="rect">
            <a:avLst/>
          </a:prstGeom>
        </p:spPr>
      </p:pic>
    </p:spTree>
    <p:extLst>
      <p:ext uri="{BB962C8B-B14F-4D97-AF65-F5344CB8AC3E}">
        <p14:creationId xmlns:p14="http://schemas.microsoft.com/office/powerpoint/2010/main" val="2112012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fade">
                                      <p:cBhvr>
                                        <p:cTn id="40" dur="1000"/>
                                        <p:tgtEl>
                                          <p:spTgt spid="3">
                                            <p:txEl>
                                              <p:pRg st="4" end="4"/>
                                            </p:txEl>
                                          </p:spTgt>
                                        </p:tgtEl>
                                      </p:cBhvr>
                                    </p:animEffect>
                                    <p:anim calcmode="lin" valueType="num">
                                      <p:cBhvr>
                                        <p:cTn id="4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4DF55BE-B4AB-4BA1-BDE1-E9F7FB3F1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46364" y="539578"/>
            <a:ext cx="6476163" cy="976988"/>
          </a:xfrm>
        </p:spPr>
        <p:txBody>
          <a:bodyPr>
            <a:normAutofit/>
          </a:bodyPr>
          <a:lstStyle/>
          <a:p>
            <a:r>
              <a:rPr lang="en-US" sz="3200" b="1" dirty="0">
                <a:latin typeface="+mn-lt"/>
              </a:rPr>
              <a:t>The Development of Philosophical Thoughts in Britain</a:t>
            </a:r>
          </a:p>
        </p:txBody>
      </p:sp>
      <p:sp>
        <p:nvSpPr>
          <p:cNvPr id="3" name="Content Placeholder 2"/>
          <p:cNvSpPr>
            <a:spLocks noGrp="1"/>
          </p:cNvSpPr>
          <p:nvPr>
            <p:ph idx="1"/>
          </p:nvPr>
        </p:nvSpPr>
        <p:spPr>
          <a:xfrm>
            <a:off x="624468" y="1717288"/>
            <a:ext cx="6372492" cy="4601134"/>
          </a:xfrm>
        </p:spPr>
        <p:txBody>
          <a:bodyPr>
            <a:noAutofit/>
          </a:bodyPr>
          <a:lstStyle/>
          <a:p>
            <a:r>
              <a:rPr lang="en-US" sz="2200" dirty="0"/>
              <a:t>At the same time, a very different philosophical tradition was emerged in Britain.</a:t>
            </a:r>
          </a:p>
          <a:p>
            <a:r>
              <a:rPr lang="en-US" sz="2200" dirty="0"/>
              <a:t>On the basis of their investigations Francis Bacon, John Locke came to the conclusion that our knowledge of the world comes not from reason, but experience. This view, known as empiricism, characterized British philosophy during the 17th and 18th centuries.</a:t>
            </a:r>
          </a:p>
          <a:p>
            <a:r>
              <a:rPr lang="en-US" sz="2200" dirty="0"/>
              <a:t>Despite the division between continental rationalism and British empiricism, both had in common the placing of the human at their centers:</a:t>
            </a:r>
          </a:p>
          <a:p>
            <a:pPr marL="0" indent="0">
              <a:buNone/>
            </a:pPr>
            <a:r>
              <a:rPr lang="en-US" sz="2200" dirty="0"/>
              <a:t>    </a:t>
            </a:r>
            <a:r>
              <a:rPr lang="en-US" sz="2200" i="1" dirty="0"/>
              <a:t>it is human being whose reason or experience leads to knowledge.</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42971" y="168876"/>
            <a:ext cx="4699980" cy="2631989"/>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00545" y="2961503"/>
            <a:ext cx="4184821" cy="3138616"/>
          </a:xfrm>
          <a:prstGeom prst="rect">
            <a:avLst/>
          </a:prstGeom>
        </p:spPr>
      </p:pic>
    </p:spTree>
    <p:extLst>
      <p:ext uri="{BB962C8B-B14F-4D97-AF65-F5344CB8AC3E}">
        <p14:creationId xmlns:p14="http://schemas.microsoft.com/office/powerpoint/2010/main" val="292338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53733" y="548464"/>
            <a:ext cx="6798541" cy="892409"/>
          </a:xfrm>
        </p:spPr>
        <p:txBody>
          <a:bodyPr vert="horz" lIns="91440" tIns="45720" rIns="91440" bIns="45720" rtlCol="0" anchor="b">
            <a:normAutofit/>
          </a:bodyPr>
          <a:lstStyle/>
          <a:p>
            <a:r>
              <a:rPr lang="en-US" sz="4000" b="1" dirty="0"/>
              <a:t>Neo-Thomism</a:t>
            </a: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rcRect r="1073" b="-1"/>
          <a:stretch/>
        </p:blipFill>
        <p:spPr>
          <a:xfrm>
            <a:off x="1" y="10"/>
            <a:ext cx="4196496" cy="6857990"/>
          </a:xfrm>
          <a:prstGeom prst="rect">
            <a:avLst/>
          </a:prstGeom>
          <a:effectLst/>
        </p:spPr>
      </p:pic>
      <p:sp>
        <p:nvSpPr>
          <p:cNvPr id="3" name="Content Placeholder 2"/>
          <p:cNvSpPr>
            <a:spLocks noGrp="1"/>
          </p:cNvSpPr>
          <p:nvPr>
            <p:ph sz="half" idx="1"/>
          </p:nvPr>
        </p:nvSpPr>
        <p:spPr>
          <a:xfrm>
            <a:off x="4447309" y="1634836"/>
            <a:ext cx="7370617" cy="4876800"/>
          </a:xfrm>
        </p:spPr>
        <p:txBody>
          <a:bodyPr vert="horz" lIns="91440" tIns="45720" rIns="91440" bIns="45720" rtlCol="0">
            <a:normAutofit/>
          </a:bodyPr>
          <a:lstStyle/>
          <a:p>
            <a:r>
              <a:rPr lang="en-US" sz="2100" dirty="0"/>
              <a:t>Neo-Thomism (Neo-Scholasticism) is the largest religious and philosophical tradition of Modern and Contemporary periods, which rebuilt Thomas Aquinas's teaching in the Middle Ages (XIII century). </a:t>
            </a:r>
          </a:p>
          <a:p>
            <a:r>
              <a:rPr lang="en-US" sz="2100" dirty="0"/>
              <a:t>It refers to Thomas Aquinas's new, modern doctrine. According to this doctrine, there should be complete harmony between science and belief. They fill one another, both of which are God's truth. </a:t>
            </a:r>
          </a:p>
          <a:p>
            <a:r>
              <a:rPr lang="en-US" sz="2100" dirty="0" err="1"/>
              <a:t>Neothomists</a:t>
            </a:r>
            <a:r>
              <a:rPr lang="en-US" sz="2100" dirty="0"/>
              <a:t> state that beliefs should be applied where there is no knowledge. But this belief should be accepted, not just faith, but also a logical perception. The philosophy of God must be proven by various logical means. Thus, philosophy is to serve religion.</a:t>
            </a:r>
          </a:p>
          <a:p>
            <a:r>
              <a:rPr lang="en-US" sz="2100" dirty="0"/>
              <a:t>According to </a:t>
            </a:r>
            <a:r>
              <a:rPr lang="en-US" sz="2100" dirty="0" err="1"/>
              <a:t>Neothomists</a:t>
            </a:r>
            <a:r>
              <a:rPr lang="en-US" sz="2100" dirty="0"/>
              <a:t> view, the universe, society are created by God, and society's progress is based on God's will. </a:t>
            </a:r>
          </a:p>
          <a:p>
            <a:endParaRPr lang="en-US" sz="1700" dirty="0"/>
          </a:p>
        </p:txBody>
      </p:sp>
    </p:spTree>
    <p:extLst>
      <p:ext uri="{BB962C8B-B14F-4D97-AF65-F5344CB8AC3E}">
        <p14:creationId xmlns:p14="http://schemas.microsoft.com/office/powerpoint/2010/main" val="3915481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1000"/>
                                        <p:tgtEl>
                                          <p:spTgt spid="5"/>
                                        </p:tgtEl>
                                      </p:cBhvr>
                                    </p:animEffect>
                                    <p:anim calcmode="lin" valueType="num">
                                      <p:cBhvr>
                                        <p:cTn id="30" dur="1000" fill="hold"/>
                                        <p:tgtEl>
                                          <p:spTgt spid="5"/>
                                        </p:tgtEl>
                                        <p:attrNameLst>
                                          <p:attrName>ppt_x</p:attrName>
                                        </p:attrNameLst>
                                      </p:cBhvr>
                                      <p:tavLst>
                                        <p:tav tm="0">
                                          <p:val>
                                            <p:strVal val="#ppt_x"/>
                                          </p:val>
                                        </p:tav>
                                        <p:tav tm="100000">
                                          <p:val>
                                            <p:strVal val="#ppt_x"/>
                                          </p:val>
                                        </p:tav>
                                      </p:tavLst>
                                    </p:anim>
                                    <p:anim calcmode="lin" valueType="num">
                                      <p:cBhvr>
                                        <p:cTn id="3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53733" y="548464"/>
            <a:ext cx="6798541" cy="1118413"/>
          </a:xfrm>
        </p:spPr>
        <p:txBody>
          <a:bodyPr vert="horz" lIns="91440" tIns="45720" rIns="91440" bIns="45720" rtlCol="0" anchor="b">
            <a:normAutofit/>
          </a:bodyPr>
          <a:lstStyle/>
          <a:p>
            <a:r>
              <a:rPr lang="en-US" sz="4000" b="1" dirty="0"/>
              <a:t>Hermeneutics</a:t>
            </a: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rcRect l="15964" r="63231" b="-1"/>
          <a:stretch/>
        </p:blipFill>
        <p:spPr>
          <a:xfrm>
            <a:off x="1" y="10"/>
            <a:ext cx="4196496" cy="6857990"/>
          </a:xfrm>
          <a:prstGeom prst="rect">
            <a:avLst/>
          </a:prstGeom>
          <a:effectLst/>
        </p:spPr>
      </p:pic>
      <p:sp>
        <p:nvSpPr>
          <p:cNvPr id="3" name="Content Placeholder 2"/>
          <p:cNvSpPr>
            <a:spLocks noGrp="1"/>
          </p:cNvSpPr>
          <p:nvPr>
            <p:ph sz="half" idx="1"/>
          </p:nvPr>
        </p:nvSpPr>
        <p:spPr>
          <a:xfrm>
            <a:off x="4553732" y="1870364"/>
            <a:ext cx="7042523" cy="4558145"/>
          </a:xfrm>
        </p:spPr>
        <p:txBody>
          <a:bodyPr vert="horz" lIns="91440" tIns="45720" rIns="91440" bIns="45720" rtlCol="0">
            <a:normAutofit/>
          </a:bodyPr>
          <a:lstStyle/>
          <a:p>
            <a:r>
              <a:rPr lang="en-US" sz="2200" dirty="0"/>
              <a:t>Hermeneutics (the term was derived from Greek word, "art of interpretation") is the theory of interpretation and understanding of texts, including texts of classical antiquity. </a:t>
            </a:r>
          </a:p>
          <a:p>
            <a:r>
              <a:rPr lang="en-US" sz="2200" dirty="0"/>
              <a:t>It is the one of the philosophical traditions that emerged in the XX century. The theorist and practitioner in the field of biblical (theological), philosophical or philological interpretation are the followers of hermeneutics.</a:t>
            </a:r>
          </a:p>
          <a:p>
            <a:r>
              <a:rPr lang="en-US" sz="2200" dirty="0"/>
              <a:t>Although the myth of Hermes, most likely, has nothing to do with the notion of "hermeneutics," but it is also sometimes associated with the idea of hermeneutics.</a:t>
            </a:r>
          </a:p>
        </p:txBody>
      </p:sp>
    </p:spTree>
    <p:extLst>
      <p:ext uri="{BB962C8B-B14F-4D97-AF65-F5344CB8AC3E}">
        <p14:creationId xmlns:p14="http://schemas.microsoft.com/office/powerpoint/2010/main" val="2623791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14C2221-2B8C-494D-9442-F812DF4E8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Books">
            <a:extLst>
              <a:ext uri="{FF2B5EF4-FFF2-40B4-BE49-F238E27FC236}">
                <a16:creationId xmlns:a16="http://schemas.microsoft.com/office/drawing/2014/main" id="{7381E4DC-D30C-D0CD-62B1-EBE0B199850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981200" y="2429670"/>
            <a:ext cx="914400" cy="914400"/>
          </a:xfrm>
          <a:prstGeom prst="rect">
            <a:avLst/>
          </a:prstGeom>
        </p:spPr>
      </p:pic>
      <p:sp>
        <p:nvSpPr>
          <p:cNvPr id="3" name="Content Placeholder 2"/>
          <p:cNvSpPr>
            <a:spLocks noGrp="1"/>
          </p:cNvSpPr>
          <p:nvPr>
            <p:ph sz="half" idx="1"/>
          </p:nvPr>
        </p:nvSpPr>
        <p:spPr>
          <a:xfrm>
            <a:off x="4200652" y="730249"/>
            <a:ext cx="7153147" cy="5384801"/>
          </a:xfrm>
        </p:spPr>
        <p:txBody>
          <a:bodyPr vert="horz" lIns="91440" tIns="45720" rIns="91440" bIns="45720" rtlCol="0" anchor="ctr">
            <a:normAutofit/>
          </a:bodyPr>
          <a:lstStyle/>
          <a:p>
            <a:r>
              <a:rPr lang="en-US" sz="2200" dirty="0"/>
              <a:t>The term hermeneutics was used most often in relation to biblical texts, then in the meaning of the doctrine of restoring the original meaning of literary monuments, incomprehensible without comment, and also in the meaning of the interpretation of any work (this includes, for example, the authors' explanatory publications) . In this sense, hermeneutics is a discipline of philological criticism.</a:t>
            </a:r>
          </a:p>
          <a:p>
            <a:r>
              <a:rPr lang="en-US" sz="2200" dirty="0"/>
              <a:t>Hermeneutics, therefore, focuses on the ideas of understanding, explanation, analysis. Society is based on the dialogue, the communication between people. During the dialogue, cultural, historical and scientific values are created. </a:t>
            </a:r>
          </a:p>
        </p:txBody>
      </p:sp>
    </p:spTree>
    <p:extLst>
      <p:ext uri="{BB962C8B-B14F-4D97-AF65-F5344CB8AC3E}">
        <p14:creationId xmlns:p14="http://schemas.microsoft.com/office/powerpoint/2010/main" val="3042674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half" idx="1"/>
          </p:nvPr>
        </p:nvSpPr>
        <p:spPr>
          <a:xfrm>
            <a:off x="526473" y="1136073"/>
            <a:ext cx="6312317" cy="4998028"/>
          </a:xfrm>
        </p:spPr>
        <p:txBody>
          <a:bodyPr vert="horz" lIns="91440" tIns="45720" rIns="91440" bIns="45720" rtlCol="0">
            <a:normAutofit/>
          </a:bodyPr>
          <a:lstStyle/>
          <a:p>
            <a:r>
              <a:rPr lang="en-US" sz="2000" dirty="0"/>
              <a:t>The main purpose of philosophy is to seek out the essence and meaning of life in a dialogue between people. </a:t>
            </a:r>
          </a:p>
          <a:p>
            <a:r>
              <a:rPr lang="en-US" sz="2000" dirty="0"/>
              <a:t>According to followers of this tradition, the correct analysis of any historical source depends on the full understanding of characteristics of taken period by researcher. </a:t>
            </a:r>
          </a:p>
          <a:p>
            <a:r>
              <a:rPr lang="en-US" sz="2000" dirty="0"/>
              <a:t>The author of the first generalizing work on hermeneutics was the Christian thinker Aurelius Augustine (354-430). His work was called "Christian Science, or Foundations of Sacred Hermeneutics and the Art of Church Oratory“</a:t>
            </a:r>
          </a:p>
          <a:p>
            <a:r>
              <a:rPr lang="en-US" sz="2000" dirty="0"/>
              <a:t>There are many supporters of this doctrine in modern times.</a:t>
            </a:r>
          </a:p>
        </p:txBody>
      </p:sp>
      <p:pic>
        <p:nvPicPr>
          <p:cNvPr id="5" name="Content Placeholder 4"/>
          <p:cNvPicPr>
            <a:picLocks noGrp="1" noChangeAspect="1"/>
          </p:cNvPicPr>
          <p:nvPr>
            <p:ph sz="half" idx="2"/>
          </p:nvPr>
        </p:nvPicPr>
        <p:blipFill>
          <a:blip r:embed="rId2" cstate="print">
            <a:extLst>
              <a:ext uri="{28A0092B-C50C-407E-A947-70E740481C1C}">
                <a14:useLocalDpi xmlns:a14="http://schemas.microsoft.com/office/drawing/2010/main" val="0"/>
              </a:ext>
            </a:extLst>
          </a:blip>
          <a:srcRect r="5755" b="1"/>
          <a:stretch/>
        </p:blipFill>
        <p:spPr>
          <a:xfrm>
            <a:off x="7199440" y="10"/>
            <a:ext cx="4992560" cy="6857990"/>
          </a:xfrm>
          <a:prstGeom prst="rect">
            <a:avLst/>
          </a:prstGeom>
          <a:effectLst/>
        </p:spPr>
      </p:pic>
    </p:spTree>
    <p:extLst>
      <p:ext uri="{BB962C8B-B14F-4D97-AF65-F5344CB8AC3E}">
        <p14:creationId xmlns:p14="http://schemas.microsoft.com/office/powerpoint/2010/main" val="7112226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r>
              <a:rPr lang="en-US" sz="3200" i="1" dirty="0"/>
              <a:t>Thank you for your attention!</a:t>
            </a:r>
          </a:p>
        </p:txBody>
      </p:sp>
    </p:spTree>
    <p:extLst>
      <p:ext uri="{BB962C8B-B14F-4D97-AF65-F5344CB8AC3E}">
        <p14:creationId xmlns:p14="http://schemas.microsoft.com/office/powerpoint/2010/main" val="31389187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2243</TotalTime>
  <Words>1476</Words>
  <Application>Microsoft Macintosh PowerPoint</Application>
  <PresentationFormat>Widescreen</PresentationFormat>
  <Paragraphs>98</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Courier New</vt:lpstr>
      <vt:lpstr>Wingdings</vt:lpstr>
      <vt:lpstr>Office Theme</vt:lpstr>
      <vt:lpstr>Inha University in Tashkent</vt:lpstr>
      <vt:lpstr>Outline:</vt:lpstr>
      <vt:lpstr>Periodization </vt:lpstr>
      <vt:lpstr>European Renaissance</vt:lpstr>
      <vt:lpstr>The Legacy of European Renaissance</vt:lpstr>
      <vt:lpstr>The Legacy of European Renaissance</vt:lpstr>
      <vt:lpstr>Nicolaus Copernicus</vt:lpstr>
      <vt:lpstr>The Theory of Copernicus</vt:lpstr>
      <vt:lpstr>Giordano Bruno</vt:lpstr>
      <vt:lpstr>The Impact</vt:lpstr>
      <vt:lpstr>Western Philosophy in the 17th Century</vt:lpstr>
      <vt:lpstr>The Development of Philosophical Thoughts in Britain</vt:lpstr>
      <vt:lpstr>Neo-Thomism</vt:lpstr>
      <vt:lpstr>Hermeneutics</vt:lpstr>
      <vt:lpstr>PowerPoint Presentation</vt:lpstr>
      <vt:lpstr>PowerPoint Presentation</vt:lpstr>
      <vt:lpstr>PowerPoint Presentation</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Ёш шарқшуносларнинг академик Убайдулла Каримов номидаги ХI илмий-амалий конференцияси</dc:title>
  <dc:creator>Batal</dc:creator>
  <cp:lastModifiedBy>kyakubov@outlook.com</cp:lastModifiedBy>
  <cp:revision>198</cp:revision>
  <dcterms:created xsi:type="dcterms:W3CDTF">2017-06-29T13:12:25Z</dcterms:created>
  <dcterms:modified xsi:type="dcterms:W3CDTF">2026-09-27T08:06:01Z</dcterms:modified>
</cp:coreProperties>
</file>