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257" r:id="rId2"/>
    <p:sldId id="258" r:id="rId3"/>
    <p:sldId id="299" r:id="rId4"/>
    <p:sldId id="294" r:id="rId5"/>
    <p:sldId id="265" r:id="rId6"/>
    <p:sldId id="300" r:id="rId7"/>
    <p:sldId id="297" r:id="rId8"/>
    <p:sldId id="301" r:id="rId9"/>
    <p:sldId id="302" r:id="rId10"/>
    <p:sldId id="303" r:id="rId11"/>
    <p:sldId id="304" r:id="rId12"/>
    <p:sldId id="305" r:id="rId13"/>
    <p:sldId id="306" r:id="rId14"/>
    <p:sldId id="307"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99"/>
            <p14:sldId id="294"/>
            <p14:sldId id="265"/>
            <p14:sldId id="300"/>
            <p14:sldId id="297"/>
            <p14:sldId id="301"/>
            <p14:sldId id="302"/>
            <p14:sldId id="303"/>
            <p14:sldId id="304"/>
            <p14:sldId id="305"/>
            <p14:sldId id="306"/>
            <p14:sldId id="307"/>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02" autoAdjust="0"/>
    <p:restoredTop sz="94660" autoAdjust="0"/>
  </p:normalViewPr>
  <p:slideViewPr>
    <p:cSldViewPr snapToGrid="0">
      <p:cViewPr varScale="1">
        <p:scale>
          <a:sx n="112" d="100"/>
          <a:sy n="112" d="100"/>
        </p:scale>
        <p:origin x="544"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35220B-8FD4-4468-B058-DB9B3AA722F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77476FA-DA25-4123-BFD0-98CEC4C44D4E}">
      <dgm:prSet/>
      <dgm:spPr/>
      <dgm:t>
        <a:bodyPr/>
        <a:lstStyle/>
        <a:p>
          <a:r>
            <a:rPr lang="en-US"/>
            <a:t>Philosophical Laws </a:t>
          </a:r>
        </a:p>
      </dgm:t>
    </dgm:pt>
    <dgm:pt modelId="{68A1F1E6-88CC-4878-9E88-15F25FB8582B}" type="parTrans" cxnId="{B5B4C0F4-BA24-449C-9F3B-0BFA31207B10}">
      <dgm:prSet/>
      <dgm:spPr/>
      <dgm:t>
        <a:bodyPr/>
        <a:lstStyle/>
        <a:p>
          <a:endParaRPr lang="en-US"/>
        </a:p>
      </dgm:t>
    </dgm:pt>
    <dgm:pt modelId="{177CB0C3-4CA2-464F-A0DE-C8EE0E89A8AE}" type="sibTrans" cxnId="{B5B4C0F4-BA24-449C-9F3B-0BFA31207B10}">
      <dgm:prSet/>
      <dgm:spPr/>
      <dgm:t>
        <a:bodyPr/>
        <a:lstStyle/>
        <a:p>
          <a:endParaRPr lang="en-US"/>
        </a:p>
      </dgm:t>
    </dgm:pt>
    <dgm:pt modelId="{FA087BA0-B3FF-4C4E-8443-A7505957E2A5}">
      <dgm:prSet/>
      <dgm:spPr/>
      <dgm:t>
        <a:bodyPr/>
        <a:lstStyle/>
        <a:p>
          <a:r>
            <a:rPr lang="en-US"/>
            <a:t>Categories of Philosophy</a:t>
          </a:r>
        </a:p>
      </dgm:t>
    </dgm:pt>
    <dgm:pt modelId="{0BB678E3-FE58-44D8-BE74-9D33C9FA8191}" type="parTrans" cxnId="{FFD11246-4C8E-4507-9486-E1F7C25B6FF6}">
      <dgm:prSet/>
      <dgm:spPr/>
      <dgm:t>
        <a:bodyPr/>
        <a:lstStyle/>
        <a:p>
          <a:endParaRPr lang="en-US"/>
        </a:p>
      </dgm:t>
    </dgm:pt>
    <dgm:pt modelId="{FF11B1F6-FBAB-40F6-8A6F-B8ED27AC4F48}" type="sibTrans" cxnId="{FFD11246-4C8E-4507-9486-E1F7C25B6FF6}">
      <dgm:prSet/>
      <dgm:spPr/>
      <dgm:t>
        <a:bodyPr/>
        <a:lstStyle/>
        <a:p>
          <a:endParaRPr lang="en-US"/>
        </a:p>
      </dgm:t>
    </dgm:pt>
    <dgm:pt modelId="{820226FB-4967-4723-B9B5-528B6044390D}">
      <dgm:prSet/>
      <dgm:spPr/>
      <dgm:t>
        <a:bodyPr/>
        <a:lstStyle/>
        <a:p>
          <a:r>
            <a:rPr lang="en-US"/>
            <a:t>Philosophical Methods</a:t>
          </a:r>
        </a:p>
      </dgm:t>
    </dgm:pt>
    <dgm:pt modelId="{E852748C-C6F3-4F51-9FD6-6BAC300539E8}" type="parTrans" cxnId="{7B1EEE28-4B20-46CE-ABE5-AA5B86EA765F}">
      <dgm:prSet/>
      <dgm:spPr/>
      <dgm:t>
        <a:bodyPr/>
        <a:lstStyle/>
        <a:p>
          <a:endParaRPr lang="en-US"/>
        </a:p>
      </dgm:t>
    </dgm:pt>
    <dgm:pt modelId="{A78F95C3-9CFB-45E4-B6A3-406ED6F4B05A}" type="sibTrans" cxnId="{7B1EEE28-4B20-46CE-ABE5-AA5B86EA765F}">
      <dgm:prSet/>
      <dgm:spPr/>
      <dgm:t>
        <a:bodyPr/>
        <a:lstStyle/>
        <a:p>
          <a:endParaRPr lang="en-US"/>
        </a:p>
      </dgm:t>
    </dgm:pt>
    <dgm:pt modelId="{3C8BB1A6-38DA-E045-B006-A0186CB184DA}" type="pres">
      <dgm:prSet presAssocID="{5835220B-8FD4-4468-B058-DB9B3AA722F2}" presName="linear" presStyleCnt="0">
        <dgm:presLayoutVars>
          <dgm:animLvl val="lvl"/>
          <dgm:resizeHandles val="exact"/>
        </dgm:presLayoutVars>
      </dgm:prSet>
      <dgm:spPr/>
    </dgm:pt>
    <dgm:pt modelId="{63945E67-8069-2648-AE9C-99CA3CD5F59A}" type="pres">
      <dgm:prSet presAssocID="{977476FA-DA25-4123-BFD0-98CEC4C44D4E}" presName="parentText" presStyleLbl="node1" presStyleIdx="0" presStyleCnt="3">
        <dgm:presLayoutVars>
          <dgm:chMax val="0"/>
          <dgm:bulletEnabled val="1"/>
        </dgm:presLayoutVars>
      </dgm:prSet>
      <dgm:spPr/>
    </dgm:pt>
    <dgm:pt modelId="{15EEC597-B206-B745-A6DD-B177F1442508}" type="pres">
      <dgm:prSet presAssocID="{177CB0C3-4CA2-464F-A0DE-C8EE0E89A8AE}" presName="spacer" presStyleCnt="0"/>
      <dgm:spPr/>
    </dgm:pt>
    <dgm:pt modelId="{1DDB01A0-C689-B241-AA1C-5731DF0229D5}" type="pres">
      <dgm:prSet presAssocID="{FA087BA0-B3FF-4C4E-8443-A7505957E2A5}" presName="parentText" presStyleLbl="node1" presStyleIdx="1" presStyleCnt="3">
        <dgm:presLayoutVars>
          <dgm:chMax val="0"/>
          <dgm:bulletEnabled val="1"/>
        </dgm:presLayoutVars>
      </dgm:prSet>
      <dgm:spPr/>
    </dgm:pt>
    <dgm:pt modelId="{039E2DB3-0A8A-8B49-9608-60364DA73ACD}" type="pres">
      <dgm:prSet presAssocID="{FF11B1F6-FBAB-40F6-8A6F-B8ED27AC4F48}" presName="spacer" presStyleCnt="0"/>
      <dgm:spPr/>
    </dgm:pt>
    <dgm:pt modelId="{7E14609B-B486-6F43-BAF1-C191AC8EBE55}" type="pres">
      <dgm:prSet presAssocID="{820226FB-4967-4723-B9B5-528B6044390D}" presName="parentText" presStyleLbl="node1" presStyleIdx="2" presStyleCnt="3">
        <dgm:presLayoutVars>
          <dgm:chMax val="0"/>
          <dgm:bulletEnabled val="1"/>
        </dgm:presLayoutVars>
      </dgm:prSet>
      <dgm:spPr/>
    </dgm:pt>
  </dgm:ptLst>
  <dgm:cxnLst>
    <dgm:cxn modelId="{5D448406-BC86-FB4D-B3B6-E757E8A449E7}" type="presOf" srcId="{FA087BA0-B3FF-4C4E-8443-A7505957E2A5}" destId="{1DDB01A0-C689-B241-AA1C-5731DF0229D5}" srcOrd="0" destOrd="0" presId="urn:microsoft.com/office/officeart/2005/8/layout/vList2"/>
    <dgm:cxn modelId="{7B1EEE28-4B20-46CE-ABE5-AA5B86EA765F}" srcId="{5835220B-8FD4-4468-B058-DB9B3AA722F2}" destId="{820226FB-4967-4723-B9B5-528B6044390D}" srcOrd="2" destOrd="0" parTransId="{E852748C-C6F3-4F51-9FD6-6BAC300539E8}" sibTransId="{A78F95C3-9CFB-45E4-B6A3-406ED6F4B05A}"/>
    <dgm:cxn modelId="{FFD11246-4C8E-4507-9486-E1F7C25B6FF6}" srcId="{5835220B-8FD4-4468-B058-DB9B3AA722F2}" destId="{FA087BA0-B3FF-4C4E-8443-A7505957E2A5}" srcOrd="1" destOrd="0" parTransId="{0BB678E3-FE58-44D8-BE74-9D33C9FA8191}" sibTransId="{FF11B1F6-FBAB-40F6-8A6F-B8ED27AC4F48}"/>
    <dgm:cxn modelId="{771C0A83-1216-4843-AD89-F03D32E82F79}" type="presOf" srcId="{5835220B-8FD4-4468-B058-DB9B3AA722F2}" destId="{3C8BB1A6-38DA-E045-B006-A0186CB184DA}" srcOrd="0" destOrd="0" presId="urn:microsoft.com/office/officeart/2005/8/layout/vList2"/>
    <dgm:cxn modelId="{907BBAC8-6679-0448-A785-F6FEC80D01EA}" type="presOf" srcId="{977476FA-DA25-4123-BFD0-98CEC4C44D4E}" destId="{63945E67-8069-2648-AE9C-99CA3CD5F59A}" srcOrd="0" destOrd="0" presId="urn:microsoft.com/office/officeart/2005/8/layout/vList2"/>
    <dgm:cxn modelId="{15A08DE7-F2CA-2547-AA9F-FA28E2175E99}" type="presOf" srcId="{820226FB-4967-4723-B9B5-528B6044390D}" destId="{7E14609B-B486-6F43-BAF1-C191AC8EBE55}" srcOrd="0" destOrd="0" presId="urn:microsoft.com/office/officeart/2005/8/layout/vList2"/>
    <dgm:cxn modelId="{B5B4C0F4-BA24-449C-9F3B-0BFA31207B10}" srcId="{5835220B-8FD4-4468-B058-DB9B3AA722F2}" destId="{977476FA-DA25-4123-BFD0-98CEC4C44D4E}" srcOrd="0" destOrd="0" parTransId="{68A1F1E6-88CC-4878-9E88-15F25FB8582B}" sibTransId="{177CB0C3-4CA2-464F-A0DE-C8EE0E89A8AE}"/>
    <dgm:cxn modelId="{E0DAF543-87AC-A04F-AECA-A73883313F20}" type="presParOf" srcId="{3C8BB1A6-38DA-E045-B006-A0186CB184DA}" destId="{63945E67-8069-2648-AE9C-99CA3CD5F59A}" srcOrd="0" destOrd="0" presId="urn:microsoft.com/office/officeart/2005/8/layout/vList2"/>
    <dgm:cxn modelId="{34335FF8-BD07-C446-A403-893830FBAB5C}" type="presParOf" srcId="{3C8BB1A6-38DA-E045-B006-A0186CB184DA}" destId="{15EEC597-B206-B745-A6DD-B177F1442508}" srcOrd="1" destOrd="0" presId="urn:microsoft.com/office/officeart/2005/8/layout/vList2"/>
    <dgm:cxn modelId="{ACE4A7B9-990D-E240-B30D-4E902AD8F7A6}" type="presParOf" srcId="{3C8BB1A6-38DA-E045-B006-A0186CB184DA}" destId="{1DDB01A0-C689-B241-AA1C-5731DF0229D5}" srcOrd="2" destOrd="0" presId="urn:microsoft.com/office/officeart/2005/8/layout/vList2"/>
    <dgm:cxn modelId="{E65CA429-D481-634D-A536-53727D01BF4C}" type="presParOf" srcId="{3C8BB1A6-38DA-E045-B006-A0186CB184DA}" destId="{039E2DB3-0A8A-8B49-9608-60364DA73ACD}" srcOrd="3" destOrd="0" presId="urn:microsoft.com/office/officeart/2005/8/layout/vList2"/>
    <dgm:cxn modelId="{44072533-1C07-0848-AFEB-1920A592E9A2}" type="presParOf" srcId="{3C8BB1A6-38DA-E045-B006-A0186CB184DA}" destId="{7E14609B-B486-6F43-BAF1-C191AC8EBE5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45E67-8069-2648-AE9C-99CA3CD5F59A}">
      <dsp:nvSpPr>
        <dsp:cNvPr id="0" name=""/>
        <dsp:cNvSpPr/>
      </dsp:nvSpPr>
      <dsp:spPr>
        <a:xfrm>
          <a:off x="0" y="756836"/>
          <a:ext cx="6589260" cy="11512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Philosophical Laws </a:t>
          </a:r>
        </a:p>
      </dsp:txBody>
      <dsp:txXfrm>
        <a:off x="56201" y="813037"/>
        <a:ext cx="6476858" cy="1038877"/>
      </dsp:txXfrm>
    </dsp:sp>
    <dsp:sp modelId="{1DDB01A0-C689-B241-AA1C-5731DF0229D5}">
      <dsp:nvSpPr>
        <dsp:cNvPr id="0" name=""/>
        <dsp:cNvSpPr/>
      </dsp:nvSpPr>
      <dsp:spPr>
        <a:xfrm>
          <a:off x="0" y="2046356"/>
          <a:ext cx="6589260" cy="115127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Categories of Philosophy</a:t>
          </a:r>
        </a:p>
      </dsp:txBody>
      <dsp:txXfrm>
        <a:off x="56201" y="2102557"/>
        <a:ext cx="6476858" cy="1038877"/>
      </dsp:txXfrm>
    </dsp:sp>
    <dsp:sp modelId="{7E14609B-B486-6F43-BAF1-C191AC8EBE55}">
      <dsp:nvSpPr>
        <dsp:cNvPr id="0" name=""/>
        <dsp:cNvSpPr/>
      </dsp:nvSpPr>
      <dsp:spPr>
        <a:xfrm>
          <a:off x="0" y="3335876"/>
          <a:ext cx="6589260" cy="115127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Philosophical Methods</a:t>
          </a:r>
        </a:p>
      </dsp:txBody>
      <dsp:txXfrm>
        <a:off x="56201" y="3392077"/>
        <a:ext cx="6476858" cy="10388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089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978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5738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5256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12925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4943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994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159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396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940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21951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234453453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t>Theme 8.</a:t>
            </a:r>
            <a:r>
              <a:rPr lang="en-US" b="1" dirty="0"/>
              <a:t> Philosophical Laws, Categories and Methods</a:t>
            </a:r>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b="1"/>
              <a:t>Outline:</a:t>
            </a:r>
          </a:p>
        </p:txBody>
      </p:sp>
      <p:cxnSp>
        <p:nvCxnSpPr>
          <p:cNvPr id="17" name="Straight Connector 16">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2332A9D-74CE-68BB-35E5-765AB985B217}"/>
              </a:ext>
            </a:extLst>
          </p:cNvPr>
          <p:cNvGraphicFramePr>
            <a:graphicFrameLocks noGrp="1"/>
          </p:cNvGraphicFramePr>
          <p:nvPr>
            <p:ph idx="1"/>
            <p:extLst>
              <p:ext uri="{D42A27DB-BD31-4B8C-83A1-F6EECF244321}">
                <p14:modId xmlns:p14="http://schemas.microsoft.com/office/powerpoint/2010/main" val="2009212166"/>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a:solidFill>
                  <a:srgbClr val="FFFFFF"/>
                </a:solidFill>
                <a:latin typeface="+mj-lt"/>
                <a:ea typeface="+mj-ea"/>
                <a:cs typeface="+mj-cs"/>
              </a:rPr>
              <a:t>Debate on the Objects and Events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167272" y="200722"/>
            <a:ext cx="7466563" cy="6746488"/>
          </a:xfrm>
        </p:spPr>
        <p:txBody>
          <a:bodyPr vert="horz" lIns="91440" tIns="45720" rIns="91440" bIns="45720" rtlCol="0" anchor="ctr">
            <a:normAutofit/>
          </a:bodyPr>
          <a:lstStyle/>
          <a:p>
            <a:r>
              <a:rPr lang="en-US" sz="2200" dirty="0"/>
              <a:t>The debate on the state of the objects and events in the universe:</a:t>
            </a:r>
          </a:p>
          <a:p>
            <a:pPr marL="0" indent="0">
              <a:buNone/>
            </a:pPr>
            <a:r>
              <a:rPr lang="en-US" sz="2200" dirty="0"/>
              <a:t> 1) as well as movement, transformation, development;</a:t>
            </a:r>
          </a:p>
          <a:p>
            <a:pPr marL="0" indent="0">
              <a:buNone/>
            </a:pPr>
            <a:r>
              <a:rPr lang="en-US" sz="2200" dirty="0"/>
              <a:t> 2) the changing character from one state to another;</a:t>
            </a:r>
          </a:p>
          <a:p>
            <a:pPr marL="0" indent="0">
              <a:buNone/>
            </a:pPr>
            <a:r>
              <a:rPr lang="en-US" sz="2200" dirty="0"/>
              <a:t> 3) the interrelations and interactions between them.</a:t>
            </a:r>
          </a:p>
          <a:p>
            <a:pPr marL="0" indent="0">
              <a:buNone/>
            </a:pPr>
            <a:endParaRPr lang="en-US" sz="2200" dirty="0"/>
          </a:p>
          <a:p>
            <a:r>
              <a:rPr lang="en-US" sz="2200" dirty="0"/>
              <a:t>It is difficult to have a scientific understanding:</a:t>
            </a:r>
          </a:p>
          <a:p>
            <a:pPr marL="0" indent="0">
              <a:buNone/>
            </a:pPr>
            <a:r>
              <a:rPr lang="en-US" sz="2200" dirty="0"/>
              <a:t> 1) of the universe and its development;</a:t>
            </a:r>
          </a:p>
          <a:p>
            <a:pPr marL="0" indent="0">
              <a:buNone/>
            </a:pPr>
            <a:r>
              <a:rPr lang="en-US" sz="2200" dirty="0"/>
              <a:t> 2) the source of development, the driving forces;</a:t>
            </a:r>
          </a:p>
          <a:p>
            <a:pPr marL="0" indent="0">
              <a:buNone/>
            </a:pPr>
            <a:r>
              <a:rPr lang="en-US" sz="2200" dirty="0"/>
              <a:t> 3) and above all, the prediction on the future.</a:t>
            </a:r>
          </a:p>
          <a:p>
            <a:pPr marL="0" indent="0">
              <a:buNone/>
            </a:pPr>
            <a:endParaRPr lang="en-US" sz="2200" dirty="0"/>
          </a:p>
          <a:p>
            <a:r>
              <a:rPr lang="en-US" sz="2200" dirty="0"/>
              <a:t>All the events around us, from the smallest particles to the Earth, the Sun, to the universe, as well as human beings are always in motion, change, and development. They have endless interconnection, interaction and relationship. The movements and changes don’t occur randomly or by chance.</a:t>
            </a:r>
          </a:p>
          <a:p>
            <a:endParaRPr lang="en-US" sz="1800" dirty="0"/>
          </a:p>
        </p:txBody>
      </p:sp>
    </p:spTree>
    <p:extLst>
      <p:ext uri="{BB962C8B-B14F-4D97-AF65-F5344CB8AC3E}">
        <p14:creationId xmlns:p14="http://schemas.microsoft.com/office/powerpoint/2010/main" val="358894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693" y="741392"/>
            <a:ext cx="4597747" cy="657918"/>
          </a:xfrm>
        </p:spPr>
        <p:txBody>
          <a:bodyPr vert="horz" lIns="91440" tIns="45720" rIns="91440" bIns="45720" rtlCol="0" anchor="b">
            <a:normAutofit/>
          </a:bodyPr>
          <a:lstStyle/>
          <a:p>
            <a:r>
              <a:rPr lang="en-US" sz="3200" b="1" i="1" kern="1200" dirty="0">
                <a:solidFill>
                  <a:schemeClr val="tx1"/>
                </a:solidFill>
                <a:latin typeface="+mj-lt"/>
                <a:ea typeface="+mj-ea"/>
                <a:cs typeface="+mj-cs"/>
              </a:rPr>
              <a:t>What is the motion?</a:t>
            </a:r>
            <a:endParaRPr lang="en-US" sz="3200" b="1" kern="1200" dirty="0">
              <a:solidFill>
                <a:schemeClr val="tx1"/>
              </a:solidFill>
              <a:latin typeface="+mj-lt"/>
              <a:ea typeface="+mj-ea"/>
              <a:cs typeface="+mj-cs"/>
            </a:endParaRPr>
          </a:p>
        </p:txBody>
      </p:sp>
      <p:sp>
        <p:nvSpPr>
          <p:cNvPr id="3" name="Content Placeholder 2"/>
          <p:cNvSpPr>
            <a:spLocks noGrp="1"/>
          </p:cNvSpPr>
          <p:nvPr>
            <p:ph sz="half" idx="1"/>
          </p:nvPr>
        </p:nvSpPr>
        <p:spPr>
          <a:xfrm>
            <a:off x="415636" y="1522675"/>
            <a:ext cx="5514109" cy="5002816"/>
          </a:xfrm>
        </p:spPr>
        <p:txBody>
          <a:bodyPr vert="horz" lIns="91440" tIns="45720" rIns="91440" bIns="45720" rtlCol="0" anchor="t">
            <a:normAutofit/>
          </a:bodyPr>
          <a:lstStyle/>
          <a:p>
            <a:r>
              <a:rPr lang="en-US" sz="2200" dirty="0"/>
              <a:t>The movement is a change in the universe. </a:t>
            </a:r>
          </a:p>
          <a:p>
            <a:endParaRPr lang="en-US" sz="2200" dirty="0"/>
          </a:p>
          <a:p>
            <a:r>
              <a:rPr lang="en-US" sz="2200" dirty="0"/>
              <a:t>The concept of development represents the movement from the bottom to the top or the progressive movement from the simple to the complex. </a:t>
            </a:r>
          </a:p>
          <a:p>
            <a:endParaRPr lang="en-US" sz="2200" dirty="0"/>
          </a:p>
          <a:p>
            <a:r>
              <a:rPr lang="en-US" sz="2200" dirty="0"/>
              <a:t>But this process can be:</a:t>
            </a:r>
          </a:p>
          <a:p>
            <a:pPr marL="0" indent="0">
              <a:buNone/>
            </a:pPr>
            <a:r>
              <a:rPr lang="en-US" sz="2200" dirty="0"/>
              <a:t>   1) a linear, </a:t>
            </a:r>
          </a:p>
          <a:p>
            <a:pPr marL="0" indent="0">
              <a:buNone/>
            </a:pPr>
            <a:r>
              <a:rPr lang="en-US" sz="2200" dirty="0"/>
              <a:t>   2) sometimes slowly expanding spiral motion.</a:t>
            </a:r>
          </a:p>
        </p:txBody>
      </p:sp>
      <p:pic>
        <p:nvPicPr>
          <p:cNvPr id="8" name="Content Placeholder 7"/>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096001" y="2061693"/>
            <a:ext cx="5319062" cy="2659532"/>
          </a:xfrm>
          <a:prstGeom prst="rect">
            <a:avLst/>
          </a:prstGeom>
        </p:spPr>
      </p:pic>
      <p:grpSp>
        <p:nvGrpSpPr>
          <p:cNvPr id="13" name="Group 12">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4" name="Rectangle 13">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5235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000"/>
                                        <p:tgtEl>
                                          <p:spTgt spid="8"/>
                                        </p:tgtEl>
                                      </p:cBhvr>
                                    </p:animEffect>
                                    <p:anim calcmode="lin" valueType="num">
                                      <p:cBhvr>
                                        <p:cTn id="34" dur="1000" fill="hold"/>
                                        <p:tgtEl>
                                          <p:spTgt spid="8"/>
                                        </p:tgtEl>
                                        <p:attrNameLst>
                                          <p:attrName>ppt_x</p:attrName>
                                        </p:attrNameLst>
                                      </p:cBhvr>
                                      <p:tavLst>
                                        <p:tav tm="0">
                                          <p:val>
                                            <p:strVal val="#ppt_x"/>
                                          </p:val>
                                        </p:tav>
                                        <p:tav tm="100000">
                                          <p:val>
                                            <p:strVal val="#ppt_x"/>
                                          </p:val>
                                        </p:tav>
                                      </p:tavLst>
                                    </p:anim>
                                    <p:anim calcmode="lin" valueType="num">
                                      <p:cBhvr>
                                        <p:cTn id="3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902" y="289932"/>
            <a:ext cx="10515600" cy="602166"/>
          </a:xfrm>
        </p:spPr>
        <p:txBody>
          <a:bodyPr>
            <a:normAutofit/>
          </a:bodyPr>
          <a:lstStyle/>
          <a:p>
            <a:pPr algn="ctr"/>
            <a:r>
              <a:rPr lang="en-US" sz="2400" b="1" dirty="0">
                <a:latin typeface="+mn-lt"/>
              </a:rPr>
              <a:t>The Laws of Philosophy</a:t>
            </a:r>
          </a:p>
        </p:txBody>
      </p:sp>
      <p:sp>
        <p:nvSpPr>
          <p:cNvPr id="3" name="Content Placeholder 2"/>
          <p:cNvSpPr>
            <a:spLocks noGrp="1"/>
          </p:cNvSpPr>
          <p:nvPr>
            <p:ph sz="half" idx="1"/>
          </p:nvPr>
        </p:nvSpPr>
        <p:spPr>
          <a:xfrm>
            <a:off x="457201" y="892098"/>
            <a:ext cx="7981406" cy="5508702"/>
          </a:xfrm>
        </p:spPr>
        <p:txBody>
          <a:bodyPr>
            <a:normAutofit fontScale="92500" lnSpcReduction="20000"/>
          </a:bodyPr>
          <a:lstStyle/>
          <a:p>
            <a:r>
              <a:rPr lang="en-US" dirty="0"/>
              <a:t>The existence of the world is the eternal repetition of internal and external changes. If these repetitions of objects and events are tended to preserve their essence and characteristics it leads to the formation of their certain rule and law. </a:t>
            </a:r>
          </a:p>
          <a:p>
            <a:r>
              <a:rPr lang="en-US" dirty="0"/>
              <a:t>First of all, it is necessary to say that everything in the universe - the development of nature, society and humanity - is based on certain its rules. The main task of science (social, natural, etc.) is to conduct research in every field, to study and explain the discovery or disclosure of laws. </a:t>
            </a:r>
          </a:p>
          <a:p>
            <a:r>
              <a:rPr lang="en-US" dirty="0"/>
              <a:t>The law represents relatively stable, recurring relationships, and it does not portray the changeable character. </a:t>
            </a:r>
          </a:p>
          <a:p>
            <a:r>
              <a:rPr lang="en-US" dirty="0"/>
              <a:t>For example, as usual the spring comes after the winter according to the law of season. It is impossible to imagine that the spring comes after the summer. </a:t>
            </a:r>
          </a:p>
        </p:txBody>
      </p:sp>
      <p:pic>
        <p:nvPicPr>
          <p:cNvPr id="4"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673736" y="1921760"/>
            <a:ext cx="3252653" cy="3132454"/>
          </a:xfrm>
        </p:spPr>
      </p:pic>
    </p:spTree>
    <p:extLst>
      <p:ext uri="{BB962C8B-B14F-4D97-AF65-F5344CB8AC3E}">
        <p14:creationId xmlns:p14="http://schemas.microsoft.com/office/powerpoint/2010/main" val="377879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circle(in)">
                                      <p:cBhvr>
                                        <p:cTn id="24" dur="2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138265"/>
            <a:ext cx="5791199" cy="1401183"/>
          </a:xfrm>
        </p:spPr>
        <p:txBody>
          <a:bodyPr vert="horz" lIns="91440" tIns="45720" rIns="91440" bIns="45720" rtlCol="0" anchor="t">
            <a:normAutofit/>
          </a:bodyPr>
          <a:lstStyle/>
          <a:p>
            <a:r>
              <a:rPr lang="en-US" sz="3200" b="1" kern="1200">
                <a:solidFill>
                  <a:schemeClr val="tx1"/>
                </a:solidFill>
                <a:latin typeface="+mj-lt"/>
                <a:ea typeface="+mj-ea"/>
                <a:cs typeface="+mj-cs"/>
              </a:rPr>
              <a:t>The Categories of Philosophy</a:t>
            </a:r>
          </a:p>
        </p:txBody>
      </p:sp>
      <p:cxnSp>
        <p:nvCxnSpPr>
          <p:cNvPr id="11" name="Straight Connector 1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609600" y="1870364"/>
            <a:ext cx="6553200" cy="4890654"/>
          </a:xfrm>
        </p:spPr>
        <p:txBody>
          <a:bodyPr vert="horz" lIns="91440" tIns="45720" rIns="91440" bIns="45720" rtlCol="0">
            <a:noAutofit/>
          </a:bodyPr>
          <a:lstStyle/>
          <a:p>
            <a:r>
              <a:rPr lang="en-US" sz="2100" dirty="0"/>
              <a:t>The category (from Greek, "accusation, utterance, attribute") is an extremely general concept expressing the most essential relations of reality. </a:t>
            </a:r>
          </a:p>
          <a:p>
            <a:r>
              <a:rPr lang="en-US" sz="2100" dirty="0"/>
              <a:t>The study of categories consists in the definition of the most fundamental and broad classes of entities.</a:t>
            </a:r>
          </a:p>
          <a:p>
            <a:r>
              <a:rPr lang="en-US" sz="2100" dirty="0"/>
              <a:t>The term “category” was firstly used by Aristotle. In the ancient Greek language, the term used to mean "accusation". </a:t>
            </a:r>
          </a:p>
          <a:p>
            <a:r>
              <a:rPr lang="en-US" sz="2100" dirty="0"/>
              <a:t>The original meaning of the "accusation" was weakened by Aristotle to "affirmation", "utterance". He discussed the philosophical categories in his famous book – “Organon”. </a:t>
            </a:r>
          </a:p>
          <a:p>
            <a:r>
              <a:rPr lang="en-US" sz="2100" dirty="0"/>
              <a:t>The Organon is Aristotle’s work on logic that consists of six collections. The first collection was devoted to the Categories.</a:t>
            </a:r>
          </a:p>
        </p:txBody>
      </p:sp>
      <p:sp>
        <p:nvSpPr>
          <p:cNvPr id="13" name="Rectangle 12">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108586" y="842824"/>
            <a:ext cx="3283401" cy="5167037"/>
          </a:xfrm>
          <a:prstGeom prst="rect">
            <a:avLst/>
          </a:prstGeom>
        </p:spPr>
      </p:pic>
    </p:spTree>
    <p:extLst>
      <p:ext uri="{BB962C8B-B14F-4D97-AF65-F5344CB8AC3E}">
        <p14:creationId xmlns:p14="http://schemas.microsoft.com/office/powerpoint/2010/main" val="333321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down)">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18645"/>
          </a:xfrm>
        </p:spPr>
        <p:txBody>
          <a:bodyPr>
            <a:noAutofit/>
          </a:bodyPr>
          <a:lstStyle/>
          <a:p>
            <a:pPr algn="ctr"/>
            <a:r>
              <a:rPr lang="en-US" sz="2800" b="1" dirty="0">
                <a:latin typeface="+mn-lt"/>
              </a:rPr>
              <a:t>Aristotle’s Categories</a:t>
            </a:r>
            <a:endParaRPr lang="en-US" sz="2800" dirty="0">
              <a:latin typeface="+mn-lt"/>
            </a:endParaRPr>
          </a:p>
        </p:txBody>
      </p:sp>
      <p:sp>
        <p:nvSpPr>
          <p:cNvPr id="3" name="Content Placeholder 2"/>
          <p:cNvSpPr>
            <a:spLocks noGrp="1"/>
          </p:cNvSpPr>
          <p:nvPr>
            <p:ph sz="half" idx="1"/>
          </p:nvPr>
        </p:nvSpPr>
        <p:spPr>
          <a:xfrm>
            <a:off x="838200" y="1149531"/>
            <a:ext cx="6816635" cy="5027432"/>
          </a:xfrm>
        </p:spPr>
        <p:txBody>
          <a:bodyPr>
            <a:normAutofit fontScale="77500" lnSpcReduction="20000"/>
          </a:bodyPr>
          <a:lstStyle/>
          <a:p>
            <a:pPr marL="0" indent="0">
              <a:buNone/>
            </a:pPr>
            <a:endParaRPr lang="en-US" dirty="0"/>
          </a:p>
          <a:p>
            <a:pPr marL="0" indent="0">
              <a:buNone/>
            </a:pPr>
            <a:r>
              <a:rPr lang="en-US" dirty="0"/>
              <a:t>Aristotle applied the term as “affirmation” to the 10 most common characteristics (attributes) of things. These are:</a:t>
            </a:r>
          </a:p>
          <a:p>
            <a:pPr marL="0" indent="0">
              <a:buNone/>
            </a:pPr>
            <a:endParaRPr lang="en-US" dirty="0"/>
          </a:p>
          <a:p>
            <a:pPr marL="0" indent="0">
              <a:buNone/>
            </a:pPr>
            <a:r>
              <a:rPr lang="en-US" dirty="0"/>
              <a:t>1. Substance (essence)</a:t>
            </a:r>
          </a:p>
          <a:p>
            <a:pPr marL="0" indent="0">
              <a:buNone/>
            </a:pPr>
            <a:r>
              <a:rPr lang="en-US" dirty="0"/>
              <a:t>2. Quantity</a:t>
            </a:r>
          </a:p>
          <a:p>
            <a:pPr marL="0" indent="0">
              <a:buNone/>
            </a:pPr>
            <a:r>
              <a:rPr lang="en-US" dirty="0"/>
              <a:t>3. Quality</a:t>
            </a:r>
          </a:p>
          <a:p>
            <a:pPr marL="0" indent="0">
              <a:buNone/>
            </a:pPr>
            <a:r>
              <a:rPr lang="en-US" dirty="0"/>
              <a:t>4. Relation</a:t>
            </a:r>
          </a:p>
          <a:p>
            <a:pPr marL="0" indent="0">
              <a:buNone/>
            </a:pPr>
            <a:r>
              <a:rPr lang="en-US" dirty="0"/>
              <a:t>5. Place</a:t>
            </a:r>
          </a:p>
          <a:p>
            <a:pPr marL="0" indent="0">
              <a:buNone/>
            </a:pPr>
            <a:r>
              <a:rPr lang="en-US" dirty="0"/>
              <a:t>6. Time</a:t>
            </a:r>
          </a:p>
          <a:p>
            <a:pPr marL="0" indent="0">
              <a:buNone/>
            </a:pPr>
            <a:r>
              <a:rPr lang="en-US" dirty="0"/>
              <a:t>7. Position</a:t>
            </a:r>
          </a:p>
          <a:p>
            <a:pPr marL="0" indent="0">
              <a:buNone/>
            </a:pPr>
            <a:r>
              <a:rPr lang="en-US" dirty="0"/>
              <a:t>8. State</a:t>
            </a:r>
          </a:p>
          <a:p>
            <a:pPr marL="0" indent="0">
              <a:buNone/>
            </a:pPr>
            <a:r>
              <a:rPr lang="en-US" dirty="0"/>
              <a:t>9. Action</a:t>
            </a:r>
          </a:p>
          <a:p>
            <a:pPr marL="0" indent="0">
              <a:buNone/>
            </a:pPr>
            <a:r>
              <a:rPr lang="en-US" dirty="0"/>
              <a:t>10. Affection</a:t>
            </a:r>
            <a:endParaRPr lang="en-US" sz="24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1641" y="2063931"/>
            <a:ext cx="5858691" cy="4478792"/>
          </a:xfrm>
          <a:prstGeom prst="rect">
            <a:avLst/>
          </a:prstGeom>
        </p:spPr>
      </p:pic>
    </p:spTree>
    <p:extLst>
      <p:ext uri="{BB962C8B-B14F-4D97-AF65-F5344CB8AC3E}">
        <p14:creationId xmlns:p14="http://schemas.microsoft.com/office/powerpoint/2010/main" val="118293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arn(inVertical)">
                                      <p:cBhvr>
                                        <p:cTn id="20" dur="500"/>
                                        <p:tgtEl>
                                          <p:spTgt spid="3">
                                            <p:txEl>
                                              <p:pRg st="4" end="4"/>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arn(inVertical)">
                                      <p:cBhvr>
                                        <p:cTn id="23" dur="500"/>
                                        <p:tgtEl>
                                          <p:spTgt spid="3">
                                            <p:txEl>
                                              <p:pRg st="5" end="5"/>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barn(inVertical)">
                                      <p:cBhvr>
                                        <p:cTn id="26" dur="500"/>
                                        <p:tgtEl>
                                          <p:spTgt spid="3">
                                            <p:txEl>
                                              <p:pRg st="6" end="6"/>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arn(inVertical)">
                                      <p:cBhvr>
                                        <p:cTn id="29" dur="500"/>
                                        <p:tgtEl>
                                          <p:spTgt spid="3">
                                            <p:txEl>
                                              <p:pRg st="7" end="7"/>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barn(inVertical)">
                                      <p:cBhvr>
                                        <p:cTn id="32" dur="500"/>
                                        <p:tgtEl>
                                          <p:spTgt spid="3">
                                            <p:txEl>
                                              <p:pRg st="8" end="8"/>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barn(inVertical)">
                                      <p:cBhvr>
                                        <p:cTn id="35" dur="500"/>
                                        <p:tgtEl>
                                          <p:spTgt spid="3">
                                            <p:txEl>
                                              <p:pRg st="9" end="9"/>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barn(inVertical)">
                                      <p:cBhvr>
                                        <p:cTn id="38" dur="500"/>
                                        <p:tgtEl>
                                          <p:spTgt spid="3">
                                            <p:txEl>
                                              <p:pRg st="10" end="10"/>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Effect transition="in" filter="barn(inVertical)">
                                      <p:cBhvr>
                                        <p:cTn id="41" dur="500"/>
                                        <p:tgtEl>
                                          <p:spTgt spid="3">
                                            <p:txEl>
                                              <p:pRg st="11" end="11"/>
                                            </p:txEl>
                                          </p:spTgt>
                                        </p:tgtEl>
                                      </p:cBhvr>
                                    </p:animEffect>
                                  </p:childTnLst>
                                </p:cTn>
                              </p:par>
                              <p:par>
                                <p:cTn id="42" presetID="16" presetClass="entr" presetSubtype="21" fill="hold" nodeType="withEffect">
                                  <p:stCondLst>
                                    <p:cond delay="0"/>
                                  </p:stCondLst>
                                  <p:childTnLst>
                                    <p:set>
                                      <p:cBhvr>
                                        <p:cTn id="43" dur="1" fill="hold">
                                          <p:stCondLst>
                                            <p:cond delay="0"/>
                                          </p:stCondLst>
                                        </p:cTn>
                                        <p:tgtEl>
                                          <p:spTgt spid="3">
                                            <p:txEl>
                                              <p:pRg st="12" end="12"/>
                                            </p:txEl>
                                          </p:spTgt>
                                        </p:tgtEl>
                                        <p:attrNameLst>
                                          <p:attrName>style.visibility</p:attrName>
                                        </p:attrNameLst>
                                      </p:cBhvr>
                                      <p:to>
                                        <p:strVal val="visible"/>
                                      </p:to>
                                    </p:set>
                                    <p:animEffect transition="in" filter="barn(inVertical)">
                                      <p:cBhvr>
                                        <p:cTn id="44" dur="500"/>
                                        <p:tgtEl>
                                          <p:spTgt spid="3">
                                            <p:txEl>
                                              <p:pRg st="12" end="1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down)">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1138265"/>
            <a:ext cx="5791199" cy="1401183"/>
          </a:xfrm>
        </p:spPr>
        <p:txBody>
          <a:bodyPr vert="horz" lIns="91440" tIns="45720" rIns="91440" bIns="45720" rtlCol="0" anchor="t">
            <a:normAutofit/>
          </a:bodyPr>
          <a:lstStyle/>
          <a:p>
            <a:r>
              <a:rPr lang="en-US" sz="3200" b="1" kern="1200">
                <a:solidFill>
                  <a:schemeClr val="tx1"/>
                </a:solidFill>
                <a:latin typeface="+mj-lt"/>
                <a:ea typeface="+mj-ea"/>
                <a:cs typeface="+mj-cs"/>
              </a:rPr>
              <a:t>The Legacy of Aristotle on Philosophy</a:t>
            </a:r>
            <a:endParaRPr lang="en-US" sz="3200" kern="1200">
              <a:solidFill>
                <a:schemeClr val="tx1"/>
              </a:solidFill>
              <a:latin typeface="+mj-lt"/>
              <a:ea typeface="+mj-ea"/>
              <a:cs typeface="+mj-cs"/>
            </a:endParaRPr>
          </a:p>
        </p:txBody>
      </p:sp>
      <p:cxnSp>
        <p:nvCxnSpPr>
          <p:cNvPr id="11" name="Straight Connector 1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40327" y="2230582"/>
            <a:ext cx="6594763" cy="4378036"/>
          </a:xfrm>
        </p:spPr>
        <p:txBody>
          <a:bodyPr vert="horz" lIns="91440" tIns="45720" rIns="91440" bIns="45720" rtlCol="0">
            <a:noAutofit/>
          </a:bodyPr>
          <a:lstStyle/>
          <a:p>
            <a:r>
              <a:rPr lang="en-US" sz="2200" dirty="0"/>
              <a:t>Aristotle systematized the rules and categories of philosophy</a:t>
            </a:r>
          </a:p>
          <a:p>
            <a:r>
              <a:rPr lang="en-US" sz="2200" dirty="0"/>
              <a:t>He described it and raised philosophy to the level of science for the first time. </a:t>
            </a:r>
          </a:p>
          <a:p>
            <a:r>
              <a:rPr lang="en-US" sz="2200" dirty="0"/>
              <a:t>Since then, philosophy has become a science that has its own laws, principles, and categorical concepts. </a:t>
            </a:r>
          </a:p>
          <a:p>
            <a:r>
              <a:rPr lang="en-US" sz="2200" dirty="0"/>
              <a:t>In the East, </a:t>
            </a:r>
            <a:r>
              <a:rPr lang="en-US" sz="2200" dirty="0" err="1"/>
              <a:t>Farobiy</a:t>
            </a:r>
            <a:r>
              <a:rPr lang="en-US" sz="2200" dirty="0"/>
              <a:t>, </a:t>
            </a:r>
            <a:r>
              <a:rPr lang="en-US" sz="2200" dirty="0" err="1"/>
              <a:t>Beruniy</a:t>
            </a:r>
            <a:r>
              <a:rPr lang="en-US" sz="2200" dirty="0"/>
              <a:t>, and Ibn Sina also devoted attention to the issue. </a:t>
            </a:r>
          </a:p>
          <a:p>
            <a:r>
              <a:rPr lang="en-US" sz="2200" dirty="0"/>
              <a:t>There are concrete (physical objects) and abstract (idea, time) things.</a:t>
            </a:r>
          </a:p>
        </p:txBody>
      </p:sp>
      <p:sp>
        <p:nvSpPr>
          <p:cNvPr id="13" name="Rectangle 12">
            <a:extLst>
              <a:ext uri="{FF2B5EF4-FFF2-40B4-BE49-F238E27FC236}">
                <a16:creationId xmlns:a16="http://schemas.microsoft.com/office/drawing/2014/main" id="{DF8BC164-E230-753F-2C7E-B4EE7BA77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8086" y="0"/>
            <a:ext cx="4803913"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024191" y="1418096"/>
            <a:ext cx="3452192" cy="4016492"/>
          </a:xfrm>
          <a:prstGeom prst="rect">
            <a:avLst/>
          </a:prstGeom>
        </p:spPr>
      </p:pic>
    </p:spTree>
    <p:extLst>
      <p:ext uri="{BB962C8B-B14F-4D97-AF65-F5344CB8AC3E}">
        <p14:creationId xmlns:p14="http://schemas.microsoft.com/office/powerpoint/2010/main" val="127448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1000"/>
                                        <p:tgtEl>
                                          <p:spTgt spid="3">
                                            <p:txEl>
                                              <p:pRg st="0" end="0"/>
                                            </p:txEl>
                                          </p:spTgt>
                                        </p:tgtEl>
                                      </p:cBhvr>
                                    </p:animEffect>
                                    <p:anim calcmode="lin" valueType="num">
                                      <p:cBhvr>
                                        <p:cTn id="21"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1000"/>
                                        <p:tgtEl>
                                          <p:spTgt spid="3">
                                            <p:txEl>
                                              <p:pRg st="1" end="1"/>
                                            </p:txEl>
                                          </p:spTgt>
                                        </p:tgtEl>
                                      </p:cBhvr>
                                    </p:animEffect>
                                    <p:anim calcmode="lin" valueType="num">
                                      <p:cBhvr>
                                        <p:cTn id="2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wipe(down)">
                                      <p:cBhvr>
                                        <p:cTn id="34" dur="5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6337"/>
            <a:ext cx="7592122" cy="759507"/>
          </a:xfrm>
        </p:spPr>
        <p:txBody>
          <a:bodyPr vert="horz" lIns="91440" tIns="45720" rIns="91440" bIns="45720" rtlCol="0" anchor="ctr">
            <a:normAutofit/>
          </a:bodyPr>
          <a:lstStyle/>
          <a:p>
            <a:r>
              <a:rPr lang="en-US" sz="3600" b="1" dirty="0"/>
              <a:t>Kant and Hegel’s Views on Categories</a:t>
            </a:r>
          </a:p>
        </p:txBody>
      </p:sp>
      <p:sp>
        <p:nvSpPr>
          <p:cNvPr id="3" name="Content Placeholder 2"/>
          <p:cNvSpPr>
            <a:spLocks noGrp="1"/>
          </p:cNvSpPr>
          <p:nvPr>
            <p:ph sz="half" idx="1"/>
          </p:nvPr>
        </p:nvSpPr>
        <p:spPr>
          <a:xfrm>
            <a:off x="838200" y="1315844"/>
            <a:ext cx="6797405" cy="4804870"/>
          </a:xfrm>
        </p:spPr>
        <p:txBody>
          <a:bodyPr vert="horz" lIns="91440" tIns="45720" rIns="91440" bIns="45720" rtlCol="0">
            <a:normAutofit/>
          </a:bodyPr>
          <a:lstStyle/>
          <a:p>
            <a:r>
              <a:rPr lang="en-US" sz="2200" dirty="0"/>
              <a:t>In the 17th and 19th centuries, a new era in the analysis of philosophical categories came into existence. </a:t>
            </a:r>
          </a:p>
          <a:p>
            <a:r>
              <a:rPr lang="en-US" sz="2200" dirty="0"/>
              <a:t>In particular, Immanuel Kant in his work – “Critique of Pure Reason” which was written in 1781 argued that the categories are part of our own mental structure and consist of previous concepts through which we interpret the world around us. </a:t>
            </a:r>
          </a:p>
          <a:p>
            <a:r>
              <a:rPr lang="en-US" sz="2200" dirty="0"/>
              <a:t>He elaborated four types of categories: </a:t>
            </a:r>
            <a:r>
              <a:rPr lang="en-US" sz="2200" i="1" dirty="0"/>
              <a:t>quality</a:t>
            </a:r>
            <a:r>
              <a:rPr lang="en-US" sz="2200" dirty="0"/>
              <a:t> (reality, negation, limitation), </a:t>
            </a:r>
            <a:r>
              <a:rPr lang="en-US" sz="2200" i="1" dirty="0"/>
              <a:t>quantity</a:t>
            </a:r>
            <a:r>
              <a:rPr lang="en-US" sz="2200" dirty="0"/>
              <a:t> (unity, plurality, totality), </a:t>
            </a:r>
            <a:r>
              <a:rPr lang="en-US" sz="2200" i="1" dirty="0"/>
              <a:t>relation</a:t>
            </a:r>
            <a:r>
              <a:rPr lang="en-US" sz="2200" dirty="0"/>
              <a:t> (substance and feature, reason and movement, interactions), </a:t>
            </a:r>
            <a:r>
              <a:rPr lang="en-US" sz="2200" i="1" dirty="0"/>
              <a:t>modality</a:t>
            </a:r>
            <a:r>
              <a:rPr lang="en-US" sz="2200" dirty="0"/>
              <a:t> (possibility, existence). </a:t>
            </a:r>
          </a:p>
          <a:p>
            <a:r>
              <a:rPr lang="en-US" sz="2200" dirty="0"/>
              <a:t>Unlike Kant, Hegel described categories as </a:t>
            </a:r>
            <a:r>
              <a:rPr lang="en-US" sz="2200" i="1" dirty="0"/>
              <a:t>being</a:t>
            </a:r>
            <a:r>
              <a:rPr lang="en-US" sz="2200" dirty="0"/>
              <a:t> (sensation, measure), </a:t>
            </a:r>
            <a:r>
              <a:rPr lang="en-US" sz="2200" i="1" dirty="0"/>
              <a:t>essence</a:t>
            </a:r>
            <a:r>
              <a:rPr lang="en-US" sz="2200" dirty="0"/>
              <a:t> (cause and effect), </a:t>
            </a:r>
            <a:r>
              <a:rPr lang="en-US" sz="2200" i="1" dirty="0"/>
              <a:t>notion</a:t>
            </a:r>
            <a:r>
              <a:rPr lang="en-US" sz="2200" dirty="0"/>
              <a:t> (beauty, goodness, truth).</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78592" y="168168"/>
            <a:ext cx="2233550" cy="316815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8418" y="3504492"/>
            <a:ext cx="2173898" cy="2813930"/>
          </a:xfrm>
          <a:prstGeom prst="rect">
            <a:avLst/>
          </a:prstGeom>
        </p:spPr>
      </p:pic>
    </p:spTree>
    <p:extLst>
      <p:ext uri="{BB962C8B-B14F-4D97-AF65-F5344CB8AC3E}">
        <p14:creationId xmlns:p14="http://schemas.microsoft.com/office/powerpoint/2010/main" val="176568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wipe(down)">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wipe(down)">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wipe(down)">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sz="3800" b="1" kern="1200" dirty="0">
                <a:solidFill>
                  <a:srgbClr val="FFFFFF"/>
                </a:solidFill>
                <a:latin typeface="+mj-lt"/>
                <a:ea typeface="+mj-ea"/>
                <a:cs typeface="+mj-cs"/>
              </a:rPr>
              <a:t>Characteristics of Categories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447308" y="591344"/>
            <a:ext cx="6906491" cy="5585619"/>
          </a:xfrm>
        </p:spPr>
        <p:txBody>
          <a:bodyPr vert="horz" lIns="91440" tIns="45720" rIns="91440" bIns="45720" rtlCol="0" anchor="ctr">
            <a:normAutofit lnSpcReduction="10000"/>
          </a:bodyPr>
          <a:lstStyle/>
          <a:p>
            <a:endParaRPr lang="en-US" sz="2000" dirty="0"/>
          </a:p>
          <a:p>
            <a:r>
              <a:rPr lang="en-US" sz="2200" dirty="0"/>
              <a:t>In summing up, various views on the categories of philosophy, they have the following descriptions as logical concepts:</a:t>
            </a:r>
          </a:p>
          <a:p>
            <a:pPr marL="0" indent="0">
              <a:buNone/>
            </a:pPr>
            <a:r>
              <a:rPr lang="en-US" sz="2200" dirty="0"/>
              <a:t>   1) the perception of the universe; </a:t>
            </a:r>
          </a:p>
          <a:p>
            <a:pPr marL="0" indent="0">
              <a:buNone/>
            </a:pPr>
            <a:r>
              <a:rPr lang="en-US" sz="2200" dirty="0"/>
              <a:t>   2) a method of cognition that logically generalizes the interconnection and interrelation of things and events (realities); </a:t>
            </a:r>
          </a:p>
          <a:p>
            <a:pPr marL="0" indent="0">
              <a:buNone/>
            </a:pPr>
            <a:r>
              <a:rPr lang="en-US" sz="2200" dirty="0"/>
              <a:t>   3) logical concept that changes with the development of things and events; </a:t>
            </a:r>
          </a:p>
          <a:p>
            <a:pPr marL="0" indent="0">
              <a:buNone/>
            </a:pPr>
            <a:r>
              <a:rPr lang="en-US" sz="2200" dirty="0"/>
              <a:t>   4) one of the levels of historical-logical knowledge derived from the existence of the universe.</a:t>
            </a:r>
          </a:p>
          <a:p>
            <a:pPr marL="0"/>
            <a:endParaRPr lang="en-US" sz="2200" dirty="0"/>
          </a:p>
          <a:p>
            <a:r>
              <a:rPr lang="en-US" sz="2200" dirty="0"/>
              <a:t>Many scholars conclude that categories are the concepts of the universe, the things and events that are eternal and repetitious in it.</a:t>
            </a:r>
          </a:p>
        </p:txBody>
      </p:sp>
    </p:spTree>
    <p:extLst>
      <p:ext uri="{BB962C8B-B14F-4D97-AF65-F5344CB8AC3E}">
        <p14:creationId xmlns:p14="http://schemas.microsoft.com/office/powerpoint/2010/main" val="340234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1000"/>
                                        <p:tgtEl>
                                          <p:spTgt spid="3">
                                            <p:txEl>
                                              <p:pRg st="7" end="7"/>
                                            </p:txEl>
                                          </p:spTgt>
                                        </p:tgtEl>
                                      </p:cBhvr>
                                    </p:animEffect>
                                    <p:anim calcmode="lin" valueType="num">
                                      <p:cBhvr>
                                        <p:cTn id="4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260197"/>
            <a:ext cx="5334197" cy="651163"/>
          </a:xfrm>
        </p:spPr>
        <p:txBody>
          <a:bodyPr vert="horz" lIns="91440" tIns="45720" rIns="91440" bIns="45720" rtlCol="0" anchor="ctr">
            <a:normAutofit/>
          </a:bodyPr>
          <a:lstStyle/>
          <a:p>
            <a:r>
              <a:rPr lang="en-US" sz="4000" b="1" dirty="0"/>
              <a:t>Methods in Philosophy</a:t>
            </a:r>
          </a:p>
        </p:txBody>
      </p:sp>
      <p:sp>
        <p:nvSpPr>
          <p:cNvPr id="3" name="Content Placeholder 2"/>
          <p:cNvSpPr>
            <a:spLocks noGrp="1"/>
          </p:cNvSpPr>
          <p:nvPr>
            <p:ph sz="half" idx="1"/>
          </p:nvPr>
        </p:nvSpPr>
        <p:spPr>
          <a:xfrm>
            <a:off x="122663" y="922246"/>
            <a:ext cx="6735133" cy="5783354"/>
          </a:xfrm>
        </p:spPr>
        <p:txBody>
          <a:bodyPr vert="horz" lIns="91440" tIns="45720" rIns="91440" bIns="45720" rtlCol="0" anchor="ctr">
            <a:noAutofit/>
          </a:bodyPr>
          <a:lstStyle/>
          <a:p>
            <a:r>
              <a:rPr lang="en-US" sz="2100" dirty="0"/>
              <a:t>Method (from the Greek </a:t>
            </a:r>
            <a:r>
              <a:rPr lang="en-US" sz="2100" dirty="0" err="1"/>
              <a:t>methodos</a:t>
            </a:r>
            <a:r>
              <a:rPr lang="en-US" sz="2100" dirty="0"/>
              <a:t> - the way, way of research, teaching, presentation):</a:t>
            </a:r>
          </a:p>
          <a:p>
            <a:pPr marL="0" indent="0">
              <a:buNone/>
            </a:pPr>
            <a:r>
              <a:rPr lang="en-US" sz="2100" dirty="0"/>
              <a:t> -  a set of techniques and operations of cognition and practical activity; </a:t>
            </a:r>
          </a:p>
          <a:p>
            <a:pPr marL="0" indent="0">
              <a:buNone/>
            </a:pPr>
            <a:r>
              <a:rPr lang="en-US" sz="2100" dirty="0"/>
              <a:t> -  the way to achieve certain results in cognition and practice. </a:t>
            </a:r>
          </a:p>
          <a:p>
            <a:r>
              <a:rPr lang="en-US" sz="2100" dirty="0"/>
              <a:t>Each sphere of human activity has its own specific method: one can talk about the method of artistic creativity; method of information processing; method of warfare, etc.</a:t>
            </a:r>
          </a:p>
          <a:p>
            <a:r>
              <a:rPr lang="en-US" sz="2100" dirty="0"/>
              <a:t>Philosophy mainly considers the method of cognition.</a:t>
            </a:r>
          </a:p>
          <a:p>
            <a:r>
              <a:rPr lang="en-US" sz="2100" dirty="0"/>
              <a:t>Any method is created on the basis of a particular theory and is a necessary condition for research. </a:t>
            </a:r>
          </a:p>
          <a:p>
            <a:r>
              <a:rPr lang="en-US" sz="2100" dirty="0"/>
              <a:t>The effectiveness of each method is based on its deep meaning and essence, and the fundamentality of the theory.</a:t>
            </a:r>
          </a:p>
        </p:txBody>
      </p:sp>
      <p:pic>
        <p:nvPicPr>
          <p:cNvPr id="14" name="Picture 13" descr="Molecular DNA structure">
            <a:extLst>
              <a:ext uri="{FF2B5EF4-FFF2-40B4-BE49-F238E27FC236}">
                <a16:creationId xmlns:a16="http://schemas.microsoft.com/office/drawing/2014/main" id="{6233A41A-78F1-F738-443E-45F2ABAEFA0B}"/>
              </a:ext>
            </a:extLst>
          </p:cNvPr>
          <p:cNvPicPr>
            <a:picLocks noChangeAspect="1"/>
          </p:cNvPicPr>
          <p:nvPr/>
        </p:nvPicPr>
        <p:blipFill>
          <a:blip r:embed="rId2"/>
          <a:srcRect l="19279" r="28884"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85104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1000"/>
                                        <p:tgtEl>
                                          <p:spTgt spid="3">
                                            <p:txEl>
                                              <p:pRg st="6" end="6"/>
                                            </p:txEl>
                                          </p:spTgt>
                                        </p:tgtEl>
                                      </p:cBhvr>
                                    </p:animEffect>
                                    <p:anim calcmode="lin" valueType="num">
                                      <p:cBhvr>
                                        <p:cTn id="5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sz="5400" b="1">
                <a:latin typeface="+mn-lt"/>
              </a:rPr>
              <a:t>Dialectic</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69036" y="1929383"/>
            <a:ext cx="11176600" cy="4563491"/>
          </a:xfrm>
        </p:spPr>
        <p:txBody>
          <a:bodyPr>
            <a:normAutofit/>
          </a:bodyPr>
          <a:lstStyle/>
          <a:p>
            <a:r>
              <a:rPr lang="en-US" sz="2200" dirty="0"/>
              <a:t>Dialectic or dialectics (Greek: </a:t>
            </a:r>
            <a:r>
              <a:rPr lang="ru-RU" sz="2200" dirty="0" err="1"/>
              <a:t>δι</a:t>
            </a:r>
            <a:r>
              <a:rPr lang="ru-RU" sz="2200" dirty="0"/>
              <a:t>α</a:t>
            </a:r>
            <a:r>
              <a:rPr lang="ru-RU" sz="2200" dirty="0" err="1"/>
              <a:t>λεκτική</a:t>
            </a:r>
            <a:r>
              <a:rPr lang="en-US" sz="2200" dirty="0"/>
              <a:t>, </a:t>
            </a:r>
            <a:r>
              <a:rPr lang="en-US" sz="2200" dirty="0" err="1"/>
              <a:t>dialektikḗ</a:t>
            </a:r>
            <a:r>
              <a:rPr lang="en-US" sz="2200" dirty="0"/>
              <a:t>), is one of the methods in philosophy. </a:t>
            </a:r>
          </a:p>
          <a:p>
            <a:r>
              <a:rPr lang="en-US" sz="2200" dirty="0"/>
              <a:t>It is a discourse or formal discussion between two or more people holding different points of view about a subject but wishing to establish the truth through reasoned arguments.</a:t>
            </a:r>
          </a:p>
          <a:p>
            <a:r>
              <a:rPr lang="en-US" sz="2200" dirty="0"/>
              <a:t>Dialectical method is aimed to examine and cognition of philosophical objects. Dialectical method demands the scholars on philosophy to study the objects:</a:t>
            </a:r>
          </a:p>
          <a:p>
            <a:pPr>
              <a:buFont typeface="Wingdings" panose="05000000000000000000" pitchFamily="2" charset="2"/>
              <a:buChar char="ü"/>
            </a:pPr>
            <a:r>
              <a:rPr lang="en-US" sz="2200" dirty="0"/>
              <a:t>   in relation to other objects and to the whole system;</a:t>
            </a:r>
          </a:p>
          <a:p>
            <a:pPr>
              <a:buFont typeface="Wingdings" panose="05000000000000000000" pitchFamily="2" charset="2"/>
              <a:buChar char="ü"/>
            </a:pPr>
            <a:r>
              <a:rPr lang="en-US" sz="2200" dirty="0"/>
              <a:t>   examine the objects within a dynamic, evolutionary environment. </a:t>
            </a:r>
          </a:p>
          <a:p>
            <a:r>
              <a:rPr lang="en-US" sz="2200" dirty="0"/>
              <a:t>The method is usually contrasted with metaphysical method, which study the objects in a separated, isolated and static environment. </a:t>
            </a:r>
          </a:p>
          <a:p>
            <a:r>
              <a:rPr lang="en-US" sz="2200" dirty="0"/>
              <a:t>The word "dialectic" was first used by Socrates (469-399 AD). The term "dialectic" comes from ancient Greek philosophy and became popular thanks to Plato's "Dialogues“. </a:t>
            </a:r>
          </a:p>
        </p:txBody>
      </p:sp>
    </p:spTree>
    <p:extLst>
      <p:ext uri="{BB962C8B-B14F-4D97-AF65-F5344CB8AC3E}">
        <p14:creationId xmlns:p14="http://schemas.microsoft.com/office/powerpoint/2010/main" val="325578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 calcmode="lin" valueType="num">
                                      <p:cBhvr additive="base">
                                        <p:cTn id="4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4200" b="1" kern="1200" dirty="0">
                <a:solidFill>
                  <a:schemeClr val="tx1"/>
                </a:solidFill>
                <a:latin typeface="+mj-lt"/>
                <a:ea typeface="+mj-ea"/>
                <a:cs typeface="+mj-cs"/>
              </a:rPr>
              <a:t>Metaphysics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126418" y="552090"/>
            <a:ext cx="6858021" cy="5993675"/>
          </a:xfrm>
        </p:spPr>
        <p:txBody>
          <a:bodyPr vert="horz" lIns="91440" tIns="45720" rIns="91440" bIns="45720" rtlCol="0" anchor="ctr">
            <a:normAutofit/>
          </a:bodyPr>
          <a:lstStyle/>
          <a:p>
            <a:r>
              <a:rPr lang="en-US" sz="2200" dirty="0"/>
              <a:t>Metaphysics (Greek, "after physics") is universal method, such as dialectics. </a:t>
            </a:r>
          </a:p>
          <a:p>
            <a:pPr marL="0"/>
            <a:endParaRPr lang="en-US" sz="2200" dirty="0"/>
          </a:p>
          <a:p>
            <a:r>
              <a:rPr lang="en-US" sz="2200" dirty="0"/>
              <a:t>This word was introduced in the first century BC by the student of Aristotle, the interpreter of his poems – Andronicus of Rhodes.</a:t>
            </a:r>
          </a:p>
          <a:p>
            <a:pPr marL="0"/>
            <a:endParaRPr lang="en-US" sz="2200" dirty="0"/>
          </a:p>
          <a:p>
            <a:r>
              <a:rPr lang="en-US" sz="2200" dirty="0"/>
              <a:t>The distinctive feature of metaphysics method is:</a:t>
            </a:r>
          </a:p>
          <a:p>
            <a:pPr marL="0" indent="0">
              <a:buNone/>
            </a:pPr>
            <a:r>
              <a:rPr lang="en-US" sz="2200" dirty="0"/>
              <a:t> 1) the lack of a comprehensive system approach to the universe;</a:t>
            </a:r>
          </a:p>
          <a:p>
            <a:pPr marL="0" indent="0">
              <a:buNone/>
            </a:pPr>
            <a:r>
              <a:rPr lang="en-US" sz="2200" dirty="0"/>
              <a:t> 2) the denial of interconnection and development between things and realities. </a:t>
            </a:r>
          </a:p>
          <a:p>
            <a:endParaRPr lang="en-US" sz="2200" dirty="0"/>
          </a:p>
          <a:p>
            <a:r>
              <a:rPr lang="en-US" sz="2200" dirty="0"/>
              <a:t>This method is related to the systematic study of the stability of the subjects, changes in them, the definition of sources and mechanisms of development.</a:t>
            </a:r>
          </a:p>
        </p:txBody>
      </p:sp>
    </p:spTree>
    <p:extLst>
      <p:ext uri="{BB962C8B-B14F-4D97-AF65-F5344CB8AC3E}">
        <p14:creationId xmlns:p14="http://schemas.microsoft.com/office/powerpoint/2010/main" val="32501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b="1" kern="1200">
                <a:solidFill>
                  <a:schemeClr val="tx1"/>
                </a:solidFill>
                <a:latin typeface="+mj-lt"/>
                <a:ea typeface="+mj-ea"/>
                <a:cs typeface="+mj-cs"/>
              </a:rPr>
              <a:t>Sophism as a Method in Philosophy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838200" y="1929384"/>
            <a:ext cx="10515600" cy="4251960"/>
          </a:xfrm>
        </p:spPr>
        <p:txBody>
          <a:bodyPr vert="horz" lIns="91440" tIns="45720" rIns="91440" bIns="45720" rtlCol="0">
            <a:normAutofit/>
          </a:bodyPr>
          <a:lstStyle/>
          <a:p>
            <a:r>
              <a:rPr lang="en-US" sz="2300" dirty="0"/>
              <a:t>Sophism (from the Greek - the ability to cunningly debate) is:</a:t>
            </a:r>
          </a:p>
          <a:p>
            <a:pPr marL="0" indent="0">
              <a:buNone/>
            </a:pPr>
            <a:r>
              <a:rPr lang="en-US" sz="2300" dirty="0"/>
              <a:t>    1) the philosophical tradition in ancient Greece, created by the Sophists </a:t>
            </a:r>
          </a:p>
          <a:p>
            <a:pPr marL="0" indent="0">
              <a:buNone/>
            </a:pPr>
            <a:r>
              <a:rPr lang="en-US" sz="2300" dirty="0"/>
              <a:t>    2) Reasoning (conclusion, proof), based on a deliberate violation of laws and principles of formal logic, on the use of false arguments and arguments given for the right.</a:t>
            </a:r>
          </a:p>
          <a:p>
            <a:r>
              <a:rPr lang="en-US" sz="2300" dirty="0"/>
              <a:t>Sophism as a method of training was introduced by the ancient Greek sophists in Greek polices of approximately in the 5</a:t>
            </a:r>
            <a:r>
              <a:rPr lang="en-US" sz="2300" baseline="30000" dirty="0"/>
              <a:t>th</a:t>
            </a:r>
            <a:r>
              <a:rPr lang="en-US" sz="2300" dirty="0"/>
              <a:t> century. </a:t>
            </a:r>
          </a:p>
          <a:p>
            <a:r>
              <a:rPr lang="en-US" sz="2300" dirty="0"/>
              <a:t>Sophists were professional teachers who taught noble youth on oratorical skills and the art of public debate in order to prepare for a political or other career. </a:t>
            </a:r>
          </a:p>
          <a:p>
            <a:r>
              <a:rPr lang="en-US" sz="2300" dirty="0"/>
              <a:t>As a philosophical method sophism is a voluntary choice of thought based on controversial ideas that can be used to prove anything.</a:t>
            </a:r>
          </a:p>
        </p:txBody>
      </p:sp>
    </p:spTree>
    <p:extLst>
      <p:ext uri="{BB962C8B-B14F-4D97-AF65-F5344CB8AC3E}">
        <p14:creationId xmlns:p14="http://schemas.microsoft.com/office/powerpoint/2010/main" val="308512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1253819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628</TotalTime>
  <Words>1445</Words>
  <Application>Microsoft Macintosh PowerPoint</Application>
  <PresentationFormat>Widescreen</PresentationFormat>
  <Paragraphs>108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Inha University in Tashkent</vt:lpstr>
      <vt:lpstr>Outline:</vt:lpstr>
      <vt:lpstr>Debate on the Objects and Events</vt:lpstr>
      <vt:lpstr>What is the motion?</vt:lpstr>
      <vt:lpstr>The Laws of Philosophy</vt:lpstr>
      <vt:lpstr>The Categories of Philosophy</vt:lpstr>
      <vt:lpstr>Aristotle’s Categories</vt:lpstr>
      <vt:lpstr>The Legacy of Aristotle on Philosophy</vt:lpstr>
      <vt:lpstr>Kant and Hegel’s Views on Categories</vt:lpstr>
      <vt:lpstr>Characteristics of Categories</vt:lpstr>
      <vt:lpstr>Methods in Philosophy</vt:lpstr>
      <vt:lpstr>Dialectic</vt:lpstr>
      <vt:lpstr>Metaphysics</vt:lpstr>
      <vt:lpstr>Sophism as a Method in Philosophy</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231</cp:revision>
  <dcterms:created xsi:type="dcterms:W3CDTF">2017-06-29T13:12:25Z</dcterms:created>
  <dcterms:modified xsi:type="dcterms:W3CDTF">2026-09-27T08:07:40Z</dcterms:modified>
</cp:coreProperties>
</file>