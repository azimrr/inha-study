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8"/>
  </p:notesMasterIdLst>
  <p:sldIdLst>
    <p:sldId id="257" r:id="rId2"/>
    <p:sldId id="258" r:id="rId3"/>
    <p:sldId id="260" r:id="rId4"/>
    <p:sldId id="294" r:id="rId5"/>
    <p:sldId id="265" r:id="rId6"/>
    <p:sldId id="274" r:id="rId7"/>
    <p:sldId id="275" r:id="rId8"/>
    <p:sldId id="276" r:id="rId9"/>
    <p:sldId id="278" r:id="rId10"/>
    <p:sldId id="295" r:id="rId11"/>
    <p:sldId id="296" r:id="rId12"/>
    <p:sldId id="297" r:id="rId13"/>
    <p:sldId id="298" r:id="rId14"/>
    <p:sldId id="299" r:id="rId15"/>
    <p:sldId id="300" r:id="rId16"/>
    <p:sldId id="30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B506352-A10D-4DF3-88CC-3AD4DFCED331}">
          <p14:sldIdLst>
            <p14:sldId id="257"/>
            <p14:sldId id="258"/>
            <p14:sldId id="260"/>
            <p14:sldId id="294"/>
            <p14:sldId id="265"/>
            <p14:sldId id="274"/>
            <p14:sldId id="275"/>
            <p14:sldId id="276"/>
            <p14:sldId id="278"/>
            <p14:sldId id="295"/>
            <p14:sldId id="296"/>
            <p14:sldId id="297"/>
            <p14:sldId id="298"/>
            <p14:sldId id="299"/>
            <p14:sldId id="300"/>
            <p14:sldId id="30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63" autoAdjust="0"/>
    <p:restoredTop sz="94660" autoAdjust="0"/>
  </p:normalViewPr>
  <p:slideViewPr>
    <p:cSldViewPr snapToGrid="0">
      <p:cViewPr varScale="1">
        <p:scale>
          <a:sx n="112" d="100"/>
          <a:sy n="112" d="100"/>
        </p:scale>
        <p:origin x="560" y="19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6" d="100"/>
          <a:sy n="56" d="100"/>
        </p:scale>
        <p:origin x="2856"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244EE87-A60C-4C68-9277-E532A1E5F250}"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4EFC961A-34BC-406A-8B8B-EA0B727C08A9}">
      <dgm:prSet/>
      <dgm:spPr/>
      <dgm:t>
        <a:bodyPr/>
        <a:lstStyle/>
        <a:p>
          <a:r>
            <a:rPr lang="en-US"/>
            <a:t>Characteristic features of the Period</a:t>
          </a:r>
        </a:p>
      </dgm:t>
    </dgm:pt>
    <dgm:pt modelId="{4C989027-3EFB-48F0-B71C-DD7C4C41F061}" type="parTrans" cxnId="{A8009785-C76A-4339-92F7-CEE275A6F415}">
      <dgm:prSet/>
      <dgm:spPr/>
      <dgm:t>
        <a:bodyPr/>
        <a:lstStyle/>
        <a:p>
          <a:endParaRPr lang="en-US"/>
        </a:p>
      </dgm:t>
    </dgm:pt>
    <dgm:pt modelId="{5CAAB443-3652-478F-BBD4-612694E99ED7}" type="sibTrans" cxnId="{A8009785-C76A-4339-92F7-CEE275A6F415}">
      <dgm:prSet/>
      <dgm:spPr/>
      <dgm:t>
        <a:bodyPr/>
        <a:lstStyle/>
        <a:p>
          <a:endParaRPr lang="en-US"/>
        </a:p>
      </dgm:t>
    </dgm:pt>
    <dgm:pt modelId="{8D8E7709-5D55-4D6E-917A-0D5A09074F57}">
      <dgm:prSet/>
      <dgm:spPr/>
      <dgm:t>
        <a:bodyPr/>
        <a:lstStyle/>
        <a:p>
          <a:r>
            <a:rPr lang="en-US"/>
            <a:t>The Basics of Christianity</a:t>
          </a:r>
        </a:p>
      </dgm:t>
    </dgm:pt>
    <dgm:pt modelId="{BC1B822F-0C63-4587-A342-ABF6E33186AB}" type="parTrans" cxnId="{51F94074-FB14-43E5-B6C1-4A4075584355}">
      <dgm:prSet/>
      <dgm:spPr/>
      <dgm:t>
        <a:bodyPr/>
        <a:lstStyle/>
        <a:p>
          <a:endParaRPr lang="en-US"/>
        </a:p>
      </dgm:t>
    </dgm:pt>
    <dgm:pt modelId="{DF5CFCA3-312D-4DB2-8EE5-F5F890E40DC4}" type="sibTrans" cxnId="{51F94074-FB14-43E5-B6C1-4A4075584355}">
      <dgm:prSet/>
      <dgm:spPr/>
      <dgm:t>
        <a:bodyPr/>
        <a:lstStyle/>
        <a:p>
          <a:endParaRPr lang="en-US"/>
        </a:p>
      </dgm:t>
    </dgm:pt>
    <dgm:pt modelId="{CE20DEBA-D060-4661-BDEA-4BB3BB71828D}">
      <dgm:prSet/>
      <dgm:spPr/>
      <dgm:t>
        <a:bodyPr/>
        <a:lstStyle/>
        <a:p>
          <a:r>
            <a:rPr lang="en-US"/>
            <a:t>Western Philosophical Schools and Traditions of Medieval Period</a:t>
          </a:r>
        </a:p>
      </dgm:t>
    </dgm:pt>
    <dgm:pt modelId="{38D108CC-50A8-466C-81F1-7EBFBC181879}" type="parTrans" cxnId="{441FDA68-9BA2-4958-AB54-5E853C1A804E}">
      <dgm:prSet/>
      <dgm:spPr/>
      <dgm:t>
        <a:bodyPr/>
        <a:lstStyle/>
        <a:p>
          <a:endParaRPr lang="en-US"/>
        </a:p>
      </dgm:t>
    </dgm:pt>
    <dgm:pt modelId="{0F780174-496E-4E59-92C4-159F5FF7523D}" type="sibTrans" cxnId="{441FDA68-9BA2-4958-AB54-5E853C1A804E}">
      <dgm:prSet/>
      <dgm:spPr/>
      <dgm:t>
        <a:bodyPr/>
        <a:lstStyle/>
        <a:p>
          <a:endParaRPr lang="en-US"/>
        </a:p>
      </dgm:t>
    </dgm:pt>
    <dgm:pt modelId="{FF504705-4481-4E6C-B588-653D2FBD9CD0}">
      <dgm:prSet/>
      <dgm:spPr/>
      <dgm:t>
        <a:bodyPr/>
        <a:lstStyle/>
        <a:p>
          <a:r>
            <a:rPr lang="en-US"/>
            <a:t>Scholars on Theology and Philosophy</a:t>
          </a:r>
        </a:p>
      </dgm:t>
    </dgm:pt>
    <dgm:pt modelId="{D9FE06D8-D285-42F6-91F3-F6A004F86C17}" type="parTrans" cxnId="{C429CF41-938A-4C57-9B9E-14E4A0B0F22F}">
      <dgm:prSet/>
      <dgm:spPr/>
      <dgm:t>
        <a:bodyPr/>
        <a:lstStyle/>
        <a:p>
          <a:endParaRPr lang="en-US"/>
        </a:p>
      </dgm:t>
    </dgm:pt>
    <dgm:pt modelId="{1B3632CE-AA7C-429A-BA8C-4448ED0C5B75}" type="sibTrans" cxnId="{C429CF41-938A-4C57-9B9E-14E4A0B0F22F}">
      <dgm:prSet/>
      <dgm:spPr/>
      <dgm:t>
        <a:bodyPr/>
        <a:lstStyle/>
        <a:p>
          <a:endParaRPr lang="en-US"/>
        </a:p>
      </dgm:t>
    </dgm:pt>
    <dgm:pt modelId="{86699576-3A5C-4407-9A9E-BBB20F571E79}" type="pres">
      <dgm:prSet presAssocID="{0244EE87-A60C-4C68-9277-E532A1E5F250}" presName="root" presStyleCnt="0">
        <dgm:presLayoutVars>
          <dgm:dir/>
          <dgm:resizeHandles val="exact"/>
        </dgm:presLayoutVars>
      </dgm:prSet>
      <dgm:spPr/>
    </dgm:pt>
    <dgm:pt modelId="{CC75CE81-A3D6-4D16-9C1C-4D4E95127339}" type="pres">
      <dgm:prSet presAssocID="{4EFC961A-34BC-406A-8B8B-EA0B727C08A9}" presName="compNode" presStyleCnt="0"/>
      <dgm:spPr/>
    </dgm:pt>
    <dgm:pt modelId="{EC56E834-E339-4F9A-BCE2-E84182E85B4A}" type="pres">
      <dgm:prSet presAssocID="{4EFC961A-34BC-406A-8B8B-EA0B727C08A9}" presName="bgRect" presStyleLbl="bgShp" presStyleIdx="0" presStyleCnt="4"/>
      <dgm:spPr/>
    </dgm:pt>
    <dgm:pt modelId="{6E0E58BA-F4FE-4912-9D36-C600ABF37FDB}" type="pres">
      <dgm:prSet presAssocID="{4EFC961A-34BC-406A-8B8B-EA0B727C08A9}"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heckmark"/>
        </a:ext>
      </dgm:extLst>
    </dgm:pt>
    <dgm:pt modelId="{4011FF05-B30F-4C52-91D2-8FA7C88AB17A}" type="pres">
      <dgm:prSet presAssocID="{4EFC961A-34BC-406A-8B8B-EA0B727C08A9}" presName="spaceRect" presStyleCnt="0"/>
      <dgm:spPr/>
    </dgm:pt>
    <dgm:pt modelId="{44AE3E55-6F72-427E-914C-38E3B4F85883}" type="pres">
      <dgm:prSet presAssocID="{4EFC961A-34BC-406A-8B8B-EA0B727C08A9}" presName="parTx" presStyleLbl="revTx" presStyleIdx="0" presStyleCnt="4">
        <dgm:presLayoutVars>
          <dgm:chMax val="0"/>
          <dgm:chPref val="0"/>
        </dgm:presLayoutVars>
      </dgm:prSet>
      <dgm:spPr/>
    </dgm:pt>
    <dgm:pt modelId="{AAE518C8-6A99-461E-86CF-66518FDDF5D6}" type="pres">
      <dgm:prSet presAssocID="{5CAAB443-3652-478F-BBD4-612694E99ED7}" presName="sibTrans" presStyleCnt="0"/>
      <dgm:spPr/>
    </dgm:pt>
    <dgm:pt modelId="{86861E9A-664E-447C-8FA3-FB3025A751A4}" type="pres">
      <dgm:prSet presAssocID="{8D8E7709-5D55-4D6E-917A-0D5A09074F57}" presName="compNode" presStyleCnt="0"/>
      <dgm:spPr/>
    </dgm:pt>
    <dgm:pt modelId="{F1414288-C59D-4F28-81DB-4DB682190584}" type="pres">
      <dgm:prSet presAssocID="{8D8E7709-5D55-4D6E-917A-0D5A09074F57}" presName="bgRect" presStyleLbl="bgShp" presStyleIdx="1" presStyleCnt="4"/>
      <dgm:spPr/>
    </dgm:pt>
    <dgm:pt modelId="{D8112BAA-DB91-4A27-9848-0312F0504DB5}" type="pres">
      <dgm:prSet presAssocID="{8D8E7709-5D55-4D6E-917A-0D5A09074F57}"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pen Book"/>
        </a:ext>
      </dgm:extLst>
    </dgm:pt>
    <dgm:pt modelId="{58BFE9E7-6C31-4289-BD0E-EA8AE6EE2818}" type="pres">
      <dgm:prSet presAssocID="{8D8E7709-5D55-4D6E-917A-0D5A09074F57}" presName="spaceRect" presStyleCnt="0"/>
      <dgm:spPr/>
    </dgm:pt>
    <dgm:pt modelId="{E0138743-E28F-434D-B7BB-1E053E0A1BE6}" type="pres">
      <dgm:prSet presAssocID="{8D8E7709-5D55-4D6E-917A-0D5A09074F57}" presName="parTx" presStyleLbl="revTx" presStyleIdx="1" presStyleCnt="4">
        <dgm:presLayoutVars>
          <dgm:chMax val="0"/>
          <dgm:chPref val="0"/>
        </dgm:presLayoutVars>
      </dgm:prSet>
      <dgm:spPr/>
    </dgm:pt>
    <dgm:pt modelId="{F4916B35-26E2-4A91-9C0F-F9E4312A575E}" type="pres">
      <dgm:prSet presAssocID="{DF5CFCA3-312D-4DB2-8EE5-F5F890E40DC4}" presName="sibTrans" presStyleCnt="0"/>
      <dgm:spPr/>
    </dgm:pt>
    <dgm:pt modelId="{AE105336-8FC7-4A9D-8D9B-5DC3E0CF624B}" type="pres">
      <dgm:prSet presAssocID="{CE20DEBA-D060-4661-BDEA-4BB3BB71828D}" presName="compNode" presStyleCnt="0"/>
      <dgm:spPr/>
    </dgm:pt>
    <dgm:pt modelId="{1FAEA952-B36E-4E5B-B1C6-B7A93579D0AF}" type="pres">
      <dgm:prSet presAssocID="{CE20DEBA-D060-4661-BDEA-4BB3BB71828D}" presName="bgRect" presStyleLbl="bgShp" presStyleIdx="2" presStyleCnt="4"/>
      <dgm:spPr/>
    </dgm:pt>
    <dgm:pt modelId="{C15C7A58-62A1-4374-ACEB-0005DBF2B265}" type="pres">
      <dgm:prSet presAssocID="{CE20DEBA-D060-4661-BDEA-4BB3BB71828D}"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ooks"/>
        </a:ext>
      </dgm:extLst>
    </dgm:pt>
    <dgm:pt modelId="{756E8545-C83C-4852-9249-3AB03B1AB57E}" type="pres">
      <dgm:prSet presAssocID="{CE20DEBA-D060-4661-BDEA-4BB3BB71828D}" presName="spaceRect" presStyleCnt="0"/>
      <dgm:spPr/>
    </dgm:pt>
    <dgm:pt modelId="{E0CB1C8D-083C-4099-AAF5-A8BAD9DABFF0}" type="pres">
      <dgm:prSet presAssocID="{CE20DEBA-D060-4661-BDEA-4BB3BB71828D}" presName="parTx" presStyleLbl="revTx" presStyleIdx="2" presStyleCnt="4">
        <dgm:presLayoutVars>
          <dgm:chMax val="0"/>
          <dgm:chPref val="0"/>
        </dgm:presLayoutVars>
      </dgm:prSet>
      <dgm:spPr/>
    </dgm:pt>
    <dgm:pt modelId="{B5DFE543-CDC8-4C74-9AA0-69BD61674305}" type="pres">
      <dgm:prSet presAssocID="{0F780174-496E-4E59-92C4-159F5FF7523D}" presName="sibTrans" presStyleCnt="0"/>
      <dgm:spPr/>
    </dgm:pt>
    <dgm:pt modelId="{3B747EDE-F216-4792-BFB0-C867B2B8FC5D}" type="pres">
      <dgm:prSet presAssocID="{FF504705-4481-4E6C-B588-653D2FBD9CD0}" presName="compNode" presStyleCnt="0"/>
      <dgm:spPr/>
    </dgm:pt>
    <dgm:pt modelId="{57CC5DBB-579D-4A24-9951-69495145A21F}" type="pres">
      <dgm:prSet presAssocID="{FF504705-4481-4E6C-B588-653D2FBD9CD0}" presName="bgRect" presStyleLbl="bgShp" presStyleIdx="3" presStyleCnt="4"/>
      <dgm:spPr/>
    </dgm:pt>
    <dgm:pt modelId="{3C6E5D6F-B630-4A9D-9797-BD31C4D05AF6}" type="pres">
      <dgm:prSet presAssocID="{FF504705-4481-4E6C-B588-653D2FBD9CD0}"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061B3A5F-D80D-42A5-BCA0-7F9D152D4C9D}" type="pres">
      <dgm:prSet presAssocID="{FF504705-4481-4E6C-B588-653D2FBD9CD0}" presName="spaceRect" presStyleCnt="0"/>
      <dgm:spPr/>
    </dgm:pt>
    <dgm:pt modelId="{50D01887-23A1-422B-9B2E-2F043F07F887}" type="pres">
      <dgm:prSet presAssocID="{FF504705-4481-4E6C-B588-653D2FBD9CD0}" presName="parTx" presStyleLbl="revTx" presStyleIdx="3" presStyleCnt="4">
        <dgm:presLayoutVars>
          <dgm:chMax val="0"/>
          <dgm:chPref val="0"/>
        </dgm:presLayoutVars>
      </dgm:prSet>
      <dgm:spPr/>
    </dgm:pt>
  </dgm:ptLst>
  <dgm:cxnLst>
    <dgm:cxn modelId="{7AD5F82B-496C-4D44-B740-33FF6F527125}" type="presOf" srcId="{FF504705-4481-4E6C-B588-653D2FBD9CD0}" destId="{50D01887-23A1-422B-9B2E-2F043F07F887}" srcOrd="0" destOrd="0" presId="urn:microsoft.com/office/officeart/2018/2/layout/IconVerticalSolidList"/>
    <dgm:cxn modelId="{C429CF41-938A-4C57-9B9E-14E4A0B0F22F}" srcId="{0244EE87-A60C-4C68-9277-E532A1E5F250}" destId="{FF504705-4481-4E6C-B588-653D2FBD9CD0}" srcOrd="3" destOrd="0" parTransId="{D9FE06D8-D285-42F6-91F3-F6A004F86C17}" sibTransId="{1B3632CE-AA7C-429A-BA8C-4448ED0C5B75}"/>
    <dgm:cxn modelId="{441FDA68-9BA2-4958-AB54-5E853C1A804E}" srcId="{0244EE87-A60C-4C68-9277-E532A1E5F250}" destId="{CE20DEBA-D060-4661-BDEA-4BB3BB71828D}" srcOrd="2" destOrd="0" parTransId="{38D108CC-50A8-466C-81F1-7EBFBC181879}" sibTransId="{0F780174-496E-4E59-92C4-159F5FF7523D}"/>
    <dgm:cxn modelId="{51F94074-FB14-43E5-B6C1-4A4075584355}" srcId="{0244EE87-A60C-4C68-9277-E532A1E5F250}" destId="{8D8E7709-5D55-4D6E-917A-0D5A09074F57}" srcOrd="1" destOrd="0" parTransId="{BC1B822F-0C63-4587-A342-ABF6E33186AB}" sibTransId="{DF5CFCA3-312D-4DB2-8EE5-F5F890E40DC4}"/>
    <dgm:cxn modelId="{44018374-9147-4FA6-AAFC-6662A4AF9581}" type="presOf" srcId="{4EFC961A-34BC-406A-8B8B-EA0B727C08A9}" destId="{44AE3E55-6F72-427E-914C-38E3B4F85883}" srcOrd="0" destOrd="0" presId="urn:microsoft.com/office/officeart/2018/2/layout/IconVerticalSolidList"/>
    <dgm:cxn modelId="{A8009785-C76A-4339-92F7-CEE275A6F415}" srcId="{0244EE87-A60C-4C68-9277-E532A1E5F250}" destId="{4EFC961A-34BC-406A-8B8B-EA0B727C08A9}" srcOrd="0" destOrd="0" parTransId="{4C989027-3EFB-48F0-B71C-DD7C4C41F061}" sibTransId="{5CAAB443-3652-478F-BBD4-612694E99ED7}"/>
    <dgm:cxn modelId="{87EB9DAB-70FF-4109-A6A3-3F3EEDE842D5}" type="presOf" srcId="{8D8E7709-5D55-4D6E-917A-0D5A09074F57}" destId="{E0138743-E28F-434D-B7BB-1E053E0A1BE6}" srcOrd="0" destOrd="0" presId="urn:microsoft.com/office/officeart/2018/2/layout/IconVerticalSolidList"/>
    <dgm:cxn modelId="{383E0EC8-1FAA-432C-9A47-DB5E32BF5A04}" type="presOf" srcId="{0244EE87-A60C-4C68-9277-E532A1E5F250}" destId="{86699576-3A5C-4407-9A9E-BBB20F571E79}" srcOrd="0" destOrd="0" presId="urn:microsoft.com/office/officeart/2018/2/layout/IconVerticalSolidList"/>
    <dgm:cxn modelId="{B880EEE0-FF32-418E-A244-BD452053E5EC}" type="presOf" srcId="{CE20DEBA-D060-4661-BDEA-4BB3BB71828D}" destId="{E0CB1C8D-083C-4099-AAF5-A8BAD9DABFF0}" srcOrd="0" destOrd="0" presId="urn:microsoft.com/office/officeart/2018/2/layout/IconVerticalSolidList"/>
    <dgm:cxn modelId="{567D5507-66F2-4F81-93E9-DAE4F25BD8D7}" type="presParOf" srcId="{86699576-3A5C-4407-9A9E-BBB20F571E79}" destId="{CC75CE81-A3D6-4D16-9C1C-4D4E95127339}" srcOrd="0" destOrd="0" presId="urn:microsoft.com/office/officeart/2018/2/layout/IconVerticalSolidList"/>
    <dgm:cxn modelId="{E0201F28-C75D-40C3-9232-329C2373EB9B}" type="presParOf" srcId="{CC75CE81-A3D6-4D16-9C1C-4D4E95127339}" destId="{EC56E834-E339-4F9A-BCE2-E84182E85B4A}" srcOrd="0" destOrd="0" presId="urn:microsoft.com/office/officeart/2018/2/layout/IconVerticalSolidList"/>
    <dgm:cxn modelId="{1ECBCC5C-5A43-4A24-AA27-0365B4DFF259}" type="presParOf" srcId="{CC75CE81-A3D6-4D16-9C1C-4D4E95127339}" destId="{6E0E58BA-F4FE-4912-9D36-C600ABF37FDB}" srcOrd="1" destOrd="0" presId="urn:microsoft.com/office/officeart/2018/2/layout/IconVerticalSolidList"/>
    <dgm:cxn modelId="{C189DF63-0702-47E7-B167-C042BFD145FC}" type="presParOf" srcId="{CC75CE81-A3D6-4D16-9C1C-4D4E95127339}" destId="{4011FF05-B30F-4C52-91D2-8FA7C88AB17A}" srcOrd="2" destOrd="0" presId="urn:microsoft.com/office/officeart/2018/2/layout/IconVerticalSolidList"/>
    <dgm:cxn modelId="{4D6811B6-7620-4ECB-A373-8E0EB9BD8C90}" type="presParOf" srcId="{CC75CE81-A3D6-4D16-9C1C-4D4E95127339}" destId="{44AE3E55-6F72-427E-914C-38E3B4F85883}" srcOrd="3" destOrd="0" presId="urn:microsoft.com/office/officeart/2018/2/layout/IconVerticalSolidList"/>
    <dgm:cxn modelId="{94B6CC72-BC5F-4D77-BA6A-484CB0F048B0}" type="presParOf" srcId="{86699576-3A5C-4407-9A9E-BBB20F571E79}" destId="{AAE518C8-6A99-461E-86CF-66518FDDF5D6}" srcOrd="1" destOrd="0" presId="urn:microsoft.com/office/officeart/2018/2/layout/IconVerticalSolidList"/>
    <dgm:cxn modelId="{9F3288B5-235B-42E1-82B1-BF65E929FFE3}" type="presParOf" srcId="{86699576-3A5C-4407-9A9E-BBB20F571E79}" destId="{86861E9A-664E-447C-8FA3-FB3025A751A4}" srcOrd="2" destOrd="0" presId="urn:microsoft.com/office/officeart/2018/2/layout/IconVerticalSolidList"/>
    <dgm:cxn modelId="{B9C9BC35-78AE-4B1C-9762-532CD4BDB3C3}" type="presParOf" srcId="{86861E9A-664E-447C-8FA3-FB3025A751A4}" destId="{F1414288-C59D-4F28-81DB-4DB682190584}" srcOrd="0" destOrd="0" presId="urn:microsoft.com/office/officeart/2018/2/layout/IconVerticalSolidList"/>
    <dgm:cxn modelId="{BBFFA866-F4FF-409A-B72A-B7A3F4D53D17}" type="presParOf" srcId="{86861E9A-664E-447C-8FA3-FB3025A751A4}" destId="{D8112BAA-DB91-4A27-9848-0312F0504DB5}" srcOrd="1" destOrd="0" presId="urn:microsoft.com/office/officeart/2018/2/layout/IconVerticalSolidList"/>
    <dgm:cxn modelId="{F01E370C-C3B2-44B2-8003-ACE6F4FD8C5F}" type="presParOf" srcId="{86861E9A-664E-447C-8FA3-FB3025A751A4}" destId="{58BFE9E7-6C31-4289-BD0E-EA8AE6EE2818}" srcOrd="2" destOrd="0" presId="urn:microsoft.com/office/officeart/2018/2/layout/IconVerticalSolidList"/>
    <dgm:cxn modelId="{537AE144-17B8-4741-BB3A-41512627FEB4}" type="presParOf" srcId="{86861E9A-664E-447C-8FA3-FB3025A751A4}" destId="{E0138743-E28F-434D-B7BB-1E053E0A1BE6}" srcOrd="3" destOrd="0" presId="urn:microsoft.com/office/officeart/2018/2/layout/IconVerticalSolidList"/>
    <dgm:cxn modelId="{D7015B39-5A4B-4E33-ABF3-35D3CD9E81BE}" type="presParOf" srcId="{86699576-3A5C-4407-9A9E-BBB20F571E79}" destId="{F4916B35-26E2-4A91-9C0F-F9E4312A575E}" srcOrd="3" destOrd="0" presId="urn:microsoft.com/office/officeart/2018/2/layout/IconVerticalSolidList"/>
    <dgm:cxn modelId="{E645EE56-2CF0-4795-8334-B765552C8288}" type="presParOf" srcId="{86699576-3A5C-4407-9A9E-BBB20F571E79}" destId="{AE105336-8FC7-4A9D-8D9B-5DC3E0CF624B}" srcOrd="4" destOrd="0" presId="urn:microsoft.com/office/officeart/2018/2/layout/IconVerticalSolidList"/>
    <dgm:cxn modelId="{CC361051-7AFB-4286-B849-FC92025A0A0A}" type="presParOf" srcId="{AE105336-8FC7-4A9D-8D9B-5DC3E0CF624B}" destId="{1FAEA952-B36E-4E5B-B1C6-B7A93579D0AF}" srcOrd="0" destOrd="0" presId="urn:microsoft.com/office/officeart/2018/2/layout/IconVerticalSolidList"/>
    <dgm:cxn modelId="{5335BF53-CD69-4BA0-9B79-9A79D89B2607}" type="presParOf" srcId="{AE105336-8FC7-4A9D-8D9B-5DC3E0CF624B}" destId="{C15C7A58-62A1-4374-ACEB-0005DBF2B265}" srcOrd="1" destOrd="0" presId="urn:microsoft.com/office/officeart/2018/2/layout/IconVerticalSolidList"/>
    <dgm:cxn modelId="{C20CF4F8-7D48-42A9-BED0-1AA5E6D2162F}" type="presParOf" srcId="{AE105336-8FC7-4A9D-8D9B-5DC3E0CF624B}" destId="{756E8545-C83C-4852-9249-3AB03B1AB57E}" srcOrd="2" destOrd="0" presId="urn:microsoft.com/office/officeart/2018/2/layout/IconVerticalSolidList"/>
    <dgm:cxn modelId="{A545ED5C-2B2A-4559-9CAB-578FA447C644}" type="presParOf" srcId="{AE105336-8FC7-4A9D-8D9B-5DC3E0CF624B}" destId="{E0CB1C8D-083C-4099-AAF5-A8BAD9DABFF0}" srcOrd="3" destOrd="0" presId="urn:microsoft.com/office/officeart/2018/2/layout/IconVerticalSolidList"/>
    <dgm:cxn modelId="{4EC119C0-5C33-4C80-A09F-B8C3B8633D7F}" type="presParOf" srcId="{86699576-3A5C-4407-9A9E-BBB20F571E79}" destId="{B5DFE543-CDC8-4C74-9AA0-69BD61674305}" srcOrd="5" destOrd="0" presId="urn:microsoft.com/office/officeart/2018/2/layout/IconVerticalSolidList"/>
    <dgm:cxn modelId="{C38E9D2B-1C5C-4C3C-A4EB-519E3BB10D6B}" type="presParOf" srcId="{86699576-3A5C-4407-9A9E-BBB20F571E79}" destId="{3B747EDE-F216-4792-BFB0-C867B2B8FC5D}" srcOrd="6" destOrd="0" presId="urn:microsoft.com/office/officeart/2018/2/layout/IconVerticalSolidList"/>
    <dgm:cxn modelId="{5A372F77-3A70-48DA-AF0E-6D486EBB271C}" type="presParOf" srcId="{3B747EDE-F216-4792-BFB0-C867B2B8FC5D}" destId="{57CC5DBB-579D-4A24-9951-69495145A21F}" srcOrd="0" destOrd="0" presId="urn:microsoft.com/office/officeart/2018/2/layout/IconVerticalSolidList"/>
    <dgm:cxn modelId="{E11FE2A5-79A5-457B-9DFF-19DB419CDDD8}" type="presParOf" srcId="{3B747EDE-F216-4792-BFB0-C867B2B8FC5D}" destId="{3C6E5D6F-B630-4A9D-9797-BD31C4D05AF6}" srcOrd="1" destOrd="0" presId="urn:microsoft.com/office/officeart/2018/2/layout/IconVerticalSolidList"/>
    <dgm:cxn modelId="{95A6ACBA-004C-4FDC-8500-78404ACEEBC1}" type="presParOf" srcId="{3B747EDE-F216-4792-BFB0-C867B2B8FC5D}" destId="{061B3A5F-D80D-42A5-BCA0-7F9D152D4C9D}" srcOrd="2" destOrd="0" presId="urn:microsoft.com/office/officeart/2018/2/layout/IconVerticalSolidList"/>
    <dgm:cxn modelId="{0C4B0E65-00C1-471E-BD53-B23386C10C70}" type="presParOf" srcId="{3B747EDE-F216-4792-BFB0-C867B2B8FC5D}" destId="{50D01887-23A1-422B-9B2E-2F043F07F88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56E834-E339-4F9A-BCE2-E84182E85B4A}">
      <dsp:nvSpPr>
        <dsp:cNvPr id="0" name=""/>
        <dsp:cNvSpPr/>
      </dsp:nvSpPr>
      <dsp:spPr>
        <a:xfrm>
          <a:off x="0" y="2319"/>
          <a:ext cx="6245265"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0E58BA-F4FE-4912-9D36-C600ABF37FDB}">
      <dsp:nvSpPr>
        <dsp:cNvPr id="0" name=""/>
        <dsp:cNvSpPr/>
      </dsp:nvSpPr>
      <dsp:spPr>
        <a:xfrm>
          <a:off x="355657" y="266858"/>
          <a:ext cx="646650" cy="6466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4AE3E55-6F72-427E-914C-38E3B4F85883}">
      <dsp:nvSpPr>
        <dsp:cNvPr id="0" name=""/>
        <dsp:cNvSpPr/>
      </dsp:nvSpPr>
      <dsp:spPr>
        <a:xfrm>
          <a:off x="1357965" y="2319"/>
          <a:ext cx="4887299"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90000"/>
            </a:lnSpc>
            <a:spcBef>
              <a:spcPct val="0"/>
            </a:spcBef>
            <a:spcAft>
              <a:spcPct val="35000"/>
            </a:spcAft>
            <a:buNone/>
          </a:pPr>
          <a:r>
            <a:rPr lang="en-US" sz="2200" kern="1200"/>
            <a:t>Characteristic features of the Period</a:t>
          </a:r>
        </a:p>
      </dsp:txBody>
      <dsp:txXfrm>
        <a:off x="1357965" y="2319"/>
        <a:ext cx="4887299" cy="1175727"/>
      </dsp:txXfrm>
    </dsp:sp>
    <dsp:sp modelId="{F1414288-C59D-4F28-81DB-4DB682190584}">
      <dsp:nvSpPr>
        <dsp:cNvPr id="0" name=""/>
        <dsp:cNvSpPr/>
      </dsp:nvSpPr>
      <dsp:spPr>
        <a:xfrm>
          <a:off x="0" y="1471979"/>
          <a:ext cx="6245265"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112BAA-DB91-4A27-9848-0312F0504DB5}">
      <dsp:nvSpPr>
        <dsp:cNvPr id="0" name=""/>
        <dsp:cNvSpPr/>
      </dsp:nvSpPr>
      <dsp:spPr>
        <a:xfrm>
          <a:off x="355657" y="1736518"/>
          <a:ext cx="646650" cy="6466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0138743-E28F-434D-B7BB-1E053E0A1BE6}">
      <dsp:nvSpPr>
        <dsp:cNvPr id="0" name=""/>
        <dsp:cNvSpPr/>
      </dsp:nvSpPr>
      <dsp:spPr>
        <a:xfrm>
          <a:off x="1357965" y="1471979"/>
          <a:ext cx="4887299"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90000"/>
            </a:lnSpc>
            <a:spcBef>
              <a:spcPct val="0"/>
            </a:spcBef>
            <a:spcAft>
              <a:spcPct val="35000"/>
            </a:spcAft>
            <a:buNone/>
          </a:pPr>
          <a:r>
            <a:rPr lang="en-US" sz="2200" kern="1200"/>
            <a:t>The Basics of Christianity</a:t>
          </a:r>
        </a:p>
      </dsp:txBody>
      <dsp:txXfrm>
        <a:off x="1357965" y="1471979"/>
        <a:ext cx="4887299" cy="1175727"/>
      </dsp:txXfrm>
    </dsp:sp>
    <dsp:sp modelId="{1FAEA952-B36E-4E5B-B1C6-B7A93579D0AF}">
      <dsp:nvSpPr>
        <dsp:cNvPr id="0" name=""/>
        <dsp:cNvSpPr/>
      </dsp:nvSpPr>
      <dsp:spPr>
        <a:xfrm>
          <a:off x="0" y="2941639"/>
          <a:ext cx="6245265"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5C7A58-62A1-4374-ACEB-0005DBF2B265}">
      <dsp:nvSpPr>
        <dsp:cNvPr id="0" name=""/>
        <dsp:cNvSpPr/>
      </dsp:nvSpPr>
      <dsp:spPr>
        <a:xfrm>
          <a:off x="355657" y="3206178"/>
          <a:ext cx="646650" cy="6466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0CB1C8D-083C-4099-AAF5-A8BAD9DABFF0}">
      <dsp:nvSpPr>
        <dsp:cNvPr id="0" name=""/>
        <dsp:cNvSpPr/>
      </dsp:nvSpPr>
      <dsp:spPr>
        <a:xfrm>
          <a:off x="1357965" y="2941639"/>
          <a:ext cx="4887299"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90000"/>
            </a:lnSpc>
            <a:spcBef>
              <a:spcPct val="0"/>
            </a:spcBef>
            <a:spcAft>
              <a:spcPct val="35000"/>
            </a:spcAft>
            <a:buNone/>
          </a:pPr>
          <a:r>
            <a:rPr lang="en-US" sz="2200" kern="1200"/>
            <a:t>Western Philosophical Schools and Traditions of Medieval Period</a:t>
          </a:r>
        </a:p>
      </dsp:txBody>
      <dsp:txXfrm>
        <a:off x="1357965" y="2941639"/>
        <a:ext cx="4887299" cy="1175727"/>
      </dsp:txXfrm>
    </dsp:sp>
    <dsp:sp modelId="{57CC5DBB-579D-4A24-9951-69495145A21F}">
      <dsp:nvSpPr>
        <dsp:cNvPr id="0" name=""/>
        <dsp:cNvSpPr/>
      </dsp:nvSpPr>
      <dsp:spPr>
        <a:xfrm>
          <a:off x="0" y="4411299"/>
          <a:ext cx="6245265"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6E5D6F-B630-4A9D-9797-BD31C4D05AF6}">
      <dsp:nvSpPr>
        <dsp:cNvPr id="0" name=""/>
        <dsp:cNvSpPr/>
      </dsp:nvSpPr>
      <dsp:spPr>
        <a:xfrm>
          <a:off x="355657" y="4675838"/>
          <a:ext cx="646650" cy="6466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0D01887-23A1-422B-9B2E-2F043F07F887}">
      <dsp:nvSpPr>
        <dsp:cNvPr id="0" name=""/>
        <dsp:cNvSpPr/>
      </dsp:nvSpPr>
      <dsp:spPr>
        <a:xfrm>
          <a:off x="1357965" y="4411299"/>
          <a:ext cx="4887299"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90000"/>
            </a:lnSpc>
            <a:spcBef>
              <a:spcPct val="0"/>
            </a:spcBef>
            <a:spcAft>
              <a:spcPct val="35000"/>
            </a:spcAft>
            <a:buNone/>
          </a:pPr>
          <a:r>
            <a:rPr lang="en-US" sz="2200" kern="1200"/>
            <a:t>Scholars on Theology and Philosophy</a:t>
          </a:r>
        </a:p>
      </dsp:txBody>
      <dsp:txXfrm>
        <a:off x="1357965" y="4411299"/>
        <a:ext cx="4887299" cy="117572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28954A-FBB2-43C7-8806-7A812F3BF0FA}" type="datetimeFigureOut">
              <a:rPr lang="en-US" smtClean="0"/>
              <a:t>9/27/26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44FF98-851E-4F68-A380-6925F93535FB}" type="slidenum">
              <a:rPr lang="en-US" smtClean="0"/>
              <a:t>‹#›</a:t>
            </a:fld>
            <a:endParaRPr lang="en-US"/>
          </a:p>
        </p:txBody>
      </p:sp>
    </p:spTree>
    <p:extLst>
      <p:ext uri="{BB962C8B-B14F-4D97-AF65-F5344CB8AC3E}">
        <p14:creationId xmlns:p14="http://schemas.microsoft.com/office/powerpoint/2010/main" val="3921440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46F19FD-FD57-4947-9D55-2498B7FB19E0}" type="datetimeFigureOut">
              <a:rPr lang="en-US" smtClean="0"/>
              <a:t>9/27/26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13089719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6F19FD-FD57-4947-9D55-2498B7FB19E0}" type="datetimeFigureOut">
              <a:rPr lang="en-US" smtClean="0"/>
              <a:t>9/27/26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497855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46F19FD-FD57-4947-9D55-2498B7FB19E0}" type="datetimeFigureOut">
              <a:rPr lang="en-US" smtClean="0"/>
              <a:t>9/27/26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2657384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46F19FD-FD57-4947-9D55-2498B7FB19E0}" type="datetimeFigureOut">
              <a:rPr lang="en-US" smtClean="0"/>
              <a:t>9/27/26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1852564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46F19FD-FD57-4947-9D55-2498B7FB19E0}" type="datetimeFigureOut">
              <a:rPr lang="en-US" smtClean="0"/>
              <a:t>9/27/26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2129256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46F19FD-FD57-4947-9D55-2498B7FB19E0}" type="datetimeFigureOut">
              <a:rPr lang="en-US" smtClean="0"/>
              <a:t>9/27/26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1494300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6F19FD-FD57-4947-9D55-2498B7FB19E0}" type="datetimeFigureOut">
              <a:rPr lang="en-US" smtClean="0"/>
              <a:t>9/27/26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2379942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46F19FD-FD57-4947-9D55-2498B7FB19E0}" type="datetimeFigureOut">
              <a:rPr lang="en-US" smtClean="0"/>
              <a:t>9/27/26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39159059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46F19FD-FD57-4947-9D55-2498B7FB19E0}" type="datetimeFigureOut">
              <a:rPr lang="en-US" smtClean="0"/>
              <a:t>9/27/26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2639604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6F19FD-FD57-4947-9D55-2498B7FB19E0}" type="datetimeFigureOut">
              <a:rPr lang="en-US" smtClean="0"/>
              <a:t>9/27/26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1394022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6F19FD-FD57-4947-9D55-2498B7FB19E0}" type="datetimeFigureOut">
              <a:rPr lang="en-US" smtClean="0"/>
              <a:t>9/27/26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2219518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6F19FD-FD57-4947-9D55-2498B7FB19E0}" type="datetimeFigureOut">
              <a:rPr lang="en-US" smtClean="0"/>
              <a:t>9/27/26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F564EE-5F94-48BF-8E5E-F78E102D61BC}" type="slidenum">
              <a:rPr lang="en-US" smtClean="0"/>
              <a:t>‹#›</a:t>
            </a:fld>
            <a:endParaRPr lang="en-US"/>
          </a:p>
        </p:txBody>
      </p:sp>
    </p:spTree>
    <p:extLst>
      <p:ext uri="{BB962C8B-B14F-4D97-AF65-F5344CB8AC3E}">
        <p14:creationId xmlns:p14="http://schemas.microsoft.com/office/powerpoint/2010/main" val="2344534532"/>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706029"/>
          </a:xfrm>
        </p:spPr>
        <p:txBody>
          <a:bodyPr>
            <a:noAutofit/>
          </a:bodyPr>
          <a:lstStyle/>
          <a:p>
            <a:pPr algn="ctr"/>
            <a:r>
              <a:rPr lang="en-US" sz="2400" b="1" dirty="0" err="1">
                <a:cs typeface="Arial" pitchFamily="34" charset="0"/>
              </a:rPr>
              <a:t>Inha</a:t>
            </a:r>
            <a:r>
              <a:rPr lang="en-US" sz="2400" b="1" dirty="0">
                <a:cs typeface="Arial" pitchFamily="34" charset="0"/>
              </a:rPr>
              <a:t> University in Tashkent</a:t>
            </a:r>
            <a:endParaRPr lang="ru-RU" sz="2400" b="1" dirty="0">
              <a:cs typeface="Arial" pitchFamily="34" charset="0"/>
            </a:endParaRPr>
          </a:p>
        </p:txBody>
      </p:sp>
      <p:sp>
        <p:nvSpPr>
          <p:cNvPr id="3" name="Content Placeholder 2"/>
          <p:cNvSpPr>
            <a:spLocks noGrp="1"/>
          </p:cNvSpPr>
          <p:nvPr>
            <p:ph idx="1"/>
          </p:nvPr>
        </p:nvSpPr>
        <p:spPr>
          <a:xfrm>
            <a:off x="838200" y="3004457"/>
            <a:ext cx="10515600" cy="3172506"/>
          </a:xfrm>
        </p:spPr>
        <p:txBody>
          <a:bodyPr/>
          <a:lstStyle/>
          <a:p>
            <a:pPr marL="0" indent="0" algn="ctr">
              <a:buNone/>
            </a:pPr>
            <a:r>
              <a:rPr lang="en-US" b="1" i="1" dirty="0">
                <a:latin typeface="+mj-lt"/>
              </a:rPr>
              <a:t>Theme 5: </a:t>
            </a:r>
            <a:r>
              <a:rPr lang="en-US" b="1" dirty="0"/>
              <a:t>Western Philosophy in Middle Ages</a:t>
            </a:r>
            <a:endParaRPr lang="en-US" dirty="0"/>
          </a:p>
        </p:txBody>
      </p:sp>
      <p:sp>
        <p:nvSpPr>
          <p:cNvPr id="4" name="Объект 2"/>
          <p:cNvSpPr txBox="1">
            <a:spLocks/>
          </p:cNvSpPr>
          <p:nvPr/>
        </p:nvSpPr>
        <p:spPr>
          <a:xfrm>
            <a:off x="838200" y="5029200"/>
            <a:ext cx="10683240" cy="937260"/>
          </a:xfrm>
          <a:prstGeom prst="rect">
            <a:avLst/>
          </a:prstGeom>
        </p:spPr>
        <p:txBody>
          <a:bodyPr anchor="ctr">
            <a:noAutofit/>
          </a:bodyPr>
          <a:lstStyle>
            <a:lvl1pPr marL="292100" indent="-292100" algn="l" rtl="0" eaLnBrk="1" latinLnBrk="0" hangingPunct="1">
              <a:spcBef>
                <a:spcPts val="0"/>
              </a:spcBef>
              <a:buClr>
                <a:schemeClr val="accent1"/>
              </a:buClr>
              <a:buSzPct val="70000"/>
              <a:buFont typeface="Wingdings 2"/>
              <a:buChar char=""/>
              <a:defRPr kumimoji="0" sz="3200" kern="1200">
                <a:solidFill>
                  <a:schemeClr val="tx1"/>
                </a:solidFill>
                <a:latin typeface="+mn-lt"/>
                <a:ea typeface="+mn-ea"/>
                <a:cs typeface="+mn-cs"/>
              </a:defRPr>
            </a:lvl1pPr>
            <a:lvl2pPr marL="640080" indent="-228600" algn="l" rtl="0" eaLnBrk="1" latinLnBrk="0" hangingPunct="1">
              <a:spcBef>
                <a:spcPts val="400"/>
              </a:spcBef>
              <a:buClr>
                <a:schemeClr val="accent2"/>
              </a:buClr>
              <a:buSzPct val="90000"/>
              <a:buFontTx/>
              <a:buChar char="•"/>
              <a:defRPr kumimoji="0" sz="2600" kern="1200">
                <a:solidFill>
                  <a:schemeClr val="tx1"/>
                </a:solidFill>
                <a:latin typeface="+mn-lt"/>
                <a:ea typeface="+mn-ea"/>
                <a:cs typeface="+mn-cs"/>
              </a:defRPr>
            </a:lvl2pPr>
            <a:lvl3pPr marL="822960" indent="-192024" algn="l" rtl="0" eaLnBrk="1" latinLnBrk="0" hangingPunct="1">
              <a:spcBef>
                <a:spcPts val="400"/>
              </a:spcBef>
              <a:buClr>
                <a:schemeClr val="accent3"/>
              </a:buClr>
              <a:buSzPct val="100000"/>
              <a:buFont typeface="Wingdings 2"/>
              <a:buChar char=""/>
              <a:defRPr kumimoji="0" sz="2300" kern="1200">
                <a:solidFill>
                  <a:schemeClr val="tx1"/>
                </a:solidFill>
                <a:latin typeface="+mn-lt"/>
                <a:ea typeface="+mn-ea"/>
                <a:cs typeface="+mn-cs"/>
              </a:defRPr>
            </a:lvl3pPr>
            <a:lvl4pPr marL="1005840" indent="-182880" algn="l" rtl="0" eaLnBrk="1" latinLnBrk="0" hangingPunct="1">
              <a:spcBef>
                <a:spcPts val="400"/>
              </a:spcBef>
              <a:buClr>
                <a:schemeClr val="accent3"/>
              </a:buClr>
              <a:buSzPct val="100000"/>
              <a:buFont typeface="Wingdings 2"/>
              <a:buChar char=""/>
              <a:defRPr kumimoji="0" sz="2000" kern="1200">
                <a:solidFill>
                  <a:schemeClr val="tx1"/>
                </a:solidFill>
                <a:latin typeface="+mn-lt"/>
                <a:ea typeface="+mn-ea"/>
                <a:cs typeface="+mn-cs"/>
              </a:defRPr>
            </a:lvl4pPr>
            <a:lvl5pPr marL="1188720" indent="-182880" algn="l" rtl="0" eaLnBrk="1" latinLnBrk="0" hangingPunct="1">
              <a:spcBef>
                <a:spcPts val="400"/>
              </a:spcBef>
              <a:buClr>
                <a:schemeClr val="accent3"/>
              </a:buClr>
              <a:buSzPct val="100000"/>
              <a:buFont typeface="Wingdings 2"/>
              <a:buChar char=""/>
              <a:defRPr kumimoji="0" sz="1900" kern="1200">
                <a:solidFill>
                  <a:schemeClr val="tx1"/>
                </a:solidFill>
                <a:latin typeface="+mn-lt"/>
                <a:ea typeface="+mn-ea"/>
                <a:cs typeface="+mn-cs"/>
              </a:defRPr>
            </a:lvl5pPr>
            <a:lvl6pPr marL="1371600" indent="-173736" algn="l" rtl="0" eaLnBrk="1" latinLnBrk="0" hangingPunct="1">
              <a:spcBef>
                <a:spcPts val="400"/>
              </a:spcBef>
              <a:buClr>
                <a:schemeClr val="accent4"/>
              </a:buClr>
              <a:buFont typeface="Wingdings 2"/>
              <a:buChar char=""/>
              <a:defRPr kumimoji="0" sz="1800" kern="1200" baseline="0">
                <a:solidFill>
                  <a:schemeClr val="tx1"/>
                </a:solidFill>
                <a:latin typeface="+mn-lt"/>
                <a:ea typeface="+mn-ea"/>
                <a:cs typeface="+mn-cs"/>
              </a:defRPr>
            </a:lvl6pPr>
            <a:lvl7pPr marL="155448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7pPr>
            <a:lvl8pPr marL="173736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8pPr>
            <a:lvl9pPr marL="192024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9pPr>
            <a:extLst/>
          </a:lstStyle>
          <a:p>
            <a:pPr marL="0" indent="0">
              <a:buNone/>
            </a:pPr>
            <a:endParaRPr lang="en-US" sz="1200" dirty="0"/>
          </a:p>
          <a:p>
            <a:pPr marL="0" indent="0">
              <a:buNone/>
            </a:pPr>
            <a:endParaRPr lang="en-US" sz="1200" dirty="0"/>
          </a:p>
          <a:p>
            <a:pPr marL="0" indent="0">
              <a:buNone/>
            </a:pPr>
            <a:endParaRPr lang="ru-RU" sz="1200" dirty="0"/>
          </a:p>
        </p:txBody>
      </p:sp>
    </p:spTree>
    <p:extLst>
      <p:ext uri="{BB962C8B-B14F-4D97-AF65-F5344CB8AC3E}">
        <p14:creationId xmlns:p14="http://schemas.microsoft.com/office/powerpoint/2010/main" val="494772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p:cNvSpPr>
            <a:spLocks noGrp="1"/>
          </p:cNvSpPr>
          <p:nvPr>
            <p:ph type="title"/>
          </p:nvPr>
        </p:nvSpPr>
        <p:spPr>
          <a:xfrm>
            <a:off x="479394" y="1070800"/>
            <a:ext cx="3939688" cy="5583126"/>
          </a:xfrm>
        </p:spPr>
        <p:txBody>
          <a:bodyPr>
            <a:normAutofit/>
          </a:bodyPr>
          <a:lstStyle/>
          <a:p>
            <a:pPr algn="r"/>
            <a:r>
              <a:rPr lang="en-US" sz="8000" b="1"/>
              <a:t>Outline:</a:t>
            </a:r>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339C3BCB-C65F-85A2-7033-130275248554}"/>
              </a:ext>
            </a:extLst>
          </p:cNvPr>
          <p:cNvGraphicFramePr>
            <a:graphicFrameLocks noGrp="1"/>
          </p:cNvGraphicFramePr>
          <p:nvPr>
            <p:ph idx="1"/>
            <p:extLst>
              <p:ext uri="{D42A27DB-BD31-4B8C-83A1-F6EECF244321}">
                <p14:modId xmlns:p14="http://schemas.microsoft.com/office/powerpoint/2010/main" val="4144991119"/>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917612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9528"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245072" y="1289765"/>
            <a:ext cx="3651101" cy="4270963"/>
          </a:xfrm>
        </p:spPr>
        <p:txBody>
          <a:bodyPr anchor="ctr">
            <a:normAutofit/>
          </a:bodyPr>
          <a:lstStyle/>
          <a:p>
            <a:pPr algn="ctr"/>
            <a:r>
              <a:rPr lang="en-US" sz="4000" b="1" dirty="0">
                <a:solidFill>
                  <a:srgbClr val="FFFFFF"/>
                </a:solidFill>
              </a:rPr>
              <a:t>Characteristic feature of the Period</a:t>
            </a:r>
            <a:br>
              <a:rPr lang="en-US" sz="4000" dirty="0">
                <a:solidFill>
                  <a:srgbClr val="FFFFFF"/>
                </a:solidFill>
              </a:rPr>
            </a:br>
            <a:endParaRPr lang="en-US" sz="4000" b="1" dirty="0">
              <a:solidFill>
                <a:srgbClr val="FFFFFF"/>
              </a:solidFill>
            </a:endParaRPr>
          </a:p>
        </p:txBody>
      </p:sp>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493" y="374394"/>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109" y="1084507"/>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3" name="Content Placeholder 2"/>
          <p:cNvSpPr>
            <a:spLocks noGrp="1"/>
          </p:cNvSpPr>
          <p:nvPr>
            <p:ph idx="1"/>
          </p:nvPr>
        </p:nvSpPr>
        <p:spPr>
          <a:xfrm>
            <a:off x="6297233" y="518400"/>
            <a:ext cx="4771607" cy="5837949"/>
          </a:xfrm>
        </p:spPr>
        <p:txBody>
          <a:bodyPr anchor="ctr">
            <a:normAutofit/>
          </a:bodyPr>
          <a:lstStyle/>
          <a:p>
            <a:pPr>
              <a:buFont typeface="Wingdings" panose="05000000000000000000" pitchFamily="2" charset="2"/>
              <a:buChar char="Ø"/>
            </a:pPr>
            <a:r>
              <a:rPr lang="en-US" sz="2000">
                <a:solidFill>
                  <a:schemeClr val="tx1">
                    <a:alpha val="80000"/>
                  </a:schemeClr>
                </a:solidFill>
              </a:rPr>
              <a:t>Medieval period in Europe begins from the fifth century AD and lasts till the 15</a:t>
            </a:r>
            <a:r>
              <a:rPr lang="en-US" sz="2000" baseline="30000">
                <a:solidFill>
                  <a:schemeClr val="tx1">
                    <a:alpha val="80000"/>
                  </a:schemeClr>
                </a:solidFill>
              </a:rPr>
              <a:t>th</a:t>
            </a:r>
            <a:r>
              <a:rPr lang="en-US" sz="2000">
                <a:solidFill>
                  <a:schemeClr val="tx1">
                    <a:alpha val="80000"/>
                  </a:schemeClr>
                </a:solidFill>
              </a:rPr>
              <a:t> century. </a:t>
            </a:r>
          </a:p>
          <a:p>
            <a:pPr>
              <a:buFont typeface="Wingdings" panose="05000000000000000000" pitchFamily="2" charset="2"/>
              <a:buChar char="Ø"/>
            </a:pPr>
            <a:r>
              <a:rPr lang="en-US" sz="2000">
                <a:solidFill>
                  <a:schemeClr val="tx1">
                    <a:alpha val="80000"/>
                  </a:schemeClr>
                </a:solidFill>
              </a:rPr>
              <a:t>One of the significant characteristics of the period was the religious impact on all aspects of human life. </a:t>
            </a:r>
          </a:p>
          <a:p>
            <a:pPr>
              <a:buFont typeface="Wingdings" panose="05000000000000000000" pitchFamily="2" charset="2"/>
              <a:buChar char="Ø"/>
            </a:pPr>
            <a:r>
              <a:rPr lang="en-US" sz="2000">
                <a:solidFill>
                  <a:schemeClr val="tx1">
                    <a:alpha val="80000"/>
                  </a:schemeClr>
                </a:solidFill>
              </a:rPr>
              <a:t>Firstly, </a:t>
            </a:r>
            <a:r>
              <a:rPr lang="uz-Cyrl-UZ" sz="2000">
                <a:solidFill>
                  <a:schemeClr val="tx1">
                    <a:alpha val="80000"/>
                  </a:schemeClr>
                </a:solidFill>
              </a:rPr>
              <a:t>Christianity</a:t>
            </a:r>
            <a:r>
              <a:rPr lang="en-US" sz="2000">
                <a:solidFill>
                  <a:schemeClr val="tx1">
                    <a:alpha val="80000"/>
                  </a:schemeClr>
                </a:solidFill>
              </a:rPr>
              <a:t> was formed and developed as a </a:t>
            </a:r>
            <a:r>
              <a:rPr lang="uz-Cyrl-UZ" sz="2000">
                <a:solidFill>
                  <a:schemeClr val="tx1">
                    <a:alpha val="80000"/>
                  </a:schemeClr>
                </a:solidFill>
              </a:rPr>
              <a:t>state religion and ideology. </a:t>
            </a:r>
            <a:r>
              <a:rPr lang="en-US" sz="2000">
                <a:solidFill>
                  <a:schemeClr val="tx1">
                    <a:alpha val="80000"/>
                  </a:schemeClr>
                </a:solidFill>
              </a:rPr>
              <a:t>Secondly, t</a:t>
            </a:r>
            <a:r>
              <a:rPr lang="uz-Cyrl-UZ" sz="2000">
                <a:solidFill>
                  <a:schemeClr val="tx1">
                    <a:alpha val="80000"/>
                  </a:schemeClr>
                </a:solidFill>
              </a:rPr>
              <a:t>he Inquisition has become a priority. </a:t>
            </a:r>
            <a:endParaRPr lang="en-US" sz="2000">
              <a:solidFill>
                <a:schemeClr val="tx1">
                  <a:alpha val="80000"/>
                </a:schemeClr>
              </a:solidFill>
            </a:endParaRPr>
          </a:p>
          <a:p>
            <a:pPr>
              <a:buFont typeface="Wingdings" panose="05000000000000000000" pitchFamily="2" charset="2"/>
              <a:buChar char="Ø"/>
            </a:pPr>
            <a:r>
              <a:rPr lang="en-US" sz="2000">
                <a:solidFill>
                  <a:schemeClr val="tx1">
                    <a:alpha val="80000"/>
                  </a:schemeClr>
                </a:solidFill>
              </a:rPr>
              <a:t>Inquisition is the institution of the Roman Catholic Church for the search and punishment of heretics and other enemies of the Catholic Church. Although this organization was created in the early 13th century to combat heresy in France, its origins should be seen in earlier medieval church actions directed against heretics.</a:t>
            </a:r>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547" y="5751820"/>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18"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9911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94842B0-684D-44CC-B4BC-D13331CFD2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0080" y="329184"/>
            <a:ext cx="6894576" cy="1783080"/>
          </a:xfrm>
        </p:spPr>
        <p:txBody>
          <a:bodyPr vert="horz" lIns="91440" tIns="45720" rIns="91440" bIns="45720" rtlCol="0" anchor="b">
            <a:normAutofit/>
          </a:bodyPr>
          <a:lstStyle/>
          <a:p>
            <a:r>
              <a:rPr lang="en-US" sz="6100" b="1" kern="1200">
                <a:solidFill>
                  <a:schemeClr val="tx1"/>
                </a:solidFill>
                <a:latin typeface="+mj-lt"/>
                <a:ea typeface="+mj-ea"/>
                <a:cs typeface="+mj-cs"/>
              </a:rPr>
              <a:t>The Basics of Christianity</a:t>
            </a:r>
            <a:endParaRPr lang="en-US" sz="6100" kern="1200">
              <a:solidFill>
                <a:schemeClr val="tx1"/>
              </a:solidFill>
              <a:latin typeface="+mj-lt"/>
              <a:ea typeface="+mj-ea"/>
              <a:cs typeface="+mj-cs"/>
            </a:endParaRPr>
          </a:p>
        </p:txBody>
      </p:sp>
      <p:sp>
        <p:nvSpPr>
          <p:cNvPr id="13" name="sketch line">
            <a:extLst>
              <a:ext uri="{FF2B5EF4-FFF2-40B4-BE49-F238E27FC236}">
                <a16:creationId xmlns:a16="http://schemas.microsoft.com/office/drawing/2014/main" id="{4C2A3DC3-F495-4B99-9FF3-3FB30D632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half" idx="1"/>
          </p:nvPr>
        </p:nvSpPr>
        <p:spPr>
          <a:xfrm>
            <a:off x="640080" y="2706624"/>
            <a:ext cx="6894576" cy="3483864"/>
          </a:xfrm>
        </p:spPr>
        <p:txBody>
          <a:bodyPr vert="horz" lIns="91440" tIns="45720" rIns="91440" bIns="45720" rtlCol="0">
            <a:normAutofit/>
          </a:bodyPr>
          <a:lstStyle/>
          <a:p>
            <a:r>
              <a:rPr lang="en-US" sz="1500" dirty="0"/>
              <a:t>Christianity (from the Greek Christos - literally: the anointed one) - is one of the world religions, named for its founder Jesus Christ.</a:t>
            </a:r>
          </a:p>
          <a:p>
            <a:r>
              <a:rPr lang="en-US" sz="1500" dirty="0"/>
              <a:t>Jesus Christ:</a:t>
            </a:r>
          </a:p>
          <a:p>
            <a:pPr>
              <a:buFont typeface="Wingdings" pitchFamily="2" charset="2"/>
              <a:buChar char="ü"/>
            </a:pPr>
            <a:r>
              <a:rPr lang="en-US" sz="1500" dirty="0"/>
              <a:t>God-man who descended from heaven to earth </a:t>
            </a:r>
          </a:p>
          <a:p>
            <a:pPr>
              <a:buFont typeface="Wingdings" pitchFamily="2" charset="2"/>
              <a:buChar char="ü"/>
            </a:pPr>
            <a:r>
              <a:rPr lang="en-US" sz="1500" dirty="0"/>
              <a:t>accepted suffering and death for the salvation of people</a:t>
            </a:r>
          </a:p>
          <a:p>
            <a:pPr>
              <a:buFont typeface="Wingdings" pitchFamily="2" charset="2"/>
              <a:buChar char="ü"/>
            </a:pPr>
            <a:r>
              <a:rPr lang="en-US" sz="1500" dirty="0"/>
              <a:t>then arose and ascended into heaven. </a:t>
            </a:r>
          </a:p>
          <a:p>
            <a:r>
              <a:rPr lang="en-US" sz="1500" dirty="0"/>
              <a:t>Christianity arose in the early 1st century, and in the 4th century became the dominant religion of the Roman Empire. </a:t>
            </a:r>
          </a:p>
          <a:p>
            <a:r>
              <a:rPr lang="en-US" sz="1500" dirty="0"/>
              <a:t>It has three main branches: Catholicism, Eastern Orthodox and Protestantism. </a:t>
            </a:r>
          </a:p>
          <a:p>
            <a:r>
              <a:rPr lang="en-US" sz="1500" dirty="0"/>
              <a:t>A common feature that unites Christian belief and sects is faith in Jesus Christ as a God-man, the savior of the world. The main source of the religion is Bible, especially the New Testament.</a:t>
            </a:r>
          </a:p>
          <a:p>
            <a:endParaRPr lang="en-US" sz="1500" dirty="0"/>
          </a:p>
        </p:txBody>
      </p:sp>
      <p:pic>
        <p:nvPicPr>
          <p:cNvPr id="5" name="Content Placeholder 4"/>
          <p:cNvPicPr>
            <a:picLocks noGrp="1" noChangeAspect="1"/>
          </p:cNvPicPr>
          <p:nvPr>
            <p:ph sz="half" idx="2"/>
          </p:nvPr>
        </p:nvPicPr>
        <p:blipFill>
          <a:blip r:embed="rId2" cstate="print">
            <a:extLst>
              <a:ext uri="{28A0092B-C50C-407E-A947-70E740481C1C}">
                <a14:useLocalDpi xmlns:a14="http://schemas.microsoft.com/office/drawing/2010/main" val="0"/>
              </a:ext>
            </a:extLst>
          </a:blip>
          <a:srcRect t="861" r="1" b="21737"/>
          <a:stretch/>
        </p:blipFill>
        <p:spPr>
          <a:xfrm>
            <a:off x="8156454" y="-7"/>
            <a:ext cx="4035547" cy="4178808"/>
          </a:xfrm>
          <a:custGeom>
            <a:avLst/>
            <a:gdLst/>
            <a:ahLst/>
            <a:cxnLst/>
            <a:rect l="l" t="t" r="r" b="b"/>
            <a:pathLst>
              <a:path w="4035547" h="4178808">
                <a:moveTo>
                  <a:pt x="14988" y="0"/>
                </a:moveTo>
                <a:lnTo>
                  <a:pt x="4035547" y="0"/>
                </a:lnTo>
                <a:lnTo>
                  <a:pt x="4035547" y="4161794"/>
                </a:lnTo>
                <a:lnTo>
                  <a:pt x="3918602" y="4164199"/>
                </a:lnTo>
                <a:cubicBezTo>
                  <a:pt x="3673497" y="4178956"/>
                  <a:pt x="3428120" y="4172295"/>
                  <a:pt x="3183014" y="4175560"/>
                </a:cubicBezTo>
                <a:cubicBezTo>
                  <a:pt x="2855121" y="4180001"/>
                  <a:pt x="2527499" y="4168639"/>
                  <a:pt x="2199742" y="4167595"/>
                </a:cubicBezTo>
                <a:cubicBezTo>
                  <a:pt x="2132562" y="4167334"/>
                  <a:pt x="2065110" y="4170729"/>
                  <a:pt x="1998202" y="4175952"/>
                </a:cubicBezTo>
                <a:cubicBezTo>
                  <a:pt x="1905507" y="4183005"/>
                  <a:pt x="1814033" y="4174124"/>
                  <a:pt x="1722153" y="4165766"/>
                </a:cubicBezTo>
                <a:cubicBezTo>
                  <a:pt x="1611407" y="4155711"/>
                  <a:pt x="1500933" y="4164591"/>
                  <a:pt x="1390867" y="4176214"/>
                </a:cubicBezTo>
                <a:lnTo>
                  <a:pt x="1348076" y="4178808"/>
                </a:lnTo>
                <a:lnTo>
                  <a:pt x="597587" y="4178808"/>
                </a:lnTo>
                <a:lnTo>
                  <a:pt x="507890" y="4175773"/>
                </a:lnTo>
                <a:cubicBezTo>
                  <a:pt x="403218" y="4174810"/>
                  <a:pt x="298546" y="4175691"/>
                  <a:pt x="193840" y="4176214"/>
                </a:cubicBezTo>
                <a:lnTo>
                  <a:pt x="2757" y="4175742"/>
                </a:lnTo>
                <a:lnTo>
                  <a:pt x="2810" y="4034870"/>
                </a:lnTo>
                <a:cubicBezTo>
                  <a:pt x="5629" y="3979851"/>
                  <a:pt x="10539" y="3924896"/>
                  <a:pt x="15416" y="3870068"/>
                </a:cubicBezTo>
                <a:cubicBezTo>
                  <a:pt x="23018" y="3799731"/>
                  <a:pt x="25045" y="3728899"/>
                  <a:pt x="21498" y="3658244"/>
                </a:cubicBezTo>
                <a:cubicBezTo>
                  <a:pt x="17063" y="3602147"/>
                  <a:pt x="10095" y="3546050"/>
                  <a:pt x="8828" y="3489953"/>
                </a:cubicBezTo>
                <a:cubicBezTo>
                  <a:pt x="6548" y="3389688"/>
                  <a:pt x="7434" y="3289424"/>
                  <a:pt x="13262" y="3189160"/>
                </a:cubicBezTo>
                <a:cubicBezTo>
                  <a:pt x="16176" y="3138901"/>
                  <a:pt x="20864" y="3089150"/>
                  <a:pt x="22891" y="3038510"/>
                </a:cubicBezTo>
                <a:cubicBezTo>
                  <a:pt x="24918" y="2987870"/>
                  <a:pt x="28973" y="2936723"/>
                  <a:pt x="17444" y="2887098"/>
                </a:cubicBezTo>
                <a:cubicBezTo>
                  <a:pt x="-2068" y="2802699"/>
                  <a:pt x="12249" y="2718680"/>
                  <a:pt x="16430" y="2634534"/>
                </a:cubicBezTo>
                <a:cubicBezTo>
                  <a:pt x="18964" y="2582244"/>
                  <a:pt x="34168" y="2528685"/>
                  <a:pt x="20738" y="2477919"/>
                </a:cubicBezTo>
                <a:cubicBezTo>
                  <a:pt x="-421" y="2398342"/>
                  <a:pt x="13389" y="2320415"/>
                  <a:pt x="20738" y="2242107"/>
                </a:cubicBezTo>
                <a:cubicBezTo>
                  <a:pt x="29213" y="2168001"/>
                  <a:pt x="27718" y="2093082"/>
                  <a:pt x="16303" y="2019369"/>
                </a:cubicBezTo>
                <a:cubicBezTo>
                  <a:pt x="1986" y="1946239"/>
                  <a:pt x="1986" y="1871028"/>
                  <a:pt x="16303" y="1797899"/>
                </a:cubicBezTo>
                <a:cubicBezTo>
                  <a:pt x="28162" y="1737537"/>
                  <a:pt x="29530" y="1675589"/>
                  <a:pt x="20357" y="1614758"/>
                </a:cubicBezTo>
                <a:cubicBezTo>
                  <a:pt x="14149" y="1571226"/>
                  <a:pt x="3000" y="1527947"/>
                  <a:pt x="1480" y="1484415"/>
                </a:cubicBezTo>
                <a:cubicBezTo>
                  <a:pt x="-1662" y="1393377"/>
                  <a:pt x="200" y="1302238"/>
                  <a:pt x="7055" y="1211417"/>
                </a:cubicBezTo>
                <a:cubicBezTo>
                  <a:pt x="15036" y="1107980"/>
                  <a:pt x="30366" y="1004923"/>
                  <a:pt x="19724" y="900725"/>
                </a:cubicBezTo>
                <a:cubicBezTo>
                  <a:pt x="16050" y="864934"/>
                  <a:pt x="8575" y="829270"/>
                  <a:pt x="7815" y="793353"/>
                </a:cubicBezTo>
                <a:cubicBezTo>
                  <a:pt x="6168" y="726087"/>
                  <a:pt x="5407" y="659710"/>
                  <a:pt x="9208" y="590286"/>
                </a:cubicBezTo>
                <a:cubicBezTo>
                  <a:pt x="13009" y="520863"/>
                  <a:pt x="27452" y="450424"/>
                  <a:pt x="17697" y="382270"/>
                </a:cubicBezTo>
                <a:cubicBezTo>
                  <a:pt x="7941" y="314115"/>
                  <a:pt x="14276" y="247103"/>
                  <a:pt x="20611" y="180218"/>
                </a:cubicBezTo>
                <a:cubicBezTo>
                  <a:pt x="23652" y="148426"/>
                  <a:pt x="25711" y="116982"/>
                  <a:pt x="25156" y="85665"/>
                </a:cubicBezTo>
                <a:close/>
              </a:path>
            </a:pathLst>
          </a:cu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rcRect r="-1" b="14655"/>
          <a:stretch/>
        </p:blipFill>
        <p:spPr>
          <a:xfrm>
            <a:off x="8144356" y="4267201"/>
            <a:ext cx="4047645" cy="2590808"/>
          </a:xfrm>
          <a:custGeom>
            <a:avLst/>
            <a:gdLst/>
            <a:ahLst/>
            <a:cxnLst/>
            <a:rect l="l" t="t" r="r" b="b"/>
            <a:pathLst>
              <a:path w="4047645" h="2495811">
                <a:moveTo>
                  <a:pt x="2441891" y="4"/>
                </a:moveTo>
                <a:cubicBezTo>
                  <a:pt x="2489381" y="-78"/>
                  <a:pt x="2536882" y="1163"/>
                  <a:pt x="2584383" y="4428"/>
                </a:cubicBezTo>
                <a:cubicBezTo>
                  <a:pt x="2744314" y="17813"/>
                  <a:pt x="2904989" y="21079"/>
                  <a:pt x="3065367" y="14222"/>
                </a:cubicBezTo>
                <a:cubicBezTo>
                  <a:pt x="3194244" y="5694"/>
                  <a:pt x="3323514" y="4206"/>
                  <a:pt x="3452568" y="9782"/>
                </a:cubicBezTo>
                <a:cubicBezTo>
                  <a:pt x="3572813" y="16442"/>
                  <a:pt x="3693059" y="23233"/>
                  <a:pt x="3813712" y="19315"/>
                </a:cubicBezTo>
                <a:cubicBezTo>
                  <a:pt x="3861755" y="17748"/>
                  <a:pt x="3909121" y="15789"/>
                  <a:pt x="3956758" y="13177"/>
                </a:cubicBezTo>
                <a:lnTo>
                  <a:pt x="4047645" y="9696"/>
                </a:lnTo>
                <a:lnTo>
                  <a:pt x="4047645" y="2495811"/>
                </a:lnTo>
                <a:lnTo>
                  <a:pt x="28177" y="2495811"/>
                </a:lnTo>
                <a:lnTo>
                  <a:pt x="28782" y="2485852"/>
                </a:lnTo>
                <a:cubicBezTo>
                  <a:pt x="31911" y="2365446"/>
                  <a:pt x="35027" y="2245002"/>
                  <a:pt x="38157" y="2124521"/>
                </a:cubicBezTo>
                <a:cubicBezTo>
                  <a:pt x="38284" y="2119444"/>
                  <a:pt x="39171" y="2114494"/>
                  <a:pt x="39171" y="2109417"/>
                </a:cubicBezTo>
                <a:cubicBezTo>
                  <a:pt x="48166" y="1995573"/>
                  <a:pt x="53107" y="1881729"/>
                  <a:pt x="18899" y="1770550"/>
                </a:cubicBezTo>
                <a:cubicBezTo>
                  <a:pt x="15871" y="1760104"/>
                  <a:pt x="14262" y="1749304"/>
                  <a:pt x="14084" y="1738440"/>
                </a:cubicBezTo>
                <a:cubicBezTo>
                  <a:pt x="12413" y="1641514"/>
                  <a:pt x="16644" y="1544587"/>
                  <a:pt x="26754" y="1448181"/>
                </a:cubicBezTo>
                <a:cubicBezTo>
                  <a:pt x="31949" y="1389038"/>
                  <a:pt x="26754" y="1329006"/>
                  <a:pt x="43478" y="1270498"/>
                </a:cubicBezTo>
                <a:cubicBezTo>
                  <a:pt x="50864" y="1241421"/>
                  <a:pt x="55109" y="1211634"/>
                  <a:pt x="56147" y="1181656"/>
                </a:cubicBezTo>
                <a:cubicBezTo>
                  <a:pt x="59948" y="1109060"/>
                  <a:pt x="38537" y="1040779"/>
                  <a:pt x="18139" y="972244"/>
                </a:cubicBezTo>
                <a:cubicBezTo>
                  <a:pt x="7370" y="935945"/>
                  <a:pt x="-5426" y="898886"/>
                  <a:pt x="2429" y="860811"/>
                </a:cubicBezTo>
                <a:cubicBezTo>
                  <a:pt x="16707" y="802251"/>
                  <a:pt x="24854" y="742359"/>
                  <a:pt x="26754" y="682112"/>
                </a:cubicBezTo>
                <a:cubicBezTo>
                  <a:pt x="26754" y="639468"/>
                  <a:pt x="16365" y="597712"/>
                  <a:pt x="20039" y="555195"/>
                </a:cubicBezTo>
                <a:cubicBezTo>
                  <a:pt x="28211" y="472712"/>
                  <a:pt x="30238" y="389734"/>
                  <a:pt x="26121" y="306946"/>
                </a:cubicBezTo>
                <a:cubicBezTo>
                  <a:pt x="26095" y="273846"/>
                  <a:pt x="29846" y="240848"/>
                  <a:pt x="37270" y="208585"/>
                </a:cubicBezTo>
                <a:cubicBezTo>
                  <a:pt x="46506" y="151651"/>
                  <a:pt x="48419" y="93777"/>
                  <a:pt x="42971" y="36360"/>
                </a:cubicBezTo>
                <a:lnTo>
                  <a:pt x="38853" y="8429"/>
                </a:lnTo>
                <a:lnTo>
                  <a:pt x="56649" y="7824"/>
                </a:lnTo>
                <a:cubicBezTo>
                  <a:pt x="210497" y="-156"/>
                  <a:pt x="364754" y="3162"/>
                  <a:pt x="518087" y="17748"/>
                </a:cubicBezTo>
                <a:cubicBezTo>
                  <a:pt x="626567" y="25440"/>
                  <a:pt x="735534" y="24213"/>
                  <a:pt x="843809" y="14092"/>
                </a:cubicBezTo>
                <a:cubicBezTo>
                  <a:pt x="1042499" y="-1711"/>
                  <a:pt x="1240782" y="10958"/>
                  <a:pt x="1439065" y="21666"/>
                </a:cubicBezTo>
                <a:cubicBezTo>
                  <a:pt x="1631105" y="32113"/>
                  <a:pt x="1823010" y="24408"/>
                  <a:pt x="2015050" y="17487"/>
                </a:cubicBezTo>
                <a:cubicBezTo>
                  <a:pt x="2157045" y="12394"/>
                  <a:pt x="2299420" y="249"/>
                  <a:pt x="2441891" y="4"/>
                </a:cubicBezTo>
                <a:close/>
              </a:path>
            </a:pathLst>
          </a:custGeom>
        </p:spPr>
      </p:pic>
    </p:spTree>
    <p:extLst>
      <p:ext uri="{BB962C8B-B14F-4D97-AF65-F5344CB8AC3E}">
        <p14:creationId xmlns:p14="http://schemas.microsoft.com/office/powerpoint/2010/main" val="3652355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anim calcmode="lin" valueType="num">
                                      <p:cBhvr>
                                        <p:cTn id="12" dur="1000" fill="hold"/>
                                        <p:tgtEl>
                                          <p:spTgt spid="5"/>
                                        </p:tgtEl>
                                        <p:attrNameLst>
                                          <p:attrName>ppt_x</p:attrName>
                                        </p:attrNameLst>
                                      </p:cBhvr>
                                      <p:tavLst>
                                        <p:tav tm="0">
                                          <p:val>
                                            <p:strVal val="#ppt_x"/>
                                          </p:val>
                                        </p:tav>
                                        <p:tav tm="100000">
                                          <p:val>
                                            <p:strVal val="#ppt_x"/>
                                          </p:val>
                                        </p:tav>
                                      </p:tavLst>
                                    </p:anim>
                                    <p:anim calcmode="lin" valueType="num">
                                      <p:cBhvr>
                                        <p:cTn id="1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6" presetClass="entr" presetSubtype="21" fill="hold" nodeType="click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barn(inVertical)">
                                      <p:cBhvr>
                                        <p:cTn id="5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75767" y="1188637"/>
            <a:ext cx="2988234" cy="4480726"/>
          </a:xfrm>
        </p:spPr>
        <p:txBody>
          <a:bodyPr vert="horz" lIns="91440" tIns="45720" rIns="91440" bIns="45720" rtlCol="0" anchor="ctr">
            <a:normAutofit/>
          </a:bodyPr>
          <a:lstStyle/>
          <a:p>
            <a:pPr algn="r"/>
            <a:r>
              <a:rPr lang="en-US" sz="4600" b="1" kern="1200">
                <a:solidFill>
                  <a:schemeClr val="tx1"/>
                </a:solidFill>
                <a:latin typeface="+mj-lt"/>
                <a:ea typeface="+mj-ea"/>
                <a:cs typeface="+mj-cs"/>
              </a:rPr>
              <a:t>Impact of Christianity</a:t>
            </a:r>
          </a:p>
        </p:txBody>
      </p:sp>
      <p:cxnSp>
        <p:nvCxnSpPr>
          <p:cNvPr id="14" name="Straight Connector 13">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sz="half" idx="1"/>
          </p:nvPr>
        </p:nvSpPr>
        <p:spPr>
          <a:xfrm>
            <a:off x="5046147" y="1188637"/>
            <a:ext cx="5429931" cy="4480726"/>
          </a:xfrm>
        </p:spPr>
        <p:txBody>
          <a:bodyPr vert="horz" lIns="91440" tIns="45720" rIns="91440" bIns="45720" rtlCol="0" anchor="ctr">
            <a:normAutofit/>
          </a:bodyPr>
          <a:lstStyle/>
          <a:p>
            <a:r>
              <a:rPr lang="en-US" sz="2400" dirty="0"/>
              <a:t>Christianity influenced on the philosophical thoughts of medieval period in Europe. </a:t>
            </a:r>
          </a:p>
          <a:p>
            <a:pPr marL="0"/>
            <a:endParaRPr lang="en-US" sz="2400" dirty="0"/>
          </a:p>
          <a:p>
            <a:r>
              <a:rPr lang="en-US" sz="2400" dirty="0"/>
              <a:t>During the period, several philosophical schools and traditions emerged:</a:t>
            </a:r>
          </a:p>
          <a:p>
            <a:r>
              <a:rPr lang="en-US" sz="2400" dirty="0"/>
              <a:t>Gnosticism</a:t>
            </a:r>
          </a:p>
          <a:p>
            <a:r>
              <a:rPr lang="en-US" sz="2400" dirty="0"/>
              <a:t>Apologetics</a:t>
            </a:r>
          </a:p>
          <a:p>
            <a:r>
              <a:rPr lang="en-US" sz="2400" dirty="0"/>
              <a:t>Patristics</a:t>
            </a:r>
          </a:p>
          <a:p>
            <a:r>
              <a:rPr lang="en-US" sz="2400" dirty="0"/>
              <a:t>Scholasticism</a:t>
            </a:r>
          </a:p>
        </p:txBody>
      </p:sp>
    </p:spTree>
    <p:extLst>
      <p:ext uri="{BB962C8B-B14F-4D97-AF65-F5344CB8AC3E}">
        <p14:creationId xmlns:p14="http://schemas.microsoft.com/office/powerpoint/2010/main" val="3778794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75767" y="1188637"/>
            <a:ext cx="2988234" cy="4480726"/>
          </a:xfrm>
        </p:spPr>
        <p:txBody>
          <a:bodyPr vert="horz" lIns="91440" tIns="45720" rIns="91440" bIns="45720" rtlCol="0" anchor="ctr">
            <a:normAutofit/>
          </a:bodyPr>
          <a:lstStyle/>
          <a:p>
            <a:pPr algn="r"/>
            <a:r>
              <a:rPr lang="en-US" sz="4600" b="1" kern="1200">
                <a:solidFill>
                  <a:schemeClr val="tx1"/>
                </a:solidFill>
                <a:latin typeface="+mj-lt"/>
                <a:ea typeface="+mj-ea"/>
                <a:cs typeface="+mj-cs"/>
              </a:rPr>
              <a:t>Gnosticism</a:t>
            </a:r>
          </a:p>
        </p:txBody>
      </p:sp>
      <p:cxnSp>
        <p:nvCxnSpPr>
          <p:cNvPr id="14" name="Straight Connector 13">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sz="half" idx="1"/>
          </p:nvPr>
        </p:nvSpPr>
        <p:spPr>
          <a:xfrm>
            <a:off x="5070771" y="936978"/>
            <a:ext cx="5084605" cy="4732385"/>
          </a:xfrm>
        </p:spPr>
        <p:txBody>
          <a:bodyPr vert="horz" lIns="91440" tIns="45720" rIns="91440" bIns="45720" rtlCol="0" anchor="ctr">
            <a:normAutofit lnSpcReduction="10000"/>
          </a:bodyPr>
          <a:lstStyle/>
          <a:p>
            <a:r>
              <a:rPr lang="en-US" sz="2200" dirty="0"/>
              <a:t>Gnosticism \</a:t>
            </a:r>
            <a:r>
              <a:rPr lang="en-US" sz="2200" dirty="0" err="1"/>
              <a:t>nä-stə</a:t>
            </a:r>
            <a:r>
              <a:rPr lang="en-US" sz="2200" dirty="0"/>
              <a:t>-ˌ</a:t>
            </a:r>
            <a:r>
              <a:rPr lang="en-US" sz="2200" dirty="0" err="1"/>
              <a:t>si-zəm</a:t>
            </a:r>
            <a:r>
              <a:rPr lang="en-US" sz="2200" dirty="0"/>
              <a:t>\ (from the Greek </a:t>
            </a:r>
            <a:r>
              <a:rPr lang="en-US" sz="2200" dirty="0" err="1"/>
              <a:t>gnostikos</a:t>
            </a:r>
            <a:r>
              <a:rPr lang="en-US" sz="2200" dirty="0"/>
              <a:t> - the knower)</a:t>
            </a:r>
          </a:p>
          <a:p>
            <a:endParaRPr lang="en-US" sz="2200" dirty="0"/>
          </a:p>
          <a:p>
            <a:r>
              <a:rPr lang="en-US" sz="2200" dirty="0"/>
              <a:t>the religious dualistic doctrine of late antiquity (1-5 centuries)</a:t>
            </a:r>
          </a:p>
          <a:p>
            <a:endParaRPr lang="en-US" sz="2200" dirty="0"/>
          </a:p>
          <a:p>
            <a:r>
              <a:rPr lang="en-US" sz="2200" dirty="0"/>
              <a:t>It included some aspects of Christian doctrine, popular Greek philosophy and Eastern religions. </a:t>
            </a:r>
          </a:p>
          <a:p>
            <a:endParaRPr lang="en-US" sz="2200" dirty="0"/>
          </a:p>
          <a:p>
            <a:r>
              <a:rPr lang="en-US" sz="2200" dirty="0"/>
              <a:t>The term does not appear in ancient sources and was first used by Henry More in the 17th century. </a:t>
            </a:r>
          </a:p>
          <a:p>
            <a:endParaRPr lang="en-US" sz="1500" dirty="0"/>
          </a:p>
        </p:txBody>
      </p:sp>
    </p:spTree>
    <p:extLst>
      <p:ext uri="{BB962C8B-B14F-4D97-AF65-F5344CB8AC3E}">
        <p14:creationId xmlns:p14="http://schemas.microsoft.com/office/powerpoint/2010/main" val="538453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41248" y="548640"/>
            <a:ext cx="3600860" cy="5431536"/>
          </a:xfrm>
        </p:spPr>
        <p:txBody>
          <a:bodyPr vert="horz" lIns="91440" tIns="45720" rIns="91440" bIns="45720" rtlCol="0" anchor="ctr">
            <a:normAutofit/>
          </a:bodyPr>
          <a:lstStyle/>
          <a:p>
            <a:r>
              <a:rPr lang="en-US" sz="5400" b="1" kern="1200">
                <a:solidFill>
                  <a:schemeClr val="tx1"/>
                </a:solidFill>
                <a:latin typeface="+mj-lt"/>
                <a:ea typeface="+mj-ea"/>
                <a:cs typeface="+mj-cs"/>
              </a:rPr>
              <a:t>Gnosticism</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half" idx="1"/>
          </p:nvPr>
        </p:nvSpPr>
        <p:spPr>
          <a:xfrm>
            <a:off x="4987636" y="318654"/>
            <a:ext cx="6807570" cy="6137563"/>
          </a:xfrm>
        </p:spPr>
        <p:txBody>
          <a:bodyPr vert="horz" lIns="91440" tIns="45720" rIns="91440" bIns="45720" rtlCol="0" anchor="ctr">
            <a:normAutofit lnSpcReduction="10000"/>
          </a:bodyPr>
          <a:lstStyle/>
          <a:p>
            <a:r>
              <a:rPr lang="en-US" sz="2200" dirty="0"/>
              <a:t>Gnosticism claimed a "true" knowledge of God and the ultimate secrets of the universe. </a:t>
            </a:r>
          </a:p>
          <a:p>
            <a:r>
              <a:rPr lang="en-US" sz="2200" dirty="0"/>
              <a:t>The emergence of Manichaeism is associated with Gnosticism. </a:t>
            </a:r>
          </a:p>
          <a:p>
            <a:r>
              <a:rPr lang="en-US" sz="2200" dirty="0"/>
              <a:t>Gnosticism was based on dualism. </a:t>
            </a:r>
          </a:p>
          <a:p>
            <a:r>
              <a:rPr lang="en-US" sz="2200" dirty="0"/>
              <a:t>Gnostics recognized the Supreme Being, or the Supreme Spirit, on the one hand, and matter on the other. The Supreme Being, they represented an independent, and beginning of light and goodness, the source of spiritual life. </a:t>
            </a:r>
          </a:p>
          <a:p>
            <a:r>
              <a:rPr lang="en-US" sz="2200" dirty="0"/>
              <a:t>Matter, on the contrary, is represented in the Gnostics as an independent beginning of material life and evil. According to their doctrine, matter is always a form of evil. </a:t>
            </a:r>
          </a:p>
          <a:p>
            <a:r>
              <a:rPr lang="en-US" sz="2200" dirty="0"/>
              <a:t>Therefore, they believe that God can never create the material world</a:t>
            </a:r>
          </a:p>
          <a:p>
            <a:pPr marL="0"/>
            <a:endParaRPr lang="en-US" sz="2200" dirty="0"/>
          </a:p>
          <a:p>
            <a:r>
              <a:rPr lang="en-US" sz="2200" dirty="0"/>
              <a:t>Gnostics were guilty of heresy by Christian clergies.</a:t>
            </a:r>
          </a:p>
          <a:p>
            <a:endParaRPr lang="en-US" sz="1900" dirty="0"/>
          </a:p>
        </p:txBody>
      </p:sp>
    </p:spTree>
    <p:extLst>
      <p:ext uri="{BB962C8B-B14F-4D97-AF65-F5344CB8AC3E}">
        <p14:creationId xmlns:p14="http://schemas.microsoft.com/office/powerpoint/2010/main" val="1885037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31708"/>
          </a:xfrm>
        </p:spPr>
        <p:txBody>
          <a:bodyPr>
            <a:noAutofit/>
          </a:bodyPr>
          <a:lstStyle/>
          <a:p>
            <a:pPr algn="ctr"/>
            <a:r>
              <a:rPr lang="en-US" sz="3200" b="1" dirty="0">
                <a:latin typeface="+mn-lt"/>
              </a:rPr>
              <a:t>Apologetics</a:t>
            </a:r>
          </a:p>
        </p:txBody>
      </p:sp>
      <p:sp>
        <p:nvSpPr>
          <p:cNvPr id="3" name="Content Placeholder 2"/>
          <p:cNvSpPr>
            <a:spLocks noGrp="1"/>
          </p:cNvSpPr>
          <p:nvPr>
            <p:ph sz="half" idx="1"/>
          </p:nvPr>
        </p:nvSpPr>
        <p:spPr>
          <a:xfrm>
            <a:off x="468352" y="927463"/>
            <a:ext cx="8166197" cy="5512526"/>
          </a:xfrm>
        </p:spPr>
        <p:txBody>
          <a:bodyPr>
            <a:noAutofit/>
          </a:bodyPr>
          <a:lstStyle/>
          <a:p>
            <a:r>
              <a:rPr lang="en-US" sz="2400" dirty="0"/>
              <a:t>Apologetics /</a:t>
            </a:r>
            <a:r>
              <a:rPr lang="en-US" sz="2400" dirty="0" err="1"/>
              <a:t>əˌpɒləˈdʒɛtɪks</a:t>
            </a:r>
            <a:r>
              <a:rPr lang="en-US" sz="2400" dirty="0"/>
              <a:t>/ (from the Greek </a:t>
            </a:r>
            <a:r>
              <a:rPr lang="en-US" sz="2400" dirty="0" err="1"/>
              <a:t>apologeomai</a:t>
            </a:r>
            <a:r>
              <a:rPr lang="en-US" sz="2400" dirty="0"/>
              <a:t> – “protect”) is a collective name for early Christian writers-philosophers </a:t>
            </a:r>
          </a:p>
          <a:p>
            <a:pPr marL="0" indent="0">
              <a:buNone/>
            </a:pPr>
            <a:endParaRPr lang="en-US" sz="2400" dirty="0"/>
          </a:p>
          <a:p>
            <a:r>
              <a:rPr lang="en-US" sz="2400" dirty="0"/>
              <a:t> Apologetics defended the principles of Christianity in their writings from criticism of non-Christians, pagan rulers and scientists</a:t>
            </a:r>
          </a:p>
          <a:p>
            <a:endParaRPr lang="en-US" sz="2400" dirty="0"/>
          </a:p>
          <a:p>
            <a:r>
              <a:rPr lang="en-US" sz="2400" dirty="0"/>
              <a:t> Apologetics was formed in the 1</a:t>
            </a:r>
            <a:r>
              <a:rPr lang="en-US" sz="2400" baseline="30000" dirty="0"/>
              <a:t>st</a:t>
            </a:r>
            <a:r>
              <a:rPr lang="en-US" sz="2400" dirty="0"/>
              <a:t> – the 3</a:t>
            </a:r>
            <a:r>
              <a:rPr lang="en-US" sz="2400" baseline="30000" dirty="0"/>
              <a:t>rd</a:t>
            </a:r>
            <a:r>
              <a:rPr lang="en-US" sz="2400" dirty="0"/>
              <a:t> centuries. </a:t>
            </a:r>
          </a:p>
          <a:p>
            <a:pPr marL="0" indent="0">
              <a:buNone/>
            </a:pPr>
            <a:endParaRPr lang="en-US" sz="2400" dirty="0"/>
          </a:p>
          <a:p>
            <a:r>
              <a:rPr lang="en-US" sz="2400" dirty="0"/>
              <a:t>In their messages, the apologists substantiated the advantages of the moral principles of their doctrine, the possibility of adopting Christianity as a state religion. </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34549" y="1952897"/>
            <a:ext cx="2895600" cy="2952205"/>
          </a:xfrm>
          <a:prstGeom prst="rect">
            <a:avLst/>
          </a:prstGeom>
        </p:spPr>
      </p:pic>
    </p:spTree>
    <p:extLst>
      <p:ext uri="{BB962C8B-B14F-4D97-AF65-F5344CB8AC3E}">
        <p14:creationId xmlns:p14="http://schemas.microsoft.com/office/powerpoint/2010/main" val="393090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circle(in)">
                                      <p:cBhvr>
                                        <p:cTn id="28" dur="2000"/>
                                        <p:tgtEl>
                                          <p:spTgt spid="3">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barn(inVertical)">
                                      <p:cBhvr>
                                        <p:cTn id="3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340268"/>
          </a:xfrm>
        </p:spPr>
        <p:txBody>
          <a:bodyPr>
            <a:noAutofit/>
          </a:bodyPr>
          <a:lstStyle/>
          <a:p>
            <a:pPr algn="ctr"/>
            <a:r>
              <a:rPr lang="en-US" sz="3200" b="1" dirty="0"/>
              <a:t>Apologetics</a:t>
            </a:r>
          </a:p>
        </p:txBody>
      </p:sp>
      <p:sp>
        <p:nvSpPr>
          <p:cNvPr id="3" name="Content Placeholder 2"/>
          <p:cNvSpPr>
            <a:spLocks noGrp="1"/>
          </p:cNvSpPr>
          <p:nvPr>
            <p:ph sz="half" idx="1"/>
          </p:nvPr>
        </p:nvSpPr>
        <p:spPr>
          <a:xfrm>
            <a:off x="535577" y="796834"/>
            <a:ext cx="8541516" cy="5643155"/>
          </a:xfrm>
        </p:spPr>
        <p:txBody>
          <a:bodyPr>
            <a:noAutofit/>
          </a:bodyPr>
          <a:lstStyle/>
          <a:p>
            <a:r>
              <a:rPr lang="en-US" sz="2400" dirty="0"/>
              <a:t>The works of apologetics are clearly seen in two traditions: </a:t>
            </a:r>
          </a:p>
          <a:p>
            <a:pPr>
              <a:buFontTx/>
              <a:buChar char="-"/>
            </a:pPr>
            <a:r>
              <a:rPr lang="en-US" sz="2400" dirty="0"/>
              <a:t>denial or refusal </a:t>
            </a:r>
          </a:p>
          <a:p>
            <a:pPr>
              <a:buFontTx/>
              <a:buChar char="-"/>
            </a:pPr>
            <a:r>
              <a:rPr lang="en-US" sz="2400" dirty="0"/>
              <a:t>confirmation</a:t>
            </a:r>
          </a:p>
          <a:p>
            <a:r>
              <a:rPr lang="en-US" sz="2400" dirty="0"/>
              <a:t>They have, in the first place, denied the allegations made by the polytheists to Christianity - unreasonable actions and luxury. </a:t>
            </a:r>
          </a:p>
          <a:p>
            <a:pPr marL="0" indent="0">
              <a:buNone/>
            </a:pPr>
            <a:endParaRPr lang="en-US" sz="2400" dirty="0"/>
          </a:p>
          <a:p>
            <a:r>
              <a:rPr lang="en-US" sz="2400" dirty="0"/>
              <a:t>Apologetics confirmed the purity of Christianity</a:t>
            </a:r>
          </a:p>
          <a:p>
            <a:pPr marL="0" indent="0">
              <a:buNone/>
            </a:pPr>
            <a:endParaRPr lang="en-US" sz="2400" dirty="0"/>
          </a:p>
          <a:p>
            <a:r>
              <a:rPr lang="en-US" sz="2400" dirty="0"/>
              <a:t> One of the great representatives of apologetics was Saint Justin (Martyr)</a:t>
            </a:r>
          </a:p>
          <a:p>
            <a:r>
              <a:rPr lang="en-US" sz="2400" dirty="0"/>
              <a:t>He is the author of such works – “First Apology”, “Second Apology”, and “On the Soul”</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48504" y="796834"/>
            <a:ext cx="2377440" cy="2442755"/>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77093" y="3767192"/>
            <a:ext cx="2770917" cy="2289619"/>
          </a:xfrm>
          <a:prstGeom prst="rect">
            <a:avLst/>
          </a:prstGeom>
        </p:spPr>
      </p:pic>
    </p:spTree>
    <p:extLst>
      <p:ext uri="{BB962C8B-B14F-4D97-AF65-F5344CB8AC3E}">
        <p14:creationId xmlns:p14="http://schemas.microsoft.com/office/powerpoint/2010/main" val="877204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6" presetClass="entr" presetSubtype="16"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circle(in)">
                                      <p:cBhvr>
                                        <p:cTn id="29" dur="2000"/>
                                        <p:tgtEl>
                                          <p:spTgt spid="5"/>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1000"/>
                                        <p:tgtEl>
                                          <p:spTgt spid="3">
                                            <p:txEl>
                                              <p:pRg st="7" end="7"/>
                                            </p:txEl>
                                          </p:spTgt>
                                        </p:tgtEl>
                                      </p:cBhvr>
                                    </p:animEffect>
                                    <p:anim calcmode="lin" valueType="num">
                                      <p:cBhvr>
                                        <p:cTn id="35"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7" end="7"/>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fade">
                                      <p:cBhvr>
                                        <p:cTn id="39" dur="1000"/>
                                        <p:tgtEl>
                                          <p:spTgt spid="3">
                                            <p:txEl>
                                              <p:pRg st="8" end="8"/>
                                            </p:txEl>
                                          </p:spTgt>
                                        </p:tgtEl>
                                      </p:cBhvr>
                                    </p:animEffect>
                                    <p:anim calcmode="lin" valueType="num">
                                      <p:cBhvr>
                                        <p:cTn id="40"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6"/>
                                        </p:tgtEl>
                                        <p:attrNameLst>
                                          <p:attrName>style.visibility</p:attrName>
                                        </p:attrNameLst>
                                      </p:cBhvr>
                                      <p:to>
                                        <p:strVal val="visible"/>
                                      </p:to>
                                    </p:set>
                                    <p:anim calcmode="lin" valueType="num">
                                      <p:cBhvr additive="base">
                                        <p:cTn id="46" dur="500" fill="hold"/>
                                        <p:tgtEl>
                                          <p:spTgt spid="6"/>
                                        </p:tgtEl>
                                        <p:attrNameLst>
                                          <p:attrName>ppt_x</p:attrName>
                                        </p:attrNameLst>
                                      </p:cBhvr>
                                      <p:tavLst>
                                        <p:tav tm="0">
                                          <p:val>
                                            <p:strVal val="#ppt_x"/>
                                          </p:val>
                                        </p:tav>
                                        <p:tav tm="100000">
                                          <p:val>
                                            <p:strVal val="#ppt_x"/>
                                          </p:val>
                                        </p:tav>
                                      </p:tavLst>
                                    </p:anim>
                                    <p:anim calcmode="lin" valueType="num">
                                      <p:cBhvr additive="base">
                                        <p:cTn id="4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0080" y="329184"/>
            <a:ext cx="6894576" cy="1783080"/>
          </a:xfrm>
        </p:spPr>
        <p:txBody>
          <a:bodyPr vert="horz" lIns="91440" tIns="45720" rIns="91440" bIns="45720" rtlCol="0" anchor="b">
            <a:normAutofit/>
          </a:bodyPr>
          <a:lstStyle/>
          <a:p>
            <a:r>
              <a:rPr lang="en-US" sz="5400" b="1"/>
              <a:t>Patristics</a:t>
            </a:r>
          </a:p>
        </p:txBody>
      </p:sp>
      <p:sp>
        <p:nvSpPr>
          <p:cNvPr id="13"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half" idx="1"/>
          </p:nvPr>
        </p:nvSpPr>
        <p:spPr>
          <a:xfrm>
            <a:off x="484909" y="2478024"/>
            <a:ext cx="7550727" cy="4186012"/>
          </a:xfrm>
        </p:spPr>
        <p:txBody>
          <a:bodyPr vert="horz" lIns="91440" tIns="45720" rIns="91440" bIns="45720" rtlCol="0">
            <a:normAutofit lnSpcReduction="10000"/>
          </a:bodyPr>
          <a:lstStyle/>
          <a:p>
            <a:r>
              <a:rPr lang="en-US" sz="2000" dirty="0"/>
              <a:t>Patristics or patrology [Greek pater (</a:t>
            </a:r>
            <a:r>
              <a:rPr lang="en-US" sz="2000" dirty="0" err="1"/>
              <a:t>patros</a:t>
            </a:r>
            <a:r>
              <a:rPr lang="en-US" sz="2000" dirty="0"/>
              <a:t>) - father] - the tradition of philosophic-theological thought of the 2-8 centuries</a:t>
            </a:r>
          </a:p>
          <a:p>
            <a:r>
              <a:rPr lang="en-US" sz="2000" dirty="0"/>
              <a:t>Associated with the activities of early Christian authors of the Church Fathers. </a:t>
            </a:r>
          </a:p>
          <a:p>
            <a:r>
              <a:rPr lang="en-US" sz="2000" dirty="0"/>
              <a:t>Church Fathers - honorary title, used from the end of the IV century to a group of prominent church figures and writers of the past, whose authority had a special weight in the formation of dogmatics, the hierarchical organization and worship of the Church, and the compilation of the canon-the list of the Holy Books of the Bible.</a:t>
            </a:r>
          </a:p>
          <a:p>
            <a:r>
              <a:rPr lang="en-US" sz="2000" dirty="0"/>
              <a:t>They set out the principles of Christian theology and philosophy. The teachings produced by the Church Fathers became the foundations for the Christian religious view and attitude. Patricia made an enormous contribution to the formation of the ethics and aesthetics of the late-antique and medieval society.</a:t>
            </a:r>
          </a:p>
          <a:p>
            <a:endParaRPr lang="en-US" sz="1500"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55963" y="329183"/>
            <a:ext cx="3429969" cy="3429969"/>
          </a:xfrm>
          <a:prstGeom prst="rect">
            <a:avLst/>
          </a:prstGeom>
        </p:spPr>
      </p:pic>
      <p:pic>
        <p:nvPicPr>
          <p:cNvPr id="5" name="Content Placeholder 4"/>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8226627" y="4079193"/>
            <a:ext cx="3270354" cy="2176272"/>
          </a:xfrm>
          <a:prstGeom prst="rect">
            <a:avLst/>
          </a:prstGeom>
        </p:spPr>
      </p:pic>
    </p:spTree>
    <p:extLst>
      <p:ext uri="{BB962C8B-B14F-4D97-AF65-F5344CB8AC3E}">
        <p14:creationId xmlns:p14="http://schemas.microsoft.com/office/powerpoint/2010/main" val="3189423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1000"/>
                                        <p:tgtEl>
                                          <p:spTgt spid="3">
                                            <p:txEl>
                                              <p:pRg st="1" end="1"/>
                                            </p:txEl>
                                          </p:spTgt>
                                        </p:tgtEl>
                                      </p:cBhvr>
                                    </p:animEffect>
                                    <p:anim calcmode="lin" valueType="num">
                                      <p:cBhvr>
                                        <p:cTn id="1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1000"/>
                                        <p:tgtEl>
                                          <p:spTgt spid="3">
                                            <p:txEl>
                                              <p:pRg st="2" end="2"/>
                                            </p:txEl>
                                          </p:spTgt>
                                        </p:tgtEl>
                                      </p:cBhvr>
                                    </p:animEffect>
                                    <p:anim calcmode="lin" valueType="num">
                                      <p:cBhvr>
                                        <p:cTn id="2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ipe(down)">
                                      <p:cBhvr>
                                        <p:cTn id="29" dur="500"/>
                                        <p:tgtEl>
                                          <p:spTgt spid="5"/>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6"/>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nodeType="clickEffect">
                                  <p:stCondLst>
                                    <p:cond delay="0"/>
                                  </p:stCondLst>
                                  <p:childTnLst>
                                    <p:set>
                                      <p:cBhvr>
                                        <p:cTn id="37" dur="1" fill="hold">
                                          <p:stCondLst>
                                            <p:cond delay="0"/>
                                          </p:stCondLst>
                                        </p:cTn>
                                        <p:tgtEl>
                                          <p:spTgt spid="3">
                                            <p:txEl>
                                              <p:pRg st="3" end="3"/>
                                            </p:txEl>
                                          </p:spTgt>
                                        </p:tgtEl>
                                        <p:attrNameLst>
                                          <p:attrName>style.visibility</p:attrName>
                                        </p:attrNameLst>
                                      </p:cBhvr>
                                      <p:to>
                                        <p:strVal val="visible"/>
                                      </p:to>
                                    </p:set>
                                    <p:animEffect transition="in" filter="barn(inVertical)">
                                      <p:cBhvr>
                                        <p:cTn id="38"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6D37EE4-EA1B-46EE-A54B-5233C63C96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2493" y="238539"/>
            <a:ext cx="11047013" cy="1434415"/>
          </a:xfrm>
        </p:spPr>
        <p:txBody>
          <a:bodyPr vert="horz" lIns="91440" tIns="45720" rIns="91440" bIns="45720" rtlCol="0" anchor="b">
            <a:normAutofit/>
          </a:bodyPr>
          <a:lstStyle/>
          <a:p>
            <a:r>
              <a:rPr lang="en-US" sz="5400" b="1"/>
              <a:t>Scholasticism</a:t>
            </a:r>
          </a:p>
        </p:txBody>
      </p:sp>
      <p:sp>
        <p:nvSpPr>
          <p:cNvPr id="13" name="sketch line">
            <a:extLst>
              <a:ext uri="{FF2B5EF4-FFF2-40B4-BE49-F238E27FC236}">
                <a16:creationId xmlns:a16="http://schemas.microsoft.com/office/drawing/2014/main" id="{927D5270-6648-4CC1-8F78-48BE299CA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767709"/>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p:cNvPicPr>
            <a:picLocks noGrp="1" noChangeAspect="1"/>
          </p:cNvPicPr>
          <p:nvPr>
            <p:ph sz="half" idx="2"/>
          </p:nvPr>
        </p:nvPicPr>
        <p:blipFill>
          <a:blip r:embed="rId2">
            <a:extLst>
              <a:ext uri="{28A0092B-C50C-407E-A947-70E740481C1C}">
                <a14:useLocalDpi xmlns:a14="http://schemas.microsoft.com/office/drawing/2010/main" val="0"/>
              </a:ext>
            </a:extLst>
          </a:blip>
          <a:srcRect r="12620" b="2"/>
          <a:stretch/>
        </p:blipFill>
        <p:spPr>
          <a:xfrm>
            <a:off x="572492" y="2002056"/>
            <a:ext cx="3943849" cy="4184060"/>
          </a:xfrm>
          <a:custGeom>
            <a:avLst/>
            <a:gdLst/>
            <a:ahLst/>
            <a:cxnLst/>
            <a:rect l="l" t="t" r="r" b="b"/>
            <a:pathLst>
              <a:path w="3807743" h="6307845">
                <a:moveTo>
                  <a:pt x="723201" y="386"/>
                </a:moveTo>
                <a:cubicBezTo>
                  <a:pt x="853884" y="-4204"/>
                  <a:pt x="1013493" y="33912"/>
                  <a:pt x="1176100" y="22622"/>
                </a:cubicBezTo>
                <a:cubicBezTo>
                  <a:pt x="1230302" y="18859"/>
                  <a:pt x="1281736" y="20622"/>
                  <a:pt x="1331852" y="24473"/>
                </a:cubicBezTo>
                <a:lnTo>
                  <a:pt x="1439547" y="34944"/>
                </a:lnTo>
                <a:lnTo>
                  <a:pt x="1484197" y="36226"/>
                </a:lnTo>
                <a:cubicBezTo>
                  <a:pt x="1535166" y="35421"/>
                  <a:pt x="1586369" y="31625"/>
                  <a:pt x="1636625" y="22622"/>
                </a:cubicBezTo>
                <a:cubicBezTo>
                  <a:pt x="1686882" y="13619"/>
                  <a:pt x="1729837" y="10653"/>
                  <a:pt x="1768740" y="10885"/>
                </a:cubicBezTo>
                <a:lnTo>
                  <a:pt x="1829538" y="15086"/>
                </a:lnTo>
                <a:lnTo>
                  <a:pt x="1869968" y="7996"/>
                </a:lnTo>
                <a:cubicBezTo>
                  <a:pt x="1953577" y="-31"/>
                  <a:pt x="2036989" y="9808"/>
                  <a:pt x="2112925" y="20118"/>
                </a:cubicBezTo>
                <a:lnTo>
                  <a:pt x="2119331" y="20977"/>
                </a:lnTo>
                <a:lnTo>
                  <a:pt x="2221855" y="13374"/>
                </a:lnTo>
                <a:cubicBezTo>
                  <a:pt x="2261207" y="12845"/>
                  <a:pt x="2298379" y="14359"/>
                  <a:pt x="2333484" y="16393"/>
                </a:cubicBezTo>
                <a:lnTo>
                  <a:pt x="2372613" y="18812"/>
                </a:lnTo>
                <a:lnTo>
                  <a:pt x="2404945" y="9387"/>
                </a:lnTo>
                <a:cubicBezTo>
                  <a:pt x="2452532" y="1754"/>
                  <a:pt x="2506192" y="9333"/>
                  <a:pt x="2561622" y="17814"/>
                </a:cubicBezTo>
                <a:lnTo>
                  <a:pt x="2583950" y="20591"/>
                </a:lnTo>
                <a:lnTo>
                  <a:pt x="2643527" y="20319"/>
                </a:lnTo>
                <a:cubicBezTo>
                  <a:pt x="2669677" y="20426"/>
                  <a:pt x="2697963" y="20717"/>
                  <a:pt x="2727392" y="21103"/>
                </a:cubicBezTo>
                <a:lnTo>
                  <a:pt x="2786908" y="21989"/>
                </a:lnTo>
                <a:lnTo>
                  <a:pt x="2846459" y="13267"/>
                </a:lnTo>
                <a:cubicBezTo>
                  <a:pt x="2896401" y="10176"/>
                  <a:pt x="2960607" y="12733"/>
                  <a:pt x="3036361" y="17072"/>
                </a:cubicBezTo>
                <a:lnTo>
                  <a:pt x="3129100" y="22671"/>
                </a:lnTo>
                <a:lnTo>
                  <a:pt x="3130653" y="22622"/>
                </a:lnTo>
                <a:cubicBezTo>
                  <a:pt x="3178874" y="19804"/>
                  <a:pt x="3260845" y="26231"/>
                  <a:pt x="3352422" y="32691"/>
                </a:cubicBezTo>
                <a:lnTo>
                  <a:pt x="3362608" y="33356"/>
                </a:lnTo>
                <a:lnTo>
                  <a:pt x="3446036" y="35579"/>
                </a:lnTo>
                <a:cubicBezTo>
                  <a:pt x="3550323" y="36566"/>
                  <a:pt x="3662083" y="33535"/>
                  <a:pt x="3778601" y="22622"/>
                </a:cubicBezTo>
                <a:cubicBezTo>
                  <a:pt x="3793981" y="243672"/>
                  <a:pt x="3764152" y="318695"/>
                  <a:pt x="3778601" y="467157"/>
                </a:cubicBezTo>
                <a:cubicBezTo>
                  <a:pt x="3790077" y="557563"/>
                  <a:pt x="3783697" y="684218"/>
                  <a:pt x="3777639" y="811856"/>
                </a:cubicBezTo>
                <a:lnTo>
                  <a:pt x="3773760" y="922625"/>
                </a:lnTo>
                <a:lnTo>
                  <a:pt x="3778601" y="974384"/>
                </a:lnTo>
                <a:cubicBezTo>
                  <a:pt x="3785784" y="1003717"/>
                  <a:pt x="3785160" y="1041120"/>
                  <a:pt x="3781239" y="1085904"/>
                </a:cubicBezTo>
                <a:lnTo>
                  <a:pt x="3776107" y="1132519"/>
                </a:lnTo>
                <a:lnTo>
                  <a:pt x="3778601" y="1162456"/>
                </a:lnTo>
                <a:cubicBezTo>
                  <a:pt x="3791360" y="1256797"/>
                  <a:pt x="3774958" y="1367020"/>
                  <a:pt x="3763568" y="1469787"/>
                </a:cubicBezTo>
                <a:lnTo>
                  <a:pt x="3758806" y="1520515"/>
                </a:lnTo>
                <a:lnTo>
                  <a:pt x="3760417" y="1549437"/>
                </a:lnTo>
                <a:cubicBezTo>
                  <a:pt x="3764298" y="1588133"/>
                  <a:pt x="3770171" y="1628243"/>
                  <a:pt x="3778601" y="1669683"/>
                </a:cubicBezTo>
                <a:cubicBezTo>
                  <a:pt x="3846039" y="2001203"/>
                  <a:pt x="3774784" y="2142285"/>
                  <a:pt x="3778601" y="2364982"/>
                </a:cubicBezTo>
                <a:lnTo>
                  <a:pt x="3776565" y="2406088"/>
                </a:lnTo>
                <a:lnTo>
                  <a:pt x="3778601" y="2427673"/>
                </a:lnTo>
                <a:cubicBezTo>
                  <a:pt x="3821357" y="2695960"/>
                  <a:pt x="3735684" y="2699438"/>
                  <a:pt x="3778601" y="2809517"/>
                </a:cubicBezTo>
                <a:cubicBezTo>
                  <a:pt x="3789330" y="2837037"/>
                  <a:pt x="3791666" y="2872927"/>
                  <a:pt x="3789892" y="2914654"/>
                </a:cubicBezTo>
                <a:lnTo>
                  <a:pt x="3784971" y="2966248"/>
                </a:lnTo>
                <a:lnTo>
                  <a:pt x="3796722" y="3024078"/>
                </a:lnTo>
                <a:cubicBezTo>
                  <a:pt x="3809238" y="3115139"/>
                  <a:pt x="3806232" y="3210898"/>
                  <a:pt x="3799338" y="3302850"/>
                </a:cubicBezTo>
                <a:lnTo>
                  <a:pt x="3787405" y="3438354"/>
                </a:lnTo>
                <a:lnTo>
                  <a:pt x="3790719" y="3460532"/>
                </a:lnTo>
                <a:cubicBezTo>
                  <a:pt x="3797323" y="3541872"/>
                  <a:pt x="3789007" y="3624193"/>
                  <a:pt x="3780361" y="3709762"/>
                </a:cubicBezTo>
                <a:lnTo>
                  <a:pt x="3780169" y="3712283"/>
                </a:lnTo>
                <a:lnTo>
                  <a:pt x="3781239" y="3768266"/>
                </a:lnTo>
                <a:cubicBezTo>
                  <a:pt x="3780994" y="3815588"/>
                  <a:pt x="3779902" y="3863939"/>
                  <a:pt x="3778794" y="3912511"/>
                </a:cubicBezTo>
                <a:lnTo>
                  <a:pt x="3776324" y="4054010"/>
                </a:lnTo>
                <a:lnTo>
                  <a:pt x="3778601" y="4074733"/>
                </a:lnTo>
                <a:cubicBezTo>
                  <a:pt x="3822365" y="4336760"/>
                  <a:pt x="3765189" y="4482586"/>
                  <a:pt x="3778601" y="4644650"/>
                </a:cubicBezTo>
                <a:cubicBezTo>
                  <a:pt x="3781954" y="4685166"/>
                  <a:pt x="3782850" y="4718916"/>
                  <a:pt x="3782504" y="4749344"/>
                </a:cubicBezTo>
                <a:lnTo>
                  <a:pt x="3780512" y="4796832"/>
                </a:lnTo>
                <a:lnTo>
                  <a:pt x="3786260" y="4877451"/>
                </a:lnTo>
                <a:cubicBezTo>
                  <a:pt x="3786165" y="4918212"/>
                  <a:pt x="3784020" y="4964155"/>
                  <a:pt x="3781623" y="5015963"/>
                </a:cubicBezTo>
                <a:lnTo>
                  <a:pt x="3779076" y="5087925"/>
                </a:lnTo>
                <a:lnTo>
                  <a:pt x="3779599" y="5155456"/>
                </a:lnTo>
                <a:lnTo>
                  <a:pt x="3775907" y="5219073"/>
                </a:lnTo>
                <a:lnTo>
                  <a:pt x="3778601" y="5402640"/>
                </a:lnTo>
                <a:cubicBezTo>
                  <a:pt x="3780494" y="5441637"/>
                  <a:pt x="3781680" y="5475146"/>
                  <a:pt x="3782335" y="5504141"/>
                </a:cubicBezTo>
                <a:lnTo>
                  <a:pt x="3782798" y="5566951"/>
                </a:lnTo>
                <a:lnTo>
                  <a:pt x="3786885" y="5599303"/>
                </a:lnTo>
                <a:cubicBezTo>
                  <a:pt x="3799534" y="5776838"/>
                  <a:pt x="3769350" y="6111156"/>
                  <a:pt x="3778601" y="6291711"/>
                </a:cubicBezTo>
                <a:cubicBezTo>
                  <a:pt x="3687392" y="6306733"/>
                  <a:pt x="3632350" y="6304889"/>
                  <a:pt x="3574752" y="6300212"/>
                </a:cubicBezTo>
                <a:lnTo>
                  <a:pt x="3545837" y="6297718"/>
                </a:lnTo>
                <a:lnTo>
                  <a:pt x="3527963" y="6296834"/>
                </a:lnTo>
                <a:cubicBezTo>
                  <a:pt x="3482151" y="6294419"/>
                  <a:pt x="3430025" y="6291672"/>
                  <a:pt x="3355561" y="6291711"/>
                </a:cubicBezTo>
                <a:cubicBezTo>
                  <a:pt x="3304843" y="6293555"/>
                  <a:pt x="3262749" y="6292377"/>
                  <a:pt x="3225711" y="6290098"/>
                </a:cubicBezTo>
                <a:lnTo>
                  <a:pt x="3218247" y="6289525"/>
                </a:lnTo>
                <a:lnTo>
                  <a:pt x="3198550" y="6289212"/>
                </a:lnTo>
                <a:cubicBezTo>
                  <a:pt x="3144315" y="6287803"/>
                  <a:pt x="3088976" y="6286105"/>
                  <a:pt x="3034921" y="6284968"/>
                </a:cubicBezTo>
                <a:lnTo>
                  <a:pt x="2973802" y="6284626"/>
                </a:lnTo>
                <a:lnTo>
                  <a:pt x="2932520" y="6291711"/>
                </a:lnTo>
                <a:cubicBezTo>
                  <a:pt x="2893699" y="6300111"/>
                  <a:pt x="2847670" y="6301992"/>
                  <a:pt x="2797581" y="6300669"/>
                </a:cubicBezTo>
                <a:lnTo>
                  <a:pt x="2672392" y="6292599"/>
                </a:lnTo>
                <a:lnTo>
                  <a:pt x="2629726" y="6293120"/>
                </a:lnTo>
                <a:lnTo>
                  <a:pt x="2540544" y="6284698"/>
                </a:lnTo>
                <a:lnTo>
                  <a:pt x="2473475" y="6280786"/>
                </a:lnTo>
                <a:cubicBezTo>
                  <a:pt x="2419724" y="6279900"/>
                  <a:pt x="2368202" y="6282437"/>
                  <a:pt x="2322057" y="6291711"/>
                </a:cubicBezTo>
                <a:cubicBezTo>
                  <a:pt x="2275912" y="6300985"/>
                  <a:pt x="2236301" y="6305003"/>
                  <a:pt x="2199195" y="6305968"/>
                </a:cubicBezTo>
                <a:lnTo>
                  <a:pt x="2094190" y="6302012"/>
                </a:lnTo>
                <a:lnTo>
                  <a:pt x="2029724" y="6307766"/>
                </a:lnTo>
                <a:cubicBezTo>
                  <a:pt x="1971866" y="6308389"/>
                  <a:pt x="1916420" y="6305265"/>
                  <a:pt x="1864312" y="6301339"/>
                </a:cubicBezTo>
                <a:lnTo>
                  <a:pt x="1761307" y="6293375"/>
                </a:lnTo>
                <a:lnTo>
                  <a:pt x="1745972" y="6293782"/>
                </a:lnTo>
                <a:cubicBezTo>
                  <a:pt x="1699734" y="6294177"/>
                  <a:pt x="1664143" y="6292827"/>
                  <a:pt x="1633352" y="6291083"/>
                </a:cubicBezTo>
                <a:lnTo>
                  <a:pt x="1621369" y="6290324"/>
                </a:lnTo>
                <a:lnTo>
                  <a:pt x="1599140" y="6291711"/>
                </a:lnTo>
                <a:cubicBezTo>
                  <a:pt x="1564093" y="6296354"/>
                  <a:pt x="1527169" y="6296254"/>
                  <a:pt x="1488567" y="6294097"/>
                </a:cubicBezTo>
                <a:lnTo>
                  <a:pt x="1429716" y="6289243"/>
                </a:lnTo>
                <a:lnTo>
                  <a:pt x="1401008" y="6291711"/>
                </a:lnTo>
                <a:cubicBezTo>
                  <a:pt x="1314301" y="6301163"/>
                  <a:pt x="1222976" y="6299856"/>
                  <a:pt x="1127367" y="6296839"/>
                </a:cubicBezTo>
                <a:lnTo>
                  <a:pt x="1062601" y="6295730"/>
                </a:lnTo>
                <a:lnTo>
                  <a:pt x="964991" y="6305909"/>
                </a:lnTo>
                <a:cubicBezTo>
                  <a:pt x="833250" y="6307778"/>
                  <a:pt x="714190" y="6280255"/>
                  <a:pt x="603122" y="6291711"/>
                </a:cubicBezTo>
                <a:cubicBezTo>
                  <a:pt x="455032" y="6306986"/>
                  <a:pt x="261206" y="6260346"/>
                  <a:pt x="30143" y="6291711"/>
                </a:cubicBezTo>
                <a:cubicBezTo>
                  <a:pt x="-1198" y="6167281"/>
                  <a:pt x="7291" y="6044138"/>
                  <a:pt x="19371" y="5934598"/>
                </a:cubicBezTo>
                <a:lnTo>
                  <a:pt x="33559" y="5801663"/>
                </a:lnTo>
                <a:lnTo>
                  <a:pt x="30143" y="5784485"/>
                </a:lnTo>
                <a:cubicBezTo>
                  <a:pt x="7257" y="5691455"/>
                  <a:pt x="7506" y="5585492"/>
                  <a:pt x="13352" y="5476692"/>
                </a:cubicBezTo>
                <a:lnTo>
                  <a:pt x="21882" y="5346809"/>
                </a:lnTo>
                <a:lnTo>
                  <a:pt x="22064" y="5339439"/>
                </a:lnTo>
                <a:lnTo>
                  <a:pt x="29601" y="5166357"/>
                </a:lnTo>
                <a:lnTo>
                  <a:pt x="30143" y="5151877"/>
                </a:lnTo>
                <a:cubicBezTo>
                  <a:pt x="30018" y="5125783"/>
                  <a:pt x="30111" y="5102484"/>
                  <a:pt x="30346" y="5081409"/>
                </a:cubicBezTo>
                <a:lnTo>
                  <a:pt x="30433" y="5076663"/>
                </a:lnTo>
                <a:lnTo>
                  <a:pt x="30143" y="4963804"/>
                </a:lnTo>
                <a:cubicBezTo>
                  <a:pt x="27040" y="4910138"/>
                  <a:pt x="27067" y="4856021"/>
                  <a:pt x="28459" y="4800989"/>
                </a:cubicBezTo>
                <a:lnTo>
                  <a:pt x="30399" y="4750796"/>
                </a:lnTo>
                <a:lnTo>
                  <a:pt x="31514" y="4666872"/>
                </a:lnTo>
                <a:lnTo>
                  <a:pt x="34697" y="4639551"/>
                </a:lnTo>
                <a:lnTo>
                  <a:pt x="34963" y="4632686"/>
                </a:lnTo>
                <a:cubicBezTo>
                  <a:pt x="37318" y="4575362"/>
                  <a:pt x="39271" y="4516661"/>
                  <a:pt x="39056" y="4456118"/>
                </a:cubicBezTo>
                <a:lnTo>
                  <a:pt x="36996" y="4412759"/>
                </a:lnTo>
                <a:lnTo>
                  <a:pt x="30143" y="4388188"/>
                </a:lnTo>
                <a:cubicBezTo>
                  <a:pt x="7389" y="4328002"/>
                  <a:pt x="11492" y="4256950"/>
                  <a:pt x="19232" y="4188739"/>
                </a:cubicBezTo>
                <a:lnTo>
                  <a:pt x="23985" y="4147809"/>
                </a:lnTo>
                <a:lnTo>
                  <a:pt x="23690" y="4087290"/>
                </a:lnTo>
                <a:lnTo>
                  <a:pt x="29097" y="3984687"/>
                </a:lnTo>
                <a:lnTo>
                  <a:pt x="28035" y="3962690"/>
                </a:lnTo>
                <a:cubicBezTo>
                  <a:pt x="28525" y="3945828"/>
                  <a:pt x="30052" y="3926691"/>
                  <a:pt x="32148" y="3905387"/>
                </a:cubicBezTo>
                <a:lnTo>
                  <a:pt x="34754" y="3881032"/>
                </a:lnTo>
                <a:lnTo>
                  <a:pt x="39206" y="3802233"/>
                </a:lnTo>
                <a:cubicBezTo>
                  <a:pt x="39778" y="3763353"/>
                  <a:pt x="37619" y="3728800"/>
                  <a:pt x="30143" y="3698588"/>
                </a:cubicBezTo>
                <a:cubicBezTo>
                  <a:pt x="7714" y="3607954"/>
                  <a:pt x="33117" y="3482508"/>
                  <a:pt x="36579" y="3365983"/>
                </a:cubicBezTo>
                <a:lnTo>
                  <a:pt x="36510" y="3356621"/>
                </a:lnTo>
                <a:lnTo>
                  <a:pt x="30143" y="3311044"/>
                </a:lnTo>
                <a:cubicBezTo>
                  <a:pt x="14271" y="3224157"/>
                  <a:pt x="11445" y="3149243"/>
                  <a:pt x="14856" y="3082749"/>
                </a:cubicBezTo>
                <a:lnTo>
                  <a:pt x="22229" y="3005366"/>
                </a:lnTo>
                <a:lnTo>
                  <a:pt x="27244" y="2895198"/>
                </a:lnTo>
                <a:cubicBezTo>
                  <a:pt x="29143" y="2848776"/>
                  <a:pt x="30527" y="2799531"/>
                  <a:pt x="30143" y="2746826"/>
                </a:cubicBezTo>
                <a:lnTo>
                  <a:pt x="36784" y="2638240"/>
                </a:lnTo>
                <a:lnTo>
                  <a:pt x="30143" y="2615745"/>
                </a:lnTo>
                <a:cubicBezTo>
                  <a:pt x="-20952" y="2495890"/>
                  <a:pt x="17898" y="2340273"/>
                  <a:pt x="37923" y="2201958"/>
                </a:cubicBezTo>
                <a:lnTo>
                  <a:pt x="42734" y="2158379"/>
                </a:lnTo>
                <a:lnTo>
                  <a:pt x="30143" y="2114218"/>
                </a:lnTo>
                <a:cubicBezTo>
                  <a:pt x="2269" y="2040950"/>
                  <a:pt x="-2735" y="1972014"/>
                  <a:pt x="1162" y="1906697"/>
                </a:cubicBezTo>
                <a:lnTo>
                  <a:pt x="6289" y="1854885"/>
                </a:lnTo>
                <a:lnTo>
                  <a:pt x="8053" y="1809168"/>
                </a:lnTo>
                <a:cubicBezTo>
                  <a:pt x="9832" y="1790244"/>
                  <a:pt x="12470" y="1771472"/>
                  <a:pt x="15415" y="1752867"/>
                </a:cubicBezTo>
                <a:lnTo>
                  <a:pt x="30925" y="1652561"/>
                </a:lnTo>
                <a:lnTo>
                  <a:pt x="30143" y="1606992"/>
                </a:lnTo>
                <a:cubicBezTo>
                  <a:pt x="28397" y="1588584"/>
                  <a:pt x="27931" y="1568665"/>
                  <a:pt x="28348" y="1547550"/>
                </a:cubicBezTo>
                <a:lnTo>
                  <a:pt x="29206" y="1531212"/>
                </a:lnTo>
                <a:lnTo>
                  <a:pt x="23637" y="1487282"/>
                </a:lnTo>
                <a:cubicBezTo>
                  <a:pt x="16479" y="1367166"/>
                  <a:pt x="59638" y="1246041"/>
                  <a:pt x="30143" y="1156757"/>
                </a:cubicBezTo>
                <a:cubicBezTo>
                  <a:pt x="21716" y="1131248"/>
                  <a:pt x="18318" y="1090735"/>
                  <a:pt x="17757" y="1041370"/>
                </a:cubicBezTo>
                <a:lnTo>
                  <a:pt x="18463" y="985697"/>
                </a:lnTo>
                <a:lnTo>
                  <a:pt x="16239" y="975915"/>
                </a:lnTo>
                <a:cubicBezTo>
                  <a:pt x="13541" y="957312"/>
                  <a:pt x="12597" y="940330"/>
                  <a:pt x="12862" y="924477"/>
                </a:cubicBezTo>
                <a:lnTo>
                  <a:pt x="23640" y="845857"/>
                </a:lnTo>
                <a:lnTo>
                  <a:pt x="30907" y="688163"/>
                </a:lnTo>
                <a:lnTo>
                  <a:pt x="31375" y="662715"/>
                </a:lnTo>
                <a:lnTo>
                  <a:pt x="30143" y="655230"/>
                </a:lnTo>
                <a:cubicBezTo>
                  <a:pt x="20345" y="615334"/>
                  <a:pt x="17924" y="569960"/>
                  <a:pt x="19185" y="520814"/>
                </a:cubicBezTo>
                <a:lnTo>
                  <a:pt x="26662" y="415314"/>
                </a:lnTo>
                <a:lnTo>
                  <a:pt x="25635" y="383217"/>
                </a:lnTo>
                <a:cubicBezTo>
                  <a:pt x="25461" y="243905"/>
                  <a:pt x="35455" y="113017"/>
                  <a:pt x="30143" y="22622"/>
                </a:cubicBezTo>
                <a:cubicBezTo>
                  <a:pt x="90096" y="13526"/>
                  <a:pt x="146841" y="12585"/>
                  <a:pt x="200495" y="15390"/>
                </a:cubicBezTo>
                <a:lnTo>
                  <a:pt x="324102" y="27794"/>
                </a:lnTo>
                <a:lnTo>
                  <a:pt x="329634" y="27979"/>
                </a:lnTo>
                <a:cubicBezTo>
                  <a:pt x="398332" y="30204"/>
                  <a:pt x="468106" y="31425"/>
                  <a:pt x="551798" y="27886"/>
                </a:cubicBezTo>
                <a:lnTo>
                  <a:pt x="592464" y="25476"/>
                </a:lnTo>
                <a:lnTo>
                  <a:pt x="603122" y="22622"/>
                </a:lnTo>
                <a:cubicBezTo>
                  <a:pt x="639294" y="8191"/>
                  <a:pt x="679641" y="1916"/>
                  <a:pt x="723201" y="386"/>
                </a:cubicBezTo>
                <a:close/>
              </a:path>
            </a:pathLst>
          </a:custGeom>
        </p:spPr>
      </p:pic>
      <p:sp>
        <p:nvSpPr>
          <p:cNvPr id="3" name="Content Placeholder 2"/>
          <p:cNvSpPr>
            <a:spLocks noGrp="1"/>
          </p:cNvSpPr>
          <p:nvPr>
            <p:ph sz="half" idx="1"/>
          </p:nvPr>
        </p:nvSpPr>
        <p:spPr>
          <a:xfrm>
            <a:off x="4696690" y="1911493"/>
            <a:ext cx="7301345" cy="4707968"/>
          </a:xfrm>
        </p:spPr>
        <p:txBody>
          <a:bodyPr vert="horz" lIns="91440" tIns="45720" rIns="91440" bIns="45720" rtlCol="0" anchor="t">
            <a:normAutofit/>
          </a:bodyPr>
          <a:lstStyle/>
          <a:p>
            <a:r>
              <a:rPr lang="en-US" sz="2200" dirty="0"/>
              <a:t>Scholasticism (from the Greek </a:t>
            </a:r>
            <a:r>
              <a:rPr lang="en-US" sz="2200" dirty="0" err="1"/>
              <a:t>scholastikos</a:t>
            </a:r>
            <a:r>
              <a:rPr lang="en-US" sz="2200" dirty="0"/>
              <a:t> - school, scientist), a type of religious philosophy </a:t>
            </a:r>
          </a:p>
          <a:p>
            <a:r>
              <a:rPr lang="en-US" sz="2200" dirty="0"/>
              <a:t>Characterized by a combination of theological-dogmatic premises with a rationalistic methodology and an interest in formal-logical problems. </a:t>
            </a:r>
          </a:p>
          <a:p>
            <a:r>
              <a:rPr lang="en-US" sz="2200" dirty="0"/>
              <a:t>Scholasticism has received the greatest development in the Western Europe in the Middle Ages. </a:t>
            </a:r>
          </a:p>
          <a:p>
            <a:r>
              <a:rPr lang="en-US" sz="2200" dirty="0"/>
              <a:t>Those who teach in the Palace of Great Charles [</a:t>
            </a:r>
            <a:r>
              <a:rPr lang="en-US" sz="2200" dirty="0" err="1"/>
              <a:t>ʧɑːlz</a:t>
            </a:r>
            <a:r>
              <a:rPr lang="en-US" sz="2200" dirty="0"/>
              <a:t>] (742-814), or teachers in the Court school, are often called scholastics. Scholars of the Middle Ages, who implemented philosophy in studying the religion, also called Scholastics. </a:t>
            </a:r>
          </a:p>
          <a:p>
            <a:r>
              <a:rPr lang="en-US" sz="2200" dirty="0"/>
              <a:t>Ancestors (and later companions) of Christian scholasticism were Islamic </a:t>
            </a:r>
            <a:r>
              <a:rPr lang="en-US" sz="2200" dirty="0" err="1"/>
              <a:t>Ilm</a:t>
            </a:r>
            <a:r>
              <a:rPr lang="en-US" sz="2200" dirty="0"/>
              <a:t> al-</a:t>
            </a:r>
            <a:r>
              <a:rPr lang="en-US" sz="2200" dirty="0" err="1"/>
              <a:t>Kalām</a:t>
            </a:r>
            <a:r>
              <a:rPr lang="en-US" sz="2200" dirty="0"/>
              <a:t> and Jewish Kalam.</a:t>
            </a:r>
          </a:p>
        </p:txBody>
      </p:sp>
    </p:spTree>
    <p:extLst>
      <p:ext uri="{BB962C8B-B14F-4D97-AF65-F5344CB8AC3E}">
        <p14:creationId xmlns:p14="http://schemas.microsoft.com/office/powerpoint/2010/main" val="3757192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1000"/>
                                        <p:tgtEl>
                                          <p:spTgt spid="3">
                                            <p:txEl>
                                              <p:pRg st="1" end="1"/>
                                            </p:txEl>
                                          </p:spTgt>
                                        </p:tgtEl>
                                      </p:cBhvr>
                                    </p:animEffect>
                                    <p:anim calcmode="lin" valueType="num">
                                      <p:cBhvr>
                                        <p:cTn id="1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barn(inVertical)">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 calcmode="lin" valueType="num">
                                      <p:cBhvr additive="base">
                                        <p:cTn id="2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 calcmode="lin" valueType="num">
                                      <p:cBhvr additive="base">
                                        <p:cTn id="3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0080" y="329184"/>
            <a:ext cx="6894576" cy="1783080"/>
          </a:xfrm>
        </p:spPr>
        <p:txBody>
          <a:bodyPr anchor="b">
            <a:normAutofit/>
          </a:bodyPr>
          <a:lstStyle/>
          <a:p>
            <a:r>
              <a:rPr lang="en-US" sz="5400" b="1" dirty="0"/>
              <a:t>Thomas Aquinas</a:t>
            </a:r>
            <a:r>
              <a:rPr lang="en-US" sz="5400" dirty="0"/>
              <a:t> </a:t>
            </a:r>
            <a:endParaRPr lang="en-US" sz="5400" b="1" dirty="0"/>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40080" y="2706624"/>
            <a:ext cx="6894576" cy="3483864"/>
          </a:xfrm>
        </p:spPr>
        <p:txBody>
          <a:bodyPr>
            <a:normAutofit lnSpcReduction="10000"/>
          </a:bodyPr>
          <a:lstStyle/>
          <a:p>
            <a:r>
              <a:rPr lang="en-US" sz="2400" dirty="0"/>
              <a:t>Thomas Aquinas </a:t>
            </a:r>
            <a:r>
              <a:rPr lang="uz-Cyrl-UZ" sz="2400" dirty="0"/>
              <a:t>(122</a:t>
            </a:r>
            <a:r>
              <a:rPr lang="en-US" sz="2400" dirty="0"/>
              <a:t>5</a:t>
            </a:r>
            <a:r>
              <a:rPr lang="uz-Cyrl-UZ" sz="2400" dirty="0"/>
              <a:t>-12</a:t>
            </a:r>
            <a:r>
              <a:rPr lang="en-US" sz="2400" dirty="0"/>
              <a:t>74</a:t>
            </a:r>
            <a:r>
              <a:rPr lang="uz-Cyrl-UZ" sz="2400" dirty="0"/>
              <a:t>) is a major representative of moderate realism. </a:t>
            </a:r>
            <a:endParaRPr lang="en-US" sz="2400" dirty="0"/>
          </a:p>
          <a:p>
            <a:r>
              <a:rPr lang="en-US" sz="2400" dirty="0"/>
              <a:t>Thomas Aquinas </a:t>
            </a:r>
            <a:r>
              <a:rPr lang="uz-Cyrl-UZ" sz="2400" dirty="0"/>
              <a:t>tried to unite Aristotle's philosophy with theology. </a:t>
            </a:r>
            <a:endParaRPr lang="en-US" sz="2400" dirty="0"/>
          </a:p>
          <a:p>
            <a:r>
              <a:rPr lang="uz-Cyrl-UZ" sz="2400" dirty="0"/>
              <a:t>At the same time, he was in the position of moderate realism and was the greatest figure in the scholasticism. </a:t>
            </a:r>
            <a:endParaRPr lang="en-US" sz="2400" dirty="0"/>
          </a:p>
          <a:p>
            <a:r>
              <a:rPr lang="uz-Cyrl-UZ" sz="2400" dirty="0"/>
              <a:t>In his opinion, the thought of natural philosophy and the logic of Aristotle can reach the truth about the existence of god.</a:t>
            </a:r>
            <a:endParaRPr lang="en-US" sz="2400" dirty="0"/>
          </a:p>
          <a:p>
            <a:endParaRPr lang="en-US" sz="2200" dirty="0"/>
          </a:p>
        </p:txBody>
      </p:sp>
      <p:pic>
        <p:nvPicPr>
          <p:cNvPr id="5" name="Picture 4" descr="A book cover with a person holding a book&#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10133" y="329183"/>
            <a:ext cx="2121630" cy="3429969"/>
          </a:xfrm>
          <a:prstGeom prst="rect">
            <a:avLst/>
          </a:prstGeom>
        </p:spPr>
      </p:pic>
      <p:pic>
        <p:nvPicPr>
          <p:cNvPr id="4" name="Picture 3" descr="A person with a hat&#10;&#10;Description automatically generate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78504" y="4079193"/>
            <a:ext cx="2166599" cy="2176272"/>
          </a:xfrm>
          <a:prstGeom prst="rect">
            <a:avLst/>
          </a:prstGeom>
        </p:spPr>
      </p:pic>
    </p:spTree>
    <p:extLst>
      <p:ext uri="{BB962C8B-B14F-4D97-AF65-F5344CB8AC3E}">
        <p14:creationId xmlns:p14="http://schemas.microsoft.com/office/powerpoint/2010/main" val="3533245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additive="base">
                                        <p:cTn id="2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 calcmode="lin" valueType="num">
                                      <p:cBhvr additive="base">
                                        <p:cTn id="2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54296" y="329184"/>
            <a:ext cx="6894576" cy="1783080"/>
          </a:xfrm>
        </p:spPr>
        <p:txBody>
          <a:bodyPr vert="horz" lIns="91440" tIns="45720" rIns="91440" bIns="45720" rtlCol="0" anchor="b">
            <a:normAutofit/>
          </a:bodyPr>
          <a:lstStyle/>
          <a:p>
            <a:r>
              <a:rPr lang="en-US" sz="5400" b="1"/>
              <a:t>Heritage of Thomas Aquinas</a:t>
            </a:r>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rcRect l="3899" r="568" b="-1"/>
          <a:stretch/>
        </p:blipFill>
        <p:spPr>
          <a:xfrm>
            <a:off x="20" y="1"/>
            <a:ext cx="4052522" cy="6858000"/>
          </a:xfrm>
          <a:custGeom>
            <a:avLst/>
            <a:gdLst/>
            <a:ahLst/>
            <a:cxnLst/>
            <a:rect l="l" t="t" r="r" b="b"/>
            <a:pathLst>
              <a:path w="4052542" h="6858000">
                <a:moveTo>
                  <a:pt x="0" y="0"/>
                </a:moveTo>
                <a:lnTo>
                  <a:pt x="4020923" y="0"/>
                </a:lnTo>
                <a:lnTo>
                  <a:pt x="4022656" y="14697"/>
                </a:lnTo>
                <a:cubicBezTo>
                  <a:pt x="4037606" y="98462"/>
                  <a:pt x="4035072" y="183369"/>
                  <a:pt x="4039126" y="267642"/>
                </a:cubicBezTo>
                <a:cubicBezTo>
                  <a:pt x="4043941" y="370699"/>
                  <a:pt x="4037860" y="474136"/>
                  <a:pt x="4035579" y="577446"/>
                </a:cubicBezTo>
                <a:cubicBezTo>
                  <a:pt x="4033805" y="665399"/>
                  <a:pt x="4025063" y="753226"/>
                  <a:pt x="4027724" y="841306"/>
                </a:cubicBezTo>
                <a:cubicBezTo>
                  <a:pt x="4027914" y="844352"/>
                  <a:pt x="4027914" y="847398"/>
                  <a:pt x="4027724" y="850444"/>
                </a:cubicBezTo>
                <a:cubicBezTo>
                  <a:pt x="4019615" y="947281"/>
                  <a:pt x="4019615" y="1044626"/>
                  <a:pt x="4027724" y="1141464"/>
                </a:cubicBezTo>
                <a:cubicBezTo>
                  <a:pt x="4030296" y="1181772"/>
                  <a:pt x="4029574" y="1222221"/>
                  <a:pt x="4025570" y="1262415"/>
                </a:cubicBezTo>
                <a:cubicBezTo>
                  <a:pt x="4021769" y="1313563"/>
                  <a:pt x="4009606" y="1365472"/>
                  <a:pt x="4018348" y="1416238"/>
                </a:cubicBezTo>
                <a:cubicBezTo>
                  <a:pt x="4024037" y="1458058"/>
                  <a:pt x="4027166" y="1500194"/>
                  <a:pt x="4027724" y="1542394"/>
                </a:cubicBezTo>
                <a:cubicBezTo>
                  <a:pt x="4032158" y="1636820"/>
                  <a:pt x="4027977" y="1731753"/>
                  <a:pt x="4026330" y="1826433"/>
                </a:cubicBezTo>
                <a:cubicBezTo>
                  <a:pt x="4024556" y="1936724"/>
                  <a:pt x="4027344" y="2047015"/>
                  <a:pt x="4018475" y="2157432"/>
                </a:cubicBezTo>
                <a:cubicBezTo>
                  <a:pt x="4013597" y="2246629"/>
                  <a:pt x="4013597" y="2336029"/>
                  <a:pt x="4018475" y="2425226"/>
                </a:cubicBezTo>
                <a:cubicBezTo>
                  <a:pt x="4020882" y="2506961"/>
                  <a:pt x="4033172" y="2587934"/>
                  <a:pt x="4031145" y="2670557"/>
                </a:cubicBezTo>
                <a:cubicBezTo>
                  <a:pt x="4028737" y="2766886"/>
                  <a:pt x="4017335" y="2862962"/>
                  <a:pt x="4020882" y="2959546"/>
                </a:cubicBezTo>
                <a:cubicBezTo>
                  <a:pt x="4022529" y="3005617"/>
                  <a:pt x="4022656" y="3051688"/>
                  <a:pt x="4023543" y="3097758"/>
                </a:cubicBezTo>
                <a:cubicBezTo>
                  <a:pt x="4024683" y="3153221"/>
                  <a:pt x="4034692" y="3208556"/>
                  <a:pt x="4029117" y="3263892"/>
                </a:cubicBezTo>
                <a:cubicBezTo>
                  <a:pt x="4019869" y="3356161"/>
                  <a:pt x="3995923" y="3446906"/>
                  <a:pt x="4010873" y="3541459"/>
                </a:cubicBezTo>
                <a:cubicBezTo>
                  <a:pt x="4019108" y="3593495"/>
                  <a:pt x="4028357" y="3645658"/>
                  <a:pt x="4033172" y="3698201"/>
                </a:cubicBezTo>
                <a:cubicBezTo>
                  <a:pt x="4037353" y="3745160"/>
                  <a:pt x="4047868" y="3792881"/>
                  <a:pt x="4039886" y="3839586"/>
                </a:cubicBezTo>
                <a:cubicBezTo>
                  <a:pt x="4033045" y="3879565"/>
                  <a:pt x="4036592" y="3919544"/>
                  <a:pt x="4031271" y="3959523"/>
                </a:cubicBezTo>
                <a:cubicBezTo>
                  <a:pt x="4024303" y="4011939"/>
                  <a:pt x="4020629" y="4065244"/>
                  <a:pt x="4015308" y="4118042"/>
                </a:cubicBezTo>
                <a:cubicBezTo>
                  <a:pt x="4010620" y="4165889"/>
                  <a:pt x="4006946" y="4213610"/>
                  <a:pt x="4019615" y="4258539"/>
                </a:cubicBezTo>
                <a:cubicBezTo>
                  <a:pt x="4050656" y="4371622"/>
                  <a:pt x="4033679" y="4484070"/>
                  <a:pt x="4022023" y="4596391"/>
                </a:cubicBezTo>
                <a:cubicBezTo>
                  <a:pt x="4016321" y="4650965"/>
                  <a:pt x="4007959" y="4708712"/>
                  <a:pt x="4020629" y="4758718"/>
                </a:cubicBezTo>
                <a:cubicBezTo>
                  <a:pt x="4043941" y="4847432"/>
                  <a:pt x="4025697" y="4931705"/>
                  <a:pt x="4015561" y="5016866"/>
                </a:cubicBezTo>
                <a:cubicBezTo>
                  <a:pt x="4003335" y="5100174"/>
                  <a:pt x="4005096" y="5184929"/>
                  <a:pt x="4020756" y="5267654"/>
                </a:cubicBezTo>
                <a:cubicBezTo>
                  <a:pt x="4033172" y="5326035"/>
                  <a:pt x="4033172" y="5385432"/>
                  <a:pt x="4034692" y="5444194"/>
                </a:cubicBezTo>
                <a:cubicBezTo>
                  <a:pt x="4035579" y="5481001"/>
                  <a:pt x="4022023" y="5518441"/>
                  <a:pt x="4013027" y="5555120"/>
                </a:cubicBezTo>
                <a:cubicBezTo>
                  <a:pt x="3996937" y="5621371"/>
                  <a:pt x="3991109" y="5688636"/>
                  <a:pt x="4013027" y="5753237"/>
                </a:cubicBezTo>
                <a:cubicBezTo>
                  <a:pt x="4043561" y="5842713"/>
                  <a:pt x="4061045" y="5932189"/>
                  <a:pt x="4048375" y="6026870"/>
                </a:cubicBezTo>
                <a:cubicBezTo>
                  <a:pt x="4041027" y="6085251"/>
                  <a:pt x="4039380" y="6144902"/>
                  <a:pt x="4028357" y="6202522"/>
                </a:cubicBezTo>
                <a:cubicBezTo>
                  <a:pt x="4010240" y="6298091"/>
                  <a:pt x="4016701" y="6393024"/>
                  <a:pt x="4031145" y="6487196"/>
                </a:cubicBezTo>
                <a:cubicBezTo>
                  <a:pt x="4041293" y="6565885"/>
                  <a:pt x="4042395" y="6645474"/>
                  <a:pt x="4034439" y="6724403"/>
                </a:cubicBezTo>
                <a:lnTo>
                  <a:pt x="4025206" y="6858000"/>
                </a:lnTo>
                <a:lnTo>
                  <a:pt x="0" y="6858000"/>
                </a:lnTo>
                <a:close/>
              </a:path>
            </a:pathLst>
          </a:custGeom>
        </p:spPr>
      </p:pic>
      <p:sp>
        <p:nvSpPr>
          <p:cNvPr id="12" name="sketchy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half" idx="1"/>
          </p:nvPr>
        </p:nvSpPr>
        <p:spPr>
          <a:xfrm>
            <a:off x="4654296" y="2706624"/>
            <a:ext cx="6894576" cy="3483864"/>
          </a:xfrm>
        </p:spPr>
        <p:txBody>
          <a:bodyPr vert="horz" lIns="91440" tIns="45720" rIns="91440" bIns="45720" rtlCol="0">
            <a:normAutofit fontScale="92500" lnSpcReduction="10000"/>
          </a:bodyPr>
          <a:lstStyle/>
          <a:p>
            <a:r>
              <a:rPr lang="en-US" sz="2000" dirty="0"/>
              <a:t>His major work – “Summa Theologica” consists of 3,000 articles dedicated to covering 600 issues. </a:t>
            </a:r>
          </a:p>
          <a:p>
            <a:r>
              <a:rPr lang="en-US" sz="2000" dirty="0"/>
              <a:t>It is a systematic explanation of theology. The first part of the "Summa Theologica" discusses the existence of God. The second part describes "Moving Towards God“</a:t>
            </a:r>
          </a:p>
          <a:p>
            <a:r>
              <a:rPr lang="en-US" sz="2000" dirty="0"/>
              <a:t>According to Aquinas, the world looks like as a hierarchical ladder. </a:t>
            </a:r>
          </a:p>
          <a:p>
            <a:r>
              <a:rPr lang="en-US" sz="2000" dirty="0"/>
              <a:t>The Earth is at its bottom, there are 4 elements which constitute all bodies. </a:t>
            </a:r>
          </a:p>
          <a:p>
            <a:r>
              <a:rPr lang="en-US" sz="2000" dirty="0"/>
              <a:t>The human soul occupies a place between the God and the material world. At the top of a secular society, the pope is standing as a ruler of divine state. As he moves from the Earth, he becomes divine. There is an angelic world above the planet Earth. </a:t>
            </a:r>
          </a:p>
          <a:p>
            <a:endParaRPr lang="en-US" sz="1500" dirty="0"/>
          </a:p>
        </p:txBody>
      </p:sp>
    </p:spTree>
    <p:extLst>
      <p:ext uri="{BB962C8B-B14F-4D97-AF65-F5344CB8AC3E}">
        <p14:creationId xmlns:p14="http://schemas.microsoft.com/office/powerpoint/2010/main" val="391551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2493" y="238539"/>
            <a:ext cx="11018520" cy="1434415"/>
          </a:xfrm>
        </p:spPr>
        <p:txBody>
          <a:bodyPr vert="horz" lIns="91440" tIns="45720" rIns="91440" bIns="45720" rtlCol="0" anchor="b">
            <a:normAutofit/>
          </a:bodyPr>
          <a:lstStyle/>
          <a:p>
            <a:r>
              <a:rPr lang="en-US" sz="5400" b="1"/>
              <a:t>Roger Bacon</a:t>
            </a:r>
          </a:p>
        </p:txBody>
      </p:sp>
      <p:sp>
        <p:nvSpPr>
          <p:cNvPr id="13"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half" idx="1"/>
          </p:nvPr>
        </p:nvSpPr>
        <p:spPr>
          <a:xfrm>
            <a:off x="572492" y="2071315"/>
            <a:ext cx="7103165" cy="4548145"/>
          </a:xfrm>
        </p:spPr>
        <p:txBody>
          <a:bodyPr vert="horz" lIns="91440" tIns="45720" rIns="91440" bIns="45720" rtlCol="0" anchor="t">
            <a:noAutofit/>
          </a:bodyPr>
          <a:lstStyle/>
          <a:p>
            <a:r>
              <a:rPr lang="en-US" sz="1900" dirty="0"/>
              <a:t>Roger Bacon (1214 - 1292), also known as the Amazing Doctor (Latin Doctor Mirabilis), English philosopher and naturalist, professor of theology at Oxford. He was engaged in mathematics, chemistry and physics.</a:t>
            </a:r>
          </a:p>
          <a:p>
            <a:r>
              <a:rPr lang="en-US" sz="1900" dirty="0"/>
              <a:t>In philosophy, Bacon did not create a new teaching, but he criticized the methods and theories of his time. The first spoke against scholasticism and spoke sharply about the then great authorities (Albert the Great, Thomas Aquinas, etc.). His work "Opus majus" (1268) carries the idea of the uselessness of abstract dialectics, the need to study nature through observation and subordinate it to the laws of mathematical calculation.</a:t>
            </a:r>
          </a:p>
          <a:p>
            <a:r>
              <a:rPr lang="en-US" sz="1900" dirty="0"/>
              <a:t>He believed that only mathematics, as a science, is the most reliable and unquestionable. With its help, you can check the data of all other sciences. In addition, he argued that mathematics is the easiest of sciences and is accessible to everyone.</a:t>
            </a:r>
          </a:p>
        </p:txBody>
      </p:sp>
      <p:pic>
        <p:nvPicPr>
          <p:cNvPr id="6" name="Content Placeholder 5" descr="A close-up of a person&#10;&#10;Description automatically generated"/>
          <p:cNvPicPr>
            <a:picLocks noGrp="1" noChangeAspect="1"/>
          </p:cNvPicPr>
          <p:nvPr>
            <p:ph sz="half" idx="2"/>
          </p:nvPr>
        </p:nvPicPr>
        <p:blipFill>
          <a:blip r:embed="rId2">
            <a:extLst>
              <a:ext uri="{28A0092B-C50C-407E-A947-70E740481C1C}">
                <a14:useLocalDpi xmlns:a14="http://schemas.microsoft.com/office/drawing/2010/main" val="0"/>
              </a:ext>
            </a:extLst>
          </a:blip>
          <a:srcRect t="6395" r="-1" b="27391"/>
          <a:stretch/>
        </p:blipFill>
        <p:spPr>
          <a:xfrm>
            <a:off x="7675658" y="2093976"/>
            <a:ext cx="3941064" cy="4096512"/>
          </a:xfrm>
          <a:prstGeom prst="rect">
            <a:avLst/>
          </a:prstGeom>
        </p:spPr>
      </p:pic>
    </p:spTree>
    <p:extLst>
      <p:ext uri="{BB962C8B-B14F-4D97-AF65-F5344CB8AC3E}">
        <p14:creationId xmlns:p14="http://schemas.microsoft.com/office/powerpoint/2010/main" val="1597990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9528"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245072" y="1289765"/>
            <a:ext cx="3651101" cy="4270963"/>
          </a:xfrm>
        </p:spPr>
        <p:txBody>
          <a:bodyPr vert="horz" lIns="91440" tIns="45720" rIns="91440" bIns="45720" rtlCol="0" anchor="ctr">
            <a:normAutofit/>
          </a:bodyPr>
          <a:lstStyle/>
          <a:p>
            <a:pPr algn="ctr"/>
            <a:r>
              <a:rPr lang="en-US" sz="5600" b="1" kern="1200">
                <a:solidFill>
                  <a:srgbClr val="FFFFFF"/>
                </a:solidFill>
                <a:latin typeface="+mj-lt"/>
                <a:ea typeface="+mj-ea"/>
                <a:cs typeface="+mj-cs"/>
              </a:rPr>
              <a:t>Roger Bacon</a:t>
            </a:r>
          </a:p>
        </p:txBody>
      </p:sp>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493" y="374394"/>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109" y="1084507"/>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3" name="Content Placeholder 2"/>
          <p:cNvSpPr>
            <a:spLocks noGrp="1"/>
          </p:cNvSpPr>
          <p:nvPr>
            <p:ph sz="half" idx="1"/>
          </p:nvPr>
        </p:nvSpPr>
        <p:spPr>
          <a:xfrm>
            <a:off x="6297233" y="518400"/>
            <a:ext cx="4771607" cy="5837949"/>
          </a:xfrm>
        </p:spPr>
        <p:txBody>
          <a:bodyPr vert="horz" lIns="91440" tIns="45720" rIns="91440" bIns="45720" rtlCol="0" anchor="ctr">
            <a:normAutofit lnSpcReduction="10000"/>
          </a:bodyPr>
          <a:lstStyle/>
          <a:p>
            <a:endParaRPr lang="en-US" sz="2000" dirty="0">
              <a:solidFill>
                <a:schemeClr val="tx1">
                  <a:alpha val="80000"/>
                </a:schemeClr>
              </a:solidFill>
            </a:endParaRPr>
          </a:p>
          <a:p>
            <a:r>
              <a:rPr lang="en-US" sz="2400" dirty="0">
                <a:solidFill>
                  <a:schemeClr val="tx1">
                    <a:alpha val="80000"/>
                  </a:schemeClr>
                </a:solidFill>
              </a:rPr>
              <a:t>Bacon distinguished two types of experience: </a:t>
            </a:r>
          </a:p>
          <a:p>
            <a:r>
              <a:rPr lang="en-US" sz="2400" dirty="0">
                <a:solidFill>
                  <a:schemeClr val="tx1">
                    <a:alpha val="80000"/>
                  </a:schemeClr>
                </a:solidFill>
              </a:rPr>
              <a:t>real, life experience, which can be acquired only in the process of life</a:t>
            </a:r>
          </a:p>
          <a:p>
            <a:r>
              <a:rPr lang="en-US" sz="2400" dirty="0">
                <a:solidFill>
                  <a:schemeClr val="tx1">
                    <a:alpha val="80000"/>
                  </a:schemeClr>
                </a:solidFill>
              </a:rPr>
              <a:t>experience is evidence obtained through external senses. It deals only with material objects. </a:t>
            </a:r>
          </a:p>
          <a:p>
            <a:r>
              <a:rPr lang="en-US" sz="2400" dirty="0">
                <a:solidFill>
                  <a:schemeClr val="tx1">
                    <a:alpha val="80000"/>
                  </a:schemeClr>
                </a:solidFill>
              </a:rPr>
              <a:t>But there is still spiritual experience, Bacon argued, which it is possible to know only the chosen people through the mystical state, through inner insight. This idea anticipated the emergence of ideas about heuristic insight and the role of intuition in science.</a:t>
            </a:r>
          </a:p>
          <a:p>
            <a:endParaRPr lang="en-US" sz="2000" dirty="0">
              <a:solidFill>
                <a:schemeClr val="tx1">
                  <a:alpha val="80000"/>
                </a:schemeClr>
              </a:solidFill>
            </a:endParaRPr>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547" y="5751820"/>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18"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5837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barn(inVertical)">
                                      <p:cBhvr>
                                        <p:cTn id="13" dur="500"/>
                                        <p:tgtEl>
                                          <p:spTgt spid="3">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barn(inVertical)">
                                      <p:cBhvr>
                                        <p:cTn id="18" dur="5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barn(inVertical)">
                                      <p:cBhvr>
                                        <p:cTn id="23" dur="500"/>
                                        <p:tgtEl>
                                          <p:spTgt spid="3">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barn(inVertical)">
                                      <p:cBhvr>
                                        <p:cTn id="28"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ctr">
              <a:buNone/>
            </a:pPr>
            <a:endParaRPr lang="en-US" dirty="0"/>
          </a:p>
          <a:p>
            <a:pPr marL="0" indent="0" algn="ctr">
              <a:buNone/>
            </a:pPr>
            <a:endParaRPr lang="en-US" dirty="0"/>
          </a:p>
          <a:p>
            <a:pPr marL="0" indent="0" algn="ctr">
              <a:buNone/>
            </a:pPr>
            <a:r>
              <a:rPr lang="en-US" sz="3200" i="1" dirty="0"/>
              <a:t>Thank you for your attention!</a:t>
            </a:r>
          </a:p>
        </p:txBody>
      </p:sp>
    </p:spTree>
    <p:extLst>
      <p:ext uri="{BB962C8B-B14F-4D97-AF65-F5344CB8AC3E}">
        <p14:creationId xmlns:p14="http://schemas.microsoft.com/office/powerpoint/2010/main" val="24524271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6776</TotalTime>
  <Words>1412</Words>
  <Application>Microsoft Macintosh PowerPoint</Application>
  <PresentationFormat>Widescreen</PresentationFormat>
  <Paragraphs>100</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Wingdings</vt:lpstr>
      <vt:lpstr>Office Theme</vt:lpstr>
      <vt:lpstr>Inha University in Tashkent</vt:lpstr>
      <vt:lpstr>Outline:</vt:lpstr>
      <vt:lpstr>Characteristic feature of the Period </vt:lpstr>
      <vt:lpstr>The Basics of Christianity</vt:lpstr>
      <vt:lpstr>Impact of Christianity</vt:lpstr>
      <vt:lpstr>Gnosticism</vt:lpstr>
      <vt:lpstr>Gnosticism</vt:lpstr>
      <vt:lpstr>Apologetics</vt:lpstr>
      <vt:lpstr>Apologetics</vt:lpstr>
      <vt:lpstr>Patristics</vt:lpstr>
      <vt:lpstr>Scholasticism</vt:lpstr>
      <vt:lpstr>Thomas Aquinas </vt:lpstr>
      <vt:lpstr>Heritage of Thomas Aquinas</vt:lpstr>
      <vt:lpstr>Roger Bacon</vt:lpstr>
      <vt:lpstr>Roger Bacon</vt:lpstr>
      <vt:lpstr>PowerPoint Presentation</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Ёш шарқшуносларнинг академик Убайдулла Каримов номидаги ХI илмий-амалий конференцияси</dc:title>
  <dc:creator>Batal</dc:creator>
  <cp:lastModifiedBy>kyakubov@outlook.com</cp:lastModifiedBy>
  <cp:revision>179</cp:revision>
  <dcterms:created xsi:type="dcterms:W3CDTF">2017-06-29T13:12:25Z</dcterms:created>
  <dcterms:modified xsi:type="dcterms:W3CDTF">2026-09-27T08:05:11Z</dcterms:modified>
</cp:coreProperties>
</file>