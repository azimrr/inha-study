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5"/>
  </p:notesMasterIdLst>
  <p:sldIdLst>
    <p:sldId id="257" r:id="rId2"/>
    <p:sldId id="258" r:id="rId3"/>
    <p:sldId id="303" r:id="rId4"/>
    <p:sldId id="304" r:id="rId5"/>
    <p:sldId id="305" r:id="rId6"/>
    <p:sldId id="306" r:id="rId7"/>
    <p:sldId id="307" r:id="rId8"/>
    <p:sldId id="308" r:id="rId9"/>
    <p:sldId id="298" r:id="rId10"/>
    <p:sldId id="302" r:id="rId11"/>
    <p:sldId id="299" r:id="rId12"/>
    <p:sldId id="300" r:id="rId13"/>
    <p:sldId id="30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B506352-A10D-4DF3-88CC-3AD4DFCED331}">
          <p14:sldIdLst>
            <p14:sldId id="257"/>
            <p14:sldId id="258"/>
            <p14:sldId id="303"/>
            <p14:sldId id="304"/>
            <p14:sldId id="305"/>
            <p14:sldId id="306"/>
            <p14:sldId id="307"/>
            <p14:sldId id="308"/>
            <p14:sldId id="298"/>
            <p14:sldId id="302"/>
            <p14:sldId id="299"/>
            <p14:sldId id="300"/>
            <p14:sldId id="30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63" autoAdjust="0"/>
    <p:restoredTop sz="94660" autoAdjust="0"/>
  </p:normalViewPr>
  <p:slideViewPr>
    <p:cSldViewPr snapToGrid="0">
      <p:cViewPr varScale="1">
        <p:scale>
          <a:sx n="112" d="100"/>
          <a:sy n="112" d="100"/>
        </p:scale>
        <p:origin x="560" y="19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6" d="100"/>
          <a:sy n="56" d="100"/>
        </p:scale>
        <p:origin x="2856"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D3A65B0-7903-48B2-ACE0-52AA4BA882D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0968189-7BB2-4FE2-900E-38903256C145}">
      <dgm:prSet/>
      <dgm:spPr/>
      <dgm:t>
        <a:bodyPr/>
        <a:lstStyle/>
        <a:p>
          <a:pPr>
            <a:lnSpc>
              <a:spcPct val="100000"/>
            </a:lnSpc>
          </a:pPr>
          <a:r>
            <a:rPr lang="en-US"/>
            <a:t>Etymology of the term</a:t>
          </a:r>
        </a:p>
      </dgm:t>
    </dgm:pt>
    <dgm:pt modelId="{8AF1AADA-13EA-49F4-9154-79FD0B97045E}" type="parTrans" cxnId="{B5742972-7E26-4234-AD5C-CC0060D98209}">
      <dgm:prSet/>
      <dgm:spPr/>
      <dgm:t>
        <a:bodyPr/>
        <a:lstStyle/>
        <a:p>
          <a:endParaRPr lang="en-US"/>
        </a:p>
      </dgm:t>
    </dgm:pt>
    <dgm:pt modelId="{E75C542E-495C-40E3-AAA2-637A01912820}" type="sibTrans" cxnId="{B5742972-7E26-4234-AD5C-CC0060D98209}">
      <dgm:prSet/>
      <dgm:spPr/>
      <dgm:t>
        <a:bodyPr/>
        <a:lstStyle/>
        <a:p>
          <a:endParaRPr lang="en-US"/>
        </a:p>
      </dgm:t>
    </dgm:pt>
    <dgm:pt modelId="{B4FC9C04-2DE4-4D06-8AE1-4DCC1F8A15E2}">
      <dgm:prSet/>
      <dgm:spPr/>
      <dgm:t>
        <a:bodyPr/>
        <a:lstStyle/>
        <a:p>
          <a:pPr>
            <a:lnSpc>
              <a:spcPct val="100000"/>
            </a:lnSpc>
          </a:pPr>
          <a:r>
            <a:rPr lang="en-US"/>
            <a:t>The notion of being in philosophy</a:t>
          </a:r>
        </a:p>
      </dgm:t>
    </dgm:pt>
    <dgm:pt modelId="{872493EC-A6A1-43DE-A4C9-3123F6354DBF}" type="parTrans" cxnId="{EA26B274-54F4-4B01-900B-6480B0A70609}">
      <dgm:prSet/>
      <dgm:spPr/>
      <dgm:t>
        <a:bodyPr/>
        <a:lstStyle/>
        <a:p>
          <a:endParaRPr lang="en-US"/>
        </a:p>
      </dgm:t>
    </dgm:pt>
    <dgm:pt modelId="{3430EF93-91B5-4F3A-B698-03CB5CCFF002}" type="sibTrans" cxnId="{EA26B274-54F4-4B01-900B-6480B0A70609}">
      <dgm:prSet/>
      <dgm:spPr/>
      <dgm:t>
        <a:bodyPr/>
        <a:lstStyle/>
        <a:p>
          <a:endParaRPr lang="en-US"/>
        </a:p>
      </dgm:t>
    </dgm:pt>
    <dgm:pt modelId="{0AB846F6-3E3F-4482-809A-498E45588790}">
      <dgm:prSet/>
      <dgm:spPr/>
      <dgm:t>
        <a:bodyPr/>
        <a:lstStyle/>
        <a:p>
          <a:pPr>
            <a:lnSpc>
              <a:spcPct val="100000"/>
            </a:lnSpc>
          </a:pPr>
          <a:r>
            <a:rPr lang="en-US"/>
            <a:t>Views of Scholars on the concept of being</a:t>
          </a:r>
        </a:p>
      </dgm:t>
    </dgm:pt>
    <dgm:pt modelId="{E9CAA14B-71AF-4C22-81A5-EDEC1FFBB5F9}" type="parTrans" cxnId="{BA840D7D-51C4-4D03-9267-2D07F3683FE2}">
      <dgm:prSet/>
      <dgm:spPr/>
      <dgm:t>
        <a:bodyPr/>
        <a:lstStyle/>
        <a:p>
          <a:endParaRPr lang="en-US"/>
        </a:p>
      </dgm:t>
    </dgm:pt>
    <dgm:pt modelId="{3D83F80A-5BAF-402F-9E4C-35BBC26C153D}" type="sibTrans" cxnId="{BA840D7D-51C4-4D03-9267-2D07F3683FE2}">
      <dgm:prSet/>
      <dgm:spPr/>
      <dgm:t>
        <a:bodyPr/>
        <a:lstStyle/>
        <a:p>
          <a:endParaRPr lang="en-US"/>
        </a:p>
      </dgm:t>
    </dgm:pt>
    <dgm:pt modelId="{860A3530-3096-45E4-8668-ECE8668DDE8B}">
      <dgm:prSet/>
      <dgm:spPr/>
      <dgm:t>
        <a:bodyPr/>
        <a:lstStyle/>
        <a:p>
          <a:pPr>
            <a:lnSpc>
              <a:spcPct val="100000"/>
            </a:lnSpc>
          </a:pPr>
          <a:r>
            <a:rPr lang="en-US"/>
            <a:t>The areas of existence</a:t>
          </a:r>
        </a:p>
      </dgm:t>
    </dgm:pt>
    <dgm:pt modelId="{15EAE514-3426-43AF-9314-C6329C320F88}" type="parTrans" cxnId="{8F9A9104-D5C7-465A-A834-8CBF86DE9BDA}">
      <dgm:prSet/>
      <dgm:spPr/>
      <dgm:t>
        <a:bodyPr/>
        <a:lstStyle/>
        <a:p>
          <a:endParaRPr lang="en-US"/>
        </a:p>
      </dgm:t>
    </dgm:pt>
    <dgm:pt modelId="{ECC4C58A-CD55-4CB7-AF90-310573F3A711}" type="sibTrans" cxnId="{8F9A9104-D5C7-465A-A834-8CBF86DE9BDA}">
      <dgm:prSet/>
      <dgm:spPr/>
      <dgm:t>
        <a:bodyPr/>
        <a:lstStyle/>
        <a:p>
          <a:endParaRPr lang="en-US"/>
        </a:p>
      </dgm:t>
    </dgm:pt>
    <dgm:pt modelId="{700A18F5-D77F-4C2D-B874-A60F1274A1D0}" type="pres">
      <dgm:prSet presAssocID="{ED3A65B0-7903-48B2-ACE0-52AA4BA882D1}" presName="root" presStyleCnt="0">
        <dgm:presLayoutVars>
          <dgm:dir/>
          <dgm:resizeHandles val="exact"/>
        </dgm:presLayoutVars>
      </dgm:prSet>
      <dgm:spPr/>
    </dgm:pt>
    <dgm:pt modelId="{C771012E-E5D2-4E68-A91A-35AB57987488}" type="pres">
      <dgm:prSet presAssocID="{20968189-7BB2-4FE2-900E-38903256C145}" presName="compNode" presStyleCnt="0"/>
      <dgm:spPr/>
    </dgm:pt>
    <dgm:pt modelId="{914D71E4-8383-4648-8AD0-57B5663D0499}" type="pres">
      <dgm:prSet presAssocID="{20968189-7BB2-4FE2-900E-38903256C145}" presName="bgRect" presStyleLbl="bgShp" presStyleIdx="0" presStyleCnt="4"/>
      <dgm:spPr/>
    </dgm:pt>
    <dgm:pt modelId="{4DFC0B50-76E1-41EB-A6B9-667CAE9DE874}" type="pres">
      <dgm:prSet presAssocID="{20968189-7BB2-4FE2-900E-38903256C145}"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Open Book"/>
        </a:ext>
      </dgm:extLst>
    </dgm:pt>
    <dgm:pt modelId="{D92AB9A8-60B2-4C26-A0CC-FDC3DB6D8F87}" type="pres">
      <dgm:prSet presAssocID="{20968189-7BB2-4FE2-900E-38903256C145}" presName="spaceRect" presStyleCnt="0"/>
      <dgm:spPr/>
    </dgm:pt>
    <dgm:pt modelId="{1DDADEA8-EC41-4085-B957-A477FB38820C}" type="pres">
      <dgm:prSet presAssocID="{20968189-7BB2-4FE2-900E-38903256C145}" presName="parTx" presStyleLbl="revTx" presStyleIdx="0" presStyleCnt="4">
        <dgm:presLayoutVars>
          <dgm:chMax val="0"/>
          <dgm:chPref val="0"/>
        </dgm:presLayoutVars>
      </dgm:prSet>
      <dgm:spPr/>
    </dgm:pt>
    <dgm:pt modelId="{B68A036B-A72F-461F-B85B-7071E315EF8F}" type="pres">
      <dgm:prSet presAssocID="{E75C542E-495C-40E3-AAA2-637A01912820}" presName="sibTrans" presStyleCnt="0"/>
      <dgm:spPr/>
    </dgm:pt>
    <dgm:pt modelId="{74B48339-4C98-4A96-98CC-1BF91ADAD896}" type="pres">
      <dgm:prSet presAssocID="{B4FC9C04-2DE4-4D06-8AE1-4DCC1F8A15E2}" presName="compNode" presStyleCnt="0"/>
      <dgm:spPr/>
    </dgm:pt>
    <dgm:pt modelId="{2719C6F6-34E0-49B2-813B-1667D8E4A4CF}" type="pres">
      <dgm:prSet presAssocID="{B4FC9C04-2DE4-4D06-8AE1-4DCC1F8A15E2}" presName="bgRect" presStyleLbl="bgShp" presStyleIdx="1" presStyleCnt="4"/>
      <dgm:spPr/>
    </dgm:pt>
    <dgm:pt modelId="{DCC3C636-262E-467A-B76C-159AD1DCA485}" type="pres">
      <dgm:prSet presAssocID="{B4FC9C04-2DE4-4D06-8AE1-4DCC1F8A15E2}"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ad with Gears"/>
        </a:ext>
      </dgm:extLst>
    </dgm:pt>
    <dgm:pt modelId="{59654362-9329-4AE8-BB90-4C10B62351DA}" type="pres">
      <dgm:prSet presAssocID="{B4FC9C04-2DE4-4D06-8AE1-4DCC1F8A15E2}" presName="spaceRect" presStyleCnt="0"/>
      <dgm:spPr/>
    </dgm:pt>
    <dgm:pt modelId="{9474B8CC-5CBB-4FCB-8AF4-75E09D890BA1}" type="pres">
      <dgm:prSet presAssocID="{B4FC9C04-2DE4-4D06-8AE1-4DCC1F8A15E2}" presName="parTx" presStyleLbl="revTx" presStyleIdx="1" presStyleCnt="4">
        <dgm:presLayoutVars>
          <dgm:chMax val="0"/>
          <dgm:chPref val="0"/>
        </dgm:presLayoutVars>
      </dgm:prSet>
      <dgm:spPr/>
    </dgm:pt>
    <dgm:pt modelId="{843361E9-DB23-4CFB-BD10-3CC86F6DBA00}" type="pres">
      <dgm:prSet presAssocID="{3430EF93-91B5-4F3A-B698-03CB5CCFF002}" presName="sibTrans" presStyleCnt="0"/>
      <dgm:spPr/>
    </dgm:pt>
    <dgm:pt modelId="{A7090246-7922-4110-BDF4-265F2F7030F8}" type="pres">
      <dgm:prSet presAssocID="{0AB846F6-3E3F-4482-809A-498E45588790}" presName="compNode" presStyleCnt="0"/>
      <dgm:spPr/>
    </dgm:pt>
    <dgm:pt modelId="{FAB1183B-F840-494B-AEEA-C95FC1EDFD6B}" type="pres">
      <dgm:prSet presAssocID="{0AB846F6-3E3F-4482-809A-498E45588790}" presName="bgRect" presStyleLbl="bgShp" presStyleIdx="2" presStyleCnt="4"/>
      <dgm:spPr/>
    </dgm:pt>
    <dgm:pt modelId="{0452462C-526F-4092-A3B7-9ED971B2509D}" type="pres">
      <dgm:prSet presAssocID="{0AB846F6-3E3F-4482-809A-498E45588790}"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Books"/>
        </a:ext>
      </dgm:extLst>
    </dgm:pt>
    <dgm:pt modelId="{AF450BA3-C07E-4119-9CC8-FA8234BA78D3}" type="pres">
      <dgm:prSet presAssocID="{0AB846F6-3E3F-4482-809A-498E45588790}" presName="spaceRect" presStyleCnt="0"/>
      <dgm:spPr/>
    </dgm:pt>
    <dgm:pt modelId="{73DC7E2B-AE56-4D82-8BCA-B69436D5C927}" type="pres">
      <dgm:prSet presAssocID="{0AB846F6-3E3F-4482-809A-498E45588790}" presName="parTx" presStyleLbl="revTx" presStyleIdx="2" presStyleCnt="4">
        <dgm:presLayoutVars>
          <dgm:chMax val="0"/>
          <dgm:chPref val="0"/>
        </dgm:presLayoutVars>
      </dgm:prSet>
      <dgm:spPr/>
    </dgm:pt>
    <dgm:pt modelId="{1ADCA90D-7E03-4EA1-94DA-96B4E4B179A7}" type="pres">
      <dgm:prSet presAssocID="{3D83F80A-5BAF-402F-9E4C-35BBC26C153D}" presName="sibTrans" presStyleCnt="0"/>
      <dgm:spPr/>
    </dgm:pt>
    <dgm:pt modelId="{0FBCAB36-7424-44CE-BB2E-C5726E9F466D}" type="pres">
      <dgm:prSet presAssocID="{860A3530-3096-45E4-8668-ECE8668DDE8B}" presName="compNode" presStyleCnt="0"/>
      <dgm:spPr/>
    </dgm:pt>
    <dgm:pt modelId="{1D0C5E7F-020B-4E54-8812-8FBC7FE55714}" type="pres">
      <dgm:prSet presAssocID="{860A3530-3096-45E4-8668-ECE8668DDE8B}" presName="bgRect" presStyleLbl="bgShp" presStyleIdx="3" presStyleCnt="4"/>
      <dgm:spPr/>
    </dgm:pt>
    <dgm:pt modelId="{F50E81DE-3F62-43E3-8A70-F7511BB79CAE}" type="pres">
      <dgm:prSet presAssocID="{860A3530-3096-45E4-8668-ECE8668DDE8B}"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eciduous tree"/>
        </a:ext>
      </dgm:extLst>
    </dgm:pt>
    <dgm:pt modelId="{91265B5A-E272-4B6A-B397-FF441444E065}" type="pres">
      <dgm:prSet presAssocID="{860A3530-3096-45E4-8668-ECE8668DDE8B}" presName="spaceRect" presStyleCnt="0"/>
      <dgm:spPr/>
    </dgm:pt>
    <dgm:pt modelId="{7198A830-D27E-4C26-A938-A91BE0D9B136}" type="pres">
      <dgm:prSet presAssocID="{860A3530-3096-45E4-8668-ECE8668DDE8B}" presName="parTx" presStyleLbl="revTx" presStyleIdx="3" presStyleCnt="4">
        <dgm:presLayoutVars>
          <dgm:chMax val="0"/>
          <dgm:chPref val="0"/>
        </dgm:presLayoutVars>
      </dgm:prSet>
      <dgm:spPr/>
    </dgm:pt>
  </dgm:ptLst>
  <dgm:cxnLst>
    <dgm:cxn modelId="{8F9A9104-D5C7-465A-A834-8CBF86DE9BDA}" srcId="{ED3A65B0-7903-48B2-ACE0-52AA4BA882D1}" destId="{860A3530-3096-45E4-8668-ECE8668DDE8B}" srcOrd="3" destOrd="0" parTransId="{15EAE514-3426-43AF-9314-C6329C320F88}" sibTransId="{ECC4C58A-CD55-4CB7-AF90-310573F3A711}"/>
    <dgm:cxn modelId="{B5742972-7E26-4234-AD5C-CC0060D98209}" srcId="{ED3A65B0-7903-48B2-ACE0-52AA4BA882D1}" destId="{20968189-7BB2-4FE2-900E-38903256C145}" srcOrd="0" destOrd="0" parTransId="{8AF1AADA-13EA-49F4-9154-79FD0B97045E}" sibTransId="{E75C542E-495C-40E3-AAA2-637A01912820}"/>
    <dgm:cxn modelId="{EA26B274-54F4-4B01-900B-6480B0A70609}" srcId="{ED3A65B0-7903-48B2-ACE0-52AA4BA882D1}" destId="{B4FC9C04-2DE4-4D06-8AE1-4DCC1F8A15E2}" srcOrd="1" destOrd="0" parTransId="{872493EC-A6A1-43DE-A4C9-3123F6354DBF}" sibTransId="{3430EF93-91B5-4F3A-B698-03CB5CCFF002}"/>
    <dgm:cxn modelId="{BA840D7D-51C4-4D03-9267-2D07F3683FE2}" srcId="{ED3A65B0-7903-48B2-ACE0-52AA4BA882D1}" destId="{0AB846F6-3E3F-4482-809A-498E45588790}" srcOrd="2" destOrd="0" parTransId="{E9CAA14B-71AF-4C22-81A5-EDEC1FFBB5F9}" sibTransId="{3D83F80A-5BAF-402F-9E4C-35BBC26C153D}"/>
    <dgm:cxn modelId="{3539D287-EF60-4EAC-9FED-EF6B60DBCCC2}" type="presOf" srcId="{860A3530-3096-45E4-8668-ECE8668DDE8B}" destId="{7198A830-D27E-4C26-A938-A91BE0D9B136}" srcOrd="0" destOrd="0" presId="urn:microsoft.com/office/officeart/2018/2/layout/IconVerticalSolidList"/>
    <dgm:cxn modelId="{50B5B589-24B7-4FDF-9001-6FBE7586F55F}" type="presOf" srcId="{ED3A65B0-7903-48B2-ACE0-52AA4BA882D1}" destId="{700A18F5-D77F-4C2D-B874-A60F1274A1D0}" srcOrd="0" destOrd="0" presId="urn:microsoft.com/office/officeart/2018/2/layout/IconVerticalSolidList"/>
    <dgm:cxn modelId="{0AEAEA91-ABCD-4B72-B9D1-ABC9C212CFBF}" type="presOf" srcId="{B4FC9C04-2DE4-4D06-8AE1-4DCC1F8A15E2}" destId="{9474B8CC-5CBB-4FCB-8AF4-75E09D890BA1}" srcOrd="0" destOrd="0" presId="urn:microsoft.com/office/officeart/2018/2/layout/IconVerticalSolidList"/>
    <dgm:cxn modelId="{6F06A7B9-C3A6-48FD-8667-BD65C1564A6C}" type="presOf" srcId="{0AB846F6-3E3F-4482-809A-498E45588790}" destId="{73DC7E2B-AE56-4D82-8BCA-B69436D5C927}" srcOrd="0" destOrd="0" presId="urn:microsoft.com/office/officeart/2018/2/layout/IconVerticalSolidList"/>
    <dgm:cxn modelId="{3CC9A7E6-EEEE-4E7E-A4AE-4EB433714246}" type="presOf" srcId="{20968189-7BB2-4FE2-900E-38903256C145}" destId="{1DDADEA8-EC41-4085-B957-A477FB38820C}" srcOrd="0" destOrd="0" presId="urn:microsoft.com/office/officeart/2018/2/layout/IconVerticalSolidList"/>
    <dgm:cxn modelId="{1A4843AE-6EFA-4E58-8553-86B1BFB6D1B4}" type="presParOf" srcId="{700A18F5-D77F-4C2D-B874-A60F1274A1D0}" destId="{C771012E-E5D2-4E68-A91A-35AB57987488}" srcOrd="0" destOrd="0" presId="urn:microsoft.com/office/officeart/2018/2/layout/IconVerticalSolidList"/>
    <dgm:cxn modelId="{7D4D71D0-1294-47A8-9EEF-0C3F337DACCD}" type="presParOf" srcId="{C771012E-E5D2-4E68-A91A-35AB57987488}" destId="{914D71E4-8383-4648-8AD0-57B5663D0499}" srcOrd="0" destOrd="0" presId="urn:microsoft.com/office/officeart/2018/2/layout/IconVerticalSolidList"/>
    <dgm:cxn modelId="{ABEF52DF-B9C0-4250-8F45-8408DA75CAB2}" type="presParOf" srcId="{C771012E-E5D2-4E68-A91A-35AB57987488}" destId="{4DFC0B50-76E1-41EB-A6B9-667CAE9DE874}" srcOrd="1" destOrd="0" presId="urn:microsoft.com/office/officeart/2018/2/layout/IconVerticalSolidList"/>
    <dgm:cxn modelId="{B08C57B5-194D-41FF-A2CF-A4809787FC6D}" type="presParOf" srcId="{C771012E-E5D2-4E68-A91A-35AB57987488}" destId="{D92AB9A8-60B2-4C26-A0CC-FDC3DB6D8F87}" srcOrd="2" destOrd="0" presId="urn:microsoft.com/office/officeart/2018/2/layout/IconVerticalSolidList"/>
    <dgm:cxn modelId="{A18F79D6-24AF-42B1-95CC-97D315CC0164}" type="presParOf" srcId="{C771012E-E5D2-4E68-A91A-35AB57987488}" destId="{1DDADEA8-EC41-4085-B957-A477FB38820C}" srcOrd="3" destOrd="0" presId="urn:microsoft.com/office/officeart/2018/2/layout/IconVerticalSolidList"/>
    <dgm:cxn modelId="{64B735F6-5C26-40D6-A19E-7BD92CCFF005}" type="presParOf" srcId="{700A18F5-D77F-4C2D-B874-A60F1274A1D0}" destId="{B68A036B-A72F-461F-B85B-7071E315EF8F}" srcOrd="1" destOrd="0" presId="urn:microsoft.com/office/officeart/2018/2/layout/IconVerticalSolidList"/>
    <dgm:cxn modelId="{DE69F92F-41BA-417E-ADAD-684EECD70229}" type="presParOf" srcId="{700A18F5-D77F-4C2D-B874-A60F1274A1D0}" destId="{74B48339-4C98-4A96-98CC-1BF91ADAD896}" srcOrd="2" destOrd="0" presId="urn:microsoft.com/office/officeart/2018/2/layout/IconVerticalSolidList"/>
    <dgm:cxn modelId="{457F49E4-158D-4AB4-B17C-2AE8ECAB14D9}" type="presParOf" srcId="{74B48339-4C98-4A96-98CC-1BF91ADAD896}" destId="{2719C6F6-34E0-49B2-813B-1667D8E4A4CF}" srcOrd="0" destOrd="0" presId="urn:microsoft.com/office/officeart/2018/2/layout/IconVerticalSolidList"/>
    <dgm:cxn modelId="{CEB51021-ED93-4893-8618-F99E8C6C42C9}" type="presParOf" srcId="{74B48339-4C98-4A96-98CC-1BF91ADAD896}" destId="{DCC3C636-262E-467A-B76C-159AD1DCA485}" srcOrd="1" destOrd="0" presId="urn:microsoft.com/office/officeart/2018/2/layout/IconVerticalSolidList"/>
    <dgm:cxn modelId="{8D3D08ED-F578-4E82-B26C-C754D5C39F1E}" type="presParOf" srcId="{74B48339-4C98-4A96-98CC-1BF91ADAD896}" destId="{59654362-9329-4AE8-BB90-4C10B62351DA}" srcOrd="2" destOrd="0" presId="urn:microsoft.com/office/officeart/2018/2/layout/IconVerticalSolidList"/>
    <dgm:cxn modelId="{9D5FF1D0-763D-4208-B41D-6472B1CAD3DD}" type="presParOf" srcId="{74B48339-4C98-4A96-98CC-1BF91ADAD896}" destId="{9474B8CC-5CBB-4FCB-8AF4-75E09D890BA1}" srcOrd="3" destOrd="0" presId="urn:microsoft.com/office/officeart/2018/2/layout/IconVerticalSolidList"/>
    <dgm:cxn modelId="{B5B18028-B2BE-4209-BF5B-714E10C243FD}" type="presParOf" srcId="{700A18F5-D77F-4C2D-B874-A60F1274A1D0}" destId="{843361E9-DB23-4CFB-BD10-3CC86F6DBA00}" srcOrd="3" destOrd="0" presId="urn:microsoft.com/office/officeart/2018/2/layout/IconVerticalSolidList"/>
    <dgm:cxn modelId="{A9E3ADC1-E031-46AC-82E6-270E93665316}" type="presParOf" srcId="{700A18F5-D77F-4C2D-B874-A60F1274A1D0}" destId="{A7090246-7922-4110-BDF4-265F2F7030F8}" srcOrd="4" destOrd="0" presId="urn:microsoft.com/office/officeart/2018/2/layout/IconVerticalSolidList"/>
    <dgm:cxn modelId="{3EAA15CA-BEAF-4421-BDE3-21E17DA43C56}" type="presParOf" srcId="{A7090246-7922-4110-BDF4-265F2F7030F8}" destId="{FAB1183B-F840-494B-AEEA-C95FC1EDFD6B}" srcOrd="0" destOrd="0" presId="urn:microsoft.com/office/officeart/2018/2/layout/IconVerticalSolidList"/>
    <dgm:cxn modelId="{732959E6-D58F-40F3-AA5E-B962A37DC469}" type="presParOf" srcId="{A7090246-7922-4110-BDF4-265F2F7030F8}" destId="{0452462C-526F-4092-A3B7-9ED971B2509D}" srcOrd="1" destOrd="0" presId="urn:microsoft.com/office/officeart/2018/2/layout/IconVerticalSolidList"/>
    <dgm:cxn modelId="{1E9D0C7D-E66D-499B-B459-D39849CA7F32}" type="presParOf" srcId="{A7090246-7922-4110-BDF4-265F2F7030F8}" destId="{AF450BA3-C07E-4119-9CC8-FA8234BA78D3}" srcOrd="2" destOrd="0" presId="urn:microsoft.com/office/officeart/2018/2/layout/IconVerticalSolidList"/>
    <dgm:cxn modelId="{22198131-F08A-4C34-88B6-B190D7275555}" type="presParOf" srcId="{A7090246-7922-4110-BDF4-265F2F7030F8}" destId="{73DC7E2B-AE56-4D82-8BCA-B69436D5C927}" srcOrd="3" destOrd="0" presId="urn:microsoft.com/office/officeart/2018/2/layout/IconVerticalSolidList"/>
    <dgm:cxn modelId="{1DFF858A-2612-4274-925B-3CFDB63C8598}" type="presParOf" srcId="{700A18F5-D77F-4C2D-B874-A60F1274A1D0}" destId="{1ADCA90D-7E03-4EA1-94DA-96B4E4B179A7}" srcOrd="5" destOrd="0" presId="urn:microsoft.com/office/officeart/2018/2/layout/IconVerticalSolidList"/>
    <dgm:cxn modelId="{E7C9D76E-E762-4E4C-B227-7D6016EDD951}" type="presParOf" srcId="{700A18F5-D77F-4C2D-B874-A60F1274A1D0}" destId="{0FBCAB36-7424-44CE-BB2E-C5726E9F466D}" srcOrd="6" destOrd="0" presId="urn:microsoft.com/office/officeart/2018/2/layout/IconVerticalSolidList"/>
    <dgm:cxn modelId="{33D3CCB4-84D7-431E-B756-B7185F0C7AE4}" type="presParOf" srcId="{0FBCAB36-7424-44CE-BB2E-C5726E9F466D}" destId="{1D0C5E7F-020B-4E54-8812-8FBC7FE55714}" srcOrd="0" destOrd="0" presId="urn:microsoft.com/office/officeart/2018/2/layout/IconVerticalSolidList"/>
    <dgm:cxn modelId="{40AEC5A6-5570-4E78-A3E6-3E285F4D2643}" type="presParOf" srcId="{0FBCAB36-7424-44CE-BB2E-C5726E9F466D}" destId="{F50E81DE-3F62-43E3-8A70-F7511BB79CAE}" srcOrd="1" destOrd="0" presId="urn:microsoft.com/office/officeart/2018/2/layout/IconVerticalSolidList"/>
    <dgm:cxn modelId="{58C1C1CF-28F4-49B7-A45D-AAB58DC12BD3}" type="presParOf" srcId="{0FBCAB36-7424-44CE-BB2E-C5726E9F466D}" destId="{91265B5A-E272-4B6A-B397-FF441444E065}" srcOrd="2" destOrd="0" presId="urn:microsoft.com/office/officeart/2018/2/layout/IconVerticalSolidList"/>
    <dgm:cxn modelId="{105999D0-EDBB-46E3-BCBB-102AC4AD45A1}" type="presParOf" srcId="{0FBCAB36-7424-44CE-BB2E-C5726E9F466D}" destId="{7198A830-D27E-4C26-A938-A91BE0D9B13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4D71E4-8383-4648-8AD0-57B5663D0499}">
      <dsp:nvSpPr>
        <dsp:cNvPr id="0" name=""/>
        <dsp:cNvSpPr/>
      </dsp:nvSpPr>
      <dsp:spPr>
        <a:xfrm>
          <a:off x="0" y="1805"/>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FC0B50-76E1-41EB-A6B9-667CAE9DE874}">
      <dsp:nvSpPr>
        <dsp:cNvPr id="0" name=""/>
        <dsp:cNvSpPr/>
      </dsp:nvSpPr>
      <dsp:spPr>
        <a:xfrm>
          <a:off x="276881" y="207750"/>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DDADEA8-EC41-4085-B957-A477FB38820C}">
      <dsp:nvSpPr>
        <dsp:cNvPr id="0" name=""/>
        <dsp:cNvSpPr/>
      </dsp:nvSpPr>
      <dsp:spPr>
        <a:xfrm>
          <a:off x="1057183" y="1805"/>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a:t>Etymology of the term</a:t>
          </a:r>
        </a:p>
      </dsp:txBody>
      <dsp:txXfrm>
        <a:off x="1057183" y="1805"/>
        <a:ext cx="9458416" cy="915310"/>
      </dsp:txXfrm>
    </dsp:sp>
    <dsp:sp modelId="{2719C6F6-34E0-49B2-813B-1667D8E4A4CF}">
      <dsp:nvSpPr>
        <dsp:cNvPr id="0" name=""/>
        <dsp:cNvSpPr/>
      </dsp:nvSpPr>
      <dsp:spPr>
        <a:xfrm>
          <a:off x="0" y="1145944"/>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C3C636-262E-467A-B76C-159AD1DCA485}">
      <dsp:nvSpPr>
        <dsp:cNvPr id="0" name=""/>
        <dsp:cNvSpPr/>
      </dsp:nvSpPr>
      <dsp:spPr>
        <a:xfrm>
          <a:off x="276881" y="1351889"/>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474B8CC-5CBB-4FCB-8AF4-75E09D890BA1}">
      <dsp:nvSpPr>
        <dsp:cNvPr id="0" name=""/>
        <dsp:cNvSpPr/>
      </dsp:nvSpPr>
      <dsp:spPr>
        <a:xfrm>
          <a:off x="1057183" y="1145944"/>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a:t>The notion of being in philosophy</a:t>
          </a:r>
        </a:p>
      </dsp:txBody>
      <dsp:txXfrm>
        <a:off x="1057183" y="1145944"/>
        <a:ext cx="9458416" cy="915310"/>
      </dsp:txXfrm>
    </dsp:sp>
    <dsp:sp modelId="{FAB1183B-F840-494B-AEEA-C95FC1EDFD6B}">
      <dsp:nvSpPr>
        <dsp:cNvPr id="0" name=""/>
        <dsp:cNvSpPr/>
      </dsp:nvSpPr>
      <dsp:spPr>
        <a:xfrm>
          <a:off x="0" y="2290082"/>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52462C-526F-4092-A3B7-9ED971B2509D}">
      <dsp:nvSpPr>
        <dsp:cNvPr id="0" name=""/>
        <dsp:cNvSpPr/>
      </dsp:nvSpPr>
      <dsp:spPr>
        <a:xfrm>
          <a:off x="276881" y="2496027"/>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DC7E2B-AE56-4D82-8BCA-B69436D5C927}">
      <dsp:nvSpPr>
        <dsp:cNvPr id="0" name=""/>
        <dsp:cNvSpPr/>
      </dsp:nvSpPr>
      <dsp:spPr>
        <a:xfrm>
          <a:off x="1057183" y="2290082"/>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a:t>Views of Scholars on the concept of being</a:t>
          </a:r>
        </a:p>
      </dsp:txBody>
      <dsp:txXfrm>
        <a:off x="1057183" y="2290082"/>
        <a:ext cx="9458416" cy="915310"/>
      </dsp:txXfrm>
    </dsp:sp>
    <dsp:sp modelId="{1D0C5E7F-020B-4E54-8812-8FBC7FE55714}">
      <dsp:nvSpPr>
        <dsp:cNvPr id="0" name=""/>
        <dsp:cNvSpPr/>
      </dsp:nvSpPr>
      <dsp:spPr>
        <a:xfrm>
          <a:off x="0" y="3434221"/>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0E81DE-3F62-43E3-8A70-F7511BB79CAE}">
      <dsp:nvSpPr>
        <dsp:cNvPr id="0" name=""/>
        <dsp:cNvSpPr/>
      </dsp:nvSpPr>
      <dsp:spPr>
        <a:xfrm>
          <a:off x="276881" y="3640166"/>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198A830-D27E-4C26-A938-A91BE0D9B136}">
      <dsp:nvSpPr>
        <dsp:cNvPr id="0" name=""/>
        <dsp:cNvSpPr/>
      </dsp:nvSpPr>
      <dsp:spPr>
        <a:xfrm>
          <a:off x="1057183" y="3434221"/>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a:t>The areas of existence</a:t>
          </a:r>
        </a:p>
      </dsp:txBody>
      <dsp:txXfrm>
        <a:off x="1057183" y="3434221"/>
        <a:ext cx="9458416" cy="91531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28954A-FBB2-43C7-8806-7A812F3BF0FA}" type="datetimeFigureOut">
              <a:rPr lang="en-US" smtClean="0"/>
              <a:t>9/27/26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44FF98-851E-4F68-A380-6925F93535FB}" type="slidenum">
              <a:rPr lang="en-US" smtClean="0"/>
              <a:t>‹#›</a:t>
            </a:fld>
            <a:endParaRPr lang="en-US"/>
          </a:p>
        </p:txBody>
      </p:sp>
    </p:spTree>
    <p:extLst>
      <p:ext uri="{BB962C8B-B14F-4D97-AF65-F5344CB8AC3E}">
        <p14:creationId xmlns:p14="http://schemas.microsoft.com/office/powerpoint/2010/main" val="3921440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46F19FD-FD57-4947-9D55-2498B7FB19E0}" type="datetimeFigureOut">
              <a:rPr lang="en-US" smtClean="0"/>
              <a:t>9/27/26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13089719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6F19FD-FD57-4947-9D55-2498B7FB19E0}" type="datetimeFigureOut">
              <a:rPr lang="en-US" smtClean="0"/>
              <a:t>9/27/26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49785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46F19FD-FD57-4947-9D55-2498B7FB19E0}" type="datetimeFigureOut">
              <a:rPr lang="en-US" smtClean="0"/>
              <a:t>9/27/26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2657384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46F19FD-FD57-4947-9D55-2498B7FB19E0}" type="datetimeFigureOut">
              <a:rPr lang="en-US" smtClean="0"/>
              <a:t>9/27/26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1852564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46F19FD-FD57-4947-9D55-2498B7FB19E0}" type="datetimeFigureOut">
              <a:rPr lang="en-US" smtClean="0"/>
              <a:t>9/27/26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2129256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46F19FD-FD57-4947-9D55-2498B7FB19E0}" type="datetimeFigureOut">
              <a:rPr lang="en-US" smtClean="0"/>
              <a:t>9/27/26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1494300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6F19FD-FD57-4947-9D55-2498B7FB19E0}" type="datetimeFigureOut">
              <a:rPr lang="en-US" smtClean="0"/>
              <a:t>9/27/26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237994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46F19FD-FD57-4947-9D55-2498B7FB19E0}" type="datetimeFigureOut">
              <a:rPr lang="en-US" smtClean="0"/>
              <a:t>9/27/26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39159059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46F19FD-FD57-4947-9D55-2498B7FB19E0}" type="datetimeFigureOut">
              <a:rPr lang="en-US" smtClean="0"/>
              <a:t>9/27/26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2639604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6F19FD-FD57-4947-9D55-2498B7FB19E0}" type="datetimeFigureOut">
              <a:rPr lang="en-US" smtClean="0"/>
              <a:t>9/27/26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1394022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6F19FD-FD57-4947-9D55-2498B7FB19E0}" type="datetimeFigureOut">
              <a:rPr lang="en-US" smtClean="0"/>
              <a:t>9/27/26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2219518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6F19FD-FD57-4947-9D55-2498B7FB19E0}" type="datetimeFigureOut">
              <a:rPr lang="en-US" smtClean="0"/>
              <a:t>9/27/26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F564EE-5F94-48BF-8E5E-F78E102D61BC}" type="slidenum">
              <a:rPr lang="en-US" smtClean="0"/>
              <a:t>‹#›</a:t>
            </a:fld>
            <a:endParaRPr lang="en-US"/>
          </a:p>
        </p:txBody>
      </p:sp>
    </p:spTree>
    <p:extLst>
      <p:ext uri="{BB962C8B-B14F-4D97-AF65-F5344CB8AC3E}">
        <p14:creationId xmlns:p14="http://schemas.microsoft.com/office/powerpoint/2010/main" val="2344534532"/>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706029"/>
          </a:xfrm>
        </p:spPr>
        <p:txBody>
          <a:bodyPr>
            <a:noAutofit/>
          </a:bodyPr>
          <a:lstStyle/>
          <a:p>
            <a:pPr algn="ctr"/>
            <a:r>
              <a:rPr lang="en-US" sz="2400" b="1" dirty="0" err="1">
                <a:cs typeface="Arial" pitchFamily="34" charset="0"/>
              </a:rPr>
              <a:t>Inha</a:t>
            </a:r>
            <a:r>
              <a:rPr lang="en-US" sz="2400" b="1" dirty="0">
                <a:cs typeface="Arial" pitchFamily="34" charset="0"/>
              </a:rPr>
              <a:t> University in Tashkent</a:t>
            </a:r>
            <a:endParaRPr lang="ru-RU" sz="2400" b="1" dirty="0">
              <a:cs typeface="Arial" pitchFamily="34" charset="0"/>
            </a:endParaRPr>
          </a:p>
        </p:txBody>
      </p:sp>
      <p:sp>
        <p:nvSpPr>
          <p:cNvPr id="3" name="Content Placeholder 2"/>
          <p:cNvSpPr>
            <a:spLocks noGrp="1"/>
          </p:cNvSpPr>
          <p:nvPr>
            <p:ph idx="1"/>
          </p:nvPr>
        </p:nvSpPr>
        <p:spPr>
          <a:xfrm>
            <a:off x="838200" y="3004457"/>
            <a:ext cx="10515600" cy="3172506"/>
          </a:xfrm>
        </p:spPr>
        <p:txBody>
          <a:bodyPr/>
          <a:lstStyle/>
          <a:p>
            <a:pPr marL="0" indent="0" algn="ctr">
              <a:buNone/>
            </a:pPr>
            <a:r>
              <a:rPr lang="en-US" b="1" i="1" dirty="0">
                <a:latin typeface="+mj-lt"/>
              </a:rPr>
              <a:t>Theme 7: </a:t>
            </a:r>
            <a:r>
              <a:rPr lang="en-US" b="1" dirty="0"/>
              <a:t>Ontology: Philosophical Interpretation of Being</a:t>
            </a:r>
            <a:endParaRPr lang="en-US" dirty="0"/>
          </a:p>
        </p:txBody>
      </p:sp>
      <p:sp>
        <p:nvSpPr>
          <p:cNvPr id="4" name="Объект 2"/>
          <p:cNvSpPr txBox="1">
            <a:spLocks/>
          </p:cNvSpPr>
          <p:nvPr/>
        </p:nvSpPr>
        <p:spPr>
          <a:xfrm>
            <a:off x="838200" y="5029200"/>
            <a:ext cx="10683240" cy="937260"/>
          </a:xfrm>
          <a:prstGeom prst="rect">
            <a:avLst/>
          </a:prstGeom>
        </p:spPr>
        <p:txBody>
          <a:bodyPr anchor="ctr">
            <a:noAutofit/>
          </a:bodyPr>
          <a:lstStyle>
            <a:lvl1pPr marL="292100" indent="-292100" algn="l" rtl="0" eaLnBrk="1" latinLnBrk="0" hangingPunct="1">
              <a:spcBef>
                <a:spcPts val="0"/>
              </a:spcBef>
              <a:buClr>
                <a:schemeClr val="accent1"/>
              </a:buClr>
              <a:buSzPct val="70000"/>
              <a:buFont typeface="Wingdings 2"/>
              <a:buChar char=""/>
              <a:defRPr kumimoji="0" sz="3200" kern="1200">
                <a:solidFill>
                  <a:schemeClr val="tx1"/>
                </a:solidFill>
                <a:latin typeface="+mn-lt"/>
                <a:ea typeface="+mn-ea"/>
                <a:cs typeface="+mn-cs"/>
              </a:defRPr>
            </a:lvl1pPr>
            <a:lvl2pPr marL="640080" indent="-228600" algn="l" rtl="0" eaLnBrk="1" latinLnBrk="0" hangingPunct="1">
              <a:spcBef>
                <a:spcPts val="400"/>
              </a:spcBef>
              <a:buClr>
                <a:schemeClr val="accent2"/>
              </a:buClr>
              <a:buSzPct val="90000"/>
              <a:buFontTx/>
              <a:buChar char="•"/>
              <a:defRPr kumimoji="0" sz="2600" kern="1200">
                <a:solidFill>
                  <a:schemeClr val="tx1"/>
                </a:solidFill>
                <a:latin typeface="+mn-lt"/>
                <a:ea typeface="+mn-ea"/>
                <a:cs typeface="+mn-cs"/>
              </a:defRPr>
            </a:lvl2pPr>
            <a:lvl3pPr marL="822960" indent="-192024" algn="l" rtl="0" eaLnBrk="1" latinLnBrk="0" hangingPunct="1">
              <a:spcBef>
                <a:spcPts val="400"/>
              </a:spcBef>
              <a:buClr>
                <a:schemeClr val="accent3"/>
              </a:buClr>
              <a:buSzPct val="100000"/>
              <a:buFont typeface="Wingdings 2"/>
              <a:buChar char=""/>
              <a:defRPr kumimoji="0" sz="2300" kern="1200">
                <a:solidFill>
                  <a:schemeClr val="tx1"/>
                </a:solidFill>
                <a:latin typeface="+mn-lt"/>
                <a:ea typeface="+mn-ea"/>
                <a:cs typeface="+mn-cs"/>
              </a:defRPr>
            </a:lvl3pPr>
            <a:lvl4pPr marL="1005840" indent="-182880" algn="l" rtl="0" eaLnBrk="1" latinLnBrk="0" hangingPunct="1">
              <a:spcBef>
                <a:spcPts val="400"/>
              </a:spcBef>
              <a:buClr>
                <a:schemeClr val="accent3"/>
              </a:buClr>
              <a:buSzPct val="100000"/>
              <a:buFont typeface="Wingdings 2"/>
              <a:buChar char=""/>
              <a:defRPr kumimoji="0" sz="2000" kern="1200">
                <a:solidFill>
                  <a:schemeClr val="tx1"/>
                </a:solidFill>
                <a:latin typeface="+mn-lt"/>
                <a:ea typeface="+mn-ea"/>
                <a:cs typeface="+mn-cs"/>
              </a:defRPr>
            </a:lvl4pPr>
            <a:lvl5pPr marL="1188720" indent="-182880" algn="l" rtl="0" eaLnBrk="1" latinLnBrk="0" hangingPunct="1">
              <a:spcBef>
                <a:spcPts val="400"/>
              </a:spcBef>
              <a:buClr>
                <a:schemeClr val="accent3"/>
              </a:buClr>
              <a:buSzPct val="100000"/>
              <a:buFont typeface="Wingdings 2"/>
              <a:buChar char=""/>
              <a:defRPr kumimoji="0" sz="1900" kern="1200">
                <a:solidFill>
                  <a:schemeClr val="tx1"/>
                </a:solidFill>
                <a:latin typeface="+mn-lt"/>
                <a:ea typeface="+mn-ea"/>
                <a:cs typeface="+mn-cs"/>
              </a:defRPr>
            </a:lvl5pPr>
            <a:lvl6pPr marL="1371600" indent="-173736" algn="l" rtl="0" eaLnBrk="1" latinLnBrk="0" hangingPunct="1">
              <a:spcBef>
                <a:spcPts val="400"/>
              </a:spcBef>
              <a:buClr>
                <a:schemeClr val="accent4"/>
              </a:buClr>
              <a:buFont typeface="Wingdings 2"/>
              <a:buChar char=""/>
              <a:defRPr kumimoji="0" sz="1800" kern="1200" baseline="0">
                <a:solidFill>
                  <a:schemeClr val="tx1"/>
                </a:solidFill>
                <a:latin typeface="+mn-lt"/>
                <a:ea typeface="+mn-ea"/>
                <a:cs typeface="+mn-cs"/>
              </a:defRPr>
            </a:lvl6pPr>
            <a:lvl7pPr marL="155448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7pPr>
            <a:lvl8pPr marL="173736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8pPr>
            <a:lvl9pPr marL="192024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9pPr>
            <a:extLst/>
          </a:lstStyle>
          <a:p>
            <a:pPr marL="0" indent="0">
              <a:buNone/>
            </a:pPr>
            <a:endParaRPr lang="en-US" sz="1200" dirty="0"/>
          </a:p>
          <a:p>
            <a:pPr marL="0" indent="0">
              <a:buNone/>
            </a:pPr>
            <a:endParaRPr lang="en-US" sz="1200" dirty="0"/>
          </a:p>
          <a:p>
            <a:pPr marL="0" indent="0">
              <a:buNone/>
            </a:pPr>
            <a:endParaRPr lang="ru-RU" sz="1200" dirty="0"/>
          </a:p>
        </p:txBody>
      </p:sp>
    </p:spTree>
    <p:extLst>
      <p:ext uri="{BB962C8B-B14F-4D97-AF65-F5344CB8AC3E}">
        <p14:creationId xmlns:p14="http://schemas.microsoft.com/office/powerpoint/2010/main" val="494772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982133"/>
            <a:ext cx="9601196" cy="846668"/>
          </a:xfrm>
        </p:spPr>
        <p:txBody>
          <a:bodyPr>
            <a:normAutofit/>
          </a:bodyPr>
          <a:lstStyle/>
          <a:p>
            <a:pPr algn="ctr"/>
            <a:r>
              <a:rPr lang="en-US" sz="3200" b="1" dirty="0"/>
              <a:t>Outline:</a:t>
            </a:r>
          </a:p>
        </p:txBody>
      </p:sp>
      <p:graphicFrame>
        <p:nvGraphicFramePr>
          <p:cNvPr id="5" name="Content Placeholder 2">
            <a:extLst>
              <a:ext uri="{FF2B5EF4-FFF2-40B4-BE49-F238E27FC236}">
                <a16:creationId xmlns:a16="http://schemas.microsoft.com/office/drawing/2014/main" id="{5539F572-14F3-F2B0-833F-D4FBD7FBE176}"/>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91761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2493" y="238539"/>
            <a:ext cx="11018520" cy="1434415"/>
          </a:xfrm>
        </p:spPr>
        <p:txBody>
          <a:bodyPr anchor="b">
            <a:normAutofit/>
          </a:bodyPr>
          <a:lstStyle/>
          <a:p>
            <a:r>
              <a:rPr lang="en-US" sz="4600" b="1">
                <a:latin typeface="+mn-lt"/>
              </a:rPr>
              <a:t>Etymology of the term</a:t>
            </a:r>
            <a:br>
              <a:rPr lang="en-US" sz="4600"/>
            </a:br>
            <a:endParaRPr lang="en-US" sz="4600" b="1"/>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72493" y="2071316"/>
            <a:ext cx="6713552" cy="4119172"/>
          </a:xfrm>
        </p:spPr>
        <p:txBody>
          <a:bodyPr anchor="t">
            <a:normAutofit/>
          </a:bodyPr>
          <a:lstStyle/>
          <a:p>
            <a:r>
              <a:rPr lang="en-US" sz="2400" dirty="0"/>
              <a:t>Ontology is the doctrine of existence and being. </a:t>
            </a:r>
          </a:p>
          <a:p>
            <a:r>
              <a:rPr lang="en-US" sz="2400" dirty="0"/>
              <a:t>As the philosophical branch it examines the fundamental principles of being, its most common entities and categories, structure and patterns.</a:t>
            </a:r>
          </a:p>
          <a:p>
            <a:r>
              <a:rPr lang="en-US" sz="2400" dirty="0"/>
              <a:t> It also studies the doctrine of existence in unity with the theory of knowledge and logic. </a:t>
            </a:r>
          </a:p>
          <a:p>
            <a:r>
              <a:rPr lang="en-US" sz="2400" dirty="0"/>
              <a:t>The term was firstly used by German philosopher Jacob </a:t>
            </a:r>
            <a:r>
              <a:rPr lang="en-US" sz="2400" dirty="0" err="1"/>
              <a:t>Lorhard</a:t>
            </a:r>
            <a:r>
              <a:rPr lang="en-US" sz="2400" dirty="0"/>
              <a:t> in his work “</a:t>
            </a:r>
            <a:r>
              <a:rPr lang="en-US" sz="2400" i="1" dirty="0" err="1"/>
              <a:t>Ogdoas</a:t>
            </a:r>
            <a:r>
              <a:rPr lang="en-US" sz="2400" i="1" dirty="0"/>
              <a:t> Scholastica” in 1606</a:t>
            </a:r>
            <a:endParaRPr lang="en-US" sz="2400" dirty="0"/>
          </a:p>
        </p:txBody>
      </p:sp>
      <p:pic>
        <p:nvPicPr>
          <p:cNvPr id="4" name="Рисунок 3" descr="A close-up of a book cover&#10;&#10;Description automatically generated"/>
          <p:cNvPicPr>
            <a:picLocks noChangeAspect="1"/>
          </p:cNvPicPr>
          <p:nvPr/>
        </p:nvPicPr>
        <p:blipFill>
          <a:blip r:embed="rId2">
            <a:extLst>
              <a:ext uri="{28A0092B-C50C-407E-A947-70E740481C1C}">
                <a14:useLocalDpi xmlns:a14="http://schemas.microsoft.com/office/drawing/2010/main" val="0"/>
              </a:ext>
            </a:extLst>
          </a:blip>
          <a:srcRect t="15386" r="1" b="2983"/>
          <a:stretch/>
        </p:blipFill>
        <p:spPr>
          <a:xfrm>
            <a:off x="7675658" y="2093976"/>
            <a:ext cx="3941064" cy="4096512"/>
          </a:xfrm>
          <a:prstGeom prst="rect">
            <a:avLst/>
          </a:prstGeom>
        </p:spPr>
      </p:pic>
    </p:spTree>
    <p:extLst>
      <p:ext uri="{BB962C8B-B14F-4D97-AF65-F5344CB8AC3E}">
        <p14:creationId xmlns:p14="http://schemas.microsoft.com/office/powerpoint/2010/main" val="3707436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additive="base">
                                        <p:cTn id="2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additive="base">
                                        <p:cTn id="2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2493" y="238539"/>
            <a:ext cx="11018520" cy="1434415"/>
          </a:xfrm>
        </p:spPr>
        <p:txBody>
          <a:bodyPr vert="horz" lIns="91440" tIns="45720" rIns="91440" bIns="45720" rtlCol="0" anchor="b">
            <a:normAutofit/>
          </a:bodyPr>
          <a:lstStyle/>
          <a:p>
            <a:r>
              <a:rPr lang="en-US" sz="5400" b="1"/>
              <a:t>The notion of being in philosophy</a:t>
            </a:r>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half" idx="1"/>
          </p:nvPr>
        </p:nvSpPr>
        <p:spPr>
          <a:xfrm>
            <a:off x="572492" y="2071316"/>
            <a:ext cx="6936671" cy="4611562"/>
          </a:xfrm>
        </p:spPr>
        <p:txBody>
          <a:bodyPr vert="horz" lIns="91440" tIns="45720" rIns="91440" bIns="45720" rtlCol="0" anchor="t">
            <a:normAutofit/>
          </a:bodyPr>
          <a:lstStyle/>
          <a:p>
            <a:r>
              <a:rPr lang="en-US" sz="2300" dirty="0"/>
              <a:t>Being is one of the most important categories of philosophy. </a:t>
            </a:r>
          </a:p>
          <a:p>
            <a:r>
              <a:rPr lang="en-US" sz="2300" dirty="0"/>
              <a:t>It expresses the problem of existence in its general form. The word "being" comes from the verb "to be." But as a philosophical category, "being" appeared only when philosophical thought posed the problem of existence and began to analyze this problem.</a:t>
            </a:r>
          </a:p>
          <a:p>
            <a:r>
              <a:rPr lang="en-US" sz="2300" dirty="0"/>
              <a:t>Philosophy has as its subject the world as a whole, the correlation of the material and the ideal, the place of man in society and in the world. In other words, philosophy seeks to clarify the question of the existence of the world and the existence of man.</a:t>
            </a:r>
          </a:p>
        </p:txBody>
      </p:sp>
      <p:pic>
        <p:nvPicPr>
          <p:cNvPr id="5" name="Объект 4"/>
          <p:cNvPicPr>
            <a:picLocks noGrp="1" noChangeAspect="1"/>
          </p:cNvPicPr>
          <p:nvPr>
            <p:ph sz="half" idx="2"/>
          </p:nvPr>
        </p:nvPicPr>
        <p:blipFill>
          <a:blip r:embed="rId2">
            <a:extLst>
              <a:ext uri="{28A0092B-C50C-407E-A947-70E740481C1C}">
                <a14:useLocalDpi xmlns:a14="http://schemas.microsoft.com/office/drawing/2010/main" val="0"/>
              </a:ext>
            </a:extLst>
          </a:blip>
          <a:srcRect r="5080" b="3"/>
          <a:stretch/>
        </p:blipFill>
        <p:spPr>
          <a:xfrm>
            <a:off x="7675658" y="2093976"/>
            <a:ext cx="3941064" cy="4096512"/>
          </a:xfrm>
          <a:prstGeom prst="rect">
            <a:avLst/>
          </a:prstGeom>
        </p:spPr>
      </p:pic>
    </p:spTree>
    <p:extLst>
      <p:ext uri="{BB962C8B-B14F-4D97-AF65-F5344CB8AC3E}">
        <p14:creationId xmlns:p14="http://schemas.microsoft.com/office/powerpoint/2010/main" val="1115750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41248" y="548640"/>
            <a:ext cx="3600860" cy="5431536"/>
          </a:xfrm>
        </p:spPr>
        <p:txBody>
          <a:bodyPr vert="horz" lIns="91440" tIns="45720" rIns="91440" bIns="45720" rtlCol="0" anchor="ctr">
            <a:normAutofit/>
          </a:bodyPr>
          <a:lstStyle/>
          <a:p>
            <a:r>
              <a:rPr lang="en-US" sz="5400" b="1" kern="1200">
                <a:solidFill>
                  <a:schemeClr val="tx1"/>
                </a:solidFill>
                <a:latin typeface="+mj-lt"/>
                <a:ea typeface="+mj-ea"/>
                <a:cs typeface="+mj-cs"/>
              </a:rPr>
              <a:t>The definition of the concept</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half" idx="1"/>
          </p:nvPr>
        </p:nvSpPr>
        <p:spPr>
          <a:xfrm>
            <a:off x="5126418" y="552091"/>
            <a:ext cx="6224335" cy="5431536"/>
          </a:xfrm>
        </p:spPr>
        <p:txBody>
          <a:bodyPr vert="horz" lIns="91440" tIns="45720" rIns="91440" bIns="45720" rtlCol="0" anchor="ctr">
            <a:normAutofit/>
          </a:bodyPr>
          <a:lstStyle/>
          <a:p>
            <a:endParaRPr lang="en-US" sz="2200"/>
          </a:p>
          <a:p>
            <a:r>
              <a:rPr lang="en-US" sz="2200"/>
              <a:t>In modern philosophical literature two meanings of the word "being" are predominated. </a:t>
            </a:r>
          </a:p>
          <a:p>
            <a:r>
              <a:rPr lang="en-US" sz="2200"/>
              <a:t>In the narrow sense of the word, this is an objective world that exists independently of consciousness; in the wide - this is all that exists: not only matter, but also the consciousness, ideas, feelings and even fantasies of people. </a:t>
            </a:r>
          </a:p>
          <a:p>
            <a:r>
              <a:rPr lang="en-US" sz="2200"/>
              <a:t>Being as objective reality is denoted by the term "matter".</a:t>
            </a:r>
          </a:p>
          <a:p>
            <a:r>
              <a:rPr lang="en-US" sz="2200"/>
              <a:t>Being has its opposite concept – non-being. And if being is all that exists, non-being is all that does not. And how does being and non-being relate to one another? This is a completely philosophical question, and we will see how it was determined in the history of philosophy.</a:t>
            </a:r>
          </a:p>
        </p:txBody>
      </p:sp>
    </p:spTree>
    <p:extLst>
      <p:ext uri="{BB962C8B-B14F-4D97-AF65-F5344CB8AC3E}">
        <p14:creationId xmlns:p14="http://schemas.microsoft.com/office/powerpoint/2010/main" val="3563148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half" idx="1"/>
          </p:nvPr>
        </p:nvSpPr>
        <p:spPr>
          <a:xfrm>
            <a:off x="406400" y="1809560"/>
            <a:ext cx="7134578" cy="4855174"/>
          </a:xfrm>
        </p:spPr>
        <p:txBody>
          <a:bodyPr vert="horz" lIns="91440" tIns="45720" rIns="91440" bIns="45720" rtlCol="0" anchor="t">
            <a:noAutofit/>
          </a:bodyPr>
          <a:lstStyle/>
          <a:p>
            <a:r>
              <a:rPr lang="en-US" sz="1800" dirty="0"/>
              <a:t>Parmenides (about 540 BC or 515 BC - about 470 BC) is an ancient Greek philosopher of Pre-Socratic period, founder and chief representative of the Eleatic school (the town of Elea; the possibility of motion). His views expressed in his metaphysical poem "On Nature". </a:t>
            </a:r>
          </a:p>
          <a:p>
            <a:r>
              <a:rPr lang="en-US" sz="1800" dirty="0"/>
              <a:t>He examined the concept of being. His main theses on being are as follows:</a:t>
            </a:r>
          </a:p>
          <a:p>
            <a:pPr marL="0" indent="0">
              <a:buNone/>
            </a:pPr>
            <a:r>
              <a:rPr lang="en-US" sz="1800" dirty="0"/>
              <a:t>1) Besides being there is nothing. As well as the process of thinking is being;</a:t>
            </a:r>
          </a:p>
          <a:p>
            <a:pPr marL="0" indent="0">
              <a:buNone/>
            </a:pPr>
            <a:r>
              <a:rPr lang="en-US" sz="1800" dirty="0"/>
              <a:t>2) Being is not generated by anyone; otherwise, one would have to admit that it originated from non-being, but there is no non-being;</a:t>
            </a:r>
          </a:p>
          <a:p>
            <a:pPr marL="0" indent="0">
              <a:buNone/>
            </a:pPr>
            <a:r>
              <a:rPr lang="en-US" sz="1800" dirty="0"/>
              <a:t>3) Being is not subject to damage or destruction; otherwise, it would turn into non-being, but non-being does not exist;</a:t>
            </a:r>
          </a:p>
          <a:p>
            <a:pPr marL="0" indent="0">
              <a:buNone/>
            </a:pPr>
            <a:r>
              <a:rPr lang="en-US" sz="1800" dirty="0"/>
              <a:t>4) Being has neither past nor future. Being is a present. It is motionless, homogeneous, perfect and limited.</a:t>
            </a:r>
          </a:p>
          <a:p>
            <a:r>
              <a:rPr lang="en-US" sz="1800" dirty="0"/>
              <a:t>Main slogan of Parmenides is: "There is a Being and there is no non-existence".</a:t>
            </a: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rcRect l="22567" r="23365" b="-2"/>
          <a:stretch/>
        </p:blipFill>
        <p:spPr>
          <a:xfrm>
            <a:off x="7675658" y="2093976"/>
            <a:ext cx="3941064" cy="4096512"/>
          </a:xfrm>
          <a:prstGeom prst="rect">
            <a:avLst/>
          </a:prstGeom>
        </p:spPr>
      </p:pic>
    </p:spTree>
    <p:extLst>
      <p:ext uri="{BB962C8B-B14F-4D97-AF65-F5344CB8AC3E}">
        <p14:creationId xmlns:p14="http://schemas.microsoft.com/office/powerpoint/2010/main" val="2308480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6679" y="723898"/>
            <a:ext cx="6002110" cy="1495425"/>
          </a:xfrm>
        </p:spPr>
        <p:txBody>
          <a:bodyPr vert="horz" lIns="91440" tIns="45720" rIns="91440" bIns="45720" rtlCol="0" anchor="ctr">
            <a:normAutofit/>
          </a:bodyPr>
          <a:lstStyle/>
          <a:p>
            <a:r>
              <a:rPr lang="en-US" sz="4000" b="1"/>
              <a:t>Heraclitus</a:t>
            </a:r>
            <a:endParaRPr lang="en-US" sz="4000"/>
          </a:p>
        </p:txBody>
      </p:sp>
      <p:sp>
        <p:nvSpPr>
          <p:cNvPr id="3" name="Content Placeholder 2"/>
          <p:cNvSpPr>
            <a:spLocks noGrp="1"/>
          </p:cNvSpPr>
          <p:nvPr>
            <p:ph sz="half" idx="1"/>
          </p:nvPr>
        </p:nvSpPr>
        <p:spPr>
          <a:xfrm>
            <a:off x="526473" y="1759527"/>
            <a:ext cx="6312317" cy="4374574"/>
          </a:xfrm>
        </p:spPr>
        <p:txBody>
          <a:bodyPr vert="horz" lIns="91440" tIns="45720" rIns="91440" bIns="45720" rtlCol="0">
            <a:normAutofit/>
          </a:bodyPr>
          <a:lstStyle/>
          <a:p>
            <a:r>
              <a:rPr lang="en-US" sz="2000" dirty="0"/>
              <a:t>In contrast to Parmenides, Heraclitus  (535-475) focuses on the motion. </a:t>
            </a:r>
          </a:p>
          <a:p>
            <a:r>
              <a:rPr lang="en-US" sz="2000" dirty="0"/>
              <a:t>The universe for him is a cosmos, not created by any of  gods and by none of the people, but was, is and will be forever as a living fire. </a:t>
            </a:r>
          </a:p>
          <a:p>
            <a:r>
              <a:rPr lang="en-US" sz="2000" dirty="0"/>
              <a:t>But Heraclitus suggests that the universe is in perpetual motion. The thought of Heraclitus differs from the concept of immovable being by Parmenides. </a:t>
            </a:r>
          </a:p>
          <a:p>
            <a:r>
              <a:rPr lang="en-US" sz="2000" dirty="0"/>
              <a:t>However, Heraclitus is not limited to the statement about the mobility of the universe. He regards the movement itself as a result of the mutual transition of opposites. Being and non-existence are inseparable. One generates another, one passes into the other.</a:t>
            </a:r>
          </a:p>
        </p:txBody>
      </p:sp>
      <p:pic>
        <p:nvPicPr>
          <p:cNvPr id="6" name="Объект 5"/>
          <p:cNvPicPr>
            <a:picLocks noGrp="1" noChangeAspect="1"/>
          </p:cNvPicPr>
          <p:nvPr>
            <p:ph sz="half" idx="2"/>
          </p:nvPr>
        </p:nvPicPr>
        <p:blipFill>
          <a:blip r:embed="rId2" cstate="print">
            <a:extLst>
              <a:ext uri="{28A0092B-C50C-407E-A947-70E740481C1C}">
                <a14:useLocalDpi xmlns:a14="http://schemas.microsoft.com/office/drawing/2010/main" val="0"/>
              </a:ext>
            </a:extLst>
          </a:blip>
          <a:srcRect l="18072" r="21324" b="2"/>
          <a:stretch/>
        </p:blipFill>
        <p:spPr>
          <a:xfrm>
            <a:off x="7199440" y="10"/>
            <a:ext cx="4992560" cy="6857990"/>
          </a:xfrm>
          <a:prstGeom prst="rect">
            <a:avLst/>
          </a:prstGeom>
          <a:effectLst/>
        </p:spPr>
      </p:pic>
    </p:spTree>
    <p:extLst>
      <p:ext uri="{BB962C8B-B14F-4D97-AF65-F5344CB8AC3E}">
        <p14:creationId xmlns:p14="http://schemas.microsoft.com/office/powerpoint/2010/main" val="3839278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6679" y="723898"/>
            <a:ext cx="6002110" cy="709791"/>
          </a:xfrm>
        </p:spPr>
        <p:txBody>
          <a:bodyPr vert="horz" lIns="91440" tIns="45720" rIns="91440" bIns="45720" rtlCol="0" anchor="ctr">
            <a:normAutofit/>
          </a:bodyPr>
          <a:lstStyle/>
          <a:p>
            <a:r>
              <a:rPr lang="en-US" sz="3200" b="1" dirty="0"/>
              <a:t>The Theory of Greek scholars</a:t>
            </a:r>
          </a:p>
        </p:txBody>
      </p:sp>
      <p:sp>
        <p:nvSpPr>
          <p:cNvPr id="3" name="Content Placeholder 2"/>
          <p:cNvSpPr>
            <a:spLocks noGrp="1"/>
          </p:cNvSpPr>
          <p:nvPr>
            <p:ph sz="half" idx="1"/>
          </p:nvPr>
        </p:nvSpPr>
        <p:spPr>
          <a:xfrm>
            <a:off x="346364" y="1433690"/>
            <a:ext cx="6705600" cy="5271910"/>
          </a:xfrm>
        </p:spPr>
        <p:txBody>
          <a:bodyPr vert="horz" lIns="91440" tIns="45720" rIns="91440" bIns="45720" rtlCol="0">
            <a:noAutofit/>
          </a:bodyPr>
          <a:lstStyle/>
          <a:p>
            <a:r>
              <a:rPr lang="en-US" sz="2000" dirty="0"/>
              <a:t>Developing a materialistic philosophy, the later ancient philosophers-materialists Leucippus and his disciple Democritus (around 460 - about 370 BC) tried to overcome contradictions in the doctrine of being and developed the concept of atomism. Atoms are indivisible particles of matter. All visible bodies are composed of atoms. </a:t>
            </a:r>
          </a:p>
          <a:p>
            <a:r>
              <a:rPr lang="en-US" sz="2000" dirty="0"/>
              <a:t>Atomistic teaching was accepted and developed by the materialists of Ancient Greece and Rome, primarily philosophers such as Epicurus (341-270 BC) and Titus Lucretius Car (about 99 - about 55 BC). Later atomism revives in the philosophy of modern times.</a:t>
            </a:r>
          </a:p>
          <a:p>
            <a:r>
              <a:rPr lang="en-US" sz="2000" dirty="0"/>
              <a:t>However, at the end of the 5th century BC ancient Greek philosophy received a great development of completely different philosophical systems - the systems of idealistic philosophy. And it is quite natural that in these systems a completely different doctrine of being is presented.</a:t>
            </a:r>
          </a:p>
        </p:txBody>
      </p:sp>
      <p:pic>
        <p:nvPicPr>
          <p:cNvPr id="5" name="Picture 4" descr="Close up of a molecular model">
            <a:extLst>
              <a:ext uri="{FF2B5EF4-FFF2-40B4-BE49-F238E27FC236}">
                <a16:creationId xmlns:a16="http://schemas.microsoft.com/office/drawing/2014/main" id="{7EF5AF65-7987-5DEF-8362-47F8F3044D2E}"/>
              </a:ext>
            </a:extLst>
          </p:cNvPr>
          <p:cNvPicPr>
            <a:picLocks noChangeAspect="1"/>
          </p:cNvPicPr>
          <p:nvPr/>
        </p:nvPicPr>
        <p:blipFill>
          <a:blip r:embed="rId2"/>
          <a:srcRect l="42811" r="2590"/>
          <a:stretch/>
        </p:blipFill>
        <p:spPr>
          <a:xfrm>
            <a:off x="7199440" y="10"/>
            <a:ext cx="4992560" cy="6857990"/>
          </a:xfrm>
          <a:prstGeom prst="rect">
            <a:avLst/>
          </a:prstGeom>
          <a:effectLst/>
        </p:spPr>
      </p:pic>
    </p:spTree>
    <p:extLst>
      <p:ext uri="{BB962C8B-B14F-4D97-AF65-F5344CB8AC3E}">
        <p14:creationId xmlns:p14="http://schemas.microsoft.com/office/powerpoint/2010/main" val="1676745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down)">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down)">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5577" y="1081825"/>
            <a:ext cx="11485437" cy="5776175"/>
          </a:xfrm>
        </p:spPr>
        <p:txBody>
          <a:bodyPr>
            <a:noAutofit/>
          </a:bodyPr>
          <a:lstStyle/>
          <a:p>
            <a:pPr>
              <a:lnSpc>
                <a:spcPct val="100000"/>
              </a:lnSpc>
            </a:pPr>
            <a:r>
              <a:rPr lang="en-US" sz="2300" dirty="0"/>
              <a:t>The third century in the history of Europe was a transitional period. </a:t>
            </a:r>
          </a:p>
          <a:p>
            <a:pPr>
              <a:lnSpc>
                <a:spcPct val="100000"/>
              </a:lnSpc>
            </a:pPr>
            <a:r>
              <a:rPr lang="en-US" sz="2300" dirty="0"/>
              <a:t>The old, ancient world disintegrated, a new world was born, feudal Europe arose. And at the same time, a new religion - Christianity - has arisen and has become increasingly popular. </a:t>
            </a:r>
          </a:p>
          <a:p>
            <a:pPr>
              <a:lnSpc>
                <a:spcPct val="100000"/>
              </a:lnSpc>
            </a:pPr>
            <a:r>
              <a:rPr lang="en-US" sz="2300" dirty="0"/>
              <a:t>The former Greek and Roman gods were gods of polytheistic religions. They symbolized elements or parts of nature and were themselves recognized by parts, elements of this nature: the gods of heaven and earth, the sea and the underworld. </a:t>
            </a:r>
          </a:p>
          <a:p>
            <a:pPr>
              <a:lnSpc>
                <a:spcPct val="100000"/>
              </a:lnSpc>
            </a:pPr>
            <a:r>
              <a:rPr lang="en-US" sz="2300" dirty="0"/>
              <a:t>They lived somewhere near, very close, and often entered into direct relations with people, determining their fate, helping one in war against others. They were a necessary addition to nature and social life.</a:t>
            </a:r>
          </a:p>
          <a:p>
            <a:pPr>
              <a:lnSpc>
                <a:spcPct val="100000"/>
              </a:lnSpc>
            </a:pPr>
            <a:r>
              <a:rPr lang="en-US" sz="2300" dirty="0"/>
              <a:t>The dominant monotheistic religious worldview had completely different gods, more precisely, a completely different god. He alone was the creator of heaven and earth, the creator of plants, animals and man. It was a revolution in the worldview. In addition, the legalization of Christianity and its recognition as a state religion of the Roman Empire gave birth to the process of exclusion all other views from the life of society.</a:t>
            </a:r>
            <a:endParaRPr lang="ru-RU" sz="2300" dirty="0"/>
          </a:p>
        </p:txBody>
      </p:sp>
      <p:sp>
        <p:nvSpPr>
          <p:cNvPr id="2" name="Прямоугольник 1"/>
          <p:cNvSpPr/>
          <p:nvPr/>
        </p:nvSpPr>
        <p:spPr>
          <a:xfrm>
            <a:off x="972199" y="206063"/>
            <a:ext cx="10612192" cy="6439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600" dirty="0">
                <a:solidFill>
                  <a:srgbClr val="FF0000"/>
                </a:solidFill>
              </a:rPr>
              <a:t>Patterns of the periods</a:t>
            </a:r>
            <a:endParaRPr lang="ru-RU" sz="2600" dirty="0">
              <a:solidFill>
                <a:srgbClr val="FF0000"/>
              </a:solidFill>
            </a:endParaRPr>
          </a:p>
        </p:txBody>
      </p:sp>
    </p:spTree>
    <p:extLst>
      <p:ext uri="{BB962C8B-B14F-4D97-AF65-F5344CB8AC3E}">
        <p14:creationId xmlns:p14="http://schemas.microsoft.com/office/powerpoint/2010/main" val="755530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p:cNvSpPr>
            <a:spLocks noGrp="1"/>
          </p:cNvSpPr>
          <p:nvPr>
            <p:ph type="title"/>
          </p:nvPr>
        </p:nvSpPr>
        <p:spPr>
          <a:xfrm>
            <a:off x="686834" y="1153572"/>
            <a:ext cx="3200400" cy="4461163"/>
          </a:xfrm>
        </p:spPr>
        <p:txBody>
          <a:bodyPr vert="horz" lIns="91440" tIns="45720" rIns="91440" bIns="45720" rtlCol="0" anchor="ctr">
            <a:normAutofit/>
          </a:bodyPr>
          <a:lstStyle/>
          <a:p>
            <a:r>
              <a:rPr lang="en-US" b="1" kern="1200">
                <a:solidFill>
                  <a:srgbClr val="FFFFFF"/>
                </a:solidFill>
                <a:latin typeface="+mj-lt"/>
                <a:ea typeface="+mj-ea"/>
                <a:cs typeface="+mj-cs"/>
              </a:rPr>
              <a:t>Ontology in Medieval Period</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Объект 2"/>
          <p:cNvSpPr>
            <a:spLocks noGrp="1"/>
          </p:cNvSpPr>
          <p:nvPr>
            <p:ph sz="half" idx="1"/>
          </p:nvPr>
        </p:nvSpPr>
        <p:spPr>
          <a:xfrm>
            <a:off x="4447308" y="591344"/>
            <a:ext cx="6906491" cy="5585619"/>
          </a:xfrm>
        </p:spPr>
        <p:txBody>
          <a:bodyPr vert="horz" lIns="91440" tIns="45720" rIns="91440" bIns="45720" rtlCol="0" anchor="ctr">
            <a:normAutofit/>
          </a:bodyPr>
          <a:lstStyle/>
          <a:p>
            <a:pPr>
              <a:lnSpc>
                <a:spcPct val="150000"/>
              </a:lnSpc>
            </a:pPr>
            <a:r>
              <a:rPr lang="en-US" sz="2400" dirty="0"/>
              <a:t>Scholastic approach towards ontology</a:t>
            </a:r>
          </a:p>
          <a:p>
            <a:pPr>
              <a:lnSpc>
                <a:spcPct val="150000"/>
              </a:lnSpc>
            </a:pPr>
            <a:r>
              <a:rPr lang="en-US" sz="2400" dirty="0"/>
              <a:t>Reconsideration of Aristotelianism</a:t>
            </a:r>
          </a:p>
          <a:p>
            <a:pPr>
              <a:lnSpc>
                <a:spcPct val="150000"/>
              </a:lnSpc>
            </a:pPr>
            <a:r>
              <a:rPr lang="en-US" sz="2400" dirty="0"/>
              <a:t>Legacy of Ibn Sina and Ibn </a:t>
            </a:r>
            <a:r>
              <a:rPr lang="en-US" sz="2400" dirty="0" err="1"/>
              <a:t>Rushd</a:t>
            </a:r>
            <a:endParaRPr lang="en-US" sz="2400" dirty="0"/>
          </a:p>
          <a:p>
            <a:pPr>
              <a:lnSpc>
                <a:spcPct val="150000"/>
              </a:lnSpc>
            </a:pPr>
            <a:r>
              <a:rPr lang="en-US" sz="2400" dirty="0"/>
              <a:t>“The world has beginning, but God could have created in a such a way that it existed eternally” – Thomas Aquinas</a:t>
            </a:r>
          </a:p>
          <a:p>
            <a:pPr>
              <a:lnSpc>
                <a:spcPct val="150000"/>
              </a:lnSpc>
            </a:pPr>
            <a:r>
              <a:rPr lang="en-US" sz="2400" dirty="0"/>
              <a:t>Heliocentrism</a:t>
            </a:r>
          </a:p>
        </p:txBody>
      </p:sp>
    </p:spTree>
    <p:extLst>
      <p:ext uri="{BB962C8B-B14F-4D97-AF65-F5344CB8AC3E}">
        <p14:creationId xmlns:p14="http://schemas.microsoft.com/office/powerpoint/2010/main" val="39212448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2B783EE-0239-4717-BBEA-8C9EAC61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1" y="345810"/>
            <a:ext cx="5120561" cy="500857"/>
          </a:xfrm>
        </p:spPr>
        <p:txBody>
          <a:bodyPr vert="horz" lIns="91440" tIns="45720" rIns="91440" bIns="45720" rtlCol="0" anchor="ctr">
            <a:normAutofit/>
          </a:bodyPr>
          <a:lstStyle/>
          <a:p>
            <a:r>
              <a:rPr lang="en-US" sz="2800" b="1" kern="1200" dirty="0">
                <a:solidFill>
                  <a:schemeClr val="tx1"/>
                </a:solidFill>
                <a:latin typeface="+mj-lt"/>
                <a:ea typeface="+mj-ea"/>
                <a:cs typeface="+mj-cs"/>
              </a:rPr>
              <a:t>19</a:t>
            </a:r>
            <a:r>
              <a:rPr lang="en-US" sz="2800" b="1" kern="1200" baseline="30000" dirty="0">
                <a:solidFill>
                  <a:schemeClr val="tx1"/>
                </a:solidFill>
                <a:latin typeface="+mj-lt"/>
                <a:ea typeface="+mj-ea"/>
                <a:cs typeface="+mj-cs"/>
              </a:rPr>
              <a:t>th</a:t>
            </a:r>
            <a:r>
              <a:rPr lang="en-US" sz="2800" b="1" kern="1200" dirty="0">
                <a:solidFill>
                  <a:schemeClr val="tx1"/>
                </a:solidFill>
                <a:latin typeface="+mj-lt"/>
                <a:ea typeface="+mj-ea"/>
                <a:cs typeface="+mj-cs"/>
              </a:rPr>
              <a:t>-early 20</a:t>
            </a:r>
            <a:r>
              <a:rPr lang="en-US" sz="2800" b="1" kern="1200" baseline="30000" dirty="0">
                <a:solidFill>
                  <a:schemeClr val="tx1"/>
                </a:solidFill>
                <a:latin typeface="+mj-lt"/>
                <a:ea typeface="+mj-ea"/>
                <a:cs typeface="+mj-cs"/>
              </a:rPr>
              <a:t>th</a:t>
            </a:r>
            <a:r>
              <a:rPr lang="en-US" sz="2800" b="1" kern="1200" dirty="0">
                <a:solidFill>
                  <a:schemeClr val="tx1"/>
                </a:solidFill>
                <a:latin typeface="+mj-lt"/>
                <a:ea typeface="+mj-ea"/>
                <a:cs typeface="+mj-cs"/>
              </a:rPr>
              <a:t> Centuries</a:t>
            </a:r>
          </a:p>
        </p:txBody>
      </p:sp>
      <p:sp>
        <p:nvSpPr>
          <p:cNvPr id="3" name="Content Placeholder 2"/>
          <p:cNvSpPr>
            <a:spLocks noGrp="1"/>
          </p:cNvSpPr>
          <p:nvPr>
            <p:ph sz="half" idx="1"/>
          </p:nvPr>
        </p:nvSpPr>
        <p:spPr>
          <a:xfrm>
            <a:off x="124178" y="846668"/>
            <a:ext cx="5971822" cy="5803514"/>
          </a:xfrm>
        </p:spPr>
        <p:txBody>
          <a:bodyPr vert="horz" lIns="91440" tIns="45720" rIns="91440" bIns="45720" rtlCol="0">
            <a:noAutofit/>
          </a:bodyPr>
          <a:lstStyle/>
          <a:p>
            <a:r>
              <a:rPr lang="en-US" sz="1700" dirty="0"/>
              <a:t>The end of the nineteenth and early twentieth centuries was characterized by the fact that in philosophy great attention was paid to the problems of cognition. </a:t>
            </a:r>
          </a:p>
          <a:p>
            <a:r>
              <a:rPr lang="en-US" sz="1700" dirty="0"/>
              <a:t>Gnoseology took the dominant position. Moreover, there are developing doctrines that deny the importance of general philosophical concepts and call for the rejection of such fundamental philosophical concepts as matter, spirit, and being.</a:t>
            </a:r>
          </a:p>
          <a:p>
            <a:r>
              <a:rPr lang="en-US" sz="1700" dirty="0"/>
              <a:t>The long dominance of religious ideology, the relative weakness and limited scope of the influence of materialistic teachings, the existence of society was considered idealistically.</a:t>
            </a:r>
          </a:p>
          <a:p>
            <a:r>
              <a:rPr lang="en-US" sz="1700" dirty="0"/>
              <a:t>A fundamentally different situation arose in the 1840s and 1850s. XIX century, when the foundations of dialectical materialism were developed and the basic principles of the materialist understanding of history were formulated.</a:t>
            </a:r>
          </a:p>
          <a:p>
            <a:r>
              <a:rPr lang="en-US" sz="1700" dirty="0"/>
              <a:t>This was done by Karl Marx and Friedrich Engels. In philosophy, a new concept was introduced: "social or public being." Public being is the intrinsic, internal foundation of the existence and development of society, not identical with its natural basis. </a:t>
            </a:r>
          </a:p>
          <a:p>
            <a:r>
              <a:rPr lang="en-US" sz="1700" dirty="0"/>
              <a:t>Big Bang theory was introduced in 1920s about the metaphysics that dominates till present.</a:t>
            </a:r>
          </a:p>
        </p:txBody>
      </p:sp>
      <p:sp>
        <p:nvSpPr>
          <p:cNvPr id="13" name="Oval 12">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0569" y="1364732"/>
            <a:ext cx="947488"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6" name="Рисунок 5"/>
          <p:cNvPicPr>
            <a:picLocks noChangeAspect="1"/>
          </p:cNvPicPr>
          <p:nvPr/>
        </p:nvPicPr>
        <p:blipFill>
          <a:blip r:embed="rId2">
            <a:extLst>
              <a:ext uri="{28A0092B-C50C-407E-A947-70E740481C1C}">
                <a14:useLocalDpi xmlns:a14="http://schemas.microsoft.com/office/drawing/2010/main" val="0"/>
              </a:ext>
            </a:extLst>
          </a:blip>
          <a:srcRect t="2673" r="1" b="27299"/>
          <a:stretch/>
        </p:blipFill>
        <p:spPr>
          <a:xfrm>
            <a:off x="7901259" y="2727729"/>
            <a:ext cx="4290741" cy="4130271"/>
          </a:xfrm>
          <a:custGeom>
            <a:avLst/>
            <a:gdLst/>
            <a:ahLst/>
            <a:cxnLst/>
            <a:rect l="l" t="t" r="r" b="b"/>
            <a:pathLst>
              <a:path w="4290741" h="4130271">
                <a:moveTo>
                  <a:pt x="2503809" y="0"/>
                </a:moveTo>
                <a:cubicBezTo>
                  <a:pt x="3157405" y="0"/>
                  <a:pt x="3752509" y="250434"/>
                  <a:pt x="4198398" y="660580"/>
                </a:cubicBezTo>
                <a:lnTo>
                  <a:pt x="4290741" y="751286"/>
                </a:lnTo>
                <a:lnTo>
                  <a:pt x="4290741" y="4130271"/>
                </a:lnTo>
                <a:lnTo>
                  <a:pt x="604508" y="4130271"/>
                </a:lnTo>
                <a:lnTo>
                  <a:pt x="461940" y="3953232"/>
                </a:lnTo>
                <a:cubicBezTo>
                  <a:pt x="171051" y="3544183"/>
                  <a:pt x="0" y="3043971"/>
                  <a:pt x="0" y="2503809"/>
                </a:cubicBezTo>
                <a:cubicBezTo>
                  <a:pt x="0" y="1120992"/>
                  <a:pt x="1120992" y="0"/>
                  <a:pt x="2503809" y="0"/>
                </a:cubicBezTo>
                <a:close/>
              </a:path>
            </a:pathLst>
          </a:custGeom>
        </p:spPr>
      </p:pic>
      <p:sp>
        <p:nvSpPr>
          <p:cNvPr id="15" name="Arc 14">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4759070" flipV="1">
            <a:off x="6034138" y="-673140"/>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5" name="Объект 4"/>
          <p:cNvPicPr>
            <a:picLocks noGrp="1" noChangeAspect="1"/>
          </p:cNvPicPr>
          <p:nvPr>
            <p:ph sz="half" idx="2"/>
          </p:nvPr>
        </p:nvPicPr>
        <p:blipFill>
          <a:blip r:embed="rId3">
            <a:extLst>
              <a:ext uri="{28A0092B-C50C-407E-A947-70E740481C1C}">
                <a14:useLocalDpi xmlns:a14="http://schemas.microsoft.com/office/drawing/2010/main" val="0"/>
              </a:ext>
            </a:extLst>
          </a:blip>
          <a:srcRect t="2960" r="2" b="43836"/>
          <a:stretch/>
        </p:blipFill>
        <p:spPr>
          <a:xfrm>
            <a:off x="6261607" y="1"/>
            <a:ext cx="3519312" cy="3007909"/>
          </a:xfrm>
          <a:custGeom>
            <a:avLst/>
            <a:gdLst/>
            <a:ahLst/>
            <a:cxnLst/>
            <a:rect l="l" t="t" r="r" b="b"/>
            <a:pathLst>
              <a:path w="3519312" h="3007909">
                <a:moveTo>
                  <a:pt x="519780" y="0"/>
                </a:moveTo>
                <a:lnTo>
                  <a:pt x="2999532" y="0"/>
                </a:lnTo>
                <a:lnTo>
                  <a:pt x="3003921" y="3989"/>
                </a:lnTo>
                <a:cubicBezTo>
                  <a:pt x="3322356" y="322424"/>
                  <a:pt x="3519312" y="762338"/>
                  <a:pt x="3519312" y="1248253"/>
                </a:cubicBezTo>
                <a:cubicBezTo>
                  <a:pt x="3519312" y="2220084"/>
                  <a:pt x="2731487" y="3007909"/>
                  <a:pt x="1759656" y="3007909"/>
                </a:cubicBezTo>
                <a:cubicBezTo>
                  <a:pt x="787826" y="3007909"/>
                  <a:pt x="0" y="2220084"/>
                  <a:pt x="0" y="1248253"/>
                </a:cubicBezTo>
                <a:cubicBezTo>
                  <a:pt x="0" y="762338"/>
                  <a:pt x="196957" y="322424"/>
                  <a:pt x="515392" y="3989"/>
                </a:cubicBezTo>
                <a:close/>
              </a:path>
            </a:pathLst>
          </a:custGeom>
        </p:spPr>
      </p:pic>
    </p:spTree>
    <p:extLst>
      <p:ext uri="{BB962C8B-B14F-4D97-AF65-F5344CB8AC3E}">
        <p14:creationId xmlns:p14="http://schemas.microsoft.com/office/powerpoint/2010/main" val="3591744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Effect transition="in" filter="fade">
                                      <p:cBhvr>
                                        <p:cTn id="19" dur="1000"/>
                                        <p:tgtEl>
                                          <p:spTgt spid="3">
                                            <p:txEl>
                                              <p:pRg st="0" end="0"/>
                                            </p:txEl>
                                          </p:spTgt>
                                        </p:tgtEl>
                                      </p:cBhvr>
                                    </p:animEffect>
                                    <p:anim calcmode="lin" valueType="num">
                                      <p:cBhvr>
                                        <p:cTn id="20"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1" end="1"/>
                                            </p:txEl>
                                          </p:spTgt>
                                        </p:tgtEl>
                                        <p:attrNameLst>
                                          <p:attrName>style.visibility</p:attrName>
                                        </p:attrNameLst>
                                      </p:cBhvr>
                                      <p:to>
                                        <p:strVal val="visible"/>
                                      </p:to>
                                    </p:set>
                                    <p:animEffect transition="in" filter="fade">
                                      <p:cBhvr>
                                        <p:cTn id="26" dur="1000"/>
                                        <p:tgtEl>
                                          <p:spTgt spid="3">
                                            <p:txEl>
                                              <p:pRg st="1" end="1"/>
                                            </p:txEl>
                                          </p:spTgt>
                                        </p:tgtEl>
                                      </p:cBhvr>
                                    </p:animEffect>
                                    <p:anim calcmode="lin" valueType="num">
                                      <p:cBhvr>
                                        <p:cTn id="27"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1000"/>
                                        <p:tgtEl>
                                          <p:spTgt spid="3">
                                            <p:txEl>
                                              <p:pRg st="3" end="3"/>
                                            </p:txEl>
                                          </p:spTgt>
                                        </p:tgtEl>
                                      </p:cBhvr>
                                    </p:animEffect>
                                    <p:anim calcmode="lin" valueType="num">
                                      <p:cBhvr>
                                        <p:cTn id="3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3">
                                            <p:txEl>
                                              <p:pRg st="4" end="4"/>
                                            </p:txEl>
                                          </p:spTgt>
                                        </p:tgtEl>
                                        <p:attrNameLst>
                                          <p:attrName>style.visibility</p:attrName>
                                        </p:attrNameLst>
                                      </p:cBhvr>
                                      <p:to>
                                        <p:strVal val="visible"/>
                                      </p:to>
                                    </p:set>
                                    <p:animEffect transition="in" filter="fade">
                                      <p:cBhvr>
                                        <p:cTn id="40" dur="1000"/>
                                        <p:tgtEl>
                                          <p:spTgt spid="3">
                                            <p:txEl>
                                              <p:pRg st="4" end="4"/>
                                            </p:txEl>
                                          </p:spTgt>
                                        </p:tgtEl>
                                      </p:cBhvr>
                                    </p:animEffect>
                                    <p:anim calcmode="lin" valueType="num">
                                      <p:cBhvr>
                                        <p:cTn id="4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animEffect transition="in" filter="fade">
                                      <p:cBhvr>
                                        <p:cTn id="47" dur="1000"/>
                                        <p:tgtEl>
                                          <p:spTgt spid="3">
                                            <p:txEl>
                                              <p:pRg st="5" end="5"/>
                                            </p:txEl>
                                          </p:spTgt>
                                        </p:tgtEl>
                                      </p:cBhvr>
                                    </p:animEffect>
                                    <p:anim calcmode="lin" valueType="num">
                                      <p:cBhvr>
                                        <p:cTn id="4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4000" b="1" kern="1200">
                <a:solidFill>
                  <a:srgbClr val="FFFFFF"/>
                </a:solidFill>
                <a:latin typeface="+mj-lt"/>
                <a:ea typeface="+mj-ea"/>
                <a:cs typeface="+mj-cs"/>
              </a:rPr>
              <a:t>The areas of existence</a:t>
            </a:r>
          </a:p>
        </p:txBody>
      </p:sp>
      <p:sp>
        <p:nvSpPr>
          <p:cNvPr id="3" name="Content Placeholder 2"/>
          <p:cNvSpPr>
            <a:spLocks noGrp="1"/>
          </p:cNvSpPr>
          <p:nvPr>
            <p:ph sz="half" idx="1"/>
          </p:nvPr>
        </p:nvSpPr>
        <p:spPr>
          <a:xfrm>
            <a:off x="4810259" y="649480"/>
            <a:ext cx="6555347" cy="5546047"/>
          </a:xfrm>
        </p:spPr>
        <p:txBody>
          <a:bodyPr vert="horz" lIns="91440" tIns="45720" rIns="91440" bIns="45720" rtlCol="0" anchor="ctr">
            <a:normAutofit/>
          </a:bodyPr>
          <a:lstStyle/>
          <a:p>
            <a:r>
              <a:rPr lang="en-US" sz="2000" dirty="0"/>
              <a:t>Traditional philosophical views distinguish three areas of existence. They include nature, society, consciousness (the state of awareness). The most common feature for them is their existence. Also, in the philosophical literature there are different forms of natural being and social existence: Natural being is often understood as bodies of the nature and processes. It is divided into two parts: the existence of the eternal nature (or the natural entity, which existed before and without human participation), and the being that produced by human labor (the "second nature", that is, culture). </a:t>
            </a:r>
          </a:p>
          <a:p>
            <a:r>
              <a:rPr lang="en-US" sz="2000" dirty="0"/>
              <a:t>The second nature consists in the following expressions:</a:t>
            </a:r>
          </a:p>
          <a:p>
            <a:pPr marL="0" indent="0">
              <a:buNone/>
            </a:pPr>
            <a:r>
              <a:rPr lang="en-US" sz="2000" dirty="0"/>
              <a:t>- human existence;</a:t>
            </a:r>
          </a:p>
          <a:p>
            <a:pPr marL="0" indent="0">
              <a:buNone/>
            </a:pPr>
            <a:r>
              <a:rPr lang="en-US" sz="2000" dirty="0"/>
              <a:t>- spiritual existence;</a:t>
            </a:r>
          </a:p>
          <a:p>
            <a:pPr marL="0" indent="0">
              <a:buNone/>
            </a:pPr>
            <a:r>
              <a:rPr lang="en-US" sz="2000" dirty="0"/>
              <a:t>- the existence of a social being</a:t>
            </a:r>
          </a:p>
        </p:txBody>
      </p:sp>
    </p:spTree>
    <p:extLst>
      <p:ext uri="{BB962C8B-B14F-4D97-AF65-F5344CB8AC3E}">
        <p14:creationId xmlns:p14="http://schemas.microsoft.com/office/powerpoint/2010/main" val="239239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1000"/>
                                        <p:tgtEl>
                                          <p:spTgt spid="3">
                                            <p:txEl>
                                              <p:pRg st="3" end="3"/>
                                            </p:txEl>
                                          </p:spTgt>
                                        </p:tgtEl>
                                      </p:cBhvr>
                                    </p:animEffect>
                                    <p:anim calcmode="lin" valueType="num">
                                      <p:cBhvr>
                                        <p:cTn id="3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3">
                                            <p:txEl>
                                              <p:pRg st="4" end="4"/>
                                            </p:txEl>
                                          </p:spTgt>
                                        </p:tgtEl>
                                        <p:attrNameLst>
                                          <p:attrName>style.visibility</p:attrName>
                                        </p:attrNameLst>
                                      </p:cBhvr>
                                      <p:to>
                                        <p:strVal val="visible"/>
                                      </p:to>
                                    </p:set>
                                    <p:animEffect transition="in" filter="fade">
                                      <p:cBhvr>
                                        <p:cTn id="40" dur="1000"/>
                                        <p:tgtEl>
                                          <p:spTgt spid="3">
                                            <p:txEl>
                                              <p:pRg st="4" end="4"/>
                                            </p:txEl>
                                          </p:spTgt>
                                        </p:tgtEl>
                                      </p:cBhvr>
                                    </p:animEffect>
                                    <p:anim calcmode="lin" valueType="num">
                                      <p:cBhvr>
                                        <p:cTn id="4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ctr">
              <a:buNone/>
            </a:pPr>
            <a:endParaRPr lang="en-US" dirty="0"/>
          </a:p>
          <a:p>
            <a:pPr marL="0" indent="0" algn="ctr">
              <a:buNone/>
            </a:pPr>
            <a:endParaRPr lang="en-US" dirty="0"/>
          </a:p>
          <a:p>
            <a:pPr marL="0" indent="0" algn="ctr">
              <a:buNone/>
            </a:pPr>
            <a:r>
              <a:rPr lang="en-US" sz="3200" i="1" dirty="0"/>
              <a:t>Thank you for your attention!</a:t>
            </a:r>
          </a:p>
        </p:txBody>
      </p:sp>
    </p:spTree>
    <p:extLst>
      <p:ext uri="{BB962C8B-B14F-4D97-AF65-F5344CB8AC3E}">
        <p14:creationId xmlns:p14="http://schemas.microsoft.com/office/powerpoint/2010/main" val="41779154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1069</TotalTime>
  <Words>1412</Words>
  <Application>Microsoft Macintosh PowerPoint</Application>
  <PresentationFormat>Widescreen</PresentationFormat>
  <Paragraphs>67</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Inha University in Tashkent</vt:lpstr>
      <vt:lpstr>Outline:</vt:lpstr>
      <vt:lpstr>Etymology of the term </vt:lpstr>
      <vt:lpstr>The notion of being in philosophy</vt:lpstr>
      <vt:lpstr>The definition of the concept</vt:lpstr>
      <vt:lpstr>PowerPoint Presentation</vt:lpstr>
      <vt:lpstr>Heraclitus</vt:lpstr>
      <vt:lpstr>The Theory of Greek scholars</vt:lpstr>
      <vt:lpstr>PowerPoint Presentation</vt:lpstr>
      <vt:lpstr>Ontology in Medieval Period</vt:lpstr>
      <vt:lpstr>19th-early 20th Centuries</vt:lpstr>
      <vt:lpstr>The areas of existence</vt:lpstr>
      <vt:lpstr>PowerPoint Presentation</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Ёш шарқшуносларнинг академик Убайдулла Каримов номидаги ХI илмий-амалий конференцияси</dc:title>
  <dc:creator>Batal</dc:creator>
  <cp:lastModifiedBy>kyakubov@outlook.com</cp:lastModifiedBy>
  <cp:revision>208</cp:revision>
  <dcterms:created xsi:type="dcterms:W3CDTF">2017-06-29T13:12:25Z</dcterms:created>
  <dcterms:modified xsi:type="dcterms:W3CDTF">2026-09-27T08:07:01Z</dcterms:modified>
</cp:coreProperties>
</file>