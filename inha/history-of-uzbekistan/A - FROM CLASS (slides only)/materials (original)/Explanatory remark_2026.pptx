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72" r:id="rId4"/>
    <p:sldId id="266" r:id="rId5"/>
    <p:sldId id="271" r:id="rId6"/>
    <p:sldId id="273" r:id="rId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455" autoAdjust="0"/>
    <p:restoredTop sz="94692"/>
  </p:normalViewPr>
  <p:slideViewPr>
    <p:cSldViewPr snapToGrid="0">
      <p:cViewPr varScale="1">
        <p:scale>
          <a:sx n="49" d="100"/>
          <a:sy n="49" d="100"/>
        </p:scale>
        <p:origin x="208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6704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/>
          <p:nvPr/>
        </p:nvSpPr>
        <p:spPr>
          <a:xfrm>
            <a:off x="571500" y="4749800"/>
            <a:ext cx="11868094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sz="quarter" idx="1"/>
          </p:nvPr>
        </p:nvSpPr>
        <p:spPr>
          <a:xfrm>
            <a:off x="571500" y="5016500"/>
            <a:ext cx="11861800" cy="1016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7594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/>
          </p:cNvSpPr>
          <p:nvPr>
            <p:ph type="title"/>
          </p:nvPr>
        </p:nvSpPr>
        <p:spPr>
          <a:xfrm>
            <a:off x="571500" y="3289300"/>
            <a:ext cx="11861800" cy="31750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4" name="Shape 3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571500" y="4864100"/>
            <a:ext cx="5334476" cy="5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2" name="Shape 42"/>
          <p:cNvSpPr>
            <a:spLocks noGrp="1"/>
          </p:cNvSpPr>
          <p:nvPr>
            <p:ph type="pic" idx="13"/>
          </p:nvPr>
        </p:nvSpPr>
        <p:spPr>
          <a:xfrm>
            <a:off x="6502400" y="0"/>
            <a:ext cx="6502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xfrm>
            <a:off x="571500" y="1435100"/>
            <a:ext cx="53340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sz="quarter" idx="1"/>
          </p:nvPr>
        </p:nvSpPr>
        <p:spPr>
          <a:xfrm>
            <a:off x="571500" y="5130800"/>
            <a:ext cx="53340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 flipH="1">
            <a:off x="9055098" y="508000"/>
            <a:ext cx="128" cy="79756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9" name="Shape 89"/>
          <p:cNvSpPr/>
          <p:nvPr/>
        </p:nvSpPr>
        <p:spPr>
          <a:xfrm>
            <a:off x="9055096" y="4464050"/>
            <a:ext cx="3448503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pic" sz="quarter" idx="13"/>
          </p:nvPr>
        </p:nvSpPr>
        <p:spPr>
          <a:xfrm>
            <a:off x="9220200" y="4622800"/>
            <a:ext cx="3276600" cy="386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pic" sz="quarter" idx="14"/>
          </p:nvPr>
        </p:nvSpPr>
        <p:spPr>
          <a:xfrm>
            <a:off x="9220200" y="508000"/>
            <a:ext cx="3276600" cy="3797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pic" idx="15"/>
          </p:nvPr>
        </p:nvSpPr>
        <p:spPr>
          <a:xfrm>
            <a:off x="520700" y="508000"/>
            <a:ext cx="8369300" cy="7975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520700" y="8661400"/>
            <a:ext cx="8369300" cy="939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F19FD-FD57-4947-9D55-2498B7FB19E0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259613" y="9194800"/>
            <a:ext cx="320601" cy="318036"/>
          </a:xfrm>
        </p:spPr>
        <p:txBody>
          <a:bodyPr/>
          <a:lstStyle/>
          <a:p>
            <a:fld id="{ACF564EE-5F94-48BF-8E5E-F78E102D6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0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71500" y="1968500"/>
            <a:ext cx="11868106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571500" y="2222500"/>
            <a:ext cx="11861800" cy="666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2268199" y="9194800"/>
            <a:ext cx="312015" cy="2998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60" r:id="rId8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4572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9144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3716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18288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22860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27432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32004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36576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4114800" marR="0" indent="-457200" algn="l" defTabSz="584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jA4CLPXhqFU0Mzcy" TargetMode="External"/><Relationship Id="rId2" Type="http://schemas.openxmlformats.org/officeDocument/2006/relationships/hyperlink" Target="mailto:k.yakubov@inha.uz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 defTabSz="321310">
              <a:defRPr sz="4180">
                <a:solidFill>
                  <a:srgbClr val="262218"/>
                </a:solidFill>
                <a:effectLst>
                  <a:outerShdw blurRad="13970" dist="13970" dir="16200000" rotWithShape="0">
                    <a:srgbClr val="000000">
                      <a:alpha val="34000"/>
                    </a:srgbClr>
                  </a:outerShdw>
                </a:effectLst>
                <a:latin typeface="Hoefler Text"/>
                <a:ea typeface="Hoefler Text"/>
                <a:cs typeface="Hoefler Text"/>
                <a:sym typeface="Hoefler Text"/>
              </a:defRPr>
            </a:lvl1pPr>
          </a:lstStyle>
          <a:p>
            <a:r>
              <a:rPr lang="en-US" dirty="0"/>
              <a:t>Content and Explanatory Remarks</a:t>
            </a:r>
            <a:endParaRPr dirty="0"/>
          </a:p>
        </p:txBody>
      </p:sp>
      <p:sp>
        <p:nvSpPr>
          <p:cNvPr id="129" name="Shape 129"/>
          <p:cNvSpPr>
            <a:spLocks noGrp="1"/>
          </p:cNvSpPr>
          <p:nvPr>
            <p:ph type="body" sz="quarter" idx="1"/>
          </p:nvPr>
        </p:nvSpPr>
        <p:spPr>
          <a:xfrm>
            <a:off x="7677150" y="8153400"/>
            <a:ext cx="5124450" cy="8255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endParaRPr lang="en-US" sz="3200" dirty="0">
              <a:solidFill>
                <a:srgbClr val="FF0000"/>
              </a:solidFill>
            </a:endParaRPr>
          </a:p>
          <a:p>
            <a:pPr algn="ctr"/>
            <a:r>
              <a:rPr lang="en-US" sz="3200" dirty="0">
                <a:solidFill>
                  <a:srgbClr val="FF0000"/>
                </a:solidFill>
              </a:rPr>
              <a:t>NHU-2 (Basics of Philosophy)</a:t>
            </a:r>
            <a:endParaRPr sz="3200" dirty="0">
              <a:solidFill>
                <a:srgbClr val="FF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0"/>
            <a:ext cx="13004800" cy="80518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4080" y="1317339"/>
            <a:ext cx="11216640" cy="6283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840" b="1" dirty="0">
                <a:solidFill>
                  <a:srgbClr val="0070C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General Rules</a:t>
            </a:r>
            <a:endParaRPr lang="en-US" sz="384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07" y="2156604"/>
            <a:ext cx="11869947" cy="7056407"/>
          </a:xfrm>
        </p:spPr>
        <p:txBody>
          <a:bodyPr>
            <a:normAutofit fontScale="47500" lnSpcReduction="20000"/>
          </a:bodyPr>
          <a:lstStyle/>
          <a:p>
            <a:endParaRPr lang="en-US" dirty="0"/>
          </a:p>
          <a:p>
            <a:pPr>
              <a:lnSpc>
                <a:spcPct val="200000"/>
              </a:lnSpc>
            </a:pPr>
            <a:r>
              <a:rPr lang="en-US" sz="4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Attendance will be calculated in accordance with your participation in multiple-choice questions sessions (MCQS) which will be conducted every week. Please note that if you miss the MCQS more than 3 times, you will be considered as failed the course.  </a:t>
            </a:r>
          </a:p>
          <a:p>
            <a:pPr>
              <a:lnSpc>
                <a:spcPct val="200000"/>
              </a:lnSpc>
            </a:pPr>
            <a:r>
              <a:rPr lang="en-US" sz="4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MCQS will consist of 5 questions, and they will be based on the recorded videos and textual materials, which are available at the University site (</a:t>
            </a:r>
            <a:r>
              <a:rPr lang="en-US" sz="4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eclass.inha.ac.kr</a:t>
            </a:r>
            <a:r>
              <a:rPr lang="en-US" sz="4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 You will have 10 minutes, and you can pass MCQS through </a:t>
            </a:r>
            <a:r>
              <a:rPr lang="en-US" sz="4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eclass</a:t>
            </a:r>
            <a:r>
              <a:rPr lang="en-US" sz="4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MCQS is available from Monday to Friday this week.</a:t>
            </a:r>
          </a:p>
          <a:p>
            <a:pPr>
              <a:lnSpc>
                <a:spcPct val="200000"/>
              </a:lnSpc>
            </a:pPr>
            <a:r>
              <a:rPr lang="en-US" sz="4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After having every 3 lectures you will have to pass the quiz. The days of quizzes will be announced later.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158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Grading criteria</a:t>
            </a:r>
            <a:endParaRPr dirty="0"/>
          </a:p>
        </p:txBody>
      </p:sp>
      <p:graphicFrame>
        <p:nvGraphicFramePr>
          <p:cNvPr id="4" name="Таблица 6">
            <a:extLst>
              <a:ext uri="{FF2B5EF4-FFF2-40B4-BE49-F238E27FC236}">
                <a16:creationId xmlns:a16="http://schemas.microsoft.com/office/drawing/2014/main" id="{7E5073F1-3A55-5763-F0F9-E2DB12198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209513"/>
              </p:ext>
            </p:extLst>
          </p:nvPr>
        </p:nvGraphicFramePr>
        <p:xfrm>
          <a:off x="571501" y="3904735"/>
          <a:ext cx="11562835" cy="13098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2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6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2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51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chemeClr val="bg1"/>
                          </a:solidFill>
                          <a:effectLst/>
                        </a:rPr>
                        <a:t>Mid-term exam</a:t>
                      </a:r>
                      <a:endParaRPr lang="ru-RU" sz="2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chemeClr val="bg1"/>
                          </a:solidFill>
                          <a:effectLst/>
                        </a:rPr>
                        <a:t>Final exam</a:t>
                      </a:r>
                      <a:endParaRPr lang="ru-RU" sz="2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>
                          <a:solidFill>
                            <a:schemeClr val="bg1"/>
                          </a:solidFill>
                          <a:effectLst/>
                        </a:rPr>
                        <a:t>Attendance</a:t>
                      </a:r>
                      <a:endParaRPr lang="ru-RU" sz="26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chemeClr val="bg1"/>
                          </a:solidFill>
                          <a:effectLst/>
                        </a:rPr>
                        <a:t>Quiz</a:t>
                      </a:r>
                      <a:endParaRPr lang="ru-RU" sz="2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dirty="0">
                          <a:solidFill>
                            <a:schemeClr val="bg1"/>
                          </a:solidFill>
                          <a:effectLst/>
                        </a:rPr>
                        <a:t>Total</a:t>
                      </a:r>
                      <a:endParaRPr lang="ru-RU" sz="2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2060"/>
                          </a:solidFill>
                          <a:effectLst/>
                        </a:rPr>
                        <a:t>30.0%</a:t>
                      </a:r>
                      <a:endParaRPr lang="ru-RU" sz="2600" b="1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2060"/>
                          </a:solidFill>
                          <a:effectLst/>
                        </a:rPr>
                        <a:t>40.0%</a:t>
                      </a:r>
                      <a:endParaRPr lang="ru-RU" sz="2600" b="1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2060"/>
                          </a:solidFill>
                          <a:effectLst/>
                        </a:rPr>
                        <a:t>10%</a:t>
                      </a:r>
                      <a:endParaRPr lang="ru-RU" sz="2600" b="1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2060"/>
                          </a:solidFill>
                          <a:effectLst/>
                        </a:rPr>
                        <a:t>20%</a:t>
                      </a:r>
                      <a:endParaRPr lang="ru-RU" sz="2600" b="1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600" b="1" dirty="0">
                          <a:solidFill>
                            <a:srgbClr val="002060"/>
                          </a:solidFill>
                          <a:effectLst/>
                        </a:rPr>
                        <a:t>100.0%</a:t>
                      </a:r>
                      <a:endParaRPr lang="ru-RU" sz="2600" b="1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Coverage of the Subject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167" name="Shape 16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4300" b="1" i="1" u="sng" dirty="0">
                <a:solidFill>
                  <a:schemeClr val="tx1"/>
                </a:solidFill>
              </a:rPr>
              <a:t>In the first half:</a:t>
            </a:r>
          </a:p>
          <a:p>
            <a:pPr>
              <a:lnSpc>
                <a:spcPct val="120000"/>
              </a:lnSpc>
            </a:pPr>
            <a:r>
              <a:rPr lang="en-US" sz="4300" dirty="0">
                <a:solidFill>
                  <a:schemeClr val="tx1"/>
                </a:solidFill>
              </a:rPr>
              <a:t>the history of formation of philosophical thoughts through long historical periods</a:t>
            </a:r>
          </a:p>
          <a:p>
            <a:pPr>
              <a:lnSpc>
                <a:spcPct val="120000"/>
              </a:lnSpc>
            </a:pPr>
            <a:r>
              <a:rPr lang="en-US" sz="4300" dirty="0">
                <a:solidFill>
                  <a:schemeClr val="tx1"/>
                </a:solidFill>
              </a:rPr>
              <a:t>the features of development and the state of art of the subject in taken period</a:t>
            </a:r>
          </a:p>
          <a:p>
            <a:pPr>
              <a:lnSpc>
                <a:spcPct val="120000"/>
              </a:lnSpc>
            </a:pPr>
            <a:r>
              <a:rPr lang="en-US" sz="4300" dirty="0">
                <a:solidFill>
                  <a:schemeClr val="tx1"/>
                </a:solidFill>
              </a:rPr>
              <a:t>the scientific heritage of Central Asian scholars on the development of sciences, in particular, social sciences.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300" b="1" i="1" u="sng" dirty="0">
                <a:solidFill>
                  <a:schemeClr val="tx1"/>
                </a:solidFill>
              </a:rPr>
              <a:t>In the second half:</a:t>
            </a:r>
          </a:p>
          <a:p>
            <a:pPr>
              <a:lnSpc>
                <a:spcPct val="120000"/>
              </a:lnSpc>
            </a:pPr>
            <a:r>
              <a:rPr lang="en-US" sz="4300" dirty="0">
                <a:solidFill>
                  <a:schemeClr val="tx1"/>
                </a:solidFill>
              </a:rPr>
              <a:t>the branches of philosophy such as ontology, epistemology and categories of philosophy</a:t>
            </a:r>
          </a:p>
          <a:p>
            <a:pPr>
              <a:lnSpc>
                <a:spcPct val="120000"/>
              </a:lnSpc>
            </a:pPr>
            <a:r>
              <a:rPr lang="en-US" sz="4300" dirty="0">
                <a:solidFill>
                  <a:schemeClr val="tx1"/>
                </a:solidFill>
              </a:rPr>
              <a:t>recent reforms on economy, the changes in social life and the restoration and development of spiritual heritage in Uzbekistan.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switch dir="l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Sources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/>
          </a:bodyPr>
          <a:lstStyle/>
          <a:p>
            <a:pPr marL="0" lvl="0" indent="0" hangingPunct="0">
              <a:buNone/>
            </a:pPr>
            <a:r>
              <a:rPr lang="en-US" sz="2800" b="1" i="1" u="sng" dirty="0">
                <a:solidFill>
                  <a:schemeClr val="tx1"/>
                </a:solidFill>
              </a:rPr>
              <a:t>Primary sources</a:t>
            </a:r>
          </a:p>
          <a:p>
            <a:pPr hangingPunct="0"/>
            <a:r>
              <a:rPr lang="en-US" sz="2800" i="1" dirty="0">
                <a:solidFill>
                  <a:schemeClr val="tx1"/>
                </a:solidFill>
              </a:rPr>
              <a:t>Constitution of the Republic of Uzbekistan. Tashkent: </a:t>
            </a:r>
            <a:r>
              <a:rPr lang="en-US" sz="2800" i="1" dirty="0" err="1">
                <a:solidFill>
                  <a:schemeClr val="tx1"/>
                </a:solidFill>
              </a:rPr>
              <a:t>Oʻzbekiston</a:t>
            </a:r>
            <a:r>
              <a:rPr lang="en-US" sz="2800" i="1" dirty="0">
                <a:solidFill>
                  <a:schemeClr val="tx1"/>
                </a:solidFill>
              </a:rPr>
              <a:t>, 2020. </a:t>
            </a:r>
          </a:p>
          <a:p>
            <a:pPr hangingPunct="0"/>
            <a:r>
              <a:rPr lang="en-US" sz="2800" i="1" dirty="0">
                <a:solidFill>
                  <a:schemeClr val="tx1"/>
                </a:solidFill>
              </a:rPr>
              <a:t>The Strategy of Actions on Five Priority Directions of Development of the Republic of Uzbekistan in 2017-2021.</a:t>
            </a:r>
            <a:endParaRPr lang="ru-RU" sz="2800" i="1" dirty="0">
              <a:solidFill>
                <a:schemeClr val="tx1"/>
              </a:solidFill>
            </a:endParaRPr>
          </a:p>
          <a:p>
            <a:pPr marL="0" lvl="0" indent="0" hangingPunct="0">
              <a:buNone/>
            </a:pPr>
            <a:r>
              <a:rPr lang="en-US" sz="2800" b="1" i="1" u="sng" dirty="0">
                <a:solidFill>
                  <a:schemeClr val="tx1"/>
                </a:solidFill>
              </a:rPr>
              <a:t>Secondary sources</a:t>
            </a:r>
          </a:p>
          <a:p>
            <a:pPr hangingPunct="0"/>
            <a:r>
              <a:rPr lang="en-US" sz="2800" i="1" dirty="0">
                <a:solidFill>
                  <a:schemeClr val="tx1"/>
                </a:solidFill>
              </a:rPr>
              <a:t>Fullerton G.S. An Introduction to Philosophy. USA, 2005</a:t>
            </a:r>
          </a:p>
          <a:p>
            <a:pPr hangingPunct="0"/>
            <a:r>
              <a:rPr lang="en-US" sz="2800" i="1" dirty="0">
                <a:solidFill>
                  <a:schemeClr val="tx1"/>
                </a:solidFill>
              </a:rPr>
              <a:t>The Philosophy Book: Big Ideas Simply Explained. USA, 2011.</a:t>
            </a:r>
          </a:p>
          <a:p>
            <a:pPr hangingPunct="0"/>
            <a:r>
              <a:rPr lang="en-US" sz="2800" i="1" dirty="0">
                <a:solidFill>
                  <a:schemeClr val="tx1"/>
                </a:solidFill>
              </a:rPr>
              <a:t>Hugo B. Thinking and Writing about Philosophy. Boston: Bedford Books of St. Martin's Press, 1996.</a:t>
            </a:r>
          </a:p>
          <a:p>
            <a:pPr hangingPunct="0"/>
            <a:r>
              <a:rPr lang="en-US" sz="2800" i="1" dirty="0">
                <a:solidFill>
                  <a:schemeClr val="tx1"/>
                </a:solidFill>
              </a:rPr>
              <a:t>William J. E. Introduction to Philosophy. New York: McGraw-Hill Inc., 1992.</a:t>
            </a:r>
          </a:p>
          <a:p>
            <a:pPr hangingPunct="0"/>
            <a:r>
              <a:rPr lang="en-US" sz="2800" i="1" dirty="0">
                <a:solidFill>
                  <a:schemeClr val="tx1"/>
                </a:solidFill>
              </a:rPr>
              <a:t>Cahn S.  Political Philosophy. Oxford University Press, 2014.</a:t>
            </a:r>
          </a:p>
          <a:p>
            <a:pPr lvl="0" hangingPunct="0"/>
            <a:endParaRPr lang="en-US" sz="2800" i="1" dirty="0">
              <a:solidFill>
                <a:schemeClr val="tx1"/>
              </a:solidFill>
            </a:endParaRPr>
          </a:p>
          <a:p>
            <a:endParaRPr sz="280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blinds dir="ver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 hangingPunct="0"/>
            <a:endParaRPr lang="en-US" sz="2800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 Instructor: Dr. </a:t>
            </a:r>
            <a:r>
              <a:rPr lang="en-US" sz="2800" b="1" dirty="0" err="1">
                <a:solidFill>
                  <a:schemeClr val="tx1"/>
                </a:solidFill>
              </a:rPr>
              <a:t>Qahramon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Yakubov</a:t>
            </a:r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 email: </a:t>
            </a:r>
            <a:r>
              <a:rPr lang="en-US" sz="2800" i="1" dirty="0">
                <a:solidFill>
                  <a:schemeClr val="tx1"/>
                </a:solidFill>
                <a:hlinkClick r:id="rId2"/>
              </a:rPr>
              <a:t>k.yakubov@inha.uz</a:t>
            </a:r>
            <a:endParaRPr lang="en-US" sz="2800" i="1" dirty="0">
              <a:solidFill>
                <a:schemeClr val="tx1"/>
              </a:solidFill>
            </a:endParaRPr>
          </a:p>
          <a:p>
            <a:r>
              <a:rPr lang="en-US" sz="2800" b="1" dirty="0">
                <a:solidFill>
                  <a:schemeClr val="tx1"/>
                </a:solidFill>
              </a:rPr>
              <a:t>Office hours (B 412):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</a:rPr>
              <a:t>Monday (14.00-15.00)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</a:rPr>
              <a:t>Friday (14.00-15.00)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</a:rPr>
              <a:t>Students are required to make an appointment (confirm the time) before coming to the office.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Telegram channel: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https://t.me/+jA4CLPXhqFU0Mzcy</a:t>
            </a:r>
            <a:r>
              <a:rPr lang="en-US" dirty="0"/>
              <a:t> </a:t>
            </a:r>
            <a:endParaRPr lang="en-US" sz="2800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691176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9994</TotalTime>
  <Words>423</Words>
  <Application>Microsoft Macintosh PowerPoint</Application>
  <PresentationFormat>Custom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Helvetica</vt:lpstr>
      <vt:lpstr>Helvetica Neue</vt:lpstr>
      <vt:lpstr>Helvetica Neue Light</vt:lpstr>
      <vt:lpstr>Times New Roman</vt:lpstr>
      <vt:lpstr>ModernPortfolio</vt:lpstr>
      <vt:lpstr>Content and Explanatory Remarks</vt:lpstr>
      <vt:lpstr>General Rules</vt:lpstr>
      <vt:lpstr>Grading criteria</vt:lpstr>
      <vt:lpstr>Coverage of the Subject</vt:lpstr>
      <vt:lpstr>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and Explanatory Remark of the Course</dc:title>
  <dc:creator>Пользователь</dc:creator>
  <cp:lastModifiedBy>kyakubov@outlook.com</cp:lastModifiedBy>
  <cp:revision>65</cp:revision>
  <dcterms:modified xsi:type="dcterms:W3CDTF">2026-09-09T04:10:50Z</dcterms:modified>
</cp:coreProperties>
</file>