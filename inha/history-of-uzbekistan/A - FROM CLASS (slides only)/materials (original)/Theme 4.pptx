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5"/>
  </p:notesMasterIdLst>
  <p:sldIdLst>
    <p:sldId id="257" r:id="rId2"/>
    <p:sldId id="258" r:id="rId3"/>
    <p:sldId id="294" r:id="rId4"/>
    <p:sldId id="301" r:id="rId5"/>
    <p:sldId id="295" r:id="rId6"/>
    <p:sldId id="296" r:id="rId7"/>
    <p:sldId id="297" r:id="rId8"/>
    <p:sldId id="298" r:id="rId9"/>
    <p:sldId id="299" r:id="rId10"/>
    <p:sldId id="278" r:id="rId11"/>
    <p:sldId id="279" r:id="rId12"/>
    <p:sldId id="280" r:id="rId13"/>
    <p:sldId id="281" r:id="rId14"/>
    <p:sldId id="282" r:id="rId15"/>
    <p:sldId id="284" r:id="rId16"/>
    <p:sldId id="283" r:id="rId17"/>
    <p:sldId id="285" r:id="rId18"/>
    <p:sldId id="286" r:id="rId19"/>
    <p:sldId id="300" r:id="rId20"/>
    <p:sldId id="287" r:id="rId21"/>
    <p:sldId id="290" r:id="rId22"/>
    <p:sldId id="291"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506352-A10D-4DF3-88CC-3AD4DFCED331}">
          <p14:sldIdLst>
            <p14:sldId id="257"/>
            <p14:sldId id="258"/>
            <p14:sldId id="294"/>
            <p14:sldId id="301"/>
            <p14:sldId id="295"/>
            <p14:sldId id="296"/>
            <p14:sldId id="297"/>
            <p14:sldId id="298"/>
            <p14:sldId id="299"/>
            <p14:sldId id="278"/>
            <p14:sldId id="279"/>
            <p14:sldId id="280"/>
            <p14:sldId id="281"/>
            <p14:sldId id="282"/>
            <p14:sldId id="284"/>
            <p14:sldId id="283"/>
            <p14:sldId id="285"/>
            <p14:sldId id="286"/>
            <p14:sldId id="300"/>
            <p14:sldId id="287"/>
            <p14:sldId id="290"/>
            <p14:sldId id="291"/>
            <p14:sldId id="2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87" autoAdjust="0"/>
    <p:restoredTop sz="94660" autoAdjust="0"/>
  </p:normalViewPr>
  <p:slideViewPr>
    <p:cSldViewPr snapToGrid="0">
      <p:cViewPr varScale="1">
        <p:scale>
          <a:sx n="112" d="100"/>
          <a:sy n="112" d="100"/>
        </p:scale>
        <p:origin x="584" y="1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856"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A2EA9249-93A9-4CCF-BBD4-F4CE3430F963}"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6129B4E7-AE48-481F-BB80-E0C1E2A5E486}">
      <dgm:prSet/>
      <dgm:spPr/>
      <dgm:t>
        <a:bodyPr/>
        <a:lstStyle/>
        <a:p>
          <a:pPr>
            <a:defRPr cap="all"/>
          </a:pPr>
          <a:r>
            <a:rPr lang="en-US"/>
            <a:t>Timurids Period and Its Cultural Legacy</a:t>
          </a:r>
        </a:p>
      </dgm:t>
    </dgm:pt>
    <dgm:pt modelId="{E7B9A15E-979B-4DE7-B477-4E7D88B176D3}" type="parTrans" cxnId="{2FB5CD1C-C7C4-482E-99F1-BF272618DE95}">
      <dgm:prSet/>
      <dgm:spPr/>
      <dgm:t>
        <a:bodyPr/>
        <a:lstStyle/>
        <a:p>
          <a:endParaRPr lang="en-US"/>
        </a:p>
      </dgm:t>
    </dgm:pt>
    <dgm:pt modelId="{120F12F5-1C1C-4338-AF4C-1B00B27001C8}" type="sibTrans" cxnId="{2FB5CD1C-C7C4-482E-99F1-BF272618DE95}">
      <dgm:prSet/>
      <dgm:spPr/>
      <dgm:t>
        <a:bodyPr/>
        <a:lstStyle/>
        <a:p>
          <a:endParaRPr lang="en-US"/>
        </a:p>
      </dgm:t>
    </dgm:pt>
    <dgm:pt modelId="{58F68F98-73F9-4B08-BF3B-CEA03AA27B2E}">
      <dgm:prSet/>
      <dgm:spPr/>
      <dgm:t>
        <a:bodyPr/>
        <a:lstStyle/>
        <a:p>
          <a:pPr>
            <a:defRPr cap="all"/>
          </a:pPr>
          <a:r>
            <a:rPr lang="en-US"/>
            <a:t>The State of the Art of Logic</a:t>
          </a:r>
        </a:p>
      </dgm:t>
    </dgm:pt>
    <dgm:pt modelId="{DF0DFD26-8052-4F90-A4C1-2A35A086A8E4}" type="parTrans" cxnId="{2CF9D678-E194-41FA-AF5E-8A6AEA9703FE}">
      <dgm:prSet/>
      <dgm:spPr/>
      <dgm:t>
        <a:bodyPr/>
        <a:lstStyle/>
        <a:p>
          <a:endParaRPr lang="en-US"/>
        </a:p>
      </dgm:t>
    </dgm:pt>
    <dgm:pt modelId="{54906EC3-E4A7-44C4-8EE1-C5119EDA7EDC}" type="sibTrans" cxnId="{2CF9D678-E194-41FA-AF5E-8A6AEA9703FE}">
      <dgm:prSet/>
      <dgm:spPr/>
      <dgm:t>
        <a:bodyPr/>
        <a:lstStyle/>
        <a:p>
          <a:endParaRPr lang="en-US"/>
        </a:p>
      </dgm:t>
    </dgm:pt>
    <dgm:pt modelId="{B514DC41-07FA-49DE-919A-7775517A7A6A}">
      <dgm:prSet/>
      <dgm:spPr/>
      <dgm:t>
        <a:bodyPr/>
        <a:lstStyle/>
        <a:p>
          <a:pPr>
            <a:defRPr cap="all"/>
          </a:pPr>
          <a:r>
            <a:rPr lang="en-US"/>
            <a:t>The Development of Astronomy and Natural Sciences</a:t>
          </a:r>
        </a:p>
      </dgm:t>
    </dgm:pt>
    <dgm:pt modelId="{FF954D11-4DFF-4877-A43A-E0197B2E84E3}" type="parTrans" cxnId="{D2252E8D-E12B-49BA-BF66-B039858E20F1}">
      <dgm:prSet/>
      <dgm:spPr/>
      <dgm:t>
        <a:bodyPr/>
        <a:lstStyle/>
        <a:p>
          <a:endParaRPr lang="en-US"/>
        </a:p>
      </dgm:t>
    </dgm:pt>
    <dgm:pt modelId="{E3472F11-36DF-447C-9E06-D6E51682E42A}" type="sibTrans" cxnId="{D2252E8D-E12B-49BA-BF66-B039858E20F1}">
      <dgm:prSet/>
      <dgm:spPr/>
      <dgm:t>
        <a:bodyPr/>
        <a:lstStyle/>
        <a:p>
          <a:endParaRPr lang="en-US"/>
        </a:p>
      </dgm:t>
    </dgm:pt>
    <dgm:pt modelId="{A662710F-933E-44E9-B851-D7D497A58E15}">
      <dgm:prSet/>
      <dgm:spPr/>
      <dgm:t>
        <a:bodyPr/>
        <a:lstStyle/>
        <a:p>
          <a:pPr>
            <a:defRPr cap="all"/>
          </a:pPr>
          <a:r>
            <a:rPr lang="en-US"/>
            <a:t>Scholars on Literature and Ethics</a:t>
          </a:r>
        </a:p>
      </dgm:t>
    </dgm:pt>
    <dgm:pt modelId="{1552DA25-DD58-4301-AF48-B087F35A180C}" type="parTrans" cxnId="{CE7507D7-6211-4A3A-A45E-D371C7B1F5CE}">
      <dgm:prSet/>
      <dgm:spPr/>
      <dgm:t>
        <a:bodyPr/>
        <a:lstStyle/>
        <a:p>
          <a:endParaRPr lang="en-US"/>
        </a:p>
      </dgm:t>
    </dgm:pt>
    <dgm:pt modelId="{65F67BF5-2C2A-46B9-8C4F-0DCBAC1FDDE3}" type="sibTrans" cxnId="{CE7507D7-6211-4A3A-A45E-D371C7B1F5CE}">
      <dgm:prSet/>
      <dgm:spPr/>
      <dgm:t>
        <a:bodyPr/>
        <a:lstStyle/>
        <a:p>
          <a:endParaRPr lang="en-US"/>
        </a:p>
      </dgm:t>
    </dgm:pt>
    <dgm:pt modelId="{36476920-1FC4-48A1-8015-722EB121EA10}" type="pres">
      <dgm:prSet presAssocID="{A2EA9249-93A9-4CCF-BBD4-F4CE3430F963}" presName="root" presStyleCnt="0">
        <dgm:presLayoutVars>
          <dgm:dir/>
          <dgm:resizeHandles val="exact"/>
        </dgm:presLayoutVars>
      </dgm:prSet>
      <dgm:spPr/>
    </dgm:pt>
    <dgm:pt modelId="{0A8E3EBF-FCC0-4C56-80E7-32CD72098B73}" type="pres">
      <dgm:prSet presAssocID="{6129B4E7-AE48-481F-BB80-E0C1E2A5E486}" presName="compNode" presStyleCnt="0"/>
      <dgm:spPr/>
    </dgm:pt>
    <dgm:pt modelId="{306A35DF-E749-42AC-96C3-F51AB3E9B85C}" type="pres">
      <dgm:prSet presAssocID="{6129B4E7-AE48-481F-BB80-E0C1E2A5E486}" presName="iconBgRect" presStyleLbl="bgShp" presStyleIdx="0" presStyleCnt="4"/>
      <dgm:spPr>
        <a:prstGeom prst="round2DiagRect">
          <a:avLst>
            <a:gd name="adj1" fmla="val 29727"/>
            <a:gd name="adj2" fmla="val 0"/>
          </a:avLst>
        </a:prstGeom>
      </dgm:spPr>
    </dgm:pt>
    <dgm:pt modelId="{96964D60-2CAC-41C0-95C2-45F926885BA9}" type="pres">
      <dgm:prSet presAssocID="{6129B4E7-AE48-481F-BB80-E0C1E2A5E486}"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Earth Globe Americas"/>
        </a:ext>
      </dgm:extLst>
    </dgm:pt>
    <dgm:pt modelId="{41DCBFDD-84CF-4A58-9537-20B1AF789999}" type="pres">
      <dgm:prSet presAssocID="{6129B4E7-AE48-481F-BB80-E0C1E2A5E486}" presName="spaceRect" presStyleCnt="0"/>
      <dgm:spPr/>
    </dgm:pt>
    <dgm:pt modelId="{F6D690AB-0F6B-46A5-90C9-64CCF750172E}" type="pres">
      <dgm:prSet presAssocID="{6129B4E7-AE48-481F-BB80-E0C1E2A5E486}" presName="textRect" presStyleLbl="revTx" presStyleIdx="0" presStyleCnt="4">
        <dgm:presLayoutVars>
          <dgm:chMax val="1"/>
          <dgm:chPref val="1"/>
        </dgm:presLayoutVars>
      </dgm:prSet>
      <dgm:spPr/>
    </dgm:pt>
    <dgm:pt modelId="{DE276614-601E-4D49-8B38-CA04E658DE76}" type="pres">
      <dgm:prSet presAssocID="{120F12F5-1C1C-4338-AF4C-1B00B27001C8}" presName="sibTrans" presStyleCnt="0"/>
      <dgm:spPr/>
    </dgm:pt>
    <dgm:pt modelId="{01A40DB2-2B6B-4FDF-9658-BE28C0C1069F}" type="pres">
      <dgm:prSet presAssocID="{58F68F98-73F9-4B08-BF3B-CEA03AA27B2E}" presName="compNode" presStyleCnt="0"/>
      <dgm:spPr/>
    </dgm:pt>
    <dgm:pt modelId="{B4CD6428-9212-4095-96E6-A35E10FC5A91}" type="pres">
      <dgm:prSet presAssocID="{58F68F98-73F9-4B08-BF3B-CEA03AA27B2E}" presName="iconBgRect" presStyleLbl="bgShp" presStyleIdx="1" presStyleCnt="4"/>
      <dgm:spPr>
        <a:prstGeom prst="round2DiagRect">
          <a:avLst>
            <a:gd name="adj1" fmla="val 29727"/>
            <a:gd name="adj2" fmla="val 0"/>
          </a:avLst>
        </a:prstGeom>
      </dgm:spPr>
    </dgm:pt>
    <dgm:pt modelId="{F6343092-EAB5-4BDF-AB7D-9BC93CD3014F}" type="pres">
      <dgm:prSet presAssocID="{58F68F98-73F9-4B08-BF3B-CEA03AA27B2E}"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B6834C17-F1CF-458A-B32F-B12B5D5CAED8}" type="pres">
      <dgm:prSet presAssocID="{58F68F98-73F9-4B08-BF3B-CEA03AA27B2E}" presName="spaceRect" presStyleCnt="0"/>
      <dgm:spPr/>
    </dgm:pt>
    <dgm:pt modelId="{2E8084B3-742E-4B31-AA72-535214C8DB46}" type="pres">
      <dgm:prSet presAssocID="{58F68F98-73F9-4B08-BF3B-CEA03AA27B2E}" presName="textRect" presStyleLbl="revTx" presStyleIdx="1" presStyleCnt="4">
        <dgm:presLayoutVars>
          <dgm:chMax val="1"/>
          <dgm:chPref val="1"/>
        </dgm:presLayoutVars>
      </dgm:prSet>
      <dgm:spPr/>
    </dgm:pt>
    <dgm:pt modelId="{87F973D2-8CEA-4439-8663-46988C3514BE}" type="pres">
      <dgm:prSet presAssocID="{54906EC3-E4A7-44C4-8EE1-C5119EDA7EDC}" presName="sibTrans" presStyleCnt="0"/>
      <dgm:spPr/>
    </dgm:pt>
    <dgm:pt modelId="{714C6773-FB4D-4702-B9FD-FDB8356F923E}" type="pres">
      <dgm:prSet presAssocID="{B514DC41-07FA-49DE-919A-7775517A7A6A}" presName="compNode" presStyleCnt="0"/>
      <dgm:spPr/>
    </dgm:pt>
    <dgm:pt modelId="{42153299-D7E8-4393-A620-6A0399457F9E}" type="pres">
      <dgm:prSet presAssocID="{B514DC41-07FA-49DE-919A-7775517A7A6A}" presName="iconBgRect" presStyleLbl="bgShp" presStyleIdx="2" presStyleCnt="4"/>
      <dgm:spPr>
        <a:prstGeom prst="round2DiagRect">
          <a:avLst>
            <a:gd name="adj1" fmla="val 29727"/>
            <a:gd name="adj2" fmla="val 0"/>
          </a:avLst>
        </a:prstGeom>
      </dgm:spPr>
    </dgm:pt>
    <dgm:pt modelId="{C49D3CF3-FBE6-4E85-A76F-AD441B9455B2}" type="pres">
      <dgm:prSet presAssocID="{B514DC41-07FA-49DE-919A-7775517A7A6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lescope"/>
        </a:ext>
      </dgm:extLst>
    </dgm:pt>
    <dgm:pt modelId="{B3FD6688-F25B-4563-9E9B-316F5C2CD79C}" type="pres">
      <dgm:prSet presAssocID="{B514DC41-07FA-49DE-919A-7775517A7A6A}" presName="spaceRect" presStyleCnt="0"/>
      <dgm:spPr/>
    </dgm:pt>
    <dgm:pt modelId="{153584B1-5E67-4DB9-A5FC-37DD3751482C}" type="pres">
      <dgm:prSet presAssocID="{B514DC41-07FA-49DE-919A-7775517A7A6A}" presName="textRect" presStyleLbl="revTx" presStyleIdx="2" presStyleCnt="4">
        <dgm:presLayoutVars>
          <dgm:chMax val="1"/>
          <dgm:chPref val="1"/>
        </dgm:presLayoutVars>
      </dgm:prSet>
      <dgm:spPr/>
    </dgm:pt>
    <dgm:pt modelId="{89F0F53B-9CD6-4E72-8BFB-C53EFF5F4B6D}" type="pres">
      <dgm:prSet presAssocID="{E3472F11-36DF-447C-9E06-D6E51682E42A}" presName="sibTrans" presStyleCnt="0"/>
      <dgm:spPr/>
    </dgm:pt>
    <dgm:pt modelId="{EC3FEEF9-6DF8-4307-AA0E-A43D59F82019}" type="pres">
      <dgm:prSet presAssocID="{A662710F-933E-44E9-B851-D7D497A58E15}" presName="compNode" presStyleCnt="0"/>
      <dgm:spPr/>
    </dgm:pt>
    <dgm:pt modelId="{D492A575-0B5D-48BF-9481-C5F3BED5B803}" type="pres">
      <dgm:prSet presAssocID="{A662710F-933E-44E9-B851-D7D497A58E15}" presName="iconBgRect" presStyleLbl="bgShp" presStyleIdx="3" presStyleCnt="4"/>
      <dgm:spPr>
        <a:prstGeom prst="round2DiagRect">
          <a:avLst>
            <a:gd name="adj1" fmla="val 29727"/>
            <a:gd name="adj2" fmla="val 0"/>
          </a:avLst>
        </a:prstGeom>
      </dgm:spPr>
    </dgm:pt>
    <dgm:pt modelId="{AF943276-3C4A-495D-98D9-D2E46F74B63A}" type="pres">
      <dgm:prSet presAssocID="{A662710F-933E-44E9-B851-D7D497A58E15}"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a:ext>
      </dgm:extLst>
    </dgm:pt>
    <dgm:pt modelId="{6F9A6591-116A-4B50-BD31-80A716FD2886}" type="pres">
      <dgm:prSet presAssocID="{A662710F-933E-44E9-B851-D7D497A58E15}" presName="spaceRect" presStyleCnt="0"/>
      <dgm:spPr/>
    </dgm:pt>
    <dgm:pt modelId="{F8B4E057-3D34-4EC5-87AD-AF3DCD39887E}" type="pres">
      <dgm:prSet presAssocID="{A662710F-933E-44E9-B851-D7D497A58E15}" presName="textRect" presStyleLbl="revTx" presStyleIdx="3" presStyleCnt="4">
        <dgm:presLayoutVars>
          <dgm:chMax val="1"/>
          <dgm:chPref val="1"/>
        </dgm:presLayoutVars>
      </dgm:prSet>
      <dgm:spPr/>
    </dgm:pt>
  </dgm:ptLst>
  <dgm:cxnLst>
    <dgm:cxn modelId="{2FB5CD1C-C7C4-482E-99F1-BF272618DE95}" srcId="{A2EA9249-93A9-4CCF-BBD4-F4CE3430F963}" destId="{6129B4E7-AE48-481F-BB80-E0C1E2A5E486}" srcOrd="0" destOrd="0" parTransId="{E7B9A15E-979B-4DE7-B477-4E7D88B176D3}" sibTransId="{120F12F5-1C1C-4338-AF4C-1B00B27001C8}"/>
    <dgm:cxn modelId="{904E216E-AEC8-4906-9895-D33F705AE76B}" type="presOf" srcId="{6129B4E7-AE48-481F-BB80-E0C1E2A5E486}" destId="{F6D690AB-0F6B-46A5-90C9-64CCF750172E}" srcOrd="0" destOrd="0" presId="urn:microsoft.com/office/officeart/2018/5/layout/IconLeafLabelList"/>
    <dgm:cxn modelId="{2CF9D678-E194-41FA-AF5E-8A6AEA9703FE}" srcId="{A2EA9249-93A9-4CCF-BBD4-F4CE3430F963}" destId="{58F68F98-73F9-4B08-BF3B-CEA03AA27B2E}" srcOrd="1" destOrd="0" parTransId="{DF0DFD26-8052-4F90-A4C1-2A35A086A8E4}" sibTransId="{54906EC3-E4A7-44C4-8EE1-C5119EDA7EDC}"/>
    <dgm:cxn modelId="{9A6FF77B-F5E3-442A-BCA4-F2235A2BB4E5}" type="presOf" srcId="{A2EA9249-93A9-4CCF-BBD4-F4CE3430F963}" destId="{36476920-1FC4-48A1-8015-722EB121EA10}" srcOrd="0" destOrd="0" presId="urn:microsoft.com/office/officeart/2018/5/layout/IconLeafLabelList"/>
    <dgm:cxn modelId="{D2252E8D-E12B-49BA-BF66-B039858E20F1}" srcId="{A2EA9249-93A9-4CCF-BBD4-F4CE3430F963}" destId="{B514DC41-07FA-49DE-919A-7775517A7A6A}" srcOrd="2" destOrd="0" parTransId="{FF954D11-4DFF-4877-A43A-E0197B2E84E3}" sibTransId="{E3472F11-36DF-447C-9E06-D6E51682E42A}"/>
    <dgm:cxn modelId="{EEC8A5D0-F728-432D-BDD4-CB915C18AE85}" type="presOf" srcId="{B514DC41-07FA-49DE-919A-7775517A7A6A}" destId="{153584B1-5E67-4DB9-A5FC-37DD3751482C}" srcOrd="0" destOrd="0" presId="urn:microsoft.com/office/officeart/2018/5/layout/IconLeafLabelList"/>
    <dgm:cxn modelId="{CE7507D7-6211-4A3A-A45E-D371C7B1F5CE}" srcId="{A2EA9249-93A9-4CCF-BBD4-F4CE3430F963}" destId="{A662710F-933E-44E9-B851-D7D497A58E15}" srcOrd="3" destOrd="0" parTransId="{1552DA25-DD58-4301-AF48-B087F35A180C}" sibTransId="{65F67BF5-2C2A-46B9-8C4F-0DCBAC1FDDE3}"/>
    <dgm:cxn modelId="{F5804DDC-9A2F-4287-832E-07790B557CA0}" type="presOf" srcId="{58F68F98-73F9-4B08-BF3B-CEA03AA27B2E}" destId="{2E8084B3-742E-4B31-AA72-535214C8DB46}" srcOrd="0" destOrd="0" presId="urn:microsoft.com/office/officeart/2018/5/layout/IconLeafLabelList"/>
    <dgm:cxn modelId="{5009B3E1-2C0A-4B63-A224-FB40A618D1C7}" type="presOf" srcId="{A662710F-933E-44E9-B851-D7D497A58E15}" destId="{F8B4E057-3D34-4EC5-87AD-AF3DCD39887E}" srcOrd="0" destOrd="0" presId="urn:microsoft.com/office/officeart/2018/5/layout/IconLeafLabelList"/>
    <dgm:cxn modelId="{83DC140E-210A-443B-9CF6-3CFED939FEF4}" type="presParOf" srcId="{36476920-1FC4-48A1-8015-722EB121EA10}" destId="{0A8E3EBF-FCC0-4C56-80E7-32CD72098B73}" srcOrd="0" destOrd="0" presId="urn:microsoft.com/office/officeart/2018/5/layout/IconLeafLabelList"/>
    <dgm:cxn modelId="{CA621BB7-EFB4-453C-856E-72905394ABB7}" type="presParOf" srcId="{0A8E3EBF-FCC0-4C56-80E7-32CD72098B73}" destId="{306A35DF-E749-42AC-96C3-F51AB3E9B85C}" srcOrd="0" destOrd="0" presId="urn:microsoft.com/office/officeart/2018/5/layout/IconLeafLabelList"/>
    <dgm:cxn modelId="{BDB9F6DC-2061-44F3-A8B9-A06B7BCD5159}" type="presParOf" srcId="{0A8E3EBF-FCC0-4C56-80E7-32CD72098B73}" destId="{96964D60-2CAC-41C0-95C2-45F926885BA9}" srcOrd="1" destOrd="0" presId="urn:microsoft.com/office/officeart/2018/5/layout/IconLeafLabelList"/>
    <dgm:cxn modelId="{4D5C125B-1C9C-4B25-98B0-E32DDF0E724C}" type="presParOf" srcId="{0A8E3EBF-FCC0-4C56-80E7-32CD72098B73}" destId="{41DCBFDD-84CF-4A58-9537-20B1AF789999}" srcOrd="2" destOrd="0" presId="urn:microsoft.com/office/officeart/2018/5/layout/IconLeafLabelList"/>
    <dgm:cxn modelId="{1E06FE1B-6BF5-41B1-87A7-4BEA33E420E1}" type="presParOf" srcId="{0A8E3EBF-FCC0-4C56-80E7-32CD72098B73}" destId="{F6D690AB-0F6B-46A5-90C9-64CCF750172E}" srcOrd="3" destOrd="0" presId="urn:microsoft.com/office/officeart/2018/5/layout/IconLeafLabelList"/>
    <dgm:cxn modelId="{5474861F-7B59-4984-AD9B-AE40D7C61849}" type="presParOf" srcId="{36476920-1FC4-48A1-8015-722EB121EA10}" destId="{DE276614-601E-4D49-8B38-CA04E658DE76}" srcOrd="1" destOrd="0" presId="urn:microsoft.com/office/officeart/2018/5/layout/IconLeafLabelList"/>
    <dgm:cxn modelId="{BA98F67A-8444-42F3-8B87-4C8E321ADDCD}" type="presParOf" srcId="{36476920-1FC4-48A1-8015-722EB121EA10}" destId="{01A40DB2-2B6B-4FDF-9658-BE28C0C1069F}" srcOrd="2" destOrd="0" presId="urn:microsoft.com/office/officeart/2018/5/layout/IconLeafLabelList"/>
    <dgm:cxn modelId="{A49E817D-AFBE-4D24-A1F6-30D4C2763663}" type="presParOf" srcId="{01A40DB2-2B6B-4FDF-9658-BE28C0C1069F}" destId="{B4CD6428-9212-4095-96E6-A35E10FC5A91}" srcOrd="0" destOrd="0" presId="urn:microsoft.com/office/officeart/2018/5/layout/IconLeafLabelList"/>
    <dgm:cxn modelId="{0C411D3A-22D1-4613-913C-907B3A89E000}" type="presParOf" srcId="{01A40DB2-2B6B-4FDF-9658-BE28C0C1069F}" destId="{F6343092-EAB5-4BDF-AB7D-9BC93CD3014F}" srcOrd="1" destOrd="0" presId="urn:microsoft.com/office/officeart/2018/5/layout/IconLeafLabelList"/>
    <dgm:cxn modelId="{50A5B1FD-C0B8-4352-BBD4-2597F7D8F77A}" type="presParOf" srcId="{01A40DB2-2B6B-4FDF-9658-BE28C0C1069F}" destId="{B6834C17-F1CF-458A-B32F-B12B5D5CAED8}" srcOrd="2" destOrd="0" presId="urn:microsoft.com/office/officeart/2018/5/layout/IconLeafLabelList"/>
    <dgm:cxn modelId="{826C0642-F13E-4C5F-AE19-3E403C6599E7}" type="presParOf" srcId="{01A40DB2-2B6B-4FDF-9658-BE28C0C1069F}" destId="{2E8084B3-742E-4B31-AA72-535214C8DB46}" srcOrd="3" destOrd="0" presId="urn:microsoft.com/office/officeart/2018/5/layout/IconLeafLabelList"/>
    <dgm:cxn modelId="{C52A7641-59FA-4CB7-9266-81FA3CCF771B}" type="presParOf" srcId="{36476920-1FC4-48A1-8015-722EB121EA10}" destId="{87F973D2-8CEA-4439-8663-46988C3514BE}" srcOrd="3" destOrd="0" presId="urn:microsoft.com/office/officeart/2018/5/layout/IconLeafLabelList"/>
    <dgm:cxn modelId="{3D9F4072-13FC-4DFA-90F2-F2CF66C9E3CB}" type="presParOf" srcId="{36476920-1FC4-48A1-8015-722EB121EA10}" destId="{714C6773-FB4D-4702-B9FD-FDB8356F923E}" srcOrd="4" destOrd="0" presId="urn:microsoft.com/office/officeart/2018/5/layout/IconLeafLabelList"/>
    <dgm:cxn modelId="{922CF61E-41A7-42B9-BA81-759280D30E6C}" type="presParOf" srcId="{714C6773-FB4D-4702-B9FD-FDB8356F923E}" destId="{42153299-D7E8-4393-A620-6A0399457F9E}" srcOrd="0" destOrd="0" presId="urn:microsoft.com/office/officeart/2018/5/layout/IconLeafLabelList"/>
    <dgm:cxn modelId="{F9F0A1B0-1B2A-4B69-AF2D-D91D0A73517D}" type="presParOf" srcId="{714C6773-FB4D-4702-B9FD-FDB8356F923E}" destId="{C49D3CF3-FBE6-4E85-A76F-AD441B9455B2}" srcOrd="1" destOrd="0" presId="urn:microsoft.com/office/officeart/2018/5/layout/IconLeafLabelList"/>
    <dgm:cxn modelId="{596A405C-A8A5-44FE-A5A5-32B6088042A1}" type="presParOf" srcId="{714C6773-FB4D-4702-B9FD-FDB8356F923E}" destId="{B3FD6688-F25B-4563-9E9B-316F5C2CD79C}" srcOrd="2" destOrd="0" presId="urn:microsoft.com/office/officeart/2018/5/layout/IconLeafLabelList"/>
    <dgm:cxn modelId="{EB0DFEE9-09C5-4008-8016-53DCDD0B47C6}" type="presParOf" srcId="{714C6773-FB4D-4702-B9FD-FDB8356F923E}" destId="{153584B1-5E67-4DB9-A5FC-37DD3751482C}" srcOrd="3" destOrd="0" presId="urn:microsoft.com/office/officeart/2018/5/layout/IconLeafLabelList"/>
    <dgm:cxn modelId="{D6DD994E-5F19-40E6-8057-13463C6CCB4A}" type="presParOf" srcId="{36476920-1FC4-48A1-8015-722EB121EA10}" destId="{89F0F53B-9CD6-4E72-8BFB-C53EFF5F4B6D}" srcOrd="5" destOrd="0" presId="urn:microsoft.com/office/officeart/2018/5/layout/IconLeafLabelList"/>
    <dgm:cxn modelId="{645AB970-958C-4910-B54E-744F908C4E3F}" type="presParOf" srcId="{36476920-1FC4-48A1-8015-722EB121EA10}" destId="{EC3FEEF9-6DF8-4307-AA0E-A43D59F82019}" srcOrd="6" destOrd="0" presId="urn:microsoft.com/office/officeart/2018/5/layout/IconLeafLabelList"/>
    <dgm:cxn modelId="{B0969740-2DFA-4E82-9037-7DDF0E14EF47}" type="presParOf" srcId="{EC3FEEF9-6DF8-4307-AA0E-A43D59F82019}" destId="{D492A575-0B5D-48BF-9481-C5F3BED5B803}" srcOrd="0" destOrd="0" presId="urn:microsoft.com/office/officeart/2018/5/layout/IconLeafLabelList"/>
    <dgm:cxn modelId="{2604BA21-DABD-4515-BE7A-EFC5428AF03E}" type="presParOf" srcId="{EC3FEEF9-6DF8-4307-AA0E-A43D59F82019}" destId="{AF943276-3C4A-495D-98D9-D2E46F74B63A}" srcOrd="1" destOrd="0" presId="urn:microsoft.com/office/officeart/2018/5/layout/IconLeafLabelList"/>
    <dgm:cxn modelId="{C2F0017F-F78E-471A-8541-6FC6C56E32D6}" type="presParOf" srcId="{EC3FEEF9-6DF8-4307-AA0E-A43D59F82019}" destId="{6F9A6591-116A-4B50-BD31-80A716FD2886}" srcOrd="2" destOrd="0" presId="urn:microsoft.com/office/officeart/2018/5/layout/IconLeafLabelList"/>
    <dgm:cxn modelId="{7270ECE7-952B-4B5D-8C7F-65C1375570B7}" type="presParOf" srcId="{EC3FEEF9-6DF8-4307-AA0E-A43D59F82019}" destId="{F8B4E057-3D34-4EC5-87AD-AF3DCD39887E}"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A35DF-E749-42AC-96C3-F51AB3E9B85C}">
      <dsp:nvSpPr>
        <dsp:cNvPr id="0" name=""/>
        <dsp:cNvSpPr/>
      </dsp:nvSpPr>
      <dsp:spPr>
        <a:xfrm>
          <a:off x="562927" y="788206"/>
          <a:ext cx="1445998" cy="1445998"/>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964D60-2CAC-41C0-95C2-45F926885BA9}">
      <dsp:nvSpPr>
        <dsp:cNvPr id="0" name=""/>
        <dsp:cNvSpPr/>
      </dsp:nvSpPr>
      <dsp:spPr>
        <a:xfrm>
          <a:off x="87109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D690AB-0F6B-46A5-90C9-64CCF750172E}">
      <dsp:nvSpPr>
        <dsp:cNvPr id="0" name=""/>
        <dsp:cNvSpPr/>
      </dsp:nvSpPr>
      <dsp:spPr>
        <a:xfrm>
          <a:off x="10068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Timurids Period and Its Cultural Legacy</a:t>
          </a:r>
        </a:p>
      </dsp:txBody>
      <dsp:txXfrm>
        <a:off x="100682" y="2684598"/>
        <a:ext cx="2370489" cy="720000"/>
      </dsp:txXfrm>
    </dsp:sp>
    <dsp:sp modelId="{B4CD6428-9212-4095-96E6-A35E10FC5A91}">
      <dsp:nvSpPr>
        <dsp:cNvPr id="0" name=""/>
        <dsp:cNvSpPr/>
      </dsp:nvSpPr>
      <dsp:spPr>
        <a:xfrm>
          <a:off x="3348252" y="788206"/>
          <a:ext cx="1445998" cy="1445998"/>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343092-EAB5-4BDF-AB7D-9BC93CD3014F}">
      <dsp:nvSpPr>
        <dsp:cNvPr id="0" name=""/>
        <dsp:cNvSpPr/>
      </dsp:nvSpPr>
      <dsp:spPr>
        <a:xfrm>
          <a:off x="365641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8084B3-742E-4B31-AA72-535214C8DB46}">
      <dsp:nvSpPr>
        <dsp:cNvPr id="0" name=""/>
        <dsp:cNvSpPr/>
      </dsp:nvSpPr>
      <dsp:spPr>
        <a:xfrm>
          <a:off x="288600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The State of the Art of Logic</a:t>
          </a:r>
        </a:p>
      </dsp:txBody>
      <dsp:txXfrm>
        <a:off x="2886007" y="2684598"/>
        <a:ext cx="2370489" cy="720000"/>
      </dsp:txXfrm>
    </dsp:sp>
    <dsp:sp modelId="{42153299-D7E8-4393-A620-6A0399457F9E}">
      <dsp:nvSpPr>
        <dsp:cNvPr id="0" name=""/>
        <dsp:cNvSpPr/>
      </dsp:nvSpPr>
      <dsp:spPr>
        <a:xfrm>
          <a:off x="6133577" y="788206"/>
          <a:ext cx="1445998" cy="1445998"/>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9D3CF3-FBE6-4E85-A76F-AD441B9455B2}">
      <dsp:nvSpPr>
        <dsp:cNvPr id="0" name=""/>
        <dsp:cNvSpPr/>
      </dsp:nvSpPr>
      <dsp:spPr>
        <a:xfrm>
          <a:off x="6441741"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3584B1-5E67-4DB9-A5FC-37DD3751482C}">
      <dsp:nvSpPr>
        <dsp:cNvPr id="0" name=""/>
        <dsp:cNvSpPr/>
      </dsp:nvSpPr>
      <dsp:spPr>
        <a:xfrm>
          <a:off x="5671332"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The Development of Astronomy and Natural Sciences</a:t>
          </a:r>
        </a:p>
      </dsp:txBody>
      <dsp:txXfrm>
        <a:off x="5671332" y="2684598"/>
        <a:ext cx="2370489" cy="720000"/>
      </dsp:txXfrm>
    </dsp:sp>
    <dsp:sp modelId="{D492A575-0B5D-48BF-9481-C5F3BED5B803}">
      <dsp:nvSpPr>
        <dsp:cNvPr id="0" name=""/>
        <dsp:cNvSpPr/>
      </dsp:nvSpPr>
      <dsp:spPr>
        <a:xfrm>
          <a:off x="8918902" y="788206"/>
          <a:ext cx="1445998" cy="1445998"/>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943276-3C4A-495D-98D9-D2E46F74B63A}">
      <dsp:nvSpPr>
        <dsp:cNvPr id="0" name=""/>
        <dsp:cNvSpPr/>
      </dsp:nvSpPr>
      <dsp:spPr>
        <a:xfrm>
          <a:off x="9227066" y="1096370"/>
          <a:ext cx="829671" cy="8296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B4E057-3D34-4EC5-87AD-AF3DCD39887E}">
      <dsp:nvSpPr>
        <dsp:cNvPr id="0" name=""/>
        <dsp:cNvSpPr/>
      </dsp:nvSpPr>
      <dsp:spPr>
        <a:xfrm>
          <a:off x="8456657" y="2684598"/>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Scholars on Literature and Ethics</a:t>
          </a:r>
        </a:p>
      </dsp:txBody>
      <dsp:txXfrm>
        <a:off x="8456657" y="2684598"/>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28954A-FBB2-43C7-8806-7A812F3BF0FA}" type="datetimeFigureOut">
              <a:rPr lang="en-US" smtClean="0"/>
              <a:t>9/22/26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FF98-851E-4F68-A380-6925F93535FB}" type="slidenum">
              <a:rPr lang="en-US" smtClean="0"/>
              <a:t>‹#›</a:t>
            </a:fld>
            <a:endParaRPr lang="en-US"/>
          </a:p>
        </p:txBody>
      </p:sp>
    </p:spTree>
    <p:extLst>
      <p:ext uri="{BB962C8B-B14F-4D97-AF65-F5344CB8AC3E}">
        <p14:creationId xmlns:p14="http://schemas.microsoft.com/office/powerpoint/2010/main" val="3921440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08971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4978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57384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46F19FD-FD57-4947-9D55-2498B7FB19E0}"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852564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6F19FD-FD57-4947-9D55-2498B7FB19E0}" type="datetimeFigureOut">
              <a:rPr lang="en-US" smtClean="0"/>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129256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6F19FD-FD57-4947-9D55-2498B7FB19E0}" type="datetimeFigureOut">
              <a:rPr lang="en-US" smtClean="0"/>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494300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6F19FD-FD57-4947-9D55-2498B7FB19E0}" type="datetimeFigureOut">
              <a:rPr lang="en-US" smtClean="0"/>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37994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3915905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46F19FD-FD57-4947-9D55-2498B7FB19E0}" type="datetimeFigureOut">
              <a:rPr lang="en-US" smtClean="0"/>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639604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1394022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6F19FD-FD57-4947-9D55-2498B7FB19E0}" type="datetimeFigureOut">
              <a:rPr lang="en-US" smtClean="0"/>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CF564EE-5F94-48BF-8E5E-F78E102D61BC}" type="slidenum">
              <a:rPr lang="en-US" smtClean="0"/>
              <a:t>‹#›</a:t>
            </a:fld>
            <a:endParaRPr lang="en-US"/>
          </a:p>
        </p:txBody>
      </p:sp>
    </p:spTree>
    <p:extLst>
      <p:ext uri="{BB962C8B-B14F-4D97-AF65-F5344CB8AC3E}">
        <p14:creationId xmlns:p14="http://schemas.microsoft.com/office/powerpoint/2010/main" val="2219518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6F19FD-FD57-4947-9D55-2498B7FB19E0}" type="datetimeFigureOut">
              <a:rPr lang="en-US" smtClean="0"/>
              <a:t>9/22/26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564EE-5F94-48BF-8E5E-F78E102D61BC}" type="slidenum">
              <a:rPr lang="en-US" smtClean="0"/>
              <a:t>‹#›</a:t>
            </a:fld>
            <a:endParaRPr lang="en-US"/>
          </a:p>
        </p:txBody>
      </p:sp>
    </p:spTree>
    <p:extLst>
      <p:ext uri="{BB962C8B-B14F-4D97-AF65-F5344CB8AC3E}">
        <p14:creationId xmlns:p14="http://schemas.microsoft.com/office/powerpoint/2010/main" val="234453453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706029"/>
          </a:xfrm>
        </p:spPr>
        <p:txBody>
          <a:bodyPr>
            <a:noAutofit/>
          </a:bodyPr>
          <a:lstStyle/>
          <a:p>
            <a:pPr algn="ctr"/>
            <a:r>
              <a:rPr lang="en-US" sz="2400" b="1" dirty="0" err="1">
                <a:cs typeface="Arial" pitchFamily="34" charset="0"/>
              </a:rPr>
              <a:t>Inha</a:t>
            </a:r>
            <a:r>
              <a:rPr lang="en-US" sz="2400" b="1" dirty="0">
                <a:cs typeface="Arial" pitchFamily="34" charset="0"/>
              </a:rPr>
              <a:t> University in Tashkent</a:t>
            </a:r>
            <a:endParaRPr lang="ru-RU" sz="2400" b="1" dirty="0">
              <a:cs typeface="Arial" pitchFamily="34" charset="0"/>
            </a:endParaRPr>
          </a:p>
        </p:txBody>
      </p:sp>
      <p:sp>
        <p:nvSpPr>
          <p:cNvPr id="3" name="Content Placeholder 2"/>
          <p:cNvSpPr>
            <a:spLocks noGrp="1"/>
          </p:cNvSpPr>
          <p:nvPr>
            <p:ph idx="1"/>
          </p:nvPr>
        </p:nvSpPr>
        <p:spPr>
          <a:xfrm>
            <a:off x="838200" y="3004457"/>
            <a:ext cx="10515600" cy="3172506"/>
          </a:xfrm>
        </p:spPr>
        <p:txBody>
          <a:bodyPr/>
          <a:lstStyle/>
          <a:p>
            <a:pPr marL="0" indent="0" algn="ctr">
              <a:buNone/>
            </a:pPr>
            <a:r>
              <a:rPr lang="en-US" b="1" i="1" dirty="0">
                <a:latin typeface="+mj-lt"/>
              </a:rPr>
              <a:t>Theme 4: </a:t>
            </a:r>
            <a:r>
              <a:rPr lang="en-US" b="1" dirty="0"/>
              <a:t>Philosophical Thoughts in </a:t>
            </a:r>
            <a:r>
              <a:rPr lang="en-US" b="1" dirty="0" err="1"/>
              <a:t>Temurids</a:t>
            </a:r>
            <a:r>
              <a:rPr lang="en-US" b="1" dirty="0"/>
              <a:t>' Period</a:t>
            </a:r>
            <a:endParaRPr lang="en-US" dirty="0"/>
          </a:p>
        </p:txBody>
      </p:sp>
      <p:sp>
        <p:nvSpPr>
          <p:cNvPr id="4" name="Объект 2"/>
          <p:cNvSpPr txBox="1">
            <a:spLocks/>
          </p:cNvSpPr>
          <p:nvPr/>
        </p:nvSpPr>
        <p:spPr>
          <a:xfrm>
            <a:off x="838200" y="5029200"/>
            <a:ext cx="10683240" cy="937260"/>
          </a:xfrm>
          <a:prstGeom prst="rect">
            <a:avLst/>
          </a:prstGeom>
        </p:spPr>
        <p:txBody>
          <a:bodyPr anchor="ctr">
            <a:noAutofit/>
          </a:bodyPr>
          <a:lstStyle>
            <a:lvl1pPr marL="292100" indent="-292100" algn="l" rtl="0" eaLnBrk="1" latinLnBrk="0" hangingPunct="1">
              <a:spcBef>
                <a:spcPts val="0"/>
              </a:spcBef>
              <a:buClr>
                <a:schemeClr val="accent1"/>
              </a:buClr>
              <a:buSzPct val="70000"/>
              <a:buFont typeface="Wingdings 2"/>
              <a:buChar char=""/>
              <a:defRPr kumimoji="0" sz="3200" kern="1200">
                <a:solidFill>
                  <a:schemeClr val="tx1"/>
                </a:solidFill>
                <a:latin typeface="+mn-lt"/>
                <a:ea typeface="+mn-ea"/>
                <a:cs typeface="+mn-cs"/>
              </a:defRPr>
            </a:lvl1pPr>
            <a:lvl2pPr marL="640080" indent="-228600" algn="l" rtl="0" eaLnBrk="1" latinLnBrk="0" hangingPunct="1">
              <a:spcBef>
                <a:spcPts val="400"/>
              </a:spcBef>
              <a:buClr>
                <a:schemeClr val="accent2"/>
              </a:buClr>
              <a:buSzPct val="90000"/>
              <a:buFontTx/>
              <a:buChar char="•"/>
              <a:defRPr kumimoji="0" sz="2600" kern="1200">
                <a:solidFill>
                  <a:schemeClr val="tx1"/>
                </a:solidFill>
                <a:latin typeface="+mn-lt"/>
                <a:ea typeface="+mn-ea"/>
                <a:cs typeface="+mn-cs"/>
              </a:defRPr>
            </a:lvl2pPr>
            <a:lvl3pPr marL="822960" indent="-192024" algn="l" rtl="0" eaLnBrk="1" latinLnBrk="0" hangingPunct="1">
              <a:spcBef>
                <a:spcPts val="400"/>
              </a:spcBef>
              <a:buClr>
                <a:schemeClr val="accent3"/>
              </a:buClr>
              <a:buSzPct val="100000"/>
              <a:buFont typeface="Wingdings 2"/>
              <a:buChar char=""/>
              <a:defRPr kumimoji="0" sz="2300" kern="1200">
                <a:solidFill>
                  <a:schemeClr val="tx1"/>
                </a:solidFill>
                <a:latin typeface="+mn-lt"/>
                <a:ea typeface="+mn-ea"/>
                <a:cs typeface="+mn-cs"/>
              </a:defRPr>
            </a:lvl3pPr>
            <a:lvl4pPr marL="1005840" indent="-182880" algn="l" rtl="0" eaLnBrk="1" latinLnBrk="0" hangingPunct="1">
              <a:spcBef>
                <a:spcPts val="400"/>
              </a:spcBef>
              <a:buClr>
                <a:schemeClr val="accent3"/>
              </a:buClr>
              <a:buSzPct val="100000"/>
              <a:buFont typeface="Wingdings 2"/>
              <a:buChar char=""/>
              <a:defRPr kumimoji="0" sz="2000" kern="1200">
                <a:solidFill>
                  <a:schemeClr val="tx1"/>
                </a:solidFill>
                <a:latin typeface="+mn-lt"/>
                <a:ea typeface="+mn-ea"/>
                <a:cs typeface="+mn-cs"/>
              </a:defRPr>
            </a:lvl4pPr>
            <a:lvl5pPr marL="1188720" indent="-182880" algn="l" rtl="0" eaLnBrk="1" latinLnBrk="0" hangingPunct="1">
              <a:spcBef>
                <a:spcPts val="400"/>
              </a:spcBef>
              <a:buClr>
                <a:schemeClr val="accent3"/>
              </a:buClr>
              <a:buSzPct val="100000"/>
              <a:buFont typeface="Wingdings 2"/>
              <a:buChar char=""/>
              <a:defRPr kumimoji="0" sz="1900" kern="1200">
                <a:solidFill>
                  <a:schemeClr val="tx1"/>
                </a:solidFill>
                <a:latin typeface="+mn-lt"/>
                <a:ea typeface="+mn-ea"/>
                <a:cs typeface="+mn-cs"/>
              </a:defRPr>
            </a:lvl5pPr>
            <a:lvl6pPr marL="1371600" indent="-173736" algn="l" rtl="0" eaLnBrk="1" latinLnBrk="0" hangingPunct="1">
              <a:spcBef>
                <a:spcPts val="400"/>
              </a:spcBef>
              <a:buClr>
                <a:schemeClr val="accent4"/>
              </a:buClr>
              <a:buFont typeface="Wingdings 2"/>
              <a:buChar char=""/>
              <a:defRPr kumimoji="0" sz="1800" kern="1200" baseline="0">
                <a:solidFill>
                  <a:schemeClr val="tx1"/>
                </a:solidFill>
                <a:latin typeface="+mn-lt"/>
                <a:ea typeface="+mn-ea"/>
                <a:cs typeface="+mn-cs"/>
              </a:defRPr>
            </a:lvl6pPr>
            <a:lvl7pPr marL="155448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7pPr>
            <a:lvl8pPr marL="173736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8pPr>
            <a:lvl9pPr marL="1920240" indent="-173736" algn="l" rtl="0" eaLnBrk="1" latinLnBrk="0" hangingPunct="1">
              <a:spcBef>
                <a:spcPts val="400"/>
              </a:spcBef>
              <a:buClr>
                <a:schemeClr val="accent4"/>
              </a:buClr>
              <a:buFont typeface="Wingdings 2"/>
              <a:buChar char=""/>
              <a:defRPr kumimoji="0" sz="1600" kern="1200" baseline="0">
                <a:solidFill>
                  <a:schemeClr val="tx1"/>
                </a:solidFill>
                <a:latin typeface="+mn-lt"/>
                <a:ea typeface="+mn-ea"/>
                <a:cs typeface="+mn-cs"/>
              </a:defRPr>
            </a:lvl9pPr>
            <a:extLst/>
          </a:lstStyle>
          <a:p>
            <a:pPr marL="0" indent="0">
              <a:buNone/>
            </a:pPr>
            <a:endParaRPr lang="en-US" sz="1200" dirty="0"/>
          </a:p>
          <a:p>
            <a:pPr marL="0" indent="0">
              <a:buNone/>
            </a:pPr>
            <a:endParaRPr lang="en-US" sz="1200" dirty="0"/>
          </a:p>
          <a:p>
            <a:pPr marL="0" indent="0">
              <a:buNone/>
            </a:pPr>
            <a:endParaRPr lang="ru-RU" sz="1200" dirty="0"/>
          </a:p>
        </p:txBody>
      </p:sp>
    </p:spTree>
    <p:extLst>
      <p:ext uri="{BB962C8B-B14F-4D97-AF65-F5344CB8AC3E}">
        <p14:creationId xmlns:p14="http://schemas.microsoft.com/office/powerpoint/2010/main" val="494772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371597" y="348865"/>
            <a:ext cx="10044023" cy="877729"/>
          </a:xfrm>
        </p:spPr>
        <p:txBody>
          <a:bodyPr anchor="ctr">
            <a:normAutofit/>
          </a:bodyPr>
          <a:lstStyle/>
          <a:p>
            <a:r>
              <a:rPr lang="en-US" sz="4000" b="1">
                <a:solidFill>
                  <a:srgbClr val="FFFFFF"/>
                </a:solidFill>
              </a:rPr>
              <a:t>Outline:</a:t>
            </a:r>
          </a:p>
        </p:txBody>
      </p:sp>
      <p:graphicFrame>
        <p:nvGraphicFramePr>
          <p:cNvPr id="5" name="Content Placeholder 2">
            <a:extLst>
              <a:ext uri="{FF2B5EF4-FFF2-40B4-BE49-F238E27FC236}">
                <a16:creationId xmlns:a16="http://schemas.microsoft.com/office/drawing/2014/main" id="{AD0A832F-2A4E-4426-856B-7FE7064C32A1}"/>
              </a:ext>
            </a:extLst>
          </p:cNvPr>
          <p:cNvGraphicFramePr>
            <a:graphicFrameLocks noGrp="1"/>
          </p:cNvGraphicFramePr>
          <p:nvPr>
            <p:ph idx="1"/>
            <p:extLst>
              <p:ext uri="{D42A27DB-BD31-4B8C-83A1-F6EECF244321}">
                <p14:modId xmlns:p14="http://schemas.microsoft.com/office/powerpoint/2010/main" val="295989515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91761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6" y="207819"/>
            <a:ext cx="6829968" cy="911990"/>
          </a:xfrm>
        </p:spPr>
        <p:txBody>
          <a:bodyPr anchor="b">
            <a:normAutofit fontScale="90000"/>
          </a:bodyPr>
          <a:lstStyle/>
          <a:p>
            <a:r>
              <a:rPr lang="en-US" sz="3400" b="1" dirty="0"/>
              <a:t>Characteristic feature of the Period</a:t>
            </a:r>
            <a:br>
              <a:rPr lang="en-US" sz="3400" dirty="0"/>
            </a:br>
            <a:endParaRPr lang="en-US" sz="3400" b="1" dirty="0"/>
          </a:p>
        </p:txBody>
      </p:sp>
      <p:sp>
        <p:nvSpPr>
          <p:cNvPr id="3" name="Content Placeholder 2"/>
          <p:cNvSpPr>
            <a:spLocks noGrp="1"/>
          </p:cNvSpPr>
          <p:nvPr>
            <p:ph idx="1"/>
          </p:nvPr>
        </p:nvSpPr>
        <p:spPr>
          <a:xfrm>
            <a:off x="498764" y="1119809"/>
            <a:ext cx="6451872" cy="4618383"/>
          </a:xfrm>
        </p:spPr>
        <p:txBody>
          <a:bodyPr>
            <a:normAutofit/>
          </a:bodyPr>
          <a:lstStyle/>
          <a:p>
            <a:r>
              <a:rPr lang="en-US" sz="1700" dirty="0"/>
              <a:t>The Timurid Empire was founded by Amir Temur. He became the ruler of Central Asia in 1370. </a:t>
            </a:r>
            <a:endParaRPr lang="ru-RU" sz="1700" dirty="0"/>
          </a:p>
          <a:p>
            <a:r>
              <a:rPr lang="en-US" sz="1700" dirty="0"/>
              <a:t>During the reign of Timurids, </a:t>
            </a:r>
            <a:r>
              <a:rPr lang="en-US" sz="1700" dirty="0" err="1"/>
              <a:t>Movarounnahr</a:t>
            </a:r>
            <a:r>
              <a:rPr lang="en-US" sz="1700" dirty="0"/>
              <a:t> and Khurasan achieved significant progress in all aspects, especially in socio-economic and cultural life. </a:t>
            </a:r>
          </a:p>
          <a:p>
            <a:r>
              <a:rPr lang="en-US" sz="1700" dirty="0"/>
              <a:t>The </a:t>
            </a:r>
            <a:r>
              <a:rPr lang="en-US" sz="1700" dirty="0" err="1"/>
              <a:t>Temurids</a:t>
            </a:r>
            <a:r>
              <a:rPr lang="en-US" sz="1700" dirty="0"/>
              <a:t>' epoch characterized as the highest peak of the civilization and culture of the peoples of Central Asia, was a unique stage not only within the region, but also on a global scale. </a:t>
            </a:r>
            <a:endParaRPr lang="ru-RU" sz="1700" dirty="0"/>
          </a:p>
          <a:p>
            <a:r>
              <a:rPr lang="en-US" sz="1700" dirty="0"/>
              <a:t>The Timurid rulers sponsored the development of science and culture, and as a result, great scientists and eminent scholars of their time grew up from the region. They made outstanding contribution to world science, particularly to the development of philosophical thinking through their works and scientific heritage.</a:t>
            </a:r>
            <a:endParaRPr lang="ru-RU" sz="1700" dirty="0"/>
          </a:p>
          <a:p>
            <a:r>
              <a:rPr lang="en-US" sz="1700" dirty="0"/>
              <a:t>The scholars of the Timurid period carried out scientific study in various fields of science. In the 14th-15th centuries such areas of science as logic, natural sciences, especially astronomy, as well as philosophy and ethics were developed. </a:t>
            </a:r>
            <a:endParaRPr lang="ru-RU" sz="1700" dirty="0"/>
          </a:p>
          <a:p>
            <a:pPr>
              <a:buFont typeface="Wingdings" panose="05000000000000000000" pitchFamily="2" charset="2"/>
              <a:buChar char="Ø"/>
            </a:pPr>
            <a:endParaRPr lang="en-US" sz="1300" dirty="0"/>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1753" y="3375397"/>
            <a:ext cx="2943851" cy="2210153"/>
          </a:xfrm>
          <a:prstGeom prst="rect">
            <a:avLst/>
          </a:prstGeom>
        </p:spPr>
      </p:pic>
      <p:pic>
        <p:nvPicPr>
          <p:cNvPr id="4" name="Рисунок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49686" y="892439"/>
            <a:ext cx="2243263" cy="2243263"/>
          </a:xfrm>
          <a:prstGeom prst="rect">
            <a:avLst/>
          </a:prstGeom>
        </p:spPr>
      </p:pic>
      <p:sp>
        <p:nvSpPr>
          <p:cNvPr id="12" name="Rectangle 11">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818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additive="base">
                                        <p:cTn id="2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 calcmode="lin" valueType="num">
                                      <p:cBhvr additive="base">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85328" y="918640"/>
            <a:ext cx="3441769" cy="4589025"/>
          </a:xfrm>
          <a:prstGeom prst="rect">
            <a:avLst/>
          </a:prstGeom>
        </p:spPr>
      </p:pic>
      <p:sp>
        <p:nvSpPr>
          <p:cNvPr id="5" name="Прямоугольник 4"/>
          <p:cNvSpPr/>
          <p:nvPr/>
        </p:nvSpPr>
        <p:spPr>
          <a:xfrm>
            <a:off x="5596502" y="2405894"/>
            <a:ext cx="5754896" cy="319746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b="1"/>
              <a:t>Amir Temur’s waqf document</a:t>
            </a:r>
          </a:p>
          <a:p>
            <a:pPr indent="-228600">
              <a:lnSpc>
                <a:spcPct val="90000"/>
              </a:lnSpc>
              <a:spcAft>
                <a:spcPts val="600"/>
              </a:spcAft>
              <a:buFont typeface="Arial" panose="020B0604020202020204" pitchFamily="34" charset="0"/>
              <a:buChar char="•"/>
            </a:pPr>
            <a:r>
              <a:rPr lang="en-US" sz="2000"/>
              <a:t>Date: 19 century</a:t>
            </a:r>
          </a:p>
          <a:p>
            <a:pPr indent="-228600">
              <a:lnSpc>
                <a:spcPct val="90000"/>
              </a:lnSpc>
              <a:spcAft>
                <a:spcPts val="600"/>
              </a:spcAft>
              <a:buFont typeface="Arial" panose="020B0604020202020204" pitchFamily="34" charset="0"/>
              <a:buChar char="•"/>
            </a:pPr>
            <a:r>
              <a:rPr lang="en-US" sz="2000"/>
              <a:t>Woqif/donator: Amir Temur</a:t>
            </a:r>
          </a:p>
          <a:p>
            <a:pPr indent="-228600">
              <a:lnSpc>
                <a:spcPct val="90000"/>
              </a:lnSpc>
              <a:spcAft>
                <a:spcPts val="600"/>
              </a:spcAft>
              <a:buFont typeface="Arial" panose="020B0604020202020204" pitchFamily="34" charset="0"/>
              <a:buChar char="•"/>
            </a:pPr>
            <a:r>
              <a:rPr lang="en-US" sz="2000"/>
              <a:t>Type of property: Tremendous lands between two mountains</a:t>
            </a:r>
          </a:p>
          <a:p>
            <a:pPr indent="-228600">
              <a:lnSpc>
                <a:spcPct val="90000"/>
              </a:lnSpc>
              <a:spcAft>
                <a:spcPts val="600"/>
              </a:spcAft>
              <a:buFont typeface="Arial" panose="020B0604020202020204" pitchFamily="34" charset="0"/>
              <a:buChar char="•"/>
            </a:pPr>
            <a:r>
              <a:rPr lang="en-US" sz="2000"/>
              <a:t>The object: Tomb of Kwoja Orif Revgari</a:t>
            </a:r>
          </a:p>
        </p:txBody>
      </p:sp>
      <p:sp>
        <p:nvSpPr>
          <p:cNvPr id="12" name="Rectangle 11">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9902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36396" y="878545"/>
            <a:ext cx="6230319" cy="1285106"/>
          </a:xfrm>
        </p:spPr>
        <p:txBody>
          <a:bodyPr vert="horz" lIns="91440" tIns="45720" rIns="91440" bIns="45720" rtlCol="0" anchor="t">
            <a:normAutofit/>
          </a:bodyPr>
          <a:lstStyle/>
          <a:p>
            <a:r>
              <a:rPr lang="en-US" sz="4000" b="1" kern="1200">
                <a:solidFill>
                  <a:schemeClr val="tx1"/>
                </a:solidFill>
                <a:latin typeface="+mj-lt"/>
                <a:ea typeface="+mj-ea"/>
                <a:cs typeface="+mj-cs"/>
              </a:rPr>
              <a:t>The State of Art of Logic</a:t>
            </a:r>
          </a:p>
        </p:txBody>
      </p:sp>
      <p:sp>
        <p:nvSpPr>
          <p:cNvPr id="3" name="Content Placeholder 2"/>
          <p:cNvSpPr>
            <a:spLocks noGrp="1"/>
          </p:cNvSpPr>
          <p:nvPr>
            <p:ph sz="half" idx="1"/>
          </p:nvPr>
        </p:nvSpPr>
        <p:spPr>
          <a:xfrm>
            <a:off x="443346" y="1902347"/>
            <a:ext cx="6923370" cy="3471353"/>
          </a:xfrm>
        </p:spPr>
        <p:txBody>
          <a:bodyPr vert="horz" lIns="91440" tIns="45720" rIns="91440" bIns="45720" rtlCol="0">
            <a:normAutofit fontScale="92500" lnSpcReduction="20000"/>
          </a:bodyPr>
          <a:lstStyle/>
          <a:p>
            <a:r>
              <a:rPr lang="en-US" sz="2000" dirty="0" err="1"/>
              <a:t>Sa'diddin</a:t>
            </a:r>
            <a:r>
              <a:rPr lang="en-US" sz="2000" dirty="0"/>
              <a:t> </a:t>
            </a:r>
            <a:r>
              <a:rPr lang="en-US" sz="2000" dirty="0" err="1"/>
              <a:t>Taftazoni</a:t>
            </a:r>
            <a:r>
              <a:rPr lang="en-US" sz="2000" dirty="0"/>
              <a:t> (1322-1390) is one of the great representatives of logic. He was born in the village of </a:t>
            </a:r>
            <a:r>
              <a:rPr lang="en-US" sz="2000" dirty="0" err="1"/>
              <a:t>Taftazon</a:t>
            </a:r>
            <a:r>
              <a:rPr lang="en-US" sz="2000" dirty="0"/>
              <a:t> in the province of Nisa. From childhood he engaged in Arabic language, rhetoric and logic. </a:t>
            </a:r>
          </a:p>
          <a:p>
            <a:r>
              <a:rPr lang="en-US" sz="2000" dirty="0"/>
              <a:t>As a professor, he taught students at Turkestan, Herat, Jam, </a:t>
            </a:r>
            <a:r>
              <a:rPr lang="en-US" sz="2000" dirty="0" err="1"/>
              <a:t>Gijduvon</a:t>
            </a:r>
            <a:r>
              <a:rPr lang="en-US" sz="2000" dirty="0"/>
              <a:t> madrasahs. The fame of </a:t>
            </a:r>
            <a:r>
              <a:rPr lang="en-US" sz="2000" dirty="0" err="1"/>
              <a:t>Taftazoni</a:t>
            </a:r>
            <a:r>
              <a:rPr lang="en-US" sz="2000" dirty="0"/>
              <a:t>, his works spread to the Near and Middle East. At the invitation of Temur, the scholar came to Samarkand and lived there until the end of his life. </a:t>
            </a:r>
            <a:r>
              <a:rPr lang="en-US" sz="2000" dirty="0" err="1"/>
              <a:t>Taftazoni</a:t>
            </a:r>
            <a:r>
              <a:rPr lang="en-US" sz="2000" dirty="0"/>
              <a:t> is the author of more than 40 scientific works.</a:t>
            </a:r>
          </a:p>
          <a:p>
            <a:r>
              <a:rPr lang="en-US" sz="2000" dirty="0"/>
              <a:t>He explained his idea of cause and effect, freedom of thought, knowledge, consciousness, logic and its functions. For instance, he acknowledges the existence of cause and effect in nature. By focusing on the freedom of will, the good deeds derived from the essence of God.</a:t>
            </a:r>
          </a:p>
          <a:p>
            <a:endParaRPr lang="en-US" sz="1600" dirty="0"/>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rcRect t="21777" r="1" b="32109"/>
          <a:stretch/>
        </p:blipFill>
        <p:spPr>
          <a:xfrm>
            <a:off x="7881870" y="882740"/>
            <a:ext cx="3572978" cy="2246826"/>
          </a:xfrm>
          <a:prstGeom prst="rect">
            <a:avLst/>
          </a:prstGeom>
        </p:spPr>
      </p:pic>
      <p:pic>
        <p:nvPicPr>
          <p:cNvPr id="6" name="Рисунок 5"/>
          <p:cNvPicPr>
            <a:picLocks noChangeAspect="1"/>
          </p:cNvPicPr>
          <p:nvPr/>
        </p:nvPicPr>
        <p:blipFill>
          <a:blip r:embed="rId3">
            <a:extLst>
              <a:ext uri="{28A0092B-C50C-407E-A947-70E740481C1C}">
                <a14:useLocalDpi xmlns:a14="http://schemas.microsoft.com/office/drawing/2010/main" val="0"/>
              </a:ext>
            </a:extLst>
          </a:blip>
          <a:srcRect t="28537" r="-5" b="8576"/>
          <a:stretch/>
        </p:blipFill>
        <p:spPr>
          <a:xfrm>
            <a:off x="7881870" y="3429000"/>
            <a:ext cx="3572978" cy="2246826"/>
          </a:xfrm>
          <a:prstGeom prst="rect">
            <a:avLst/>
          </a:prstGeom>
        </p:spPr>
      </p:pic>
      <p:sp>
        <p:nvSpPr>
          <p:cNvPr id="13" name="Rectangle 12">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lumMod val="75000"/>
                </a:schemeClr>
              </a:gs>
              <a:gs pos="100000">
                <a:srgbClr val="000000"/>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800"/>
            <a:ext cx="4038599" cy="456772"/>
          </a:xfrm>
          <a:prstGeom prst="rect">
            <a:avLst/>
          </a:prstGeom>
          <a:gradFill>
            <a:gsLst>
              <a:gs pos="0">
                <a:schemeClr val="accent1">
                  <a:lumMod val="5000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4322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1800" y="332509"/>
            <a:ext cx="5555873" cy="1094509"/>
          </a:xfrm>
        </p:spPr>
        <p:txBody>
          <a:bodyPr vert="horz" lIns="91440" tIns="45720" rIns="91440" bIns="45720" rtlCol="0" anchor="ctr">
            <a:normAutofit/>
          </a:bodyPr>
          <a:lstStyle/>
          <a:p>
            <a:r>
              <a:rPr lang="en-US" sz="4000" b="1" dirty="0"/>
              <a:t>The Process of Cognition</a:t>
            </a:r>
          </a:p>
        </p:txBody>
      </p:sp>
      <p:sp>
        <p:nvSpPr>
          <p:cNvPr id="3" name="Content Placeholder 2"/>
          <p:cNvSpPr>
            <a:spLocks noGrp="1"/>
          </p:cNvSpPr>
          <p:nvPr>
            <p:ph sz="half" idx="1"/>
          </p:nvPr>
        </p:nvSpPr>
        <p:spPr>
          <a:xfrm>
            <a:off x="540126" y="1246910"/>
            <a:ext cx="5555872" cy="4993170"/>
          </a:xfrm>
        </p:spPr>
        <p:txBody>
          <a:bodyPr vert="horz" lIns="91440" tIns="45720" rIns="91440" bIns="45720" rtlCol="0" anchor="ctr">
            <a:normAutofit/>
          </a:bodyPr>
          <a:lstStyle/>
          <a:p>
            <a:r>
              <a:rPr lang="en-US" sz="1800" dirty="0"/>
              <a:t>According to </a:t>
            </a:r>
            <a:r>
              <a:rPr lang="en-US" sz="1800" dirty="0" err="1"/>
              <a:t>Taftazani</a:t>
            </a:r>
            <a:r>
              <a:rPr lang="en-US" sz="1800" dirty="0"/>
              <a:t>, the process of cognition involves three stages:</a:t>
            </a:r>
          </a:p>
          <a:p>
            <a:pPr marL="0" indent="0">
              <a:buNone/>
            </a:pPr>
            <a:r>
              <a:rPr lang="en-US" sz="1800" dirty="0"/>
              <a:t>1) the interaction between the sense organs and objects; </a:t>
            </a:r>
          </a:p>
          <a:p>
            <a:pPr marL="0" indent="0">
              <a:buNone/>
            </a:pPr>
            <a:r>
              <a:rPr lang="en-US" sz="1800" dirty="0"/>
              <a:t>2) the acceptance of these factors by the human spirit; </a:t>
            </a:r>
          </a:p>
          <a:p>
            <a:pPr marL="0" indent="0">
              <a:buNone/>
            </a:pPr>
            <a:r>
              <a:rPr lang="en-US" sz="1800" dirty="0"/>
              <a:t>3) mental knowledge. </a:t>
            </a:r>
          </a:p>
          <a:p>
            <a:pPr marL="0"/>
            <a:r>
              <a:rPr lang="en-US" sz="1800" dirty="0" err="1"/>
              <a:t>Taftazani</a:t>
            </a:r>
            <a:r>
              <a:rPr lang="en-US" sz="1800" dirty="0"/>
              <a:t> believed that mental or logical knowledge is much farther than the material basis, and it emerges at a higher level than emotional knowledge. Logic creates the basis for new knowledge. Imagination and approval are forms of logic.</a:t>
            </a:r>
          </a:p>
          <a:p>
            <a:r>
              <a:rPr lang="en-US" sz="1800" dirty="0"/>
              <a:t>The importance of </a:t>
            </a:r>
            <a:r>
              <a:rPr lang="en-US" sz="1800" dirty="0" err="1"/>
              <a:t>Taftazoni's</a:t>
            </a:r>
            <a:r>
              <a:rPr lang="en-US" sz="1800" dirty="0"/>
              <a:t> philosophy is that he developed the “</a:t>
            </a:r>
            <a:r>
              <a:rPr lang="en-US" sz="1800" dirty="0" err="1"/>
              <a:t>Ilm</a:t>
            </a:r>
            <a:r>
              <a:rPr lang="en-US" sz="1800" dirty="0"/>
              <a:t> al-</a:t>
            </a:r>
            <a:r>
              <a:rPr lang="en-US" sz="1800" dirty="0" err="1"/>
              <a:t>Kalom</a:t>
            </a:r>
            <a:r>
              <a:rPr lang="en-US" sz="1800" dirty="0"/>
              <a:t>” (Islamic scholastic theology) and applied logical principles into the subject and influenced on the foundation of the </a:t>
            </a:r>
            <a:r>
              <a:rPr lang="en-US" sz="1800" dirty="0" err="1"/>
              <a:t>Ulughbek’s</a:t>
            </a:r>
            <a:r>
              <a:rPr lang="en-US" sz="1800" dirty="0"/>
              <a:t> academic school.</a:t>
            </a:r>
          </a:p>
          <a:p>
            <a:pPr marL="0"/>
            <a:endParaRPr lang="en-US" sz="1400" dirty="0"/>
          </a:p>
        </p:txBody>
      </p:sp>
      <p:pic>
        <p:nvPicPr>
          <p:cNvPr id="5" name="Picture 4" descr="Computer Generated Lights">
            <a:extLst>
              <a:ext uri="{FF2B5EF4-FFF2-40B4-BE49-F238E27FC236}">
                <a16:creationId xmlns:a16="http://schemas.microsoft.com/office/drawing/2014/main" id="{F23A7FEB-1400-F48C-63B2-E2F23873E602}"/>
              </a:ext>
            </a:extLst>
          </p:cNvPr>
          <p:cNvPicPr>
            <a:picLocks noChangeAspect="1"/>
          </p:cNvPicPr>
          <p:nvPr/>
        </p:nvPicPr>
        <p:blipFill>
          <a:blip r:embed="rId2"/>
          <a:srcRect l="15992" r="26542"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115822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Rectangle 2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Mir Sayyid Sharif Jurjoniy</a:t>
            </a:r>
          </a:p>
        </p:txBody>
      </p:sp>
      <p:sp>
        <p:nvSpPr>
          <p:cNvPr id="3" name="Content Placeholder 2"/>
          <p:cNvSpPr>
            <a:spLocks noGrp="1"/>
          </p:cNvSpPr>
          <p:nvPr>
            <p:ph sz="half" idx="1"/>
          </p:nvPr>
        </p:nvSpPr>
        <p:spPr>
          <a:xfrm>
            <a:off x="4504549" y="304800"/>
            <a:ext cx="7354942" cy="6123709"/>
          </a:xfrm>
        </p:spPr>
        <p:txBody>
          <a:bodyPr vert="horz" lIns="91440" tIns="45720" rIns="91440" bIns="45720" rtlCol="0" anchor="ctr">
            <a:normAutofit/>
          </a:bodyPr>
          <a:lstStyle/>
          <a:p>
            <a:r>
              <a:rPr lang="en-US" sz="2200" dirty="0"/>
              <a:t>One of the prominent philosophers of that period was Mir Sayyid Sharif </a:t>
            </a:r>
            <a:r>
              <a:rPr lang="en-US" sz="2200" dirty="0" err="1"/>
              <a:t>Jurjoniy</a:t>
            </a:r>
            <a:r>
              <a:rPr lang="en-US" sz="2200" dirty="0"/>
              <a:t> who was born near </a:t>
            </a:r>
            <a:r>
              <a:rPr lang="en-US" sz="2200" dirty="0" err="1"/>
              <a:t>Astrobod</a:t>
            </a:r>
            <a:r>
              <a:rPr lang="en-US" sz="2200" dirty="0"/>
              <a:t> city. </a:t>
            </a:r>
          </a:p>
          <a:p>
            <a:r>
              <a:rPr lang="en-US" sz="2200" dirty="0" err="1"/>
              <a:t>Jurjoniy</a:t>
            </a:r>
            <a:r>
              <a:rPr lang="en-US" sz="2200" dirty="0"/>
              <a:t> travelled to Istanbul, Cairo, Herat, Shiraz in order to study the secrets of knowledge from scholars of these cities. </a:t>
            </a:r>
          </a:p>
          <a:p>
            <a:r>
              <a:rPr lang="en-US" sz="2200" dirty="0"/>
              <a:t>From 1387, he started to teach logic, philosophy, cosmology, Islamic jurisprudence and literature</a:t>
            </a:r>
          </a:p>
          <a:p>
            <a:r>
              <a:rPr lang="en-US" sz="2200" dirty="0" err="1"/>
              <a:t>Jurjoniy</a:t>
            </a:r>
            <a:r>
              <a:rPr lang="en-US" sz="2200" dirty="0"/>
              <a:t> is the author of more than 50 works, many of which are devoted to key issues of logic, </a:t>
            </a:r>
            <a:r>
              <a:rPr lang="en-US" sz="2200" dirty="0" err="1"/>
              <a:t>fiqh</a:t>
            </a:r>
            <a:r>
              <a:rPr lang="en-US" sz="2200" dirty="0"/>
              <a:t>, philosophy and natural sciences. In particular, among his books are “Al-</a:t>
            </a:r>
            <a:r>
              <a:rPr lang="en-US" sz="2200" dirty="0" err="1"/>
              <a:t>Ta’rifāt</a:t>
            </a:r>
            <a:r>
              <a:rPr lang="en-US" sz="2200" dirty="0"/>
              <a:t>”, “</a:t>
            </a:r>
            <a:r>
              <a:rPr lang="en-US" sz="2200" dirty="0" err="1"/>
              <a:t>Sughrā</a:t>
            </a:r>
            <a:r>
              <a:rPr lang="en-US" sz="2200" dirty="0"/>
              <a:t>”, “</a:t>
            </a:r>
            <a:r>
              <a:rPr lang="en-US" sz="2200" dirty="0" err="1"/>
              <a:t>Awsat</a:t>
            </a:r>
            <a:r>
              <a:rPr lang="en-US" sz="2200" dirty="0"/>
              <a:t> </a:t>
            </a:r>
            <a:r>
              <a:rPr lang="en-US" sz="2200" dirty="0" err="1"/>
              <a:t>dar</a:t>
            </a:r>
            <a:r>
              <a:rPr lang="en-US" sz="2200" dirty="0"/>
              <a:t> </a:t>
            </a:r>
            <a:r>
              <a:rPr lang="en-US" sz="2200" dirty="0" err="1"/>
              <a:t>mantiq</a:t>
            </a:r>
            <a:r>
              <a:rPr lang="en-US" sz="2200" dirty="0"/>
              <a:t>”, “</a:t>
            </a:r>
            <a:r>
              <a:rPr lang="en-US" sz="2200" dirty="0" err="1"/>
              <a:t>Risāla-i</a:t>
            </a:r>
            <a:r>
              <a:rPr lang="en-US" sz="2200" dirty="0"/>
              <a:t> </a:t>
            </a:r>
            <a:r>
              <a:rPr lang="en-US" sz="2200" dirty="0" err="1"/>
              <a:t>wujudiyya</a:t>
            </a:r>
            <a:r>
              <a:rPr lang="en-US" sz="2200" dirty="0"/>
              <a:t>”</a:t>
            </a:r>
          </a:p>
          <a:p>
            <a:r>
              <a:rPr lang="en-US" sz="2200" dirty="0"/>
              <a:t>Moreover, he wrote commentaries on the works of Ibn </a:t>
            </a:r>
            <a:r>
              <a:rPr lang="en-US" sz="2200" dirty="0" err="1"/>
              <a:t>Sinā</a:t>
            </a:r>
            <a:r>
              <a:rPr lang="en-US" sz="2200" dirty="0"/>
              <a:t>, </a:t>
            </a:r>
            <a:r>
              <a:rPr lang="en-US" sz="2200" dirty="0" err="1"/>
              <a:t>Chaghminiy</a:t>
            </a:r>
            <a:r>
              <a:rPr lang="en-US" sz="2200" dirty="0"/>
              <a:t> and </a:t>
            </a:r>
            <a:r>
              <a:rPr lang="en-US" sz="2200" dirty="0" err="1"/>
              <a:t>Nasriddin</a:t>
            </a:r>
            <a:r>
              <a:rPr lang="en-US" sz="2200" dirty="0"/>
              <a:t> </a:t>
            </a:r>
            <a:r>
              <a:rPr lang="en-US" sz="2200" dirty="0" err="1"/>
              <a:t>Tusi</a:t>
            </a:r>
            <a:endParaRPr lang="en-US" sz="2200" dirty="0"/>
          </a:p>
        </p:txBody>
      </p:sp>
    </p:spTree>
    <p:extLst>
      <p:ext uri="{BB962C8B-B14F-4D97-AF65-F5344CB8AC3E}">
        <p14:creationId xmlns:p14="http://schemas.microsoft.com/office/powerpoint/2010/main" val="356118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Philosophical Thoughts of Jurjoniy</a:t>
            </a:r>
          </a:p>
        </p:txBody>
      </p:sp>
      <p:sp>
        <p:nvSpPr>
          <p:cNvPr id="3" name="Content Placeholder 2"/>
          <p:cNvSpPr>
            <a:spLocks noGrp="1"/>
          </p:cNvSpPr>
          <p:nvPr>
            <p:ph sz="half" idx="1"/>
          </p:nvPr>
        </p:nvSpPr>
        <p:spPr>
          <a:xfrm>
            <a:off x="4810259" y="649480"/>
            <a:ext cx="6555347" cy="5546047"/>
          </a:xfrm>
        </p:spPr>
        <p:txBody>
          <a:bodyPr vert="horz" lIns="91440" tIns="45720" rIns="91440" bIns="45720" rtlCol="0" anchor="ctr">
            <a:normAutofit/>
          </a:bodyPr>
          <a:lstStyle/>
          <a:p>
            <a:r>
              <a:rPr lang="en-US" sz="2000" dirty="0" err="1"/>
              <a:t>Jurjoniy</a:t>
            </a:r>
            <a:r>
              <a:rPr lang="en-US" sz="2000" dirty="0"/>
              <a:t> analyzes issues such as existence, matter and its forms, physical and spiritual attitudes, logical thinking, interrelationship between language and thinking, universe, humanity, intellect and cognition. </a:t>
            </a:r>
          </a:p>
          <a:p>
            <a:r>
              <a:rPr lang="en-US" sz="2000" dirty="0" err="1"/>
              <a:t>Jurjoniy</a:t>
            </a:r>
            <a:r>
              <a:rPr lang="en-US" sz="2000" dirty="0"/>
              <a:t> argued that, as with </a:t>
            </a:r>
            <a:r>
              <a:rPr lang="en-US" sz="2000" dirty="0" err="1"/>
              <a:t>Taftazoni</a:t>
            </a:r>
            <a:r>
              <a:rPr lang="en-US" sz="2000" dirty="0"/>
              <a:t>, everything and objects are in proportion to each other. </a:t>
            </a:r>
          </a:p>
          <a:p>
            <a:r>
              <a:rPr lang="en-US" sz="2000" dirty="0"/>
              <a:t>Simple things are based on four elements: </a:t>
            </a:r>
          </a:p>
          <a:p>
            <a:pPr marL="628650" indent="-342900">
              <a:buFont typeface="Wingdings" pitchFamily="2" charset="2"/>
              <a:buChar char="ü"/>
            </a:pPr>
            <a:r>
              <a:rPr lang="en-US" sz="2000" dirty="0"/>
              <a:t>Water</a:t>
            </a:r>
          </a:p>
          <a:p>
            <a:pPr marL="628650" indent="-342900">
              <a:buFont typeface="Wingdings" pitchFamily="2" charset="2"/>
              <a:buChar char="ü"/>
            </a:pPr>
            <a:r>
              <a:rPr lang="en-US" sz="2000" dirty="0"/>
              <a:t>Fire</a:t>
            </a:r>
          </a:p>
          <a:p>
            <a:pPr marL="628650" indent="-342900">
              <a:buFont typeface="Wingdings" pitchFamily="2" charset="2"/>
              <a:buChar char="ü"/>
            </a:pPr>
            <a:r>
              <a:rPr lang="en-US" sz="2000" dirty="0"/>
              <a:t>Air</a:t>
            </a:r>
          </a:p>
          <a:p>
            <a:pPr marL="628650" indent="-342900">
              <a:buFont typeface="Wingdings" pitchFamily="2" charset="2"/>
              <a:buChar char="ü"/>
            </a:pPr>
            <a:r>
              <a:rPr lang="en-US" sz="2000" dirty="0"/>
              <a:t>Soil </a:t>
            </a:r>
          </a:p>
          <a:p>
            <a:r>
              <a:rPr lang="en-US" sz="2000" dirty="0"/>
              <a:t>Metals, plants and wildlife come from the combination of these four elements.</a:t>
            </a:r>
          </a:p>
        </p:txBody>
      </p:sp>
    </p:spTree>
    <p:extLst>
      <p:ext uri="{BB962C8B-B14F-4D97-AF65-F5344CB8AC3E}">
        <p14:creationId xmlns:p14="http://schemas.microsoft.com/office/powerpoint/2010/main" val="127071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 calcmode="lin" valueType="num">
                                      <p:cBhvr additive="base">
                                        <p:cTn id="48"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Interaction between Logic and Philosophy</a:t>
            </a:r>
          </a:p>
        </p:txBody>
      </p:sp>
      <p:sp>
        <p:nvSpPr>
          <p:cNvPr id="3" name="Content Placeholder 2"/>
          <p:cNvSpPr>
            <a:spLocks noGrp="1"/>
          </p:cNvSpPr>
          <p:nvPr>
            <p:ph sz="half" idx="1"/>
          </p:nvPr>
        </p:nvSpPr>
        <p:spPr>
          <a:xfrm>
            <a:off x="4810259" y="649480"/>
            <a:ext cx="6915019" cy="5834447"/>
          </a:xfrm>
        </p:spPr>
        <p:txBody>
          <a:bodyPr vert="horz" lIns="91440" tIns="45720" rIns="91440" bIns="45720" rtlCol="0" anchor="ctr">
            <a:noAutofit/>
          </a:bodyPr>
          <a:lstStyle/>
          <a:p>
            <a:r>
              <a:rPr lang="en-US" sz="2100" dirty="0" err="1"/>
              <a:t>Jurjoniy</a:t>
            </a:r>
            <a:r>
              <a:rPr lang="en-US" sz="2100" dirty="0"/>
              <a:t> analyzes logic and philosophy interactively. </a:t>
            </a:r>
          </a:p>
          <a:p>
            <a:r>
              <a:rPr lang="en-US" sz="2100" dirty="0"/>
              <a:t>The conclusion is divided into three types: </a:t>
            </a:r>
          </a:p>
          <a:p>
            <a:pPr marL="628650" indent="-342900">
              <a:buFont typeface="Wingdings" pitchFamily="2" charset="2"/>
              <a:buChar char="ü"/>
            </a:pPr>
            <a:r>
              <a:rPr lang="en-US" sz="2100" dirty="0"/>
              <a:t>Syllogism (private conclusion is derived from the general)</a:t>
            </a:r>
          </a:p>
          <a:p>
            <a:pPr marL="628650" indent="-342900">
              <a:buFont typeface="Wingdings" pitchFamily="2" charset="2"/>
              <a:buChar char="ü"/>
            </a:pPr>
            <a:r>
              <a:rPr lang="en-US" sz="2100" dirty="0"/>
              <a:t>Induction (method of reasoning from private to general) </a:t>
            </a:r>
          </a:p>
          <a:p>
            <a:pPr marL="628650" indent="-342900">
              <a:buFont typeface="Wingdings" pitchFamily="2" charset="2"/>
              <a:buChar char="ü"/>
            </a:pPr>
            <a:r>
              <a:rPr lang="en-US" sz="2100" dirty="0"/>
              <a:t>Analogy (similarity of objects and cognition by comparison)</a:t>
            </a:r>
          </a:p>
          <a:p>
            <a:r>
              <a:rPr lang="en-US" sz="2100" dirty="0"/>
              <a:t>Syllogism is the basic means of creating theoretical knowledge. According to </a:t>
            </a:r>
            <a:r>
              <a:rPr lang="en-US" sz="2100" dirty="0" err="1"/>
              <a:t>Jurjoniy</a:t>
            </a:r>
            <a:r>
              <a:rPr lang="en-US" sz="2100" dirty="0"/>
              <a:t>, the knowledge acquired in the inductive way is not always true, because human experience is not always perfect</a:t>
            </a:r>
          </a:p>
          <a:p>
            <a:r>
              <a:rPr lang="en-US" sz="2100" dirty="0" err="1"/>
              <a:t>Jurjoniy</a:t>
            </a:r>
            <a:r>
              <a:rPr lang="en-US" sz="2100" dirty="0"/>
              <a:t> also commented on the logic of science. He does not distinguish logic from philosophy, but at the same time proves that it (logic) is closely related to law and language. Therefore, from the 14th-15th centuries, the teaching of logic was conducted in connection with the subjects of law and linguistics in madrassas</a:t>
            </a:r>
          </a:p>
        </p:txBody>
      </p:sp>
    </p:spTree>
    <p:extLst>
      <p:ext uri="{BB962C8B-B14F-4D97-AF65-F5344CB8AC3E}">
        <p14:creationId xmlns:p14="http://schemas.microsoft.com/office/powerpoint/2010/main" val="135132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 calcmode="lin" valueType="num">
                                      <p:cBhvr additive="base">
                                        <p:cTn id="36"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 calcmode="lin" valueType="num">
                                      <p:cBhvr additive="base">
                                        <p:cTn id="4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596501" y="263236"/>
            <a:ext cx="5754896" cy="765465"/>
          </a:xfrm>
        </p:spPr>
        <p:txBody>
          <a:bodyPr vert="horz" lIns="91440" tIns="45720" rIns="91440" bIns="45720" rtlCol="0" anchor="b">
            <a:normAutofit/>
          </a:bodyPr>
          <a:lstStyle/>
          <a:p>
            <a:r>
              <a:rPr lang="en-US" sz="4000" b="1" dirty="0"/>
              <a:t>Mirzo </a:t>
            </a:r>
            <a:r>
              <a:rPr lang="en-US" sz="4000" b="1" dirty="0" err="1"/>
              <a:t>Ulughbek</a:t>
            </a:r>
            <a:endParaRPr lang="en-US" sz="40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b="15937"/>
          <a:stretch/>
        </p:blipFill>
        <p:spPr>
          <a:xfrm>
            <a:off x="1068130" y="1028701"/>
            <a:ext cx="3876165" cy="4338170"/>
          </a:xfrm>
          <a:prstGeom prst="rect">
            <a:avLst/>
          </a:prstGeom>
        </p:spPr>
      </p:pic>
      <p:sp>
        <p:nvSpPr>
          <p:cNvPr id="3" name="Content Placeholder 2"/>
          <p:cNvSpPr>
            <a:spLocks noGrp="1"/>
          </p:cNvSpPr>
          <p:nvPr>
            <p:ph sz="half" idx="1"/>
          </p:nvPr>
        </p:nvSpPr>
        <p:spPr>
          <a:xfrm>
            <a:off x="5292436" y="1233055"/>
            <a:ext cx="6691746" cy="4682835"/>
          </a:xfrm>
        </p:spPr>
        <p:txBody>
          <a:bodyPr vert="horz" lIns="91440" tIns="45720" rIns="91440" bIns="45720" rtlCol="0" anchor="t">
            <a:normAutofit/>
          </a:bodyPr>
          <a:lstStyle/>
          <a:p>
            <a:r>
              <a:rPr lang="en-US" sz="1800" dirty="0"/>
              <a:t>The great scientist and statesman, Muhammad </a:t>
            </a:r>
            <a:r>
              <a:rPr lang="en-US" sz="1800" dirty="0" err="1"/>
              <a:t>Taragay</a:t>
            </a:r>
            <a:r>
              <a:rPr lang="en-US" sz="1800" dirty="0"/>
              <a:t> Ulugbek (1394-1449), who made a great contribution to the development of world science, was a leading figure on mathematics and astronomy. </a:t>
            </a:r>
          </a:p>
          <a:p>
            <a:r>
              <a:rPr lang="en-US" sz="1800" dirty="0"/>
              <a:t>He was the grandson of Amir Temur and son of </a:t>
            </a:r>
            <a:r>
              <a:rPr lang="en-US" sz="1800" dirty="0" err="1"/>
              <a:t>Shohruh</a:t>
            </a:r>
            <a:r>
              <a:rPr lang="en-US" sz="1800" dirty="0"/>
              <a:t> Mirzo</a:t>
            </a:r>
          </a:p>
          <a:p>
            <a:r>
              <a:rPr lang="en-US" sz="1800" dirty="0"/>
              <a:t>Ulugbek was interested in sciences in his youth</a:t>
            </a:r>
          </a:p>
          <a:p>
            <a:r>
              <a:rPr lang="en-US" sz="1800" dirty="0" err="1"/>
              <a:t>Qozizoda</a:t>
            </a:r>
            <a:r>
              <a:rPr lang="en-US" sz="1800" dirty="0"/>
              <a:t> Rumi and </a:t>
            </a:r>
            <a:r>
              <a:rPr lang="en-US" sz="1800" dirty="0" err="1"/>
              <a:t>Ghiyosiddin</a:t>
            </a:r>
            <a:r>
              <a:rPr lang="en-US" sz="1800" dirty="0"/>
              <a:t> Jamshid were instructors of </a:t>
            </a:r>
            <a:r>
              <a:rPr lang="en-US" sz="1800" dirty="0" err="1"/>
              <a:t>Ulughbek</a:t>
            </a:r>
            <a:endParaRPr lang="en-US" sz="1800" dirty="0"/>
          </a:p>
          <a:p>
            <a:r>
              <a:rPr lang="en-US" sz="1800" dirty="0"/>
              <a:t>Though he was a statesman, he spent a lot of effort in the development of culture and science, conducted research in mathematics, astronomy, geometry, history, chemistry and other fields. </a:t>
            </a:r>
          </a:p>
          <a:p>
            <a:r>
              <a:rPr lang="en-US" sz="1800" dirty="0" err="1"/>
              <a:t>Ulughbek</a:t>
            </a:r>
            <a:r>
              <a:rPr lang="en-US" sz="1800" dirty="0"/>
              <a:t> was influenced by philosophical ideas of Aristotle, Ptolemy, Muhammad </a:t>
            </a:r>
            <a:r>
              <a:rPr lang="en-US" sz="1800" dirty="0" err="1"/>
              <a:t>Khorezmi</a:t>
            </a:r>
            <a:r>
              <a:rPr lang="en-US" sz="1800" dirty="0"/>
              <a:t>, al-</a:t>
            </a:r>
            <a:r>
              <a:rPr lang="en-US" sz="1800" dirty="0" err="1"/>
              <a:t>Farghani</a:t>
            </a:r>
            <a:r>
              <a:rPr lang="en-US" sz="1800" dirty="0"/>
              <a:t>, </a:t>
            </a:r>
            <a:r>
              <a:rPr lang="en-US" sz="1800" dirty="0" err="1"/>
              <a:t>Farobi</a:t>
            </a:r>
            <a:r>
              <a:rPr lang="en-US" sz="1800" dirty="0"/>
              <a:t>, Ibn Sino, </a:t>
            </a:r>
            <a:r>
              <a:rPr lang="en-US" sz="1800" dirty="0" err="1"/>
              <a:t>Beruni</a:t>
            </a:r>
            <a:r>
              <a:rPr lang="en-US" sz="1800" dirty="0"/>
              <a:t> and others.</a:t>
            </a:r>
          </a:p>
        </p:txBody>
      </p:sp>
      <p:sp>
        <p:nvSpPr>
          <p:cNvPr id="11" name="Rectangle 10">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20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3F59054-3394-4D87-8BD0-A28DCD47F1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long narrow tunnel with a couple of metal rails&#10;&#10;Description automatically generated with medium confidence"/>
          <p:cNvPicPr>
            <a:picLocks noGrp="1" noChangeAspect="1"/>
          </p:cNvPicPr>
          <p:nvPr>
            <p:ph sz="half" idx="2"/>
          </p:nvPr>
        </p:nvPicPr>
        <p:blipFill>
          <a:blip r:embed="rId2">
            <a:extLst>
              <a:ext uri="{28A0092B-C50C-407E-A947-70E740481C1C}">
                <a14:useLocalDpi xmlns:a14="http://schemas.microsoft.com/office/drawing/2010/main" val="0"/>
              </a:ext>
            </a:extLst>
          </a:blip>
          <a:srcRect l="3456" r="3159"/>
          <a:stretch/>
        </p:blipFill>
        <p:spPr>
          <a:xfrm>
            <a:off x="7381653" y="10"/>
            <a:ext cx="4810347" cy="6857990"/>
          </a:xfrm>
          <a:custGeom>
            <a:avLst/>
            <a:gdLst/>
            <a:ahLst/>
            <a:cxnLst/>
            <a:rect l="l" t="t" r="r" b="b"/>
            <a:pathLst>
              <a:path w="4817171" h="6858000">
                <a:moveTo>
                  <a:pt x="22751" y="0"/>
                </a:moveTo>
                <a:lnTo>
                  <a:pt x="4817171" y="0"/>
                </a:lnTo>
                <a:lnTo>
                  <a:pt x="4817171" y="6858000"/>
                </a:lnTo>
                <a:lnTo>
                  <a:pt x="0" y="6858000"/>
                </a:lnTo>
                <a:lnTo>
                  <a:pt x="6679" y="6845555"/>
                </a:lnTo>
                <a:cubicBezTo>
                  <a:pt x="496584" y="5886487"/>
                  <a:pt x="786702" y="4695963"/>
                  <a:pt x="786702" y="3406233"/>
                </a:cubicBezTo>
                <a:cubicBezTo>
                  <a:pt x="786702" y="2215714"/>
                  <a:pt x="539501" y="1109724"/>
                  <a:pt x="116147" y="192283"/>
                </a:cubicBezTo>
                <a:close/>
              </a:path>
            </a:pathLst>
          </a:custGeom>
        </p:spPr>
      </p:pic>
      <p:pic>
        <p:nvPicPr>
          <p:cNvPr id="6" name="Picture 5" descr="A model of a building&#10;&#10;Description automatically generated"/>
          <p:cNvPicPr>
            <a:picLocks noChangeAspect="1"/>
          </p:cNvPicPr>
          <p:nvPr/>
        </p:nvPicPr>
        <p:blipFill>
          <a:blip r:embed="rId3">
            <a:extLst>
              <a:ext uri="{28A0092B-C50C-407E-A947-70E740481C1C}">
                <a14:useLocalDpi xmlns:a14="http://schemas.microsoft.com/office/drawing/2010/main" val="0"/>
              </a:ext>
            </a:extLst>
          </a:blip>
          <a:srcRect t="5473" r="-2" b="8865"/>
          <a:stretch/>
        </p:blipFill>
        <p:spPr>
          <a:xfrm>
            <a:off x="3136389" y="10"/>
            <a:ext cx="4979304"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p:spPr>
      </p:pic>
      <p:pic>
        <p:nvPicPr>
          <p:cNvPr id="7" name="Picture 6" descr="A stone building with a door&#10;&#10;Description automatically generated with medium confidence"/>
          <p:cNvPicPr>
            <a:picLocks noChangeAspect="1"/>
          </p:cNvPicPr>
          <p:nvPr/>
        </p:nvPicPr>
        <p:blipFill>
          <a:blip r:embed="rId4" cstate="print">
            <a:extLst>
              <a:ext uri="{28A0092B-C50C-407E-A947-70E740481C1C}">
                <a14:useLocalDpi xmlns:a14="http://schemas.microsoft.com/office/drawing/2010/main" val="0"/>
              </a:ext>
            </a:extLst>
          </a:blip>
          <a:srcRect r="2" b="3075"/>
          <a:stretch/>
        </p:blipFill>
        <p:spPr>
          <a:xfrm>
            <a:off x="3189428" y="3456432"/>
            <a:ext cx="492547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p:spPr>
      </p:pic>
      <p:sp useBgFill="1">
        <p:nvSpPr>
          <p:cNvPr id="14" name="Freeform: Shape 13">
            <a:extLst>
              <a:ext uri="{FF2B5EF4-FFF2-40B4-BE49-F238E27FC236}">
                <a16:creationId xmlns:a16="http://schemas.microsoft.com/office/drawing/2014/main" id="{2FE0ABA9-CAF1-4816-837D-5F28AAA08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BC8B9C14-70F0-4F42-85FF-0DD3D5A58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685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sz="half" idx="1"/>
          </p:nvPr>
        </p:nvSpPr>
        <p:spPr>
          <a:xfrm>
            <a:off x="278780" y="2258568"/>
            <a:ext cx="3144644" cy="3922776"/>
          </a:xfrm>
        </p:spPr>
        <p:txBody>
          <a:bodyPr vert="horz" lIns="91440" tIns="45720" rIns="91440" bIns="45720" rtlCol="0">
            <a:normAutofit/>
          </a:bodyPr>
          <a:lstStyle/>
          <a:p>
            <a:pPr marL="0">
              <a:lnSpc>
                <a:spcPct val="150000"/>
              </a:lnSpc>
            </a:pPr>
            <a:r>
              <a:rPr lang="en-US" sz="2000" dirty="0"/>
              <a:t>One of Ulugbek's great works is that he built an observatory in Samarkand. The construction of this observatory began in 1424 and was completed in 1429. </a:t>
            </a:r>
          </a:p>
        </p:txBody>
      </p:sp>
    </p:spTree>
    <p:extLst>
      <p:ext uri="{BB962C8B-B14F-4D97-AF65-F5344CB8AC3E}">
        <p14:creationId xmlns:p14="http://schemas.microsoft.com/office/powerpoint/2010/main" val="3954983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sz="half" idx="1"/>
          </p:nvPr>
        </p:nvSpPr>
        <p:spPr>
          <a:xfrm>
            <a:off x="89210" y="2258215"/>
            <a:ext cx="5586761" cy="4452373"/>
          </a:xfrm>
        </p:spPr>
        <p:txBody>
          <a:bodyPr vert="horz" lIns="91440" tIns="45720" rIns="91440" bIns="45720" rtlCol="0">
            <a:noAutofit/>
          </a:bodyPr>
          <a:lstStyle/>
          <a:p>
            <a:r>
              <a:rPr lang="en-US" sz="1500" dirty="0"/>
              <a:t>The most important work of  Ulugbek is named "Zij-</a:t>
            </a:r>
            <a:r>
              <a:rPr lang="en-US" sz="1500" dirty="0" err="1"/>
              <a:t>i</a:t>
            </a:r>
            <a:r>
              <a:rPr lang="en-US" sz="1500" dirty="0"/>
              <a:t> </a:t>
            </a:r>
            <a:r>
              <a:rPr lang="en-US" sz="1500" dirty="0" err="1"/>
              <a:t>Jadid-i</a:t>
            </a:r>
            <a:r>
              <a:rPr lang="en-US" sz="1500" dirty="0"/>
              <a:t> </a:t>
            </a:r>
            <a:r>
              <a:rPr lang="en-US" sz="1500" dirty="0" err="1"/>
              <a:t>Kuragāniy</a:t>
            </a:r>
            <a:r>
              <a:rPr lang="en-US" sz="1500" dirty="0"/>
              <a:t>"</a:t>
            </a:r>
          </a:p>
          <a:p>
            <a:r>
              <a:rPr lang="en-US" sz="1500" dirty="0"/>
              <a:t>"Zij-</a:t>
            </a:r>
            <a:r>
              <a:rPr lang="en-US" sz="1500" dirty="0" err="1"/>
              <a:t>i</a:t>
            </a:r>
            <a:r>
              <a:rPr lang="en-US" sz="1500" dirty="0"/>
              <a:t> Jaded-</a:t>
            </a:r>
            <a:r>
              <a:rPr lang="en-US" sz="1500" dirty="0" err="1"/>
              <a:t>i</a:t>
            </a:r>
            <a:r>
              <a:rPr lang="en-US" sz="1500" dirty="0"/>
              <a:t> </a:t>
            </a:r>
            <a:r>
              <a:rPr lang="en-US" sz="1500" dirty="0" err="1"/>
              <a:t>Kuragāniy"consists</a:t>
            </a:r>
            <a:r>
              <a:rPr lang="en-US" sz="1500" dirty="0"/>
              <a:t> of two chapters, preface, and the location and condition of 1018 stars</a:t>
            </a:r>
          </a:p>
          <a:p>
            <a:r>
              <a:rPr lang="en-US" sz="1500" dirty="0"/>
              <a:t>In addition, Ulugbek wrote on mathematics, and history.  Ulugbek knew perfectly well the theory of logic, fiction, music and literature</a:t>
            </a:r>
          </a:p>
          <a:p>
            <a:r>
              <a:rPr lang="en-US" sz="1500" dirty="0"/>
              <a:t>Ulugbek uses different methods for studying the planets, such as observation, experimentation, proof, comparison, induction, deduction and others</a:t>
            </a:r>
          </a:p>
          <a:p>
            <a:r>
              <a:rPr lang="en-US" sz="1500" dirty="0"/>
              <a:t>It should be noted that Ulugbek accurately calculates the motion of the sun and the moon, their detention and time, even though the observation and measurement devices were not perfect. He gathered talented scientists around himself and invited genius scholars from other countries</a:t>
            </a:r>
          </a:p>
          <a:p>
            <a:r>
              <a:rPr lang="en-US" sz="1500" dirty="0" err="1"/>
              <a:t>Ulughbek's</a:t>
            </a:r>
            <a:r>
              <a:rPr lang="en-US" sz="1500" dirty="0"/>
              <a:t> ideas about astronomy from the 16th century were developed by Copernicus, Galileo and others in Europe </a:t>
            </a:r>
          </a:p>
        </p:txBody>
      </p:sp>
      <p:pic>
        <p:nvPicPr>
          <p:cNvPr id="6" name="Picture 5" descr="A close-up of a book&#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6387" y="517600"/>
            <a:ext cx="3386666" cy="2743200"/>
          </a:xfrm>
          <a:prstGeom prst="rect">
            <a:avLst/>
          </a:prstGeom>
        </p:spPr>
      </p:pic>
      <p:pic>
        <p:nvPicPr>
          <p:cNvPr id="5" name="Content Placeholder 4" descr="An old book with writing on it&#10;&#10;Description automatically generated"/>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804329" y="3429000"/>
            <a:ext cx="4770782" cy="2743200"/>
          </a:xfrm>
          <a:prstGeom prst="rect">
            <a:avLst/>
          </a:prstGeom>
        </p:spPr>
      </p:pic>
    </p:spTree>
    <p:extLst>
      <p:ext uri="{BB962C8B-B14F-4D97-AF65-F5344CB8AC3E}">
        <p14:creationId xmlns:p14="http://schemas.microsoft.com/office/powerpoint/2010/main" val="91484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rcRect t="285" b="11846"/>
          <a:stretch/>
        </p:blipFill>
        <p:spPr>
          <a:xfrm>
            <a:off x="-1" y="10"/>
            <a:ext cx="5151179" cy="6857990"/>
          </a:xfrm>
          <a:prstGeom prst="rect">
            <a:avLst/>
          </a:prstGeom>
        </p:spPr>
      </p:pic>
      <p:cxnSp>
        <p:nvCxnSpPr>
          <p:cNvPr id="10" name="Straight Connector 9">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5680364" y="1427034"/>
            <a:ext cx="5632575" cy="4715350"/>
          </a:xfrm>
        </p:spPr>
        <p:txBody>
          <a:bodyPr vert="horz" lIns="91440" tIns="45720" rIns="91440" bIns="45720" rtlCol="0">
            <a:normAutofit/>
          </a:bodyPr>
          <a:lstStyle/>
          <a:p>
            <a:r>
              <a:rPr lang="en-US" sz="2000" dirty="0" err="1"/>
              <a:t>Alouddin</a:t>
            </a:r>
            <a:r>
              <a:rPr lang="en-US" sz="2000" dirty="0"/>
              <a:t> Ali ibn Muhammad </a:t>
            </a:r>
            <a:r>
              <a:rPr lang="en-US" sz="2000" dirty="0" err="1"/>
              <a:t>Qushchi</a:t>
            </a:r>
            <a:r>
              <a:rPr lang="en-US" sz="2000" dirty="0"/>
              <a:t> (1403-1474) was a student of Ulugbek who was famous for his name Ali </a:t>
            </a:r>
            <a:r>
              <a:rPr lang="en-US" sz="2000" dirty="0" err="1"/>
              <a:t>Qushchi</a:t>
            </a:r>
            <a:r>
              <a:rPr lang="en-US" sz="2000" dirty="0"/>
              <a:t>. He conducted his scientific works in the field of astronomy and mathematics. </a:t>
            </a:r>
          </a:p>
          <a:p>
            <a:r>
              <a:rPr lang="en-US" sz="2000" dirty="0"/>
              <a:t>He is the author of more than 23 works such as “The Book on Arithmetic”, “The Book on Logic”, “The Book on Astronomy”.</a:t>
            </a:r>
          </a:p>
          <a:p>
            <a:r>
              <a:rPr lang="en-US" sz="2000" dirty="0"/>
              <a:t>He scientifically justified the fundamentals of Moon and Solar Eclipse in his “The Book on Astronomy”. </a:t>
            </a:r>
          </a:p>
          <a:p>
            <a:r>
              <a:rPr lang="en-US" sz="2000" dirty="0"/>
              <a:t>The scientist studied the secrets of nature and its principles, suggesting that the  motion of objects move from simple to complex.</a:t>
            </a:r>
          </a:p>
        </p:txBody>
      </p:sp>
    </p:spTree>
    <p:extLst>
      <p:ext uri="{BB962C8B-B14F-4D97-AF65-F5344CB8AC3E}">
        <p14:creationId xmlns:p14="http://schemas.microsoft.com/office/powerpoint/2010/main" val="418122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a:bodyPr>
          <a:lstStyle/>
          <a:p>
            <a:pPr algn="ctr"/>
            <a:r>
              <a:rPr lang="en-US" sz="3200" b="1" dirty="0"/>
              <a:t>The Cultural Development in Herat</a:t>
            </a:r>
          </a:p>
        </p:txBody>
      </p:sp>
      <p:sp>
        <p:nvSpPr>
          <p:cNvPr id="3" name="Content Placeholder 2"/>
          <p:cNvSpPr>
            <a:spLocks noGrp="1"/>
          </p:cNvSpPr>
          <p:nvPr>
            <p:ph sz="half" idx="1"/>
          </p:nvPr>
        </p:nvSpPr>
        <p:spPr>
          <a:xfrm>
            <a:off x="356839" y="1070517"/>
            <a:ext cx="7805854" cy="5106446"/>
          </a:xfrm>
        </p:spPr>
        <p:txBody>
          <a:bodyPr>
            <a:normAutofit/>
          </a:bodyPr>
          <a:lstStyle/>
          <a:p>
            <a:r>
              <a:rPr lang="en-US" dirty="0" err="1"/>
              <a:t>Abdurahman</a:t>
            </a:r>
            <a:r>
              <a:rPr lang="en-US" dirty="0"/>
              <a:t> </a:t>
            </a:r>
            <a:r>
              <a:rPr lang="en-US" dirty="0" err="1"/>
              <a:t>Jomi</a:t>
            </a:r>
            <a:r>
              <a:rPr lang="en-US" dirty="0"/>
              <a:t> (1414-1492) was the great poet and thinker of the medieval classical literature</a:t>
            </a:r>
          </a:p>
          <a:p>
            <a:pPr marL="0" indent="0">
              <a:buNone/>
            </a:pPr>
            <a:endParaRPr lang="en-US" dirty="0"/>
          </a:p>
          <a:p>
            <a:r>
              <a:rPr lang="en-US" dirty="0"/>
              <a:t> The works of </a:t>
            </a:r>
            <a:r>
              <a:rPr lang="en-US" dirty="0" err="1"/>
              <a:t>Jomi</a:t>
            </a:r>
            <a:r>
              <a:rPr lang="en-US" dirty="0"/>
              <a:t> - “</a:t>
            </a:r>
            <a:r>
              <a:rPr lang="en-US" dirty="0" err="1"/>
              <a:t>Nafohat</a:t>
            </a:r>
            <a:r>
              <a:rPr lang="en-US" dirty="0"/>
              <a:t> al-</a:t>
            </a:r>
            <a:r>
              <a:rPr lang="en-US" dirty="0" err="1"/>
              <a:t>Uns</a:t>
            </a:r>
            <a:r>
              <a:rPr lang="en-US" dirty="0"/>
              <a:t>”, “</a:t>
            </a:r>
            <a:r>
              <a:rPr lang="en-US" dirty="0" err="1"/>
              <a:t>Hujjat</a:t>
            </a:r>
            <a:r>
              <a:rPr lang="en-US" dirty="0"/>
              <a:t> al-</a:t>
            </a:r>
            <a:r>
              <a:rPr lang="en-US" dirty="0" err="1"/>
              <a:t>Asror</a:t>
            </a:r>
            <a:r>
              <a:rPr lang="en-US" dirty="0"/>
              <a:t>”, “</a:t>
            </a:r>
            <a:r>
              <a:rPr lang="en-US" dirty="0" err="1"/>
              <a:t>Naqsh-i</a:t>
            </a:r>
            <a:r>
              <a:rPr lang="en-US" dirty="0"/>
              <a:t> </a:t>
            </a:r>
            <a:r>
              <a:rPr lang="en-US" dirty="0" err="1"/>
              <a:t>Fusus</a:t>
            </a:r>
            <a:r>
              <a:rPr lang="en-US" dirty="0"/>
              <a:t>”, “</a:t>
            </a:r>
            <a:r>
              <a:rPr lang="en-US" dirty="0" err="1"/>
              <a:t>Bahoriston</a:t>
            </a:r>
            <a:r>
              <a:rPr lang="en-US" dirty="0"/>
              <a:t>” etc.</a:t>
            </a:r>
          </a:p>
          <a:p>
            <a:pPr marL="0" indent="0">
              <a:buNone/>
            </a:pPr>
            <a:endParaRPr lang="en-US" dirty="0"/>
          </a:p>
          <a:p>
            <a:r>
              <a:rPr lang="en-US" dirty="0"/>
              <a:t>The greatest work of </a:t>
            </a:r>
            <a:r>
              <a:rPr lang="en-US" dirty="0" err="1"/>
              <a:t>Jomiy</a:t>
            </a:r>
            <a:r>
              <a:rPr lang="en-US" dirty="0"/>
              <a:t> is "Haft </a:t>
            </a:r>
            <a:r>
              <a:rPr lang="en-US" dirty="0" err="1"/>
              <a:t>Avrang</a:t>
            </a:r>
            <a:r>
              <a:rPr lang="en-US" dirty="0"/>
              <a:t>", which includes eposes such as “</a:t>
            </a:r>
            <a:r>
              <a:rPr lang="en-US" dirty="0" err="1"/>
              <a:t>Tuhfat</a:t>
            </a:r>
            <a:r>
              <a:rPr lang="en-US" dirty="0"/>
              <a:t> al-</a:t>
            </a:r>
            <a:r>
              <a:rPr lang="en-US" dirty="0" err="1"/>
              <a:t>Ahror</a:t>
            </a:r>
            <a:r>
              <a:rPr lang="en-US" dirty="0"/>
              <a:t>”, “</a:t>
            </a:r>
            <a:r>
              <a:rPr lang="en-US" dirty="0" err="1"/>
              <a:t>Suhbat</a:t>
            </a:r>
            <a:r>
              <a:rPr lang="en-US" dirty="0"/>
              <a:t> al-</a:t>
            </a:r>
            <a:r>
              <a:rPr lang="en-US" dirty="0" err="1"/>
              <a:t>Abror</a:t>
            </a:r>
            <a:r>
              <a:rPr lang="en-US" dirty="0"/>
              <a:t>”, "Yusuf and </a:t>
            </a:r>
            <a:r>
              <a:rPr lang="en-US" dirty="0" err="1"/>
              <a:t>Zulayha</a:t>
            </a:r>
            <a:r>
              <a:rPr lang="en-US" dirty="0"/>
              <a:t>", “</a:t>
            </a:r>
            <a:r>
              <a:rPr lang="en-US" dirty="0" err="1"/>
              <a:t>Suhbat</a:t>
            </a:r>
            <a:r>
              <a:rPr lang="en-US" dirty="0"/>
              <a:t> al-</a:t>
            </a:r>
            <a:r>
              <a:rPr lang="en-US" dirty="0" err="1"/>
              <a:t>Asror</a:t>
            </a:r>
            <a:r>
              <a:rPr lang="en-US" dirty="0"/>
              <a:t>”, "</a:t>
            </a:r>
            <a:r>
              <a:rPr lang="en-US" dirty="0" err="1"/>
              <a:t>Layli</a:t>
            </a:r>
            <a:r>
              <a:rPr lang="en-US" dirty="0"/>
              <a:t> and </a:t>
            </a:r>
            <a:r>
              <a:rPr lang="en-US" dirty="0" err="1"/>
              <a:t>Majnun</a:t>
            </a:r>
            <a:r>
              <a:rPr lang="en-US" dirty="0"/>
              <a:t>", "</a:t>
            </a:r>
            <a:r>
              <a:rPr lang="en-US" dirty="0" err="1"/>
              <a:t>Salamon</a:t>
            </a:r>
            <a:r>
              <a:rPr lang="en-US" dirty="0"/>
              <a:t> and </a:t>
            </a:r>
            <a:r>
              <a:rPr lang="en-US" dirty="0" err="1"/>
              <a:t>Absol</a:t>
            </a:r>
            <a:r>
              <a:rPr lang="en-US" dirty="0"/>
              <a:t>", "</a:t>
            </a:r>
            <a:r>
              <a:rPr lang="en-US" dirty="0" err="1"/>
              <a:t>Hiradnama-i</a:t>
            </a:r>
            <a:r>
              <a:rPr lang="en-US" dirty="0"/>
              <a:t> </a:t>
            </a:r>
            <a:r>
              <a:rPr lang="en-US" dirty="0" err="1"/>
              <a:t>Iskandari</a:t>
            </a:r>
            <a:r>
              <a:rPr lang="en-US" dirty="0"/>
              <a:t>"</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438388" y="1069975"/>
            <a:ext cx="3503936" cy="5106988"/>
          </a:xfrm>
        </p:spPr>
      </p:pic>
    </p:spTree>
    <p:extLst>
      <p:ext uri="{BB962C8B-B14F-4D97-AF65-F5344CB8AC3E}">
        <p14:creationId xmlns:p14="http://schemas.microsoft.com/office/powerpoint/2010/main" val="365550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circle(in)">
                                      <p:cBhvr>
                                        <p:cTn id="11" dur="2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sz="3600" b="1" dirty="0">
                <a:solidFill>
                  <a:srgbClr val="FFFFFF"/>
                </a:solidFill>
              </a:rPr>
              <a:t>Philosophical Thoughts of </a:t>
            </a:r>
            <a:r>
              <a:rPr lang="en-US" sz="3600" b="1" dirty="0" err="1">
                <a:solidFill>
                  <a:srgbClr val="FFFFFF"/>
                </a:solidFill>
              </a:rPr>
              <a:t>Abdurrahmon</a:t>
            </a:r>
            <a:r>
              <a:rPr lang="en-US" sz="3600" b="1" dirty="0">
                <a:solidFill>
                  <a:srgbClr val="FFFFFF"/>
                </a:solidFill>
              </a:rPr>
              <a:t> Jomi</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US" sz="2400"/>
              <a:t>Like all Muslim intellectuals, </a:t>
            </a:r>
            <a:r>
              <a:rPr lang="en-US" sz="2400" err="1"/>
              <a:t>Jomiy</a:t>
            </a:r>
            <a:r>
              <a:rPr lang="en-US" sz="2400"/>
              <a:t> believes that God is eternal, absolute, and the cause of everything in the world, God is the creator of all things</a:t>
            </a:r>
          </a:p>
          <a:p>
            <a:pPr marL="0" indent="0">
              <a:buNone/>
            </a:pPr>
            <a:endParaRPr lang="en-US" sz="2400"/>
          </a:p>
          <a:p>
            <a:r>
              <a:rPr lang="en-US" sz="2400" err="1"/>
              <a:t>Jomi's</a:t>
            </a:r>
            <a:r>
              <a:rPr lang="en-US" sz="2400"/>
              <a:t> philosophical views are closely linked to his humanistic ideas. Many works of </a:t>
            </a:r>
            <a:r>
              <a:rPr lang="en-US" sz="2400" err="1"/>
              <a:t>Jomi</a:t>
            </a:r>
            <a:r>
              <a:rPr lang="en-US" sz="2400"/>
              <a:t> describe the ideas of human being, justice, love, goodness</a:t>
            </a:r>
          </a:p>
          <a:p>
            <a:pPr marL="0" indent="0">
              <a:buNone/>
            </a:pPr>
            <a:endParaRPr lang="en-US" sz="2400"/>
          </a:p>
          <a:p>
            <a:r>
              <a:rPr lang="en-US" sz="2400" err="1"/>
              <a:t>Jomi</a:t>
            </a:r>
            <a:r>
              <a:rPr lang="en-US" sz="2400"/>
              <a:t> followed </a:t>
            </a:r>
            <a:r>
              <a:rPr lang="en-US" sz="2400" err="1"/>
              <a:t>Naqshbandiya</a:t>
            </a:r>
            <a:r>
              <a:rPr lang="en-US" sz="2400"/>
              <a:t> Sufi order and developed its theoretical and practical aspects. According to him, Sufi is to be honest and pure, and should occupy a profession, to be reasonable and noble, to overcome his desires</a:t>
            </a:r>
          </a:p>
        </p:txBody>
      </p:sp>
    </p:spTree>
    <p:extLst>
      <p:ext uri="{BB962C8B-B14F-4D97-AF65-F5344CB8AC3E}">
        <p14:creationId xmlns:p14="http://schemas.microsoft.com/office/powerpoint/2010/main" val="135240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additive="base">
                                        <p:cTn id="1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anim calcmode="lin" valueType="num">
                                      <p:cBhvr>
                                        <p:cTn id="2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c 1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half" idx="1"/>
          </p:nvPr>
        </p:nvSpPr>
        <p:spPr>
          <a:xfrm>
            <a:off x="4447308" y="591344"/>
            <a:ext cx="6906491" cy="5585619"/>
          </a:xfrm>
        </p:spPr>
        <p:txBody>
          <a:bodyPr vert="horz" lIns="91440" tIns="45720" rIns="91440" bIns="45720" rtlCol="0" anchor="ctr">
            <a:normAutofit/>
          </a:bodyPr>
          <a:lstStyle/>
          <a:p>
            <a:r>
              <a:rPr lang="en-US" sz="2600"/>
              <a:t>He describes God as a "violent lover" and says that primary purpose of the human being is to achieve the meeting with God</a:t>
            </a:r>
          </a:p>
          <a:p>
            <a:endParaRPr lang="en-US" sz="2600"/>
          </a:p>
          <a:p>
            <a:r>
              <a:rPr lang="en-US" sz="2600"/>
              <a:t>In his socio-political and ethical views, he used to think of a virtuous society, and supported the state system that based on equality, liberty, conscience. </a:t>
            </a:r>
          </a:p>
          <a:p>
            <a:endParaRPr lang="en-US" sz="2600"/>
          </a:p>
          <a:p>
            <a:r>
              <a:rPr lang="en-US" sz="2600"/>
              <a:t>Jomi’s philosophy has been influenced by the teachings of Ibn al-Arabi who was great Sufi mystic, poet and philosopher of 12-13 centuries </a:t>
            </a:r>
          </a:p>
        </p:txBody>
      </p:sp>
    </p:spTree>
    <p:extLst>
      <p:ext uri="{BB962C8B-B14F-4D97-AF65-F5344CB8AC3E}">
        <p14:creationId xmlns:p14="http://schemas.microsoft.com/office/powerpoint/2010/main" val="338031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anim calcmode="lin" valueType="num">
                                      <p:cBhvr>
                                        <p:cTn id="1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50892" y="741391"/>
            <a:ext cx="3269384" cy="1616203"/>
          </a:xfrm>
        </p:spPr>
        <p:txBody>
          <a:bodyPr vert="horz" lIns="91440" tIns="45720" rIns="91440" bIns="45720" rtlCol="0" anchor="b">
            <a:normAutofit/>
          </a:bodyPr>
          <a:lstStyle/>
          <a:p>
            <a:r>
              <a:rPr lang="en-US" sz="3200" b="1" dirty="0"/>
              <a:t>Alisher </a:t>
            </a:r>
            <a:r>
              <a:rPr lang="en-US" sz="3200" b="1" dirty="0" err="1"/>
              <a:t>Navoiy</a:t>
            </a:r>
            <a:endParaRPr lang="en-US" sz="3200" b="1"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74088" y="1502165"/>
            <a:ext cx="3343333" cy="3711099"/>
          </a:xfrm>
          <a:prstGeom prst="rect">
            <a:avLst/>
          </a:prstGeom>
        </p:spPr>
      </p:pic>
      <p:pic>
        <p:nvPicPr>
          <p:cNvPr id="4" name="Рисунок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3929" y="880971"/>
            <a:ext cx="3184381" cy="4953483"/>
          </a:xfrm>
          <a:prstGeom prst="rect">
            <a:avLst/>
          </a:prstGeom>
        </p:spPr>
      </p:pic>
      <p:sp>
        <p:nvSpPr>
          <p:cNvPr id="3" name="Content Placeholder 2"/>
          <p:cNvSpPr>
            <a:spLocks noGrp="1"/>
          </p:cNvSpPr>
          <p:nvPr>
            <p:ph sz="half" idx="1"/>
          </p:nvPr>
        </p:nvSpPr>
        <p:spPr>
          <a:xfrm>
            <a:off x="8035636" y="2357594"/>
            <a:ext cx="3851564" cy="4084770"/>
          </a:xfrm>
        </p:spPr>
        <p:txBody>
          <a:bodyPr vert="horz" lIns="91440" tIns="45720" rIns="91440" bIns="45720" rtlCol="0" anchor="t">
            <a:normAutofit/>
          </a:bodyPr>
          <a:lstStyle/>
          <a:p>
            <a:r>
              <a:rPr lang="en-US" sz="1600" dirty="0"/>
              <a:t>Alisher </a:t>
            </a:r>
            <a:r>
              <a:rPr lang="en-US" sz="1600" dirty="0" err="1"/>
              <a:t>Navoiy</a:t>
            </a:r>
            <a:r>
              <a:rPr lang="en-US" sz="1600" dirty="0"/>
              <a:t> is the great poet and statesman, the founder of Uzbek literature. </a:t>
            </a:r>
          </a:p>
          <a:p>
            <a:r>
              <a:rPr lang="en-US" sz="1600" dirty="0"/>
              <a:t>He belonged to the Timurid family and his father, </a:t>
            </a:r>
            <a:r>
              <a:rPr lang="en-US" sz="1600" dirty="0" err="1"/>
              <a:t>Giyosiddin</a:t>
            </a:r>
            <a:r>
              <a:rPr lang="en-US" sz="1600" dirty="0"/>
              <a:t>, was from the Barlas kin who had gone from </a:t>
            </a:r>
            <a:r>
              <a:rPr lang="en-US" sz="1600" dirty="0" err="1"/>
              <a:t>Shahrisabz</a:t>
            </a:r>
            <a:r>
              <a:rPr lang="en-US" sz="1600" dirty="0"/>
              <a:t> to Kabul. </a:t>
            </a:r>
          </a:p>
          <a:p>
            <a:r>
              <a:rPr lang="en-US" sz="1600" dirty="0" err="1"/>
              <a:t>Navoi</a:t>
            </a:r>
            <a:r>
              <a:rPr lang="en-US" sz="1600" dirty="0"/>
              <a:t> served in various positions in the Court of </a:t>
            </a:r>
            <a:r>
              <a:rPr lang="en-US" sz="1600" dirty="0" err="1"/>
              <a:t>Husayn</a:t>
            </a:r>
            <a:r>
              <a:rPr lang="en-US" sz="1600" dirty="0"/>
              <a:t> </a:t>
            </a:r>
            <a:r>
              <a:rPr lang="en-US" sz="1600" dirty="0" err="1"/>
              <a:t>Boyqaro</a:t>
            </a:r>
            <a:r>
              <a:rPr lang="en-US" sz="1600" dirty="0"/>
              <a:t>, and in 1472 became his Minister. </a:t>
            </a:r>
          </a:p>
          <a:p>
            <a:r>
              <a:rPr lang="en-US" sz="1600" dirty="0"/>
              <a:t>The poet has done a lot for the prosperity and well-being of the country. He built schools, madrasas, mosques, bridges, hospitals, helped the needy and the poor, sponsored scholars and poets.</a:t>
            </a:r>
          </a:p>
        </p:txBody>
      </p:sp>
      <p:grpSp>
        <p:nvGrpSpPr>
          <p:cNvPr id="10" name="Group 9">
            <a:extLst>
              <a:ext uri="{FF2B5EF4-FFF2-40B4-BE49-F238E27FC236}">
                <a16:creationId xmlns:a16="http://schemas.microsoft.com/office/drawing/2014/main" id="{12B241C5-7E45-AD52-638D-31E8FD2BC1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6737460"/>
            <a:ext cx="12192000" cy="123364"/>
            <a:chOff x="1" y="6737460"/>
            <a:chExt cx="12192000" cy="123364"/>
          </a:xfrm>
        </p:grpSpPr>
        <p:sp>
          <p:nvSpPr>
            <p:cNvPr id="11" name="Rectangle 10">
              <a:extLst>
                <a:ext uri="{FF2B5EF4-FFF2-40B4-BE49-F238E27FC236}">
                  <a16:creationId xmlns:a16="http://schemas.microsoft.com/office/drawing/2014/main" id="{49503B28-6749-2F02-0050-2CC7D03CF6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034320" y="703141"/>
              <a:ext cx="123362" cy="12192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3DEE37-9CE7-622C-B750-66998EDC2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40559" y="4909383"/>
              <a:ext cx="123362" cy="3779520"/>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960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 calcmode="lin" valueType="num">
                                      <p:cBhvr additive="base">
                                        <p:cTn id="2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2493" y="238539"/>
            <a:ext cx="11018520" cy="1434415"/>
          </a:xfrm>
        </p:spPr>
        <p:txBody>
          <a:bodyPr vert="horz" lIns="91440" tIns="45720" rIns="91440" bIns="45720" rtlCol="0" anchor="b">
            <a:normAutofit/>
          </a:bodyPr>
          <a:lstStyle/>
          <a:p>
            <a:r>
              <a:rPr lang="en-US" sz="5400" b="1"/>
              <a:t>Literary Legacy</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572493" y="2071316"/>
            <a:ext cx="6713552" cy="4119172"/>
          </a:xfrm>
        </p:spPr>
        <p:txBody>
          <a:bodyPr vert="horz" lIns="91440" tIns="45720" rIns="91440" bIns="45720" rtlCol="0" anchor="t">
            <a:normAutofit/>
          </a:bodyPr>
          <a:lstStyle/>
          <a:p>
            <a:r>
              <a:rPr lang="en-US" sz="2200"/>
              <a:t>Navoi’s scientific legacy is great, his works are devoted to various aspects of science. "Hamsa" that included five eposes – "Hayratul abror", "Farhod and Shirin", "Leyli and Majnun", "Sabai Sayyor", "Saddi Iskandari" and "Lison Ut-Tayr", "Majolis un-nafois", "Mahbubul Qulub", "Mezon ul-avzon", "Muhokamatul-lug'atayn" and others. </a:t>
            </a:r>
          </a:p>
          <a:p>
            <a:pPr marL="0"/>
            <a:endParaRPr lang="en-US" sz="2200"/>
          </a:p>
          <a:p>
            <a:r>
              <a:rPr lang="en-US" sz="2200"/>
              <a:t>Navoi has created a poetic collection called "Khazoyinul maoniy" ("The Treasure of Meanings"), which consisted of about 45,000 </a:t>
            </a:r>
            <a:r>
              <a:rPr lang="en-US" sz="2200" i="1"/>
              <a:t>misras</a:t>
            </a:r>
            <a:r>
              <a:rPr lang="en-US" sz="2200"/>
              <a:t> (hemistich) of </a:t>
            </a:r>
            <a:r>
              <a:rPr lang="en-US" sz="2200" i="1"/>
              <a:t>gazals</a:t>
            </a:r>
            <a:r>
              <a:rPr lang="en-US" sz="2200"/>
              <a:t>, </a:t>
            </a:r>
            <a:r>
              <a:rPr lang="en-US" sz="2200" i="1"/>
              <a:t>ruboiys</a:t>
            </a:r>
            <a:r>
              <a:rPr lang="en-US" sz="2200"/>
              <a:t>, </a:t>
            </a:r>
            <a:r>
              <a:rPr lang="en-US" sz="2200" i="1"/>
              <a:t>qit’as</a:t>
            </a:r>
            <a:r>
              <a:rPr lang="en-US" sz="2200"/>
              <a:t> and </a:t>
            </a:r>
            <a:r>
              <a:rPr lang="en-US" sz="2200" i="1"/>
              <a:t>fards</a:t>
            </a:r>
            <a:r>
              <a:rPr lang="en-US" sz="2200"/>
              <a:t>. </a:t>
            </a:r>
          </a:p>
          <a:p>
            <a:endParaRPr lang="en-US" sz="2200"/>
          </a:p>
        </p:txBody>
      </p:sp>
      <p:pic>
        <p:nvPicPr>
          <p:cNvPr id="5" name="Content Placeholder 4"/>
          <p:cNvPicPr>
            <a:picLocks noGrp="1" noChangeAspect="1"/>
          </p:cNvPicPr>
          <p:nvPr>
            <p:ph sz="half" idx="2"/>
          </p:nvPr>
        </p:nvPicPr>
        <p:blipFill>
          <a:blip r:embed="rId2" cstate="print">
            <a:extLst>
              <a:ext uri="{28A0092B-C50C-407E-A947-70E740481C1C}">
                <a14:useLocalDpi xmlns:a14="http://schemas.microsoft.com/office/drawing/2010/main" val="0"/>
              </a:ext>
            </a:extLst>
          </a:blip>
          <a:srcRect t="10091" r="-2" b="11950"/>
          <a:stretch/>
        </p:blipFill>
        <p:spPr>
          <a:xfrm>
            <a:off x="7675658" y="2093976"/>
            <a:ext cx="3941064" cy="4096512"/>
          </a:xfrm>
          <a:prstGeom prst="rect">
            <a:avLst/>
          </a:prstGeom>
        </p:spPr>
      </p:pic>
    </p:spTree>
    <p:extLst>
      <p:ext uri="{BB962C8B-B14F-4D97-AF65-F5344CB8AC3E}">
        <p14:creationId xmlns:p14="http://schemas.microsoft.com/office/powerpoint/2010/main" val="122553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838200" y="587375"/>
            <a:ext cx="10515600" cy="5589588"/>
          </a:xfrm>
        </p:spPr>
        <p:txBody>
          <a:bodyPr/>
          <a:lstStyle/>
          <a:p>
            <a:pPr marL="0" indent="0">
              <a:buNone/>
            </a:pPr>
            <a:endParaRPr lang="en-US" dirty="0"/>
          </a:p>
          <a:p>
            <a:pPr marL="0" indent="0">
              <a:buNone/>
            </a:pPr>
            <a:endParaRPr lang="en-US" dirty="0"/>
          </a:p>
          <a:p>
            <a:pPr marL="0" indent="0">
              <a:buNone/>
            </a:pPr>
            <a:endParaRPr lang="en-US" dirty="0"/>
          </a:p>
          <a:p>
            <a:pPr marL="0" indent="0" algn="ctr">
              <a:buNone/>
            </a:pPr>
            <a:r>
              <a:rPr lang="en-US" dirty="0">
                <a:solidFill>
                  <a:srgbClr val="FF0000"/>
                </a:solidFill>
              </a:rPr>
              <a:t>If one element, that is, dot falls it will lead to blind in eye!</a:t>
            </a:r>
          </a:p>
          <a:p>
            <a:pPr marL="0" indent="0" algn="ctr">
              <a:buNone/>
            </a:pPr>
            <a:endParaRPr lang="en-US" dirty="0">
              <a:solidFill>
                <a:srgbClr val="FF0000"/>
              </a:solidFill>
            </a:endParaRPr>
          </a:p>
          <a:p>
            <a:pPr marL="0" indent="0" algn="ctr">
              <a:buNone/>
            </a:pPr>
            <a:r>
              <a:rPr lang="fa-IR" dirty="0">
                <a:solidFill>
                  <a:srgbClr val="FF0000"/>
                </a:solidFill>
              </a:rPr>
              <a:t>کوز             کور</a:t>
            </a:r>
            <a:endParaRPr lang="en-US" dirty="0">
              <a:solidFill>
                <a:srgbClr val="FF0000"/>
              </a:solidFill>
            </a:endParaRPr>
          </a:p>
          <a:p>
            <a:endParaRPr lang="en-US" dirty="0"/>
          </a:p>
        </p:txBody>
      </p:sp>
      <p:cxnSp>
        <p:nvCxnSpPr>
          <p:cNvPr id="6" name="Straight Arrow Connector 5"/>
          <p:cNvCxnSpPr/>
          <p:nvPr/>
        </p:nvCxnSpPr>
        <p:spPr>
          <a:xfrm flipH="1" flipV="1">
            <a:off x="5651862" y="3382169"/>
            <a:ext cx="888275" cy="261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71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 calcmode="lin" valueType="num">
                                      <p:cBhvr additive="base">
                                        <p:cTn id="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wipe(down)">
                                      <p:cBhvr>
                                        <p:cTn id="13"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1248" y="548640"/>
            <a:ext cx="3600860" cy="5431536"/>
          </a:xfrm>
        </p:spPr>
        <p:txBody>
          <a:bodyPr vert="horz" lIns="91440" tIns="45720" rIns="91440" bIns="45720" rtlCol="0" anchor="ctr">
            <a:normAutofit/>
          </a:bodyPr>
          <a:lstStyle/>
          <a:p>
            <a:r>
              <a:rPr lang="en-US" sz="3800" b="1" kern="1200" dirty="0">
                <a:solidFill>
                  <a:schemeClr val="tx1"/>
                </a:solidFill>
                <a:latin typeface="+mj-lt"/>
                <a:ea typeface="+mj-ea"/>
                <a:cs typeface="+mj-cs"/>
              </a:rPr>
              <a:t>Contribution to Philosophy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half" idx="1"/>
          </p:nvPr>
        </p:nvSpPr>
        <p:spPr>
          <a:xfrm>
            <a:off x="5126418" y="245328"/>
            <a:ext cx="6791112" cy="6345044"/>
          </a:xfrm>
        </p:spPr>
        <p:txBody>
          <a:bodyPr vert="horz" lIns="91440" tIns="45720" rIns="91440" bIns="45720" rtlCol="0" anchor="ctr">
            <a:normAutofit/>
          </a:bodyPr>
          <a:lstStyle/>
          <a:p>
            <a:r>
              <a:rPr lang="en-US" sz="1800" dirty="0" err="1"/>
              <a:t>Navoi</a:t>
            </a:r>
            <a:r>
              <a:rPr lang="en-US" sz="1800" dirty="0"/>
              <a:t> believed that Chagatai language was superior to Persian in terms of literary purposes, richness and precision. He defended his belief in the work titled “</a:t>
            </a:r>
            <a:r>
              <a:rPr lang="en-US" sz="1800" dirty="0" err="1"/>
              <a:t>Muhokama</a:t>
            </a:r>
            <a:r>
              <a:rPr lang="en-US" sz="1800" dirty="0"/>
              <a:t> al-</a:t>
            </a:r>
            <a:r>
              <a:rPr lang="en-US" sz="1800" dirty="0" err="1"/>
              <a:t>Lughatayn</a:t>
            </a:r>
            <a:r>
              <a:rPr lang="en-US" sz="1800" dirty="0"/>
              <a:t>” (The Trial of the Two Languages).</a:t>
            </a:r>
          </a:p>
          <a:p>
            <a:pPr marL="0"/>
            <a:endParaRPr lang="en-US" sz="1800" dirty="0"/>
          </a:p>
          <a:p>
            <a:r>
              <a:rPr lang="en-US" sz="1800" dirty="0"/>
              <a:t>The work of </a:t>
            </a:r>
            <a:r>
              <a:rPr lang="en-US" sz="1800" dirty="0" err="1"/>
              <a:t>Navoi</a:t>
            </a:r>
            <a:r>
              <a:rPr lang="en-US" sz="1800" dirty="0"/>
              <a:t> is rich in philosophical thoughts and he discusses the relationship between society and human being, the perfect person and virtuous society.</a:t>
            </a:r>
          </a:p>
          <a:p>
            <a:pPr marL="0"/>
            <a:endParaRPr lang="en-US" sz="1800" dirty="0"/>
          </a:p>
          <a:p>
            <a:r>
              <a:rPr lang="en-US" sz="1800" dirty="0"/>
              <a:t>An important feature of the sociological and philosophical views of the poet is that philosophical thoughts are interpreted metaphorically and symbolically. </a:t>
            </a:r>
          </a:p>
          <a:p>
            <a:r>
              <a:rPr lang="en-US" sz="1800" dirty="0" err="1"/>
              <a:t>Navoi</a:t>
            </a:r>
            <a:r>
              <a:rPr lang="en-US" sz="1800" dirty="0"/>
              <a:t> sees God in the unity of nature and human being. The nature of the human is the dearest of all creatures. Human being is superior to other creatures in terms of intellect and cognizance. Humans perceive the outside of things and objects by using their sense organs. </a:t>
            </a:r>
          </a:p>
          <a:p>
            <a:r>
              <a:rPr lang="en-US" sz="1800" dirty="0"/>
              <a:t>He thinks that everything is in constant development and in the interconnectedness, and nature is constantly developing and interconnected. Love is the mean of moral refinement of human being, the understanding of the truth, the approach of God.</a:t>
            </a:r>
          </a:p>
          <a:p>
            <a:endParaRPr lang="en-US" sz="1500" dirty="0"/>
          </a:p>
        </p:txBody>
      </p:sp>
    </p:spTree>
    <p:extLst>
      <p:ext uri="{BB962C8B-B14F-4D97-AF65-F5344CB8AC3E}">
        <p14:creationId xmlns:p14="http://schemas.microsoft.com/office/powerpoint/2010/main" val="2130849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barn(inVertical)">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arn(inVertical)">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anim calcmode="lin" valueType="num">
                                      <p:cBhvr>
                                        <p:cTn id="2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 calcmode="lin" valueType="num">
                                      <p:cBhvr additive="base">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6834" y="1153572"/>
            <a:ext cx="3200400" cy="4461163"/>
          </a:xfrm>
        </p:spPr>
        <p:txBody>
          <a:bodyPr>
            <a:normAutofit/>
          </a:bodyPr>
          <a:lstStyle/>
          <a:p>
            <a:r>
              <a:rPr lang="en-US" b="1">
                <a:solidFill>
                  <a:srgbClr val="FFFFFF"/>
                </a:solidFill>
              </a:rPr>
              <a:t>Voiz Koshifiy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US" sz="2600" dirty="0" err="1"/>
              <a:t>Mavlono</a:t>
            </a:r>
            <a:r>
              <a:rPr lang="en-US" sz="2600" dirty="0"/>
              <a:t> </a:t>
            </a:r>
            <a:r>
              <a:rPr lang="en-US" sz="2600" dirty="0" err="1"/>
              <a:t>Husayn</a:t>
            </a:r>
            <a:r>
              <a:rPr lang="en-US" sz="2600" dirty="0"/>
              <a:t> </a:t>
            </a:r>
            <a:r>
              <a:rPr lang="en-US" sz="2600" dirty="0" err="1"/>
              <a:t>Voiz</a:t>
            </a:r>
            <a:r>
              <a:rPr lang="en-US" sz="2600" dirty="0"/>
              <a:t> </a:t>
            </a:r>
            <a:r>
              <a:rPr lang="en-US" sz="2600" dirty="0" err="1"/>
              <a:t>Koshifiy</a:t>
            </a:r>
            <a:r>
              <a:rPr lang="en-US" sz="2600" dirty="0"/>
              <a:t> (1440-1505), one of the prominent thinkers of that period, contributed to the development of philosophy of ethics in Central Asia and Khurasan.</a:t>
            </a:r>
          </a:p>
          <a:p>
            <a:pPr marL="0" indent="0">
              <a:buNone/>
            </a:pPr>
            <a:endParaRPr lang="en-US" sz="2600" dirty="0"/>
          </a:p>
          <a:p>
            <a:r>
              <a:rPr lang="en-US" sz="2600" dirty="0" err="1"/>
              <a:t>Koshifiy</a:t>
            </a:r>
            <a:r>
              <a:rPr lang="en-US" sz="2600" dirty="0"/>
              <a:t> was born in </a:t>
            </a:r>
            <a:r>
              <a:rPr lang="en-US" sz="2600" dirty="0" err="1"/>
              <a:t>Sabzavar</a:t>
            </a:r>
            <a:r>
              <a:rPr lang="en-US" sz="2600" dirty="0"/>
              <a:t>, later moved to Herat at the invitation of Abdurrahman Jomi. He spent the rest of his life in Herat and died there. </a:t>
            </a:r>
          </a:p>
          <a:p>
            <a:pPr marL="0" indent="0">
              <a:buNone/>
            </a:pPr>
            <a:endParaRPr lang="en-US" sz="2600" dirty="0"/>
          </a:p>
          <a:p>
            <a:r>
              <a:rPr lang="en-US" sz="2600" dirty="0"/>
              <a:t>He became as a great scientist and a teacher and dedicated his entire life to the development of science and literature. He had friendly relations with </a:t>
            </a:r>
            <a:r>
              <a:rPr lang="en-US" sz="2600" dirty="0" err="1"/>
              <a:t>Navoi</a:t>
            </a:r>
            <a:r>
              <a:rPr lang="en-US" sz="2600" dirty="0"/>
              <a:t> and Jomi.</a:t>
            </a:r>
          </a:p>
          <a:p>
            <a:endParaRPr lang="en-US" sz="2600" dirty="0"/>
          </a:p>
        </p:txBody>
      </p:sp>
    </p:spTree>
    <p:extLst>
      <p:ext uri="{BB962C8B-B14F-4D97-AF65-F5344CB8AC3E}">
        <p14:creationId xmlns:p14="http://schemas.microsoft.com/office/powerpoint/2010/main" val="403179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barn(inVertical)">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barn(inVertical)">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4447308" y="591344"/>
            <a:ext cx="6906491" cy="5585619"/>
          </a:xfrm>
        </p:spPr>
        <p:txBody>
          <a:bodyPr anchor="ctr">
            <a:normAutofit/>
          </a:bodyPr>
          <a:lstStyle/>
          <a:p>
            <a:r>
              <a:rPr lang="en-US" sz="2200" dirty="0" err="1"/>
              <a:t>Voiz</a:t>
            </a:r>
            <a:r>
              <a:rPr lang="en-US" sz="2200" dirty="0"/>
              <a:t> </a:t>
            </a:r>
            <a:r>
              <a:rPr lang="en-US" sz="2200" dirty="0" err="1"/>
              <a:t>Koshifiy</a:t>
            </a:r>
            <a:r>
              <a:rPr lang="en-US" sz="2200" dirty="0"/>
              <a:t> conducted the research in various fields of science</a:t>
            </a:r>
          </a:p>
          <a:p>
            <a:endParaRPr lang="en-US" sz="2200" dirty="0"/>
          </a:p>
          <a:p>
            <a:r>
              <a:rPr lang="en-US" sz="2200" dirty="0"/>
              <a:t>He is the author of several works such as "</a:t>
            </a:r>
            <a:r>
              <a:rPr lang="en-US" sz="2200" dirty="0" err="1"/>
              <a:t>Ahloq-i</a:t>
            </a:r>
            <a:r>
              <a:rPr lang="en-US" sz="2200" dirty="0"/>
              <a:t> </a:t>
            </a:r>
            <a:r>
              <a:rPr lang="en-US" sz="2200" dirty="0" err="1"/>
              <a:t>Muhsiniy</a:t>
            </a:r>
            <a:r>
              <a:rPr lang="en-US" sz="2200" dirty="0"/>
              <a:t>", "</a:t>
            </a:r>
            <a:r>
              <a:rPr lang="en-US" sz="2200" dirty="0" err="1"/>
              <a:t>Futuvvatnoma-i</a:t>
            </a:r>
            <a:r>
              <a:rPr lang="en-US" sz="2200" dirty="0"/>
              <a:t> Sultan ", "</a:t>
            </a:r>
            <a:r>
              <a:rPr lang="en-US" sz="2200" dirty="0" err="1"/>
              <a:t>Risolai</a:t>
            </a:r>
            <a:r>
              <a:rPr lang="en-US" sz="2200" dirty="0"/>
              <a:t> </a:t>
            </a:r>
            <a:r>
              <a:rPr lang="en-US" sz="2200" dirty="0" err="1"/>
              <a:t>Khatamiya</a:t>
            </a:r>
            <a:r>
              <a:rPr lang="en-US" sz="2200" dirty="0"/>
              <a:t>" and others. </a:t>
            </a:r>
          </a:p>
          <a:p>
            <a:endParaRPr lang="en-US" sz="2200" dirty="0"/>
          </a:p>
          <a:p>
            <a:r>
              <a:rPr lang="en-US" sz="2200" dirty="0"/>
              <a:t>In these works, the thinker delivers valuable insights into the wise management of the state, embodying the principles of good manners, the acquisition of science and profession</a:t>
            </a:r>
          </a:p>
          <a:p>
            <a:endParaRPr lang="en-US" sz="2200" dirty="0"/>
          </a:p>
          <a:p>
            <a:r>
              <a:rPr lang="en-US" sz="2200" dirty="0"/>
              <a:t> He leads discussion on the issue of justice, and interprets it as an expression of the sense of equality among the humans</a:t>
            </a:r>
          </a:p>
        </p:txBody>
      </p:sp>
    </p:spTree>
    <p:extLst>
      <p:ext uri="{BB962C8B-B14F-4D97-AF65-F5344CB8AC3E}">
        <p14:creationId xmlns:p14="http://schemas.microsoft.com/office/powerpoint/2010/main" val="241422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barn(inVertical)">
                                      <p:cBhvr>
                                        <p:cTn id="18" dur="500"/>
                                        <p:tgtEl>
                                          <p:spTgt spid="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sz="3200" i="1" dirty="0"/>
              <a:t>Thank you for your attention!</a:t>
            </a:r>
          </a:p>
        </p:txBody>
      </p:sp>
    </p:spTree>
    <p:extLst>
      <p:ext uri="{BB962C8B-B14F-4D97-AF65-F5344CB8AC3E}">
        <p14:creationId xmlns:p14="http://schemas.microsoft.com/office/powerpoint/2010/main" val="1253819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4360</TotalTime>
  <Words>2167</Words>
  <Application>Microsoft Macintosh PowerPoint</Application>
  <PresentationFormat>Widescreen</PresentationFormat>
  <Paragraphs>127</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Wingdings</vt:lpstr>
      <vt:lpstr>Office Theme</vt:lpstr>
      <vt:lpstr>Inha University in Tashkent</vt:lpstr>
      <vt:lpstr>Outline:</vt:lpstr>
      <vt:lpstr>Characteristic feature of the Period </vt:lpstr>
      <vt:lpstr>PowerPoint Presentation</vt:lpstr>
      <vt:lpstr>The State of Art of Logic</vt:lpstr>
      <vt:lpstr>The Process of Cognition</vt:lpstr>
      <vt:lpstr>Mir Sayyid Sharif Jurjoniy</vt:lpstr>
      <vt:lpstr>Philosophical Thoughts of Jurjoniy</vt:lpstr>
      <vt:lpstr>Interaction between Logic and Philosophy</vt:lpstr>
      <vt:lpstr>Mirzo Ulughbek</vt:lpstr>
      <vt:lpstr>PowerPoint Presentation</vt:lpstr>
      <vt:lpstr>PowerPoint Presentation</vt:lpstr>
      <vt:lpstr>PowerPoint Presentation</vt:lpstr>
      <vt:lpstr>The Cultural Development in Herat</vt:lpstr>
      <vt:lpstr>Philosophical Thoughts of Abdurrahmon Jomi</vt:lpstr>
      <vt:lpstr>PowerPoint Presentation</vt:lpstr>
      <vt:lpstr>Alisher Navoiy</vt:lpstr>
      <vt:lpstr>Literary Legacy</vt:lpstr>
      <vt:lpstr>PowerPoint Presentation</vt:lpstr>
      <vt:lpstr>Contribution to Philosophy</vt:lpstr>
      <vt:lpstr>Voiz Koshifiy</vt:lpstr>
      <vt:lpstr>PowerPoint Presentation</vt:lpstr>
      <vt:lpstr>PowerPoint Presentation</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Ёш шарқшуносларнинг академик Убайдулла Каримов номидаги ХI илмий-амалий конференцияси</dc:title>
  <dc:creator>Batal</dc:creator>
  <cp:lastModifiedBy>kyakubov@outlook.com</cp:lastModifiedBy>
  <cp:revision>158</cp:revision>
  <dcterms:created xsi:type="dcterms:W3CDTF">2017-06-29T13:12:25Z</dcterms:created>
  <dcterms:modified xsi:type="dcterms:W3CDTF">2026-09-21T23:28:10Z</dcterms:modified>
</cp:coreProperties>
</file>